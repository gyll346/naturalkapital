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Lst>
  <p:sldSz cx="8999538" cy="30600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0" d="100"/>
          <a:sy n="60" d="100"/>
        </p:scale>
        <p:origin x="3066" y="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008025"/>
            <a:ext cx="7649607" cy="10653560"/>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6072427"/>
            <a:ext cx="6749654" cy="738807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706E80-0D07-4586-9F12-5FC7FB4CAA06}" type="datetimeFigureOut">
              <a:rPr lang="en-ID" smtClean="0"/>
              <a:t>20/06/2026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84901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06E80-0D07-4586-9F12-5FC7FB4CAA06}" type="datetimeFigureOut">
              <a:rPr lang="en-ID" smtClean="0"/>
              <a:t>20/06/2026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1526496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7628921"/>
            <a:ext cx="7762102" cy="12729018"/>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0478361"/>
            <a:ext cx="7762102" cy="6693890"/>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706E80-0D07-4586-9F12-5FC7FB4CAA06}" type="datetimeFigureOut">
              <a:rPr lang="en-ID" smtClean="0"/>
              <a:t>20/06/2026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5374821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8146007"/>
            <a:ext cx="3824804" cy="19415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8146007"/>
            <a:ext cx="3824804" cy="19415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706E80-0D07-4586-9F12-5FC7FB4CAA06}" type="datetimeFigureOut">
              <a:rPr lang="en-ID" smtClean="0"/>
              <a:t>20/06/2026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5759852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629208"/>
            <a:ext cx="7762102" cy="5914711"/>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7501412"/>
            <a:ext cx="3807226" cy="367632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1177737"/>
            <a:ext cx="3807226" cy="1644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7501412"/>
            <a:ext cx="3825976" cy="367632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1177737"/>
            <a:ext cx="3825976" cy="16440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706E80-0D07-4586-9F12-5FC7FB4CAA06}" type="datetimeFigureOut">
              <a:rPr lang="en-ID" smtClean="0"/>
              <a:t>20/06/2026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3202955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706E80-0D07-4586-9F12-5FC7FB4CAA06}" type="datetimeFigureOut">
              <a:rPr lang="en-ID" smtClean="0"/>
              <a:t>20/06/2026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28589681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706E80-0D07-4586-9F12-5FC7FB4CAA06}" type="datetimeFigureOut">
              <a:rPr lang="en-ID" smtClean="0"/>
              <a:t>20/06/2026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39064305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040043"/>
            <a:ext cx="2902585" cy="7140152"/>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4405934"/>
            <a:ext cx="4556016" cy="21746295"/>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9180195"/>
            <a:ext cx="2902585" cy="17007447"/>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2C706E80-0D07-4586-9F12-5FC7FB4CAA06}" type="datetimeFigureOut">
              <a:rPr lang="en-ID" smtClean="0"/>
              <a:t>20/06/2026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1837685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040043"/>
            <a:ext cx="2902585" cy="7140152"/>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4405934"/>
            <a:ext cx="4556016" cy="21746295"/>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9180195"/>
            <a:ext cx="2902585" cy="17007447"/>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2C706E80-0D07-4586-9F12-5FC7FB4CAA06}" type="datetimeFigureOut">
              <a:rPr lang="en-ID" smtClean="0"/>
              <a:t>20/06/2026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2645246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06E80-0D07-4586-9F12-5FC7FB4CAA06}" type="datetimeFigureOut">
              <a:rPr lang="en-ID" smtClean="0"/>
              <a:t>20/06/2026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2360842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629201"/>
            <a:ext cx="1940525" cy="259326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629201"/>
            <a:ext cx="5709082" cy="2593263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706E80-0D07-4586-9F12-5FC7FB4CAA06}" type="datetimeFigureOut">
              <a:rPr lang="en-ID" smtClean="0"/>
              <a:t>20/06/2026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E6D2A78E-8A6B-4625-9778-C17E7F8C6160}" type="slidenum">
              <a:rPr lang="en-ID" smtClean="0"/>
              <a:t>‹#›</a:t>
            </a:fld>
            <a:endParaRPr lang="en-ID"/>
          </a:p>
        </p:txBody>
      </p:sp>
    </p:spTree>
    <p:extLst>
      <p:ext uri="{BB962C8B-B14F-4D97-AF65-F5344CB8AC3E}">
        <p14:creationId xmlns:p14="http://schemas.microsoft.com/office/powerpoint/2010/main" val="74547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629208"/>
            <a:ext cx="7762102" cy="591471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8146007"/>
            <a:ext cx="7762102" cy="1941583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28362276"/>
            <a:ext cx="2024896" cy="1629201"/>
          </a:xfrm>
          <a:prstGeom prst="rect">
            <a:avLst/>
          </a:prstGeom>
        </p:spPr>
        <p:txBody>
          <a:bodyPr vert="horz" lIns="91440" tIns="45720" rIns="91440" bIns="45720" rtlCol="0" anchor="ctr"/>
          <a:lstStyle>
            <a:lvl1pPr algn="l">
              <a:defRPr sz="1181">
                <a:solidFill>
                  <a:schemeClr val="tx1">
                    <a:tint val="75000"/>
                  </a:schemeClr>
                </a:solidFill>
              </a:defRPr>
            </a:lvl1pPr>
          </a:lstStyle>
          <a:p>
            <a:fld id="{2C706E80-0D07-4586-9F12-5FC7FB4CAA06}" type="datetimeFigureOut">
              <a:rPr lang="en-ID" smtClean="0"/>
              <a:t>20/06/2026</a:t>
            </a:fld>
            <a:endParaRPr lang="en-ID"/>
          </a:p>
        </p:txBody>
      </p:sp>
      <p:sp>
        <p:nvSpPr>
          <p:cNvPr id="5" name="Footer Placeholder 4"/>
          <p:cNvSpPr>
            <a:spLocks noGrp="1"/>
          </p:cNvSpPr>
          <p:nvPr>
            <p:ph type="ftr" sz="quarter" idx="3"/>
          </p:nvPr>
        </p:nvSpPr>
        <p:spPr>
          <a:xfrm>
            <a:off x="2981097" y="28362276"/>
            <a:ext cx="3037344" cy="1629201"/>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28362276"/>
            <a:ext cx="2024896" cy="1629201"/>
          </a:xfrm>
          <a:prstGeom prst="rect">
            <a:avLst/>
          </a:prstGeom>
        </p:spPr>
        <p:txBody>
          <a:bodyPr vert="horz" lIns="91440" tIns="45720" rIns="91440" bIns="45720" rtlCol="0" anchor="ctr"/>
          <a:lstStyle>
            <a:lvl1pPr algn="r">
              <a:defRPr sz="1181">
                <a:solidFill>
                  <a:schemeClr val="tx1">
                    <a:tint val="75000"/>
                  </a:schemeClr>
                </a:solidFill>
              </a:defRPr>
            </a:lvl1pPr>
          </a:lstStyle>
          <a:p>
            <a:fld id="{E6D2A78E-8A6B-4625-9778-C17E7F8C6160}" type="slidenum">
              <a:rPr lang="en-ID" smtClean="0"/>
              <a:t>‹#›</a:t>
            </a:fld>
            <a:endParaRPr lang="en-ID"/>
          </a:p>
        </p:txBody>
      </p:sp>
    </p:spTree>
    <p:extLst>
      <p:ext uri="{BB962C8B-B14F-4D97-AF65-F5344CB8AC3E}">
        <p14:creationId xmlns:p14="http://schemas.microsoft.com/office/powerpoint/2010/main" val="279689385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mailto:info@naturalkapital.or.id" TargetMode="External"/><Relationship Id="rId3" Type="http://schemas.openxmlformats.org/officeDocument/2006/relationships/image" Target="../media/image2.pn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FDDAAA7A-9CCC-1E9E-80DD-D68708335E01}"/>
              </a:ext>
            </a:extLst>
          </p:cNvPr>
          <p:cNvPicPr>
            <a:picLocks noChangeAspect="1"/>
          </p:cNvPicPr>
          <p:nvPr/>
        </p:nvPicPr>
        <p:blipFill>
          <a:blip r:embed="rId2"/>
          <a:stretch>
            <a:fillRect/>
          </a:stretch>
        </p:blipFill>
        <p:spPr>
          <a:xfrm>
            <a:off x="0" y="794"/>
            <a:ext cx="8999538" cy="5062240"/>
          </a:xfrm>
          <a:prstGeom prst="rect">
            <a:avLst/>
          </a:prstGeom>
        </p:spPr>
      </p:pic>
      <p:sp>
        <p:nvSpPr>
          <p:cNvPr id="6" name="Shape 1">
            <a:extLst>
              <a:ext uri="{FF2B5EF4-FFF2-40B4-BE49-F238E27FC236}">
                <a16:creationId xmlns:a16="http://schemas.microsoft.com/office/drawing/2014/main" id="{EBC6ED8C-DB6F-6077-5EBA-478EF0E95D76}"/>
              </a:ext>
            </a:extLst>
          </p:cNvPr>
          <p:cNvSpPr/>
          <p:nvPr/>
        </p:nvSpPr>
        <p:spPr>
          <a:xfrm>
            <a:off x="5320159" y="4448781"/>
            <a:ext cx="3546202" cy="248692"/>
          </a:xfrm>
          <a:prstGeom prst="roundRect">
            <a:avLst>
              <a:gd name="adj" fmla="val 6132"/>
            </a:avLst>
          </a:prstGeom>
          <a:noFill/>
          <a:ln w="4763">
            <a:solidFill>
              <a:srgbClr val="28282F"/>
            </a:solidFill>
            <a:prstDash val="solid"/>
          </a:ln>
        </p:spPr>
      </p:sp>
      <p:sp>
        <p:nvSpPr>
          <p:cNvPr id="7" name="Text 2">
            <a:extLst>
              <a:ext uri="{FF2B5EF4-FFF2-40B4-BE49-F238E27FC236}">
                <a16:creationId xmlns:a16="http://schemas.microsoft.com/office/drawing/2014/main" id="{65EA9975-98DA-68A1-B408-9D8ABE2C7A60}"/>
              </a:ext>
            </a:extLst>
          </p:cNvPr>
          <p:cNvSpPr/>
          <p:nvPr/>
        </p:nvSpPr>
        <p:spPr>
          <a:xfrm>
            <a:off x="5399335" y="4490750"/>
            <a:ext cx="3546202" cy="158800"/>
          </a:xfrm>
          <a:prstGeom prst="rect">
            <a:avLst/>
          </a:prstGeom>
          <a:noFill/>
          <a:ln/>
        </p:spPr>
        <p:txBody>
          <a:bodyPr wrap="none" lIns="0" tIns="0" rIns="0" bIns="0" rtlCol="0" anchor="t"/>
          <a:lstStyle/>
          <a:p>
            <a:pPr>
              <a:lnSpc>
                <a:spcPct val="133000"/>
              </a:lnSpc>
            </a:pPr>
            <a:r>
              <a:rPr lang="en-US" sz="900" dirty="0">
                <a:solidFill>
                  <a:schemeClr val="bg1"/>
                </a:solidFill>
                <a:latin typeface="Leelawadee UI" panose="020B0502040204020203" pitchFamily="34" charset="-34"/>
                <a:ea typeface="Inter" pitchFamily="34" charset="-122"/>
                <a:cs typeface="Leelawadee UI" panose="020B0502040204020203" pitchFamily="34" charset="-34"/>
              </a:rPr>
              <a:t>BERANDA / TENTANG KAMI / TRANSPARANSI &amp; LAPORAN MITRA</a:t>
            </a:r>
            <a:endParaRPr lang="en-US" sz="900" dirty="0">
              <a:solidFill>
                <a:schemeClr val="bg1"/>
              </a:solidFill>
              <a:latin typeface="Leelawadee UI" panose="020B0502040204020203" pitchFamily="34" charset="-34"/>
              <a:cs typeface="Leelawadee UI" panose="020B0502040204020203" pitchFamily="34" charset="-34"/>
            </a:endParaRPr>
          </a:p>
        </p:txBody>
      </p:sp>
      <p:sp>
        <p:nvSpPr>
          <p:cNvPr id="8" name="Text 3">
            <a:extLst>
              <a:ext uri="{FF2B5EF4-FFF2-40B4-BE49-F238E27FC236}">
                <a16:creationId xmlns:a16="http://schemas.microsoft.com/office/drawing/2014/main" id="{BB49813C-976D-6C7C-DAF4-51FECD468D10}"/>
              </a:ext>
            </a:extLst>
          </p:cNvPr>
          <p:cNvSpPr/>
          <p:nvPr/>
        </p:nvSpPr>
        <p:spPr>
          <a:xfrm>
            <a:off x="2565948" y="1494084"/>
            <a:ext cx="7272858" cy="387548"/>
          </a:xfrm>
          <a:prstGeom prst="rect">
            <a:avLst/>
          </a:prstGeom>
          <a:noFill/>
          <a:ln/>
        </p:spPr>
        <p:txBody>
          <a:bodyPr wrap="none" lIns="0" tIns="0" rIns="0" bIns="0" rtlCol="0" anchor="t"/>
          <a:lstStyle/>
          <a:p>
            <a:pPr>
              <a:lnSpc>
                <a:spcPct val="104000"/>
              </a:lnSpc>
            </a:pPr>
            <a:r>
              <a:rPr lang="en-US" sz="2400" dirty="0">
                <a:solidFill>
                  <a:schemeClr val="bg1"/>
                </a:solidFill>
                <a:latin typeface="Leelawadee UI" panose="020B0502040204020203" pitchFamily="34" charset="-34"/>
                <a:ea typeface="DM Sans Medium" pitchFamily="34" charset="-122"/>
                <a:cs typeface="Leelawadee UI" panose="020B0502040204020203" pitchFamily="34" charset="-34"/>
              </a:rPr>
              <a:t>Komitmen Transparansi dan Akuntabilitas YNKI</a:t>
            </a:r>
            <a:endParaRPr lang="en-US" sz="2400" dirty="0">
              <a:solidFill>
                <a:schemeClr val="bg1"/>
              </a:solidFill>
              <a:latin typeface="Leelawadee UI" panose="020B0502040204020203" pitchFamily="34" charset="-34"/>
              <a:cs typeface="Leelawadee UI" panose="020B0502040204020203" pitchFamily="34" charset="-34"/>
            </a:endParaRPr>
          </a:p>
        </p:txBody>
      </p:sp>
      <p:sp>
        <p:nvSpPr>
          <p:cNvPr id="9" name="Text 4">
            <a:extLst>
              <a:ext uri="{FF2B5EF4-FFF2-40B4-BE49-F238E27FC236}">
                <a16:creationId xmlns:a16="http://schemas.microsoft.com/office/drawing/2014/main" id="{3C84F123-B546-672C-A95D-4A4E7BE8EFF3}"/>
              </a:ext>
            </a:extLst>
          </p:cNvPr>
          <p:cNvSpPr/>
          <p:nvPr/>
        </p:nvSpPr>
        <p:spPr>
          <a:xfrm>
            <a:off x="3992745" y="337762"/>
            <a:ext cx="4719525" cy="1501342"/>
          </a:xfrm>
          <a:prstGeom prst="rect">
            <a:avLst/>
          </a:prstGeom>
          <a:noFill/>
          <a:ln/>
        </p:spPr>
        <p:txBody>
          <a:bodyPr wrap="square" lIns="0" tIns="0" rIns="0" bIns="0" rtlCol="0" anchor="t">
            <a:normAutofit/>
          </a:bodyPr>
          <a:lstStyle/>
          <a:p>
            <a:pPr>
              <a:lnSpc>
                <a:spcPct val="133000"/>
              </a:lnSpc>
            </a:pPr>
            <a:r>
              <a:rPr lang="en-US" sz="1000" dirty="0">
                <a:solidFill>
                  <a:schemeClr val="bg1"/>
                </a:solidFill>
                <a:latin typeface="Leelawadee UI" panose="020B0502040204020203" pitchFamily="34" charset="-34"/>
                <a:ea typeface="Inter" pitchFamily="34" charset="-122"/>
                <a:cs typeface="Leelawadee UI" panose="020B0502040204020203" pitchFamily="34" charset="-34"/>
              </a:rPr>
              <a:t>Sebagai organisasi nirlaba yang bekerja untuk kepentingan publik dan lingkungan, Yayasan Natural Kapital Indonesia (YNKI) berkomitmen pada transparansi penuh dalam pengelolaan sumber daya, pelaksanaan program, dan kemitraan strategis. Kami percaya bahwa kepercayaan publik dibangun melalui keterbukaan dan akuntabilitas yang nyata.</a:t>
            </a:r>
            <a:endParaRPr lang="en-US" sz="1000" dirty="0">
              <a:solidFill>
                <a:schemeClr val="bg1"/>
              </a:solidFill>
              <a:latin typeface="Leelawadee UI" panose="020B0502040204020203" pitchFamily="34" charset="-34"/>
              <a:cs typeface="Leelawadee UI" panose="020B0502040204020203" pitchFamily="34" charset="-34"/>
            </a:endParaRPr>
          </a:p>
        </p:txBody>
      </p:sp>
      <p:pic>
        <p:nvPicPr>
          <p:cNvPr id="10" name="Image 1" descr="preencoded.png">
            <a:hlinkClick r:id="" action="ppaction://noaction"/>
            <a:extLst>
              <a:ext uri="{FF2B5EF4-FFF2-40B4-BE49-F238E27FC236}">
                <a16:creationId xmlns:a16="http://schemas.microsoft.com/office/drawing/2014/main" id="{ABDDF792-8BEC-08C6-5894-BDBD30D29ADE}"/>
              </a:ext>
            </a:extLst>
          </p:cNvPr>
          <p:cNvPicPr>
            <a:picLocks noChangeAspect="1"/>
          </p:cNvPicPr>
          <p:nvPr/>
        </p:nvPicPr>
        <p:blipFill>
          <a:blip r:embed="rId3"/>
          <a:stretch>
            <a:fillRect/>
          </a:stretch>
        </p:blipFill>
        <p:spPr>
          <a:xfrm>
            <a:off x="472183" y="4443124"/>
            <a:ext cx="1667470" cy="341114"/>
          </a:xfrm>
          <a:prstGeom prst="rect">
            <a:avLst/>
          </a:prstGeom>
        </p:spPr>
      </p:pic>
      <p:pic>
        <p:nvPicPr>
          <p:cNvPr id="11" name="Image 2" descr="preencoded.png">
            <a:hlinkClick r:id="" action="ppaction://noaction"/>
            <a:extLst>
              <a:ext uri="{FF2B5EF4-FFF2-40B4-BE49-F238E27FC236}">
                <a16:creationId xmlns:a16="http://schemas.microsoft.com/office/drawing/2014/main" id="{174E0646-77C4-0138-4FA1-3F2489D3E5CF}"/>
              </a:ext>
            </a:extLst>
          </p:cNvPr>
          <p:cNvPicPr>
            <a:picLocks noChangeAspect="1"/>
          </p:cNvPicPr>
          <p:nvPr/>
        </p:nvPicPr>
        <p:blipFill>
          <a:blip r:embed="rId4"/>
          <a:stretch>
            <a:fillRect/>
          </a:stretch>
        </p:blipFill>
        <p:spPr>
          <a:xfrm>
            <a:off x="2201640" y="4443124"/>
            <a:ext cx="1089124" cy="341114"/>
          </a:xfrm>
          <a:prstGeom prst="rect">
            <a:avLst/>
          </a:prstGeom>
        </p:spPr>
      </p:pic>
      <p:sp>
        <p:nvSpPr>
          <p:cNvPr id="12" name="Text 0">
            <a:extLst>
              <a:ext uri="{FF2B5EF4-FFF2-40B4-BE49-F238E27FC236}">
                <a16:creationId xmlns:a16="http://schemas.microsoft.com/office/drawing/2014/main" id="{EA55984A-F35A-B979-DB48-41F54F795081}"/>
              </a:ext>
            </a:extLst>
          </p:cNvPr>
          <p:cNvSpPr/>
          <p:nvPr/>
        </p:nvSpPr>
        <p:spPr>
          <a:xfrm>
            <a:off x="509514" y="5529537"/>
            <a:ext cx="5469954" cy="310083"/>
          </a:xfrm>
          <a:prstGeom prst="rect">
            <a:avLst/>
          </a:prstGeom>
          <a:noFill/>
          <a:ln/>
        </p:spPr>
        <p:txBody>
          <a:bodyPr wrap="none" lIns="0" tIns="0" rIns="0" bIns="0" rtlCol="0" anchor="t"/>
          <a:lstStyle/>
          <a:p>
            <a:pPr>
              <a:lnSpc>
                <a:spcPct val="104000"/>
              </a:lnSpc>
            </a:pPr>
            <a:r>
              <a:rPr lang="en-US" sz="2200" dirty="0" err="1">
                <a:solidFill>
                  <a:srgbClr val="161613"/>
                </a:solidFill>
                <a:latin typeface="Leelawadee UI" panose="020B0502040204020203" pitchFamily="34" charset="-34"/>
                <a:ea typeface="DM Sans Medium" pitchFamily="34" charset="-122"/>
                <a:cs typeface="Leelawadee UI" panose="020B0502040204020203" pitchFamily="34" charset="-34"/>
              </a:rPr>
              <a:t>Transparansi</a:t>
            </a: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 </a:t>
            </a:r>
            <a:r>
              <a:rPr lang="en-US" sz="2200" dirty="0" err="1">
                <a:solidFill>
                  <a:srgbClr val="161613"/>
                </a:solidFill>
                <a:latin typeface="Leelawadee UI" panose="020B0502040204020203" pitchFamily="34" charset="-34"/>
                <a:ea typeface="DM Sans Medium" pitchFamily="34" charset="-122"/>
                <a:cs typeface="Leelawadee UI" panose="020B0502040204020203" pitchFamily="34" charset="-34"/>
              </a:rPr>
              <a:t>Fondasi</a:t>
            </a: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 Kepercayaan</a:t>
            </a:r>
            <a:endParaRPr lang="en-US" sz="2200" dirty="0">
              <a:latin typeface="Leelawadee UI" panose="020B0502040204020203" pitchFamily="34" charset="-34"/>
              <a:cs typeface="Leelawadee UI" panose="020B0502040204020203" pitchFamily="34" charset="-34"/>
            </a:endParaRPr>
          </a:p>
        </p:txBody>
      </p:sp>
      <p:sp>
        <p:nvSpPr>
          <p:cNvPr id="13" name="Text 1">
            <a:extLst>
              <a:ext uri="{FF2B5EF4-FFF2-40B4-BE49-F238E27FC236}">
                <a16:creationId xmlns:a16="http://schemas.microsoft.com/office/drawing/2014/main" id="{69EC9FBF-6141-60C2-EFB2-5DA19617170C}"/>
              </a:ext>
            </a:extLst>
          </p:cNvPr>
          <p:cNvSpPr/>
          <p:nvPr/>
        </p:nvSpPr>
        <p:spPr>
          <a:xfrm>
            <a:off x="509516" y="6087642"/>
            <a:ext cx="8151763" cy="793849"/>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meyakini bahwa transparansi dan akuntabilitas adalah fondasi utama dalam membangun kepercayaan dengan seluruh pemangku kepentingan—masyarakat, pemerintah, donor, mitra swasta, dan publik luas. Kami berkomitmen untuk menyediakan akses terbuka terhadap informasi mengenai pengelolaan keuangan, pelaksanaan program, dan kemitraan yang kami bangun demi mewujudkan tata kelola lanskap yang inklusif dan berkelanjutan.</a:t>
            </a:r>
            <a:endParaRPr lang="en-US" sz="1000" dirty="0">
              <a:latin typeface="Leelawadee UI" panose="020B0502040204020203" pitchFamily="34" charset="-34"/>
              <a:cs typeface="Leelawadee UI" panose="020B0502040204020203" pitchFamily="34" charset="-34"/>
            </a:endParaRPr>
          </a:p>
        </p:txBody>
      </p:sp>
      <p:pic>
        <p:nvPicPr>
          <p:cNvPr id="14" name="Image 0" descr="preencoded.png">
            <a:extLst>
              <a:ext uri="{FF2B5EF4-FFF2-40B4-BE49-F238E27FC236}">
                <a16:creationId xmlns:a16="http://schemas.microsoft.com/office/drawing/2014/main" id="{E0AA3E12-A4A8-CF5C-4EC3-92F21B5F62F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9516" y="7021018"/>
            <a:ext cx="310083" cy="310083"/>
          </a:xfrm>
          <a:prstGeom prst="rect">
            <a:avLst/>
          </a:prstGeom>
        </p:spPr>
      </p:pic>
      <p:sp>
        <p:nvSpPr>
          <p:cNvPr id="15" name="Text 2">
            <a:extLst>
              <a:ext uri="{FF2B5EF4-FFF2-40B4-BE49-F238E27FC236}">
                <a16:creationId xmlns:a16="http://schemas.microsoft.com/office/drawing/2014/main" id="{4235175E-D9D1-EA78-F4E4-319442C3555C}"/>
              </a:ext>
            </a:extLst>
          </p:cNvPr>
          <p:cNvSpPr/>
          <p:nvPr/>
        </p:nvSpPr>
        <p:spPr>
          <a:xfrm>
            <a:off x="974601" y="7021018"/>
            <a:ext cx="1687116" cy="193849"/>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Transparansi Keuangan</a:t>
            </a:r>
            <a:endParaRPr lang="en-US" sz="1200" dirty="0">
              <a:latin typeface="Leelawadee UI" panose="020B0502040204020203" pitchFamily="34" charset="-34"/>
              <a:cs typeface="Leelawadee UI" panose="020B0502040204020203" pitchFamily="34" charset="-34"/>
            </a:endParaRPr>
          </a:p>
        </p:txBody>
      </p:sp>
      <p:sp>
        <p:nvSpPr>
          <p:cNvPr id="16" name="Text 3">
            <a:extLst>
              <a:ext uri="{FF2B5EF4-FFF2-40B4-BE49-F238E27FC236}">
                <a16:creationId xmlns:a16="http://schemas.microsoft.com/office/drawing/2014/main" id="{5A5F6C50-79A2-B715-5517-3EE3C32579CF}"/>
              </a:ext>
            </a:extLst>
          </p:cNvPr>
          <p:cNvSpPr/>
          <p:nvPr/>
        </p:nvSpPr>
        <p:spPr>
          <a:xfrm>
            <a:off x="974601" y="7289279"/>
            <a:ext cx="2148780" cy="1587698"/>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Seluruh penerimaan dan penggunaan dana dilaporkan secara terbuka melalui laporan keuangan yang telah diaudit secara independen. Setiap rupiah yang dikelola YNKI dapat dipertanggungjawabkan kepada publik dan pemangku kepentingan.</a:t>
            </a:r>
            <a:endParaRPr lang="en-US" sz="950" dirty="0">
              <a:latin typeface="Leelawadee UI" panose="020B0502040204020203" pitchFamily="34" charset="-34"/>
              <a:cs typeface="Leelawadee UI" panose="020B0502040204020203" pitchFamily="34" charset="-34"/>
            </a:endParaRPr>
          </a:p>
        </p:txBody>
      </p:sp>
      <p:pic>
        <p:nvPicPr>
          <p:cNvPr id="17" name="Image 1" descr="preencoded.png">
            <a:extLst>
              <a:ext uri="{FF2B5EF4-FFF2-40B4-BE49-F238E27FC236}">
                <a16:creationId xmlns:a16="http://schemas.microsoft.com/office/drawing/2014/main" id="{9B916C14-089F-1EC7-15BB-09401FD5CDF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78388" y="7021018"/>
            <a:ext cx="310083" cy="310083"/>
          </a:xfrm>
          <a:prstGeom prst="rect">
            <a:avLst/>
          </a:prstGeom>
        </p:spPr>
      </p:pic>
      <p:sp>
        <p:nvSpPr>
          <p:cNvPr id="18" name="Text 4">
            <a:extLst>
              <a:ext uri="{FF2B5EF4-FFF2-40B4-BE49-F238E27FC236}">
                <a16:creationId xmlns:a16="http://schemas.microsoft.com/office/drawing/2014/main" id="{66674893-E9CE-34FE-15B2-D71D373383D5}"/>
              </a:ext>
            </a:extLst>
          </p:cNvPr>
          <p:cNvSpPr/>
          <p:nvPr/>
        </p:nvSpPr>
        <p:spPr>
          <a:xfrm>
            <a:off x="3743474" y="7021018"/>
            <a:ext cx="1586954" cy="193849"/>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Transparansi Program</a:t>
            </a:r>
            <a:endParaRPr lang="en-US" sz="1200" dirty="0">
              <a:latin typeface="Leelawadee UI" panose="020B0502040204020203" pitchFamily="34" charset="-34"/>
              <a:cs typeface="Leelawadee UI" panose="020B0502040204020203" pitchFamily="34" charset="-34"/>
            </a:endParaRPr>
          </a:p>
        </p:txBody>
      </p:sp>
      <p:sp>
        <p:nvSpPr>
          <p:cNvPr id="19" name="Text 5">
            <a:extLst>
              <a:ext uri="{FF2B5EF4-FFF2-40B4-BE49-F238E27FC236}">
                <a16:creationId xmlns:a16="http://schemas.microsoft.com/office/drawing/2014/main" id="{AD5AC11A-73AA-07B4-3CF4-03E898856D59}"/>
              </a:ext>
            </a:extLst>
          </p:cNvPr>
          <p:cNvSpPr/>
          <p:nvPr/>
        </p:nvSpPr>
        <p:spPr>
          <a:xfrm>
            <a:off x="3743476" y="7289279"/>
            <a:ext cx="2148855" cy="1389236"/>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Capaian, tantangan, dan pembelajaran dari setiap program didokumentasikan secara menyeluruh dan dipublikasikan. Kami percaya bahwa keterbukaan atas proses dan hasil adalah kunci pembelajaran bersama.</a:t>
            </a:r>
            <a:endParaRPr lang="en-US" sz="950" dirty="0">
              <a:latin typeface="Leelawadee UI" panose="020B0502040204020203" pitchFamily="34" charset="-34"/>
              <a:cs typeface="Leelawadee UI" panose="020B0502040204020203" pitchFamily="34" charset="-34"/>
            </a:endParaRPr>
          </a:p>
        </p:txBody>
      </p:sp>
      <p:pic>
        <p:nvPicPr>
          <p:cNvPr id="20" name="Image 2" descr="preencoded.png">
            <a:extLst>
              <a:ext uri="{FF2B5EF4-FFF2-40B4-BE49-F238E27FC236}">
                <a16:creationId xmlns:a16="http://schemas.microsoft.com/office/drawing/2014/main" id="{F442CA65-1A99-6004-D933-18E11EB42ED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47336" y="7021018"/>
            <a:ext cx="310083" cy="310083"/>
          </a:xfrm>
          <a:prstGeom prst="rect">
            <a:avLst/>
          </a:prstGeom>
        </p:spPr>
      </p:pic>
      <p:sp>
        <p:nvSpPr>
          <p:cNvPr id="21" name="Text 6">
            <a:extLst>
              <a:ext uri="{FF2B5EF4-FFF2-40B4-BE49-F238E27FC236}">
                <a16:creationId xmlns:a16="http://schemas.microsoft.com/office/drawing/2014/main" id="{D9483AF2-9270-5DDE-A750-32CF0DCC82B4}"/>
              </a:ext>
            </a:extLst>
          </p:cNvPr>
          <p:cNvSpPr/>
          <p:nvPr/>
        </p:nvSpPr>
        <p:spPr>
          <a:xfrm>
            <a:off x="6512422" y="7021018"/>
            <a:ext cx="1718072" cy="193849"/>
          </a:xfrm>
          <a:prstGeom prst="rect">
            <a:avLst/>
          </a:prstGeom>
          <a:noFill/>
          <a:ln/>
        </p:spPr>
        <p:txBody>
          <a:bodyPr wrap="none" lIns="0" tIns="0" rIns="0" bIns="0" rtlCol="0" anchor="t"/>
          <a:lstStyle/>
          <a:p>
            <a:pPr>
              <a:lnSpc>
                <a:spcPct val="104000"/>
              </a:lnSpc>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Transparansi Kemitraan</a:t>
            </a:r>
            <a:endParaRPr lang="en-US" sz="1200" dirty="0">
              <a:latin typeface="Leelawadee UI" panose="020B0502040204020203" pitchFamily="34" charset="-34"/>
              <a:cs typeface="Leelawadee UI" panose="020B0502040204020203" pitchFamily="34" charset="-34"/>
            </a:endParaRPr>
          </a:p>
        </p:txBody>
      </p:sp>
      <p:sp>
        <p:nvSpPr>
          <p:cNvPr id="22" name="Text 7">
            <a:extLst>
              <a:ext uri="{FF2B5EF4-FFF2-40B4-BE49-F238E27FC236}">
                <a16:creationId xmlns:a16="http://schemas.microsoft.com/office/drawing/2014/main" id="{0872778F-C380-C722-79AB-AC0FFFCA8BDC}"/>
              </a:ext>
            </a:extLst>
          </p:cNvPr>
          <p:cNvSpPr/>
          <p:nvPr/>
        </p:nvSpPr>
        <p:spPr>
          <a:xfrm>
            <a:off x="6512424" y="7289279"/>
            <a:ext cx="2148855" cy="1389236"/>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Seluruh mitra strategis dan bentuk kerja sama yang dijalin YNKI dipublikasikan sebagai bentuk akuntabilitas publik. Keterbukaan ini memastikan kolaborasi yang bermartabat dan saling menguntungkan.</a:t>
            </a:r>
            <a:endParaRPr lang="en-US" sz="950" dirty="0">
              <a:latin typeface="Leelawadee UI" panose="020B0502040204020203" pitchFamily="34" charset="-34"/>
              <a:cs typeface="Leelawadee UI" panose="020B0502040204020203" pitchFamily="34" charset="-34"/>
            </a:endParaRPr>
          </a:p>
        </p:txBody>
      </p:sp>
      <p:sp>
        <p:nvSpPr>
          <p:cNvPr id="23" name="Text 0">
            <a:extLst>
              <a:ext uri="{FF2B5EF4-FFF2-40B4-BE49-F238E27FC236}">
                <a16:creationId xmlns:a16="http://schemas.microsoft.com/office/drawing/2014/main" id="{9029E9A9-FC43-CE56-D815-DB34CF336461}"/>
              </a:ext>
            </a:extLst>
          </p:cNvPr>
          <p:cNvSpPr/>
          <p:nvPr/>
        </p:nvSpPr>
        <p:spPr>
          <a:xfrm>
            <a:off x="496119" y="9144648"/>
            <a:ext cx="4929336" cy="310083"/>
          </a:xfrm>
          <a:prstGeom prst="rect">
            <a:avLst/>
          </a:prstGeom>
          <a:noFill/>
          <a:ln/>
        </p:spPr>
        <p:txBody>
          <a:bodyPr wrap="none" lIns="0" tIns="0" rIns="0" bIns="0" rtlCol="0" anchor="t"/>
          <a:lstStyle/>
          <a:p>
            <a:pPr>
              <a:lnSpc>
                <a:spcPct val="104000"/>
              </a:lnSpc>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Laporan Tahunan &amp; Laporan Keuangan</a:t>
            </a:r>
            <a:endParaRPr lang="en-US" sz="2200" dirty="0">
              <a:latin typeface="Leelawadee UI" panose="020B0502040204020203" pitchFamily="34" charset="-34"/>
              <a:cs typeface="Leelawadee UI" panose="020B0502040204020203" pitchFamily="34" charset="-34"/>
            </a:endParaRPr>
          </a:p>
        </p:txBody>
      </p:sp>
      <p:sp>
        <p:nvSpPr>
          <p:cNvPr id="24" name="Text 1">
            <a:extLst>
              <a:ext uri="{FF2B5EF4-FFF2-40B4-BE49-F238E27FC236}">
                <a16:creationId xmlns:a16="http://schemas.microsoft.com/office/drawing/2014/main" id="{1A1C4402-D4FF-E58F-BA38-493A23E1156A}"/>
              </a:ext>
            </a:extLst>
          </p:cNvPr>
          <p:cNvSpPr/>
          <p:nvPr/>
        </p:nvSpPr>
        <p:spPr>
          <a:xfrm>
            <a:off x="496121" y="9702753"/>
            <a:ext cx="8151763" cy="595387"/>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secara rutin menyusun laporan tahunan dan laporan keuangan sebagai bentuk pertanggungjawaban kepada para pemangku kepentingan. Seluruh laporan dapat diakses dan diunduh secara gratis melalui halaman ini. Konsistensi pelaporan selama beberapa tahun terakhir mencerminkan komitmen kami terhadap akuntabilitas jangka panjang.</a:t>
            </a:r>
            <a:endParaRPr lang="en-US" sz="1000" dirty="0">
              <a:latin typeface="Leelawadee UI" panose="020B0502040204020203" pitchFamily="34" charset="-34"/>
              <a:cs typeface="Leelawadee UI" panose="020B0502040204020203" pitchFamily="34" charset="-34"/>
            </a:endParaRPr>
          </a:p>
        </p:txBody>
      </p:sp>
      <p:sp>
        <p:nvSpPr>
          <p:cNvPr id="25" name="Shape 0">
            <a:extLst>
              <a:ext uri="{FF2B5EF4-FFF2-40B4-BE49-F238E27FC236}">
                <a16:creationId xmlns:a16="http://schemas.microsoft.com/office/drawing/2014/main" id="{6CBE85EF-238E-F7AF-156C-8507A86E8577}"/>
              </a:ext>
            </a:extLst>
          </p:cNvPr>
          <p:cNvSpPr/>
          <p:nvPr/>
        </p:nvSpPr>
        <p:spPr>
          <a:xfrm>
            <a:off x="496119" y="10636128"/>
            <a:ext cx="1383060" cy="253307"/>
          </a:xfrm>
          <a:prstGeom prst="roundRect">
            <a:avLst>
              <a:gd name="adj" fmla="val 6527"/>
            </a:avLst>
          </a:prstGeom>
          <a:solidFill>
            <a:srgbClr val="E3E3E8"/>
          </a:solidFill>
          <a:ln/>
        </p:spPr>
      </p:sp>
      <p:sp>
        <p:nvSpPr>
          <p:cNvPr id="26" name="Text 1">
            <a:extLst>
              <a:ext uri="{FF2B5EF4-FFF2-40B4-BE49-F238E27FC236}">
                <a16:creationId xmlns:a16="http://schemas.microsoft.com/office/drawing/2014/main" id="{BA0C2861-115C-8B0F-8D75-2F85E7A058D2}"/>
              </a:ext>
            </a:extLst>
          </p:cNvPr>
          <p:cNvSpPr/>
          <p:nvPr/>
        </p:nvSpPr>
        <p:spPr>
          <a:xfrm>
            <a:off x="565845" y="10670953"/>
            <a:ext cx="1383060" cy="144140"/>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LAPORAN TAHUNAN</a:t>
            </a:r>
            <a:endParaRPr lang="en-US" sz="900" dirty="0">
              <a:latin typeface="Leelawadee UI" panose="020B0502040204020203" pitchFamily="34" charset="-34"/>
              <a:cs typeface="Leelawadee UI" panose="020B0502040204020203" pitchFamily="34" charset="-34"/>
            </a:endParaRPr>
          </a:p>
        </p:txBody>
      </p:sp>
      <p:sp>
        <p:nvSpPr>
          <p:cNvPr id="27" name="Text 2">
            <a:extLst>
              <a:ext uri="{FF2B5EF4-FFF2-40B4-BE49-F238E27FC236}">
                <a16:creationId xmlns:a16="http://schemas.microsoft.com/office/drawing/2014/main" id="{B4AE926C-A7E7-B0DC-7169-8D974CDEF6F9}"/>
              </a:ext>
            </a:extLst>
          </p:cNvPr>
          <p:cNvSpPr/>
          <p:nvPr/>
        </p:nvSpPr>
        <p:spPr>
          <a:xfrm>
            <a:off x="496121" y="10893525"/>
            <a:ext cx="3333601" cy="290736"/>
          </a:xfrm>
          <a:prstGeom prst="rect">
            <a:avLst/>
          </a:prstGeom>
          <a:noFill/>
          <a:ln/>
        </p:spPr>
        <p:txBody>
          <a:bodyPr wrap="none" lIns="0" tIns="0" rIns="0" bIns="0" rtlCol="0" anchor="t"/>
          <a:lstStyle/>
          <a:p>
            <a:pPr>
              <a:lnSpc>
                <a:spcPct val="104000"/>
              </a:lnSpc>
            </a:pPr>
            <a:r>
              <a:rPr lang="en-US" dirty="0">
                <a:solidFill>
                  <a:srgbClr val="161613"/>
                </a:solidFill>
                <a:latin typeface="Leelawadee UI" panose="020B0502040204020203" pitchFamily="34" charset="-34"/>
                <a:ea typeface="DM Sans Medium" pitchFamily="34" charset="-122"/>
                <a:cs typeface="Leelawadee UI" panose="020B0502040204020203" pitchFamily="34" charset="-34"/>
              </a:rPr>
              <a:t>Unduh Laporan Organisasi</a:t>
            </a:r>
            <a:endParaRPr lang="en-US" dirty="0">
              <a:latin typeface="Leelawadee UI" panose="020B0502040204020203" pitchFamily="34" charset="-34"/>
              <a:cs typeface="Leelawadee UI" panose="020B0502040204020203" pitchFamily="34" charset="-34"/>
            </a:endParaRPr>
          </a:p>
        </p:txBody>
      </p:sp>
      <p:sp>
        <p:nvSpPr>
          <p:cNvPr id="28" name="Text 3">
            <a:extLst>
              <a:ext uri="{FF2B5EF4-FFF2-40B4-BE49-F238E27FC236}">
                <a16:creationId xmlns:a16="http://schemas.microsoft.com/office/drawing/2014/main" id="{045192FB-7BA3-3E3B-62A9-97A5BE6D0CF6}"/>
              </a:ext>
            </a:extLst>
          </p:cNvPr>
          <p:cNvSpPr/>
          <p:nvPr/>
        </p:nvSpPr>
        <p:spPr>
          <a:xfrm>
            <a:off x="496121" y="11347749"/>
            <a:ext cx="8151763" cy="360462"/>
          </a:xfrm>
          <a:prstGeom prst="rect">
            <a:avLst/>
          </a:prstGeom>
          <a:noFill/>
          <a:ln/>
        </p:spPr>
        <p:txBody>
          <a:bodyPr wrap="square" lIns="0" tIns="0" rIns="0" bIns="0" rtlCol="0" anchor="t">
            <a:normAutofit lnSpcReduction="10000"/>
          </a:bodyPr>
          <a:lstStyle/>
          <a:p>
            <a:pPr>
              <a:lnSpc>
                <a:spcPct val="129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Semua dokumen tersedia dalam format PDF dan dapat diunduh secara gratis. Laporan-laporan ini telah melalui proses verifikasi dan disusun sesuai standar pelaporan nirlaba yang berlaku.</a:t>
            </a:r>
            <a:endParaRPr lang="en-US" sz="1000" dirty="0">
              <a:latin typeface="Leelawadee UI" panose="020B0502040204020203" pitchFamily="34" charset="-34"/>
              <a:cs typeface="Leelawadee UI" panose="020B0502040204020203" pitchFamily="34" charset="-34"/>
            </a:endParaRPr>
          </a:p>
        </p:txBody>
      </p:sp>
      <p:sp>
        <p:nvSpPr>
          <p:cNvPr id="29" name="Shape 4">
            <a:extLst>
              <a:ext uri="{FF2B5EF4-FFF2-40B4-BE49-F238E27FC236}">
                <a16:creationId xmlns:a16="http://schemas.microsoft.com/office/drawing/2014/main" id="{FC6FA179-FFD6-4403-4271-6E6AF6FF764C}"/>
              </a:ext>
            </a:extLst>
          </p:cNvPr>
          <p:cNvSpPr/>
          <p:nvPr/>
        </p:nvSpPr>
        <p:spPr>
          <a:xfrm>
            <a:off x="496121" y="11830845"/>
            <a:ext cx="8151763" cy="2282130"/>
          </a:xfrm>
          <a:prstGeom prst="roundRect">
            <a:avLst>
              <a:gd name="adj" fmla="val 764"/>
            </a:avLst>
          </a:prstGeom>
          <a:noFill/>
          <a:ln w="4763">
            <a:solidFill>
              <a:srgbClr val="000000">
                <a:alpha val="8000"/>
              </a:srgbClr>
            </a:solidFill>
            <a:prstDash val="solid"/>
          </a:ln>
        </p:spPr>
      </p:sp>
      <p:sp>
        <p:nvSpPr>
          <p:cNvPr id="30" name="Shape 5">
            <a:extLst>
              <a:ext uri="{FF2B5EF4-FFF2-40B4-BE49-F238E27FC236}">
                <a16:creationId xmlns:a16="http://schemas.microsoft.com/office/drawing/2014/main" id="{608D1E88-DD85-B35B-B608-B140DF4C630C}"/>
              </a:ext>
            </a:extLst>
          </p:cNvPr>
          <p:cNvSpPr/>
          <p:nvPr/>
        </p:nvSpPr>
        <p:spPr>
          <a:xfrm>
            <a:off x="501030" y="11835609"/>
            <a:ext cx="3256880" cy="322957"/>
          </a:xfrm>
          <a:prstGeom prst="rect">
            <a:avLst/>
          </a:prstGeom>
          <a:solidFill>
            <a:srgbClr val="1B5E20"/>
          </a:solidFill>
          <a:ln/>
        </p:spPr>
      </p:sp>
      <p:sp>
        <p:nvSpPr>
          <p:cNvPr id="31" name="Text 6">
            <a:extLst>
              <a:ext uri="{FF2B5EF4-FFF2-40B4-BE49-F238E27FC236}">
                <a16:creationId xmlns:a16="http://schemas.microsoft.com/office/drawing/2014/main" id="{3555DC8E-EC96-E5B5-E5A9-516E90B7F417}"/>
              </a:ext>
            </a:extLst>
          </p:cNvPr>
          <p:cNvSpPr/>
          <p:nvPr/>
        </p:nvSpPr>
        <p:spPr>
          <a:xfrm>
            <a:off x="617267" y="11905782"/>
            <a:ext cx="3481611" cy="180231"/>
          </a:xfrm>
          <a:prstGeom prst="rect">
            <a:avLst/>
          </a:prstGeom>
          <a:noFill/>
          <a:ln/>
        </p:spPr>
        <p:txBody>
          <a:bodyPr wrap="none" lIns="0" tIns="0" rIns="0" bIns="0" rtlCol="0" anchor="t"/>
          <a:lstStyle/>
          <a:p>
            <a:pPr>
              <a:lnSpc>
                <a:spcPct val="129000"/>
              </a:lnSpc>
            </a:pPr>
            <a:r>
              <a:rPr lang="en-US" sz="900" b="1" dirty="0">
                <a:solidFill>
                  <a:srgbClr val="FFFFFF"/>
                </a:solidFill>
                <a:latin typeface="Leelawadee UI" panose="020B0502040204020203" pitchFamily="34" charset="-34"/>
                <a:ea typeface="Inter" pitchFamily="34" charset="-122"/>
                <a:cs typeface="Leelawadee UI" panose="020B0502040204020203" pitchFamily="34" charset="-34"/>
              </a:rPr>
              <a:t>Judul Laporan</a:t>
            </a:r>
            <a:endParaRPr lang="en-US" sz="900" dirty="0">
              <a:latin typeface="Leelawadee UI" panose="020B0502040204020203" pitchFamily="34" charset="-34"/>
              <a:cs typeface="Leelawadee UI" panose="020B0502040204020203" pitchFamily="34" charset="-34"/>
            </a:endParaRPr>
          </a:p>
        </p:txBody>
      </p:sp>
      <p:sp>
        <p:nvSpPr>
          <p:cNvPr id="32" name="Shape 7">
            <a:extLst>
              <a:ext uri="{FF2B5EF4-FFF2-40B4-BE49-F238E27FC236}">
                <a16:creationId xmlns:a16="http://schemas.microsoft.com/office/drawing/2014/main" id="{2CC15961-3D13-6FAE-D608-F8A911DF01EB}"/>
              </a:ext>
            </a:extLst>
          </p:cNvPr>
          <p:cNvSpPr/>
          <p:nvPr/>
        </p:nvSpPr>
        <p:spPr>
          <a:xfrm>
            <a:off x="3757910" y="11835609"/>
            <a:ext cx="1221284" cy="322957"/>
          </a:xfrm>
          <a:prstGeom prst="rect">
            <a:avLst/>
          </a:prstGeom>
          <a:solidFill>
            <a:srgbClr val="1B5E20"/>
          </a:solidFill>
          <a:ln/>
        </p:spPr>
      </p:sp>
      <p:sp>
        <p:nvSpPr>
          <p:cNvPr id="33" name="Text 8">
            <a:extLst>
              <a:ext uri="{FF2B5EF4-FFF2-40B4-BE49-F238E27FC236}">
                <a16:creationId xmlns:a16="http://schemas.microsoft.com/office/drawing/2014/main" id="{9DA62059-CDEA-B62F-921D-B2D775B7510B}"/>
              </a:ext>
            </a:extLst>
          </p:cNvPr>
          <p:cNvSpPr/>
          <p:nvPr/>
        </p:nvSpPr>
        <p:spPr>
          <a:xfrm>
            <a:off x="3874145" y="11905782"/>
            <a:ext cx="1446014" cy="180231"/>
          </a:xfrm>
          <a:prstGeom prst="rect">
            <a:avLst/>
          </a:prstGeom>
          <a:noFill/>
          <a:ln/>
        </p:spPr>
        <p:txBody>
          <a:bodyPr wrap="none" lIns="0" tIns="0" rIns="0" bIns="0" rtlCol="0" anchor="t"/>
          <a:lstStyle/>
          <a:p>
            <a:pPr>
              <a:lnSpc>
                <a:spcPct val="129000"/>
              </a:lnSpc>
            </a:pPr>
            <a:r>
              <a:rPr lang="en-US" sz="900" b="1" dirty="0">
                <a:solidFill>
                  <a:srgbClr val="FFFFFF"/>
                </a:solidFill>
                <a:latin typeface="Leelawadee UI" panose="020B0502040204020203" pitchFamily="34" charset="-34"/>
                <a:ea typeface="Inter" pitchFamily="34" charset="-122"/>
                <a:cs typeface="Leelawadee UI" panose="020B0502040204020203" pitchFamily="34" charset="-34"/>
              </a:rPr>
              <a:t>Tahun</a:t>
            </a:r>
            <a:endParaRPr lang="en-US" sz="900" dirty="0">
              <a:latin typeface="Leelawadee UI" panose="020B0502040204020203" pitchFamily="34" charset="-34"/>
              <a:cs typeface="Leelawadee UI" panose="020B0502040204020203" pitchFamily="34" charset="-34"/>
            </a:endParaRPr>
          </a:p>
        </p:txBody>
      </p:sp>
      <p:sp>
        <p:nvSpPr>
          <p:cNvPr id="34" name="Shape 9">
            <a:extLst>
              <a:ext uri="{FF2B5EF4-FFF2-40B4-BE49-F238E27FC236}">
                <a16:creationId xmlns:a16="http://schemas.microsoft.com/office/drawing/2014/main" id="{D419FFA9-A97C-6EA2-37FB-7D586B7DB976}"/>
              </a:ext>
            </a:extLst>
          </p:cNvPr>
          <p:cNvSpPr/>
          <p:nvPr/>
        </p:nvSpPr>
        <p:spPr>
          <a:xfrm>
            <a:off x="4979194" y="11835609"/>
            <a:ext cx="2035522" cy="322957"/>
          </a:xfrm>
          <a:prstGeom prst="rect">
            <a:avLst/>
          </a:prstGeom>
          <a:solidFill>
            <a:srgbClr val="1B5E20"/>
          </a:solidFill>
          <a:ln/>
        </p:spPr>
      </p:sp>
      <p:sp>
        <p:nvSpPr>
          <p:cNvPr id="35" name="Text 10">
            <a:extLst>
              <a:ext uri="{FF2B5EF4-FFF2-40B4-BE49-F238E27FC236}">
                <a16:creationId xmlns:a16="http://schemas.microsoft.com/office/drawing/2014/main" id="{62D4F1B7-4F7A-AD7C-9E82-B0D349E8F5CE}"/>
              </a:ext>
            </a:extLst>
          </p:cNvPr>
          <p:cNvSpPr/>
          <p:nvPr/>
        </p:nvSpPr>
        <p:spPr>
          <a:xfrm>
            <a:off x="5095431" y="11905782"/>
            <a:ext cx="2260253" cy="180231"/>
          </a:xfrm>
          <a:prstGeom prst="rect">
            <a:avLst/>
          </a:prstGeom>
          <a:noFill/>
          <a:ln/>
        </p:spPr>
        <p:txBody>
          <a:bodyPr wrap="none" lIns="0" tIns="0" rIns="0" bIns="0" rtlCol="0" anchor="t"/>
          <a:lstStyle/>
          <a:p>
            <a:pPr>
              <a:lnSpc>
                <a:spcPct val="129000"/>
              </a:lnSpc>
            </a:pPr>
            <a:r>
              <a:rPr lang="en-US" sz="900" b="1" dirty="0">
                <a:solidFill>
                  <a:srgbClr val="FFFFFF"/>
                </a:solidFill>
                <a:latin typeface="Leelawadee UI" panose="020B0502040204020203" pitchFamily="34" charset="-34"/>
                <a:ea typeface="Inter" pitchFamily="34" charset="-122"/>
                <a:cs typeface="Leelawadee UI" panose="020B0502040204020203" pitchFamily="34" charset="-34"/>
              </a:rPr>
              <a:t>Jenis</a:t>
            </a:r>
            <a:endParaRPr lang="en-US" sz="900" dirty="0">
              <a:latin typeface="Leelawadee UI" panose="020B0502040204020203" pitchFamily="34" charset="-34"/>
              <a:cs typeface="Leelawadee UI" panose="020B0502040204020203" pitchFamily="34" charset="-34"/>
            </a:endParaRPr>
          </a:p>
        </p:txBody>
      </p:sp>
      <p:sp>
        <p:nvSpPr>
          <p:cNvPr id="36" name="Shape 11">
            <a:extLst>
              <a:ext uri="{FF2B5EF4-FFF2-40B4-BE49-F238E27FC236}">
                <a16:creationId xmlns:a16="http://schemas.microsoft.com/office/drawing/2014/main" id="{9E0F9EA3-24AC-B8EB-3FFD-37FA0D2584DD}"/>
              </a:ext>
            </a:extLst>
          </p:cNvPr>
          <p:cNvSpPr/>
          <p:nvPr/>
        </p:nvSpPr>
        <p:spPr>
          <a:xfrm>
            <a:off x="7014718" y="11835609"/>
            <a:ext cx="1628403" cy="322957"/>
          </a:xfrm>
          <a:prstGeom prst="rect">
            <a:avLst/>
          </a:prstGeom>
          <a:solidFill>
            <a:srgbClr val="1B5E20"/>
          </a:solidFill>
          <a:ln/>
        </p:spPr>
      </p:sp>
      <p:sp>
        <p:nvSpPr>
          <p:cNvPr id="37" name="Text 12">
            <a:extLst>
              <a:ext uri="{FF2B5EF4-FFF2-40B4-BE49-F238E27FC236}">
                <a16:creationId xmlns:a16="http://schemas.microsoft.com/office/drawing/2014/main" id="{D1292605-A3C6-B8CD-EEFB-CC72183488B2}"/>
              </a:ext>
            </a:extLst>
          </p:cNvPr>
          <p:cNvSpPr/>
          <p:nvPr/>
        </p:nvSpPr>
        <p:spPr>
          <a:xfrm>
            <a:off x="7130953" y="11905782"/>
            <a:ext cx="1853133" cy="180231"/>
          </a:xfrm>
          <a:prstGeom prst="rect">
            <a:avLst/>
          </a:prstGeom>
          <a:noFill/>
          <a:ln/>
        </p:spPr>
        <p:txBody>
          <a:bodyPr wrap="none" lIns="0" tIns="0" rIns="0" bIns="0" rtlCol="0" anchor="t"/>
          <a:lstStyle/>
          <a:p>
            <a:pPr>
              <a:lnSpc>
                <a:spcPct val="129000"/>
              </a:lnSpc>
            </a:pPr>
            <a:r>
              <a:rPr lang="en-US" sz="900" b="1" dirty="0">
                <a:solidFill>
                  <a:srgbClr val="FFFFFF"/>
                </a:solidFill>
                <a:latin typeface="Leelawadee UI" panose="020B0502040204020203" pitchFamily="34" charset="-34"/>
                <a:ea typeface="Inter" pitchFamily="34" charset="-122"/>
                <a:cs typeface="Leelawadee UI" panose="020B0502040204020203" pitchFamily="34" charset="-34"/>
              </a:rPr>
              <a:t>Aksi</a:t>
            </a:r>
            <a:endParaRPr lang="en-US" sz="900" dirty="0">
              <a:latin typeface="Leelawadee UI" panose="020B0502040204020203" pitchFamily="34" charset="-34"/>
              <a:cs typeface="Leelawadee UI" panose="020B0502040204020203" pitchFamily="34" charset="-34"/>
            </a:endParaRPr>
          </a:p>
        </p:txBody>
      </p:sp>
      <p:sp>
        <p:nvSpPr>
          <p:cNvPr id="38" name="Text 13">
            <a:extLst>
              <a:ext uri="{FF2B5EF4-FFF2-40B4-BE49-F238E27FC236}">
                <a16:creationId xmlns:a16="http://schemas.microsoft.com/office/drawing/2014/main" id="{E1836C53-2C7D-1156-4E93-9C691E297F67}"/>
              </a:ext>
            </a:extLst>
          </p:cNvPr>
          <p:cNvSpPr/>
          <p:nvPr/>
        </p:nvSpPr>
        <p:spPr>
          <a:xfrm>
            <a:off x="617267" y="12231120"/>
            <a:ext cx="3481611"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Laporan Tahunan YNKI 2024</a:t>
            </a:r>
            <a:endParaRPr lang="en-US" sz="900" dirty="0">
              <a:latin typeface="Leelawadee UI" panose="020B0502040204020203" pitchFamily="34" charset="-34"/>
              <a:cs typeface="Leelawadee UI" panose="020B0502040204020203" pitchFamily="34" charset="-34"/>
            </a:endParaRPr>
          </a:p>
        </p:txBody>
      </p:sp>
      <p:sp>
        <p:nvSpPr>
          <p:cNvPr id="39" name="Text 14">
            <a:extLst>
              <a:ext uri="{FF2B5EF4-FFF2-40B4-BE49-F238E27FC236}">
                <a16:creationId xmlns:a16="http://schemas.microsoft.com/office/drawing/2014/main" id="{6E1F86BE-D679-0854-EFBD-95A340AA5A0E}"/>
              </a:ext>
            </a:extLst>
          </p:cNvPr>
          <p:cNvSpPr/>
          <p:nvPr/>
        </p:nvSpPr>
        <p:spPr>
          <a:xfrm>
            <a:off x="3874145" y="12231120"/>
            <a:ext cx="1446014"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2024</a:t>
            </a:r>
            <a:endParaRPr lang="en-US" sz="900" dirty="0">
              <a:latin typeface="Leelawadee UI" panose="020B0502040204020203" pitchFamily="34" charset="-34"/>
              <a:cs typeface="Leelawadee UI" panose="020B0502040204020203" pitchFamily="34" charset="-34"/>
            </a:endParaRPr>
          </a:p>
        </p:txBody>
      </p:sp>
      <p:sp>
        <p:nvSpPr>
          <p:cNvPr id="40" name="Text 15">
            <a:extLst>
              <a:ext uri="{FF2B5EF4-FFF2-40B4-BE49-F238E27FC236}">
                <a16:creationId xmlns:a16="http://schemas.microsoft.com/office/drawing/2014/main" id="{DC884E2F-6D0A-FCF2-36AF-407F24783D18}"/>
              </a:ext>
            </a:extLst>
          </p:cNvPr>
          <p:cNvSpPr/>
          <p:nvPr/>
        </p:nvSpPr>
        <p:spPr>
          <a:xfrm>
            <a:off x="5095431" y="12231120"/>
            <a:ext cx="2260253"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Laporan Tahunan</a:t>
            </a:r>
            <a:endParaRPr lang="en-US" sz="900" dirty="0">
              <a:latin typeface="Leelawadee UI" panose="020B0502040204020203" pitchFamily="34" charset="-34"/>
              <a:cs typeface="Leelawadee UI" panose="020B0502040204020203" pitchFamily="34" charset="-34"/>
            </a:endParaRPr>
          </a:p>
        </p:txBody>
      </p:sp>
      <p:sp>
        <p:nvSpPr>
          <p:cNvPr id="41" name="Text 16">
            <a:extLst>
              <a:ext uri="{FF2B5EF4-FFF2-40B4-BE49-F238E27FC236}">
                <a16:creationId xmlns:a16="http://schemas.microsoft.com/office/drawing/2014/main" id="{15BC6509-83CA-B152-BE20-6C8920AB14D7}"/>
              </a:ext>
            </a:extLst>
          </p:cNvPr>
          <p:cNvSpPr/>
          <p:nvPr/>
        </p:nvSpPr>
        <p:spPr>
          <a:xfrm>
            <a:off x="7130953" y="12231120"/>
            <a:ext cx="1853133"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 Unduh PDF</a:t>
            </a:r>
            <a:endParaRPr lang="en-US" sz="900" dirty="0">
              <a:latin typeface="Leelawadee UI" panose="020B0502040204020203" pitchFamily="34" charset="-34"/>
              <a:cs typeface="Leelawadee UI" panose="020B0502040204020203" pitchFamily="34" charset="-34"/>
            </a:endParaRPr>
          </a:p>
        </p:txBody>
      </p:sp>
      <p:sp>
        <p:nvSpPr>
          <p:cNvPr id="42" name="Text 17">
            <a:extLst>
              <a:ext uri="{FF2B5EF4-FFF2-40B4-BE49-F238E27FC236}">
                <a16:creationId xmlns:a16="http://schemas.microsoft.com/office/drawing/2014/main" id="{68EB9565-7359-008C-B7B4-4ADA22793440}"/>
              </a:ext>
            </a:extLst>
          </p:cNvPr>
          <p:cNvSpPr/>
          <p:nvPr/>
        </p:nvSpPr>
        <p:spPr>
          <a:xfrm>
            <a:off x="617267" y="12556459"/>
            <a:ext cx="3481611"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Laporan Keuangan YNKI 2024</a:t>
            </a:r>
            <a:endParaRPr lang="en-US" sz="900" dirty="0">
              <a:latin typeface="Leelawadee UI" panose="020B0502040204020203" pitchFamily="34" charset="-34"/>
              <a:cs typeface="Leelawadee UI" panose="020B0502040204020203" pitchFamily="34" charset="-34"/>
            </a:endParaRPr>
          </a:p>
        </p:txBody>
      </p:sp>
      <p:sp>
        <p:nvSpPr>
          <p:cNvPr id="43" name="Text 18">
            <a:extLst>
              <a:ext uri="{FF2B5EF4-FFF2-40B4-BE49-F238E27FC236}">
                <a16:creationId xmlns:a16="http://schemas.microsoft.com/office/drawing/2014/main" id="{29FEE8E1-DC8F-A553-CD35-3DF8F1759060}"/>
              </a:ext>
            </a:extLst>
          </p:cNvPr>
          <p:cNvSpPr/>
          <p:nvPr/>
        </p:nvSpPr>
        <p:spPr>
          <a:xfrm>
            <a:off x="3874145" y="12556459"/>
            <a:ext cx="1446014"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2024</a:t>
            </a:r>
            <a:endParaRPr lang="en-US" sz="900" dirty="0">
              <a:latin typeface="Leelawadee UI" panose="020B0502040204020203" pitchFamily="34" charset="-34"/>
              <a:cs typeface="Leelawadee UI" panose="020B0502040204020203" pitchFamily="34" charset="-34"/>
            </a:endParaRPr>
          </a:p>
        </p:txBody>
      </p:sp>
      <p:sp>
        <p:nvSpPr>
          <p:cNvPr id="44" name="Text 19">
            <a:extLst>
              <a:ext uri="{FF2B5EF4-FFF2-40B4-BE49-F238E27FC236}">
                <a16:creationId xmlns:a16="http://schemas.microsoft.com/office/drawing/2014/main" id="{AB761455-D94A-8770-F789-B118A3D6CE6A}"/>
              </a:ext>
            </a:extLst>
          </p:cNvPr>
          <p:cNvSpPr/>
          <p:nvPr/>
        </p:nvSpPr>
        <p:spPr>
          <a:xfrm>
            <a:off x="5095431" y="12556459"/>
            <a:ext cx="2260253"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Laporan Keuangan</a:t>
            </a:r>
            <a:endParaRPr lang="en-US" sz="900" dirty="0">
              <a:latin typeface="Leelawadee UI" panose="020B0502040204020203" pitchFamily="34" charset="-34"/>
              <a:cs typeface="Leelawadee UI" panose="020B0502040204020203" pitchFamily="34" charset="-34"/>
            </a:endParaRPr>
          </a:p>
        </p:txBody>
      </p:sp>
      <p:sp>
        <p:nvSpPr>
          <p:cNvPr id="45" name="Text 20">
            <a:extLst>
              <a:ext uri="{FF2B5EF4-FFF2-40B4-BE49-F238E27FC236}">
                <a16:creationId xmlns:a16="http://schemas.microsoft.com/office/drawing/2014/main" id="{BCFA0E48-1303-C9BE-18EA-9028A54B0329}"/>
              </a:ext>
            </a:extLst>
          </p:cNvPr>
          <p:cNvSpPr/>
          <p:nvPr/>
        </p:nvSpPr>
        <p:spPr>
          <a:xfrm>
            <a:off x="7130953" y="12556459"/>
            <a:ext cx="1853133"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 Unduh PDF</a:t>
            </a:r>
            <a:endParaRPr lang="en-US" sz="900" dirty="0">
              <a:latin typeface="Leelawadee UI" panose="020B0502040204020203" pitchFamily="34" charset="-34"/>
              <a:cs typeface="Leelawadee UI" panose="020B0502040204020203" pitchFamily="34" charset="-34"/>
            </a:endParaRPr>
          </a:p>
        </p:txBody>
      </p:sp>
      <p:sp>
        <p:nvSpPr>
          <p:cNvPr id="46" name="Text 21">
            <a:extLst>
              <a:ext uri="{FF2B5EF4-FFF2-40B4-BE49-F238E27FC236}">
                <a16:creationId xmlns:a16="http://schemas.microsoft.com/office/drawing/2014/main" id="{F3BDD6FE-2D4E-31D0-9D04-A263E9D3FDAA}"/>
              </a:ext>
            </a:extLst>
          </p:cNvPr>
          <p:cNvSpPr/>
          <p:nvPr/>
        </p:nvSpPr>
        <p:spPr>
          <a:xfrm>
            <a:off x="617267" y="12881797"/>
            <a:ext cx="3481611"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Laporan Tahunan YNKI 2023</a:t>
            </a:r>
            <a:endParaRPr lang="en-US" sz="900" dirty="0">
              <a:latin typeface="Leelawadee UI" panose="020B0502040204020203" pitchFamily="34" charset="-34"/>
              <a:cs typeface="Leelawadee UI" panose="020B0502040204020203" pitchFamily="34" charset="-34"/>
            </a:endParaRPr>
          </a:p>
        </p:txBody>
      </p:sp>
      <p:sp>
        <p:nvSpPr>
          <p:cNvPr id="47" name="Text 22">
            <a:extLst>
              <a:ext uri="{FF2B5EF4-FFF2-40B4-BE49-F238E27FC236}">
                <a16:creationId xmlns:a16="http://schemas.microsoft.com/office/drawing/2014/main" id="{A0276925-387D-FA57-6BD9-49BA7AACAB5C}"/>
              </a:ext>
            </a:extLst>
          </p:cNvPr>
          <p:cNvSpPr/>
          <p:nvPr/>
        </p:nvSpPr>
        <p:spPr>
          <a:xfrm>
            <a:off x="3874145" y="12881797"/>
            <a:ext cx="1446014"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2023</a:t>
            </a:r>
            <a:endParaRPr lang="en-US" sz="900" dirty="0">
              <a:latin typeface="Leelawadee UI" panose="020B0502040204020203" pitchFamily="34" charset="-34"/>
              <a:cs typeface="Leelawadee UI" panose="020B0502040204020203" pitchFamily="34" charset="-34"/>
            </a:endParaRPr>
          </a:p>
        </p:txBody>
      </p:sp>
      <p:sp>
        <p:nvSpPr>
          <p:cNvPr id="48" name="Text 23">
            <a:extLst>
              <a:ext uri="{FF2B5EF4-FFF2-40B4-BE49-F238E27FC236}">
                <a16:creationId xmlns:a16="http://schemas.microsoft.com/office/drawing/2014/main" id="{80896512-7300-F510-9C2C-D709449145E2}"/>
              </a:ext>
            </a:extLst>
          </p:cNvPr>
          <p:cNvSpPr/>
          <p:nvPr/>
        </p:nvSpPr>
        <p:spPr>
          <a:xfrm>
            <a:off x="5095431" y="12881797"/>
            <a:ext cx="2260253"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Laporan Tahunan</a:t>
            </a:r>
            <a:endParaRPr lang="en-US" sz="900" dirty="0">
              <a:latin typeface="Leelawadee UI" panose="020B0502040204020203" pitchFamily="34" charset="-34"/>
              <a:cs typeface="Leelawadee UI" panose="020B0502040204020203" pitchFamily="34" charset="-34"/>
            </a:endParaRPr>
          </a:p>
        </p:txBody>
      </p:sp>
      <p:sp>
        <p:nvSpPr>
          <p:cNvPr id="49" name="Text 24">
            <a:extLst>
              <a:ext uri="{FF2B5EF4-FFF2-40B4-BE49-F238E27FC236}">
                <a16:creationId xmlns:a16="http://schemas.microsoft.com/office/drawing/2014/main" id="{66586510-DD9E-DBED-45A0-206D449F4AEC}"/>
              </a:ext>
            </a:extLst>
          </p:cNvPr>
          <p:cNvSpPr/>
          <p:nvPr/>
        </p:nvSpPr>
        <p:spPr>
          <a:xfrm>
            <a:off x="7130953" y="12881797"/>
            <a:ext cx="1853133"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 Unduh PDF</a:t>
            </a:r>
            <a:endParaRPr lang="en-US" sz="900" dirty="0">
              <a:latin typeface="Leelawadee UI" panose="020B0502040204020203" pitchFamily="34" charset="-34"/>
              <a:cs typeface="Leelawadee UI" panose="020B0502040204020203" pitchFamily="34" charset="-34"/>
            </a:endParaRPr>
          </a:p>
        </p:txBody>
      </p:sp>
      <p:sp>
        <p:nvSpPr>
          <p:cNvPr id="50" name="Text 25">
            <a:extLst>
              <a:ext uri="{FF2B5EF4-FFF2-40B4-BE49-F238E27FC236}">
                <a16:creationId xmlns:a16="http://schemas.microsoft.com/office/drawing/2014/main" id="{BC21B008-00ED-F13E-85EE-C5181B975FF0}"/>
              </a:ext>
            </a:extLst>
          </p:cNvPr>
          <p:cNvSpPr/>
          <p:nvPr/>
        </p:nvSpPr>
        <p:spPr>
          <a:xfrm>
            <a:off x="617267" y="13207135"/>
            <a:ext cx="3481611"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Laporan Keuangan YNKI 2023</a:t>
            </a:r>
            <a:endParaRPr lang="en-US" sz="900" dirty="0">
              <a:latin typeface="Leelawadee UI" panose="020B0502040204020203" pitchFamily="34" charset="-34"/>
              <a:cs typeface="Leelawadee UI" panose="020B0502040204020203" pitchFamily="34" charset="-34"/>
            </a:endParaRPr>
          </a:p>
        </p:txBody>
      </p:sp>
      <p:sp>
        <p:nvSpPr>
          <p:cNvPr id="51" name="Text 26">
            <a:extLst>
              <a:ext uri="{FF2B5EF4-FFF2-40B4-BE49-F238E27FC236}">
                <a16:creationId xmlns:a16="http://schemas.microsoft.com/office/drawing/2014/main" id="{14A58308-42D4-0CBF-582D-AD1F2BB5AE7C}"/>
              </a:ext>
            </a:extLst>
          </p:cNvPr>
          <p:cNvSpPr/>
          <p:nvPr/>
        </p:nvSpPr>
        <p:spPr>
          <a:xfrm>
            <a:off x="3874145" y="13207135"/>
            <a:ext cx="1446014"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2023</a:t>
            </a:r>
            <a:endParaRPr lang="en-US" sz="900" dirty="0">
              <a:latin typeface="Leelawadee UI" panose="020B0502040204020203" pitchFamily="34" charset="-34"/>
              <a:cs typeface="Leelawadee UI" panose="020B0502040204020203" pitchFamily="34" charset="-34"/>
            </a:endParaRPr>
          </a:p>
        </p:txBody>
      </p:sp>
      <p:sp>
        <p:nvSpPr>
          <p:cNvPr id="52" name="Text 27">
            <a:extLst>
              <a:ext uri="{FF2B5EF4-FFF2-40B4-BE49-F238E27FC236}">
                <a16:creationId xmlns:a16="http://schemas.microsoft.com/office/drawing/2014/main" id="{E7A7DE89-7675-9BEA-DFF5-DE2EC9F3F904}"/>
              </a:ext>
            </a:extLst>
          </p:cNvPr>
          <p:cNvSpPr/>
          <p:nvPr/>
        </p:nvSpPr>
        <p:spPr>
          <a:xfrm>
            <a:off x="5095431" y="13207135"/>
            <a:ext cx="2260253"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Laporan Keuangan</a:t>
            </a:r>
            <a:endParaRPr lang="en-US" sz="900" dirty="0">
              <a:latin typeface="Leelawadee UI" panose="020B0502040204020203" pitchFamily="34" charset="-34"/>
              <a:cs typeface="Leelawadee UI" panose="020B0502040204020203" pitchFamily="34" charset="-34"/>
            </a:endParaRPr>
          </a:p>
        </p:txBody>
      </p:sp>
      <p:sp>
        <p:nvSpPr>
          <p:cNvPr id="53" name="Text 28">
            <a:extLst>
              <a:ext uri="{FF2B5EF4-FFF2-40B4-BE49-F238E27FC236}">
                <a16:creationId xmlns:a16="http://schemas.microsoft.com/office/drawing/2014/main" id="{60E08C6A-2445-3F81-5749-D7E0B6FF1E84}"/>
              </a:ext>
            </a:extLst>
          </p:cNvPr>
          <p:cNvSpPr/>
          <p:nvPr/>
        </p:nvSpPr>
        <p:spPr>
          <a:xfrm>
            <a:off x="7130953" y="13207135"/>
            <a:ext cx="1853133"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 Unduh PDF</a:t>
            </a:r>
            <a:endParaRPr lang="en-US" sz="900" dirty="0">
              <a:latin typeface="Leelawadee UI" panose="020B0502040204020203" pitchFamily="34" charset="-34"/>
              <a:cs typeface="Leelawadee UI" panose="020B0502040204020203" pitchFamily="34" charset="-34"/>
            </a:endParaRPr>
          </a:p>
        </p:txBody>
      </p:sp>
      <p:sp>
        <p:nvSpPr>
          <p:cNvPr id="54" name="Text 29">
            <a:extLst>
              <a:ext uri="{FF2B5EF4-FFF2-40B4-BE49-F238E27FC236}">
                <a16:creationId xmlns:a16="http://schemas.microsoft.com/office/drawing/2014/main" id="{C4D302FD-7C61-B706-76AE-CA60A3CAEACF}"/>
              </a:ext>
            </a:extLst>
          </p:cNvPr>
          <p:cNvSpPr/>
          <p:nvPr/>
        </p:nvSpPr>
        <p:spPr>
          <a:xfrm>
            <a:off x="617267" y="13532473"/>
            <a:ext cx="3481611"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Laporan Tahunan YNKI 2022</a:t>
            </a:r>
            <a:endParaRPr lang="en-US" sz="900" dirty="0">
              <a:latin typeface="Leelawadee UI" panose="020B0502040204020203" pitchFamily="34" charset="-34"/>
              <a:cs typeface="Leelawadee UI" panose="020B0502040204020203" pitchFamily="34" charset="-34"/>
            </a:endParaRPr>
          </a:p>
        </p:txBody>
      </p:sp>
      <p:sp>
        <p:nvSpPr>
          <p:cNvPr id="55" name="Text 30">
            <a:extLst>
              <a:ext uri="{FF2B5EF4-FFF2-40B4-BE49-F238E27FC236}">
                <a16:creationId xmlns:a16="http://schemas.microsoft.com/office/drawing/2014/main" id="{858E4D29-08FE-6BC7-2315-59CAAF367CA9}"/>
              </a:ext>
            </a:extLst>
          </p:cNvPr>
          <p:cNvSpPr/>
          <p:nvPr/>
        </p:nvSpPr>
        <p:spPr>
          <a:xfrm>
            <a:off x="3874145" y="13532473"/>
            <a:ext cx="1446014"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2022</a:t>
            </a:r>
            <a:endParaRPr lang="en-US" sz="900" dirty="0">
              <a:latin typeface="Leelawadee UI" panose="020B0502040204020203" pitchFamily="34" charset="-34"/>
              <a:cs typeface="Leelawadee UI" panose="020B0502040204020203" pitchFamily="34" charset="-34"/>
            </a:endParaRPr>
          </a:p>
        </p:txBody>
      </p:sp>
      <p:sp>
        <p:nvSpPr>
          <p:cNvPr id="56" name="Text 31">
            <a:extLst>
              <a:ext uri="{FF2B5EF4-FFF2-40B4-BE49-F238E27FC236}">
                <a16:creationId xmlns:a16="http://schemas.microsoft.com/office/drawing/2014/main" id="{CFBAE32D-698F-76B5-3442-317BE091162C}"/>
              </a:ext>
            </a:extLst>
          </p:cNvPr>
          <p:cNvSpPr/>
          <p:nvPr/>
        </p:nvSpPr>
        <p:spPr>
          <a:xfrm>
            <a:off x="5095431" y="13532473"/>
            <a:ext cx="2260253"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Laporan Tahunan</a:t>
            </a:r>
            <a:endParaRPr lang="en-US" sz="900" dirty="0">
              <a:latin typeface="Leelawadee UI" panose="020B0502040204020203" pitchFamily="34" charset="-34"/>
              <a:cs typeface="Leelawadee UI" panose="020B0502040204020203" pitchFamily="34" charset="-34"/>
            </a:endParaRPr>
          </a:p>
        </p:txBody>
      </p:sp>
      <p:sp>
        <p:nvSpPr>
          <p:cNvPr id="57" name="Text 32">
            <a:extLst>
              <a:ext uri="{FF2B5EF4-FFF2-40B4-BE49-F238E27FC236}">
                <a16:creationId xmlns:a16="http://schemas.microsoft.com/office/drawing/2014/main" id="{E565A344-3E3C-630A-6CDE-1A2C4C5FAA7D}"/>
              </a:ext>
            </a:extLst>
          </p:cNvPr>
          <p:cNvSpPr/>
          <p:nvPr/>
        </p:nvSpPr>
        <p:spPr>
          <a:xfrm>
            <a:off x="7130953" y="13532473"/>
            <a:ext cx="1853133"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 Unduh PDF</a:t>
            </a:r>
            <a:endParaRPr lang="en-US" sz="900" dirty="0">
              <a:latin typeface="Leelawadee UI" panose="020B0502040204020203" pitchFamily="34" charset="-34"/>
              <a:cs typeface="Leelawadee UI" panose="020B0502040204020203" pitchFamily="34" charset="-34"/>
            </a:endParaRPr>
          </a:p>
        </p:txBody>
      </p:sp>
      <p:sp>
        <p:nvSpPr>
          <p:cNvPr id="58" name="Text 33">
            <a:extLst>
              <a:ext uri="{FF2B5EF4-FFF2-40B4-BE49-F238E27FC236}">
                <a16:creationId xmlns:a16="http://schemas.microsoft.com/office/drawing/2014/main" id="{4DAA8756-7281-C0AC-462D-46586C611B59}"/>
              </a:ext>
            </a:extLst>
          </p:cNvPr>
          <p:cNvSpPr/>
          <p:nvPr/>
        </p:nvSpPr>
        <p:spPr>
          <a:xfrm>
            <a:off x="617267" y="13857812"/>
            <a:ext cx="3481611"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 Laporan Keuangan YNKI 2022</a:t>
            </a:r>
            <a:endParaRPr lang="en-US" sz="900" dirty="0">
              <a:latin typeface="Leelawadee UI" panose="020B0502040204020203" pitchFamily="34" charset="-34"/>
              <a:cs typeface="Leelawadee UI" panose="020B0502040204020203" pitchFamily="34" charset="-34"/>
            </a:endParaRPr>
          </a:p>
        </p:txBody>
      </p:sp>
      <p:sp>
        <p:nvSpPr>
          <p:cNvPr id="59" name="Text 34">
            <a:extLst>
              <a:ext uri="{FF2B5EF4-FFF2-40B4-BE49-F238E27FC236}">
                <a16:creationId xmlns:a16="http://schemas.microsoft.com/office/drawing/2014/main" id="{75F6D2FF-0B18-473F-0FAE-46FA9EEAF27E}"/>
              </a:ext>
            </a:extLst>
          </p:cNvPr>
          <p:cNvSpPr/>
          <p:nvPr/>
        </p:nvSpPr>
        <p:spPr>
          <a:xfrm>
            <a:off x="3874145" y="13857812"/>
            <a:ext cx="1446014"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2022</a:t>
            </a:r>
            <a:endParaRPr lang="en-US" sz="900" dirty="0">
              <a:latin typeface="Leelawadee UI" panose="020B0502040204020203" pitchFamily="34" charset="-34"/>
              <a:cs typeface="Leelawadee UI" panose="020B0502040204020203" pitchFamily="34" charset="-34"/>
            </a:endParaRPr>
          </a:p>
        </p:txBody>
      </p:sp>
      <p:sp>
        <p:nvSpPr>
          <p:cNvPr id="60" name="Text 35">
            <a:extLst>
              <a:ext uri="{FF2B5EF4-FFF2-40B4-BE49-F238E27FC236}">
                <a16:creationId xmlns:a16="http://schemas.microsoft.com/office/drawing/2014/main" id="{E89D8B3F-D7EF-EBD6-FB90-40053FD187D1}"/>
              </a:ext>
            </a:extLst>
          </p:cNvPr>
          <p:cNvSpPr/>
          <p:nvPr/>
        </p:nvSpPr>
        <p:spPr>
          <a:xfrm>
            <a:off x="5095431" y="13857812"/>
            <a:ext cx="2260253" cy="180231"/>
          </a:xfrm>
          <a:prstGeom prst="rect">
            <a:avLst/>
          </a:prstGeom>
          <a:noFill/>
          <a:ln/>
        </p:spPr>
        <p:txBody>
          <a:bodyPr wrap="none" lIns="0" tIns="0" rIns="0" bIns="0" rtlCol="0" anchor="t"/>
          <a:lstStyle/>
          <a:p>
            <a:pPr>
              <a:lnSpc>
                <a:spcPct val="129000"/>
              </a:lnSpc>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Laporan Keuangan</a:t>
            </a:r>
            <a:endParaRPr lang="en-US" sz="900" dirty="0">
              <a:latin typeface="Leelawadee UI" panose="020B0502040204020203" pitchFamily="34" charset="-34"/>
              <a:cs typeface="Leelawadee UI" panose="020B0502040204020203" pitchFamily="34" charset="-34"/>
            </a:endParaRPr>
          </a:p>
        </p:txBody>
      </p:sp>
      <p:sp>
        <p:nvSpPr>
          <p:cNvPr id="61" name="Text 36">
            <a:extLst>
              <a:ext uri="{FF2B5EF4-FFF2-40B4-BE49-F238E27FC236}">
                <a16:creationId xmlns:a16="http://schemas.microsoft.com/office/drawing/2014/main" id="{3CDC992B-BE28-226A-F283-71CF93DEAAF2}"/>
              </a:ext>
            </a:extLst>
          </p:cNvPr>
          <p:cNvSpPr/>
          <p:nvPr/>
        </p:nvSpPr>
        <p:spPr>
          <a:xfrm>
            <a:off x="7130953" y="13857812"/>
            <a:ext cx="1853133" cy="180231"/>
          </a:xfrm>
          <a:prstGeom prst="rect">
            <a:avLst/>
          </a:prstGeom>
          <a:noFill/>
          <a:ln/>
        </p:spPr>
        <p:txBody>
          <a:bodyPr wrap="none" lIns="0" tIns="0" rIns="0" bIns="0" rtlCol="0" anchor="t"/>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 Unduh PDF</a:t>
            </a:r>
            <a:endParaRPr lang="en-US" sz="900" dirty="0">
              <a:latin typeface="Leelawadee UI" panose="020B0502040204020203" pitchFamily="34" charset="-34"/>
              <a:cs typeface="Leelawadee UI" panose="020B0502040204020203" pitchFamily="34" charset="-34"/>
            </a:endParaRPr>
          </a:p>
        </p:txBody>
      </p:sp>
      <p:sp>
        <p:nvSpPr>
          <p:cNvPr id="62" name="Shape 37">
            <a:extLst>
              <a:ext uri="{FF2B5EF4-FFF2-40B4-BE49-F238E27FC236}">
                <a16:creationId xmlns:a16="http://schemas.microsoft.com/office/drawing/2014/main" id="{4259FAE2-567E-13A6-E1E9-A08B1BDEB5DD}"/>
              </a:ext>
            </a:extLst>
          </p:cNvPr>
          <p:cNvSpPr/>
          <p:nvPr/>
        </p:nvSpPr>
        <p:spPr>
          <a:xfrm>
            <a:off x="496121" y="14235610"/>
            <a:ext cx="8151763" cy="614660"/>
          </a:xfrm>
          <a:prstGeom prst="roundRect">
            <a:avLst>
              <a:gd name="adj" fmla="val 2838"/>
            </a:avLst>
          </a:prstGeom>
          <a:solidFill>
            <a:srgbClr val="B6D6FC"/>
          </a:solidFill>
          <a:ln/>
        </p:spPr>
      </p:sp>
      <p:pic>
        <p:nvPicPr>
          <p:cNvPr id="63" name="Image 0" descr="preencoded.png">
            <a:extLst>
              <a:ext uri="{FF2B5EF4-FFF2-40B4-BE49-F238E27FC236}">
                <a16:creationId xmlns:a16="http://schemas.microsoft.com/office/drawing/2014/main" id="{6D3A1AB6-E856-5F69-663B-31CB82515BC1}"/>
              </a:ext>
            </a:extLst>
          </p:cNvPr>
          <p:cNvPicPr>
            <a:picLocks noChangeAspect="1"/>
          </p:cNvPicPr>
          <p:nvPr/>
        </p:nvPicPr>
        <p:blipFill>
          <a:blip r:embed="rId8"/>
          <a:stretch>
            <a:fillRect/>
          </a:stretch>
        </p:blipFill>
        <p:spPr>
          <a:xfrm>
            <a:off x="612355" y="14398207"/>
            <a:ext cx="145331" cy="116235"/>
          </a:xfrm>
          <a:prstGeom prst="rect">
            <a:avLst/>
          </a:prstGeom>
        </p:spPr>
      </p:pic>
      <p:sp>
        <p:nvSpPr>
          <p:cNvPr id="64" name="Text 38">
            <a:extLst>
              <a:ext uri="{FF2B5EF4-FFF2-40B4-BE49-F238E27FC236}">
                <a16:creationId xmlns:a16="http://schemas.microsoft.com/office/drawing/2014/main" id="{09B74F0C-6C33-E34B-0BB1-F04DF4AC7464}"/>
              </a:ext>
            </a:extLst>
          </p:cNvPr>
          <p:cNvSpPr/>
          <p:nvPr/>
        </p:nvSpPr>
        <p:spPr>
          <a:xfrm>
            <a:off x="873919" y="14362709"/>
            <a:ext cx="7657728" cy="360462"/>
          </a:xfrm>
          <a:prstGeom prst="rect">
            <a:avLst/>
          </a:prstGeom>
          <a:noFill/>
          <a:ln/>
        </p:spPr>
        <p:txBody>
          <a:bodyPr wrap="square" lIns="0" tIns="0" rIns="0" bIns="0" rtlCol="0" anchor="t">
            <a:normAutofit/>
          </a:bodyPr>
          <a:lstStyle/>
          <a:p>
            <a:pPr>
              <a:lnSpc>
                <a:spcPct val="129000"/>
              </a:lnSpc>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Seluruh laporan keuangan YNKI telah melalui proses audit independen. Untuk pertanyaan lebih lanjut mengenai laporan, silakan hubungi kami di </a:t>
            </a:r>
            <a:r>
              <a:rPr lang="en-US" sz="900" b="1" dirty="0">
                <a:solidFill>
                  <a:srgbClr val="000000"/>
                </a:solidFill>
                <a:latin typeface="Leelawadee UI" panose="020B0502040204020203" pitchFamily="34" charset="-34"/>
                <a:ea typeface="Inter" pitchFamily="34" charset="-122"/>
                <a:cs typeface="Leelawadee UI" panose="020B0502040204020203" pitchFamily="34" charset="-34"/>
              </a:rPr>
              <a:t>info@naturalkapital.or.id</a:t>
            </a:r>
            <a:endParaRPr lang="en-US" sz="900" dirty="0">
              <a:latin typeface="Leelawadee UI" panose="020B0502040204020203" pitchFamily="34" charset="-34"/>
              <a:cs typeface="Leelawadee UI" panose="020B0502040204020203" pitchFamily="34" charset="-34"/>
            </a:endParaRPr>
          </a:p>
        </p:txBody>
      </p:sp>
      <p:sp>
        <p:nvSpPr>
          <p:cNvPr id="65" name="Text 0">
            <a:extLst>
              <a:ext uri="{FF2B5EF4-FFF2-40B4-BE49-F238E27FC236}">
                <a16:creationId xmlns:a16="http://schemas.microsoft.com/office/drawing/2014/main" id="{9065421C-A20C-7DF5-4A4B-7F2B91D59203}"/>
              </a:ext>
            </a:extLst>
          </p:cNvPr>
          <p:cNvSpPr/>
          <p:nvPr/>
        </p:nvSpPr>
        <p:spPr>
          <a:xfrm>
            <a:off x="506611" y="15447968"/>
            <a:ext cx="2938090" cy="310083"/>
          </a:xfrm>
          <a:prstGeom prst="rect">
            <a:avLst/>
          </a:prstGeom>
          <a:noFill/>
          <a:ln/>
        </p:spPr>
        <p:txBody>
          <a:bodyPr wrap="none" lIns="0" tIns="0" rIns="0" bIns="0" rtlCol="0" anchor="t"/>
          <a:lstStyle/>
          <a:p>
            <a:pPr>
              <a:lnSpc>
                <a:spcPct val="104000"/>
              </a:lnSpc>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Mitra Strategis YNKI</a:t>
            </a:r>
            <a:endParaRPr lang="en-US" sz="2200" dirty="0">
              <a:latin typeface="Leelawadee UI" panose="020B0502040204020203" pitchFamily="34" charset="-34"/>
              <a:cs typeface="Leelawadee UI" panose="020B0502040204020203" pitchFamily="34" charset="-34"/>
            </a:endParaRPr>
          </a:p>
        </p:txBody>
      </p:sp>
      <p:sp>
        <p:nvSpPr>
          <p:cNvPr id="66" name="Text 1">
            <a:extLst>
              <a:ext uri="{FF2B5EF4-FFF2-40B4-BE49-F238E27FC236}">
                <a16:creationId xmlns:a16="http://schemas.microsoft.com/office/drawing/2014/main" id="{78C6F622-BA02-FBF5-458A-2A9F007E96BC}"/>
              </a:ext>
            </a:extLst>
          </p:cNvPr>
          <p:cNvSpPr/>
          <p:nvPr/>
        </p:nvSpPr>
        <p:spPr>
          <a:xfrm>
            <a:off x="509516" y="15931026"/>
            <a:ext cx="8151763" cy="595387"/>
          </a:xfrm>
          <a:prstGeom prst="rect">
            <a:avLst/>
          </a:prstGeom>
          <a:noFill/>
          <a:ln/>
        </p:spPr>
        <p:txBody>
          <a:bodyPr wrap="square" lIns="0" tIns="0" rIns="0" bIns="0" rtlCol="0" anchor="t">
            <a:normAutofit/>
          </a:bodyPr>
          <a:lstStyle/>
          <a:p>
            <a:pPr>
              <a:lnSpc>
                <a:spcPct val="133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bekerja sama dengan berbagai mitra strategis dari pemerintah, lembaga donor, sektor swasta, organisasi masyarakat sipil, dan lembaga pengetahuan. Kolaborasi lintas sektor ini memperkuat kapasitas kami dalam mendorong transformasi tata kelola lanskap yang inklusif di Kalimantan Barat dan sekitarnya.</a:t>
            </a:r>
            <a:endParaRPr lang="en-US" sz="1000" dirty="0">
              <a:latin typeface="Leelawadee UI" panose="020B0502040204020203" pitchFamily="34" charset="-34"/>
              <a:cs typeface="Leelawadee UI" panose="020B0502040204020203" pitchFamily="34" charset="-34"/>
            </a:endParaRPr>
          </a:p>
        </p:txBody>
      </p:sp>
      <p:sp>
        <p:nvSpPr>
          <p:cNvPr id="67" name="Shape 0">
            <a:extLst>
              <a:ext uri="{FF2B5EF4-FFF2-40B4-BE49-F238E27FC236}">
                <a16:creationId xmlns:a16="http://schemas.microsoft.com/office/drawing/2014/main" id="{F94BA426-E30E-0845-94E8-EB75B3885C16}"/>
              </a:ext>
            </a:extLst>
          </p:cNvPr>
          <p:cNvSpPr/>
          <p:nvPr/>
        </p:nvSpPr>
        <p:spPr>
          <a:xfrm>
            <a:off x="501329" y="16809668"/>
            <a:ext cx="4072905" cy="2269852"/>
          </a:xfrm>
          <a:prstGeom prst="roundRect">
            <a:avLst>
              <a:gd name="adj" fmla="val 679"/>
            </a:avLst>
          </a:prstGeom>
          <a:solidFill>
            <a:srgbClr val="1B5E20"/>
          </a:solidFill>
          <a:ln/>
        </p:spPr>
      </p:sp>
      <p:sp>
        <p:nvSpPr>
          <p:cNvPr id="68" name="Shape 1">
            <a:extLst>
              <a:ext uri="{FF2B5EF4-FFF2-40B4-BE49-F238E27FC236}">
                <a16:creationId xmlns:a16="http://schemas.microsoft.com/office/drawing/2014/main" id="{7C73A0A6-6945-DC49-D3A7-8FD2A3163072}"/>
              </a:ext>
            </a:extLst>
          </p:cNvPr>
          <p:cNvSpPr/>
          <p:nvPr/>
        </p:nvSpPr>
        <p:spPr>
          <a:xfrm>
            <a:off x="604019" y="16905364"/>
            <a:ext cx="943347" cy="189384"/>
          </a:xfrm>
          <a:prstGeom prst="roundRect">
            <a:avLst>
              <a:gd name="adj" fmla="val 6446"/>
            </a:avLst>
          </a:prstGeom>
          <a:noFill/>
          <a:ln w="4763">
            <a:solidFill>
              <a:srgbClr val="28282F"/>
            </a:solidFill>
            <a:prstDash val="solid"/>
          </a:ln>
        </p:spPr>
      </p:sp>
      <p:sp>
        <p:nvSpPr>
          <p:cNvPr id="69" name="Text 2">
            <a:extLst>
              <a:ext uri="{FF2B5EF4-FFF2-40B4-BE49-F238E27FC236}">
                <a16:creationId xmlns:a16="http://schemas.microsoft.com/office/drawing/2014/main" id="{99DFA3A9-ECC0-394A-B616-E77250D75CBD}"/>
              </a:ext>
            </a:extLst>
          </p:cNvPr>
          <p:cNvSpPr/>
          <p:nvPr/>
        </p:nvSpPr>
        <p:spPr>
          <a:xfrm>
            <a:off x="670398" y="16940934"/>
            <a:ext cx="943347" cy="120104"/>
          </a:xfrm>
          <a:prstGeom prst="rect">
            <a:avLst/>
          </a:prstGeom>
          <a:noFill/>
          <a:ln/>
        </p:spPr>
        <p:txBody>
          <a:bodyPr wrap="none" lIns="0" tIns="0" rIns="0" bIns="0" rtlCol="0" anchor="t"/>
          <a:lstStyle/>
          <a:p>
            <a:pPr>
              <a:lnSpc>
                <a:spcPct val="122000"/>
              </a:lnSpc>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KATEGORI A</a:t>
            </a:r>
            <a:endParaRPr lang="en-US" sz="900" dirty="0">
              <a:latin typeface="Leelawadee UI" panose="020B0502040204020203" pitchFamily="34" charset="-34"/>
              <a:cs typeface="Leelawadee UI" panose="020B0502040204020203" pitchFamily="34" charset="-34"/>
            </a:endParaRPr>
          </a:p>
        </p:txBody>
      </p:sp>
      <p:sp>
        <p:nvSpPr>
          <p:cNvPr id="70" name="Text 3">
            <a:extLst>
              <a:ext uri="{FF2B5EF4-FFF2-40B4-BE49-F238E27FC236}">
                <a16:creationId xmlns:a16="http://schemas.microsoft.com/office/drawing/2014/main" id="{F8A181BE-ACE8-4161-764A-8AFEBE7DBCC4}"/>
              </a:ext>
            </a:extLst>
          </p:cNvPr>
          <p:cNvSpPr/>
          <p:nvPr/>
        </p:nvSpPr>
        <p:spPr>
          <a:xfrm>
            <a:off x="604020" y="17130617"/>
            <a:ext cx="1741215" cy="160511"/>
          </a:xfrm>
          <a:prstGeom prst="rect">
            <a:avLst/>
          </a:prstGeom>
          <a:noFill/>
          <a:ln/>
        </p:spPr>
        <p:txBody>
          <a:bodyPr wrap="none" lIns="0" tIns="0" rIns="0" bIns="0" rtlCol="0" anchor="t"/>
          <a:lstStyle/>
          <a:p>
            <a:pPr>
              <a:lnSpc>
                <a:spcPct val="104000"/>
              </a:lnSpc>
            </a:pPr>
            <a:r>
              <a:rPr lang="en-US" sz="1050" dirty="0">
                <a:solidFill>
                  <a:srgbClr val="FFFFFF"/>
                </a:solidFill>
                <a:latin typeface="Leelawadee UI" panose="020B0502040204020203" pitchFamily="34" charset="-34"/>
                <a:ea typeface="DM Sans Medium" pitchFamily="34" charset="-122"/>
                <a:cs typeface="Leelawadee UI" panose="020B0502040204020203" pitchFamily="34" charset="-34"/>
              </a:rPr>
              <a:t>Mitra Pemerintah</a:t>
            </a:r>
            <a:endParaRPr lang="en-US" sz="1050" dirty="0">
              <a:latin typeface="Leelawadee UI" panose="020B0502040204020203" pitchFamily="34" charset="-34"/>
              <a:cs typeface="Leelawadee UI" panose="020B0502040204020203" pitchFamily="34" charset="-34"/>
            </a:endParaRPr>
          </a:p>
        </p:txBody>
      </p:sp>
      <p:sp>
        <p:nvSpPr>
          <p:cNvPr id="71" name="Text 4">
            <a:extLst>
              <a:ext uri="{FF2B5EF4-FFF2-40B4-BE49-F238E27FC236}">
                <a16:creationId xmlns:a16="http://schemas.microsoft.com/office/drawing/2014/main" id="{FD30B4EA-C75C-821D-D700-8DA632FBD642}"/>
              </a:ext>
            </a:extLst>
          </p:cNvPr>
          <p:cNvSpPr/>
          <p:nvPr/>
        </p:nvSpPr>
        <p:spPr>
          <a:xfrm>
            <a:off x="604018" y="17376184"/>
            <a:ext cx="3867522" cy="300335"/>
          </a:xfrm>
          <a:prstGeom prst="rect">
            <a:avLst/>
          </a:prstGeom>
          <a:noFill/>
          <a:ln/>
        </p:spPr>
        <p:txBody>
          <a:bodyPr wrap="square" lIns="0" tIns="0" rIns="0" bIns="0" rtlCol="0" anchor="t">
            <a:normAutofit/>
          </a:bodyPr>
          <a:lstStyle/>
          <a:p>
            <a:pPr>
              <a:lnSpc>
                <a:spcPct val="122000"/>
              </a:lnSpc>
            </a:pP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Kemitraan dengan instansi pemerintah memperkuat legitimasi dan keberlanjutan program YNKI di tingkat desa hingga provinsi.</a:t>
            </a:r>
            <a:endParaRPr lang="en-US" sz="800" dirty="0">
              <a:latin typeface="Leelawadee UI" panose="020B0502040204020203" pitchFamily="34" charset="-34"/>
              <a:cs typeface="Leelawadee UI" panose="020B0502040204020203" pitchFamily="34" charset="-34"/>
            </a:endParaRPr>
          </a:p>
        </p:txBody>
      </p:sp>
      <p:sp>
        <p:nvSpPr>
          <p:cNvPr id="72" name="Text 5">
            <a:extLst>
              <a:ext uri="{FF2B5EF4-FFF2-40B4-BE49-F238E27FC236}">
                <a16:creationId xmlns:a16="http://schemas.microsoft.com/office/drawing/2014/main" id="{0BED0260-0A15-345D-82C7-93BA6505E46E}"/>
              </a:ext>
            </a:extLst>
          </p:cNvPr>
          <p:cNvSpPr/>
          <p:nvPr/>
        </p:nvSpPr>
        <p:spPr>
          <a:xfrm>
            <a:off x="604018" y="17753015"/>
            <a:ext cx="3867522" cy="1290638"/>
          </a:xfrm>
          <a:prstGeom prst="rect">
            <a:avLst/>
          </a:prstGeom>
          <a:noFill/>
          <a:ln/>
        </p:spPr>
        <p:txBody>
          <a:bodyPr wrap="square" lIns="0" tIns="0" rIns="0" bIns="0" rtlCol="0" anchor="t">
            <a:normAutofit/>
          </a:bodyPr>
          <a:lstStyle/>
          <a:p>
            <a:pPr marL="342900" indent="-342900">
              <a:lnSpc>
                <a:spcPct val="122000"/>
              </a:lnSpc>
              <a:buSzPct val="100000"/>
              <a:buChar char="•"/>
            </a:pPr>
            <a:r>
              <a:rPr lang="en-US" sz="800" b="1" dirty="0">
                <a:solidFill>
                  <a:srgbClr val="FFFFFF"/>
                </a:solidFill>
                <a:latin typeface="Leelawadee UI" panose="020B0502040204020203" pitchFamily="34" charset="-34"/>
                <a:ea typeface="Inter" pitchFamily="34" charset="-122"/>
                <a:cs typeface="Leelawadee UI" panose="020B0502040204020203" pitchFamily="34" charset="-34"/>
              </a:rPr>
              <a:t>DPMPD Provinsi Kalimantan Barat</a:t>
            </a: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 — Kolaborasi pengentasan kemiskinan dan pengurangan desa tertinggal</a:t>
            </a:r>
            <a:endParaRPr lang="en-US" sz="800" dirty="0">
              <a:latin typeface="Leelawadee UI" panose="020B0502040204020203" pitchFamily="34" charset="-34"/>
              <a:cs typeface="Leelawadee UI" panose="020B0502040204020203" pitchFamily="34" charset="-34"/>
            </a:endParaRPr>
          </a:p>
          <a:p>
            <a:pPr marL="342900" indent="-342900">
              <a:lnSpc>
                <a:spcPct val="122000"/>
              </a:lnSpc>
              <a:buSzPct val="100000"/>
              <a:buChar char="•"/>
            </a:pPr>
            <a:r>
              <a:rPr lang="en-US" sz="800" b="1" dirty="0">
                <a:solidFill>
                  <a:srgbClr val="FFFFFF"/>
                </a:solidFill>
                <a:latin typeface="Leelawadee UI" panose="020B0502040204020203" pitchFamily="34" charset="-34"/>
                <a:ea typeface="Inter" pitchFamily="34" charset="-122"/>
                <a:cs typeface="Leelawadee UI" panose="020B0502040204020203" pitchFamily="34" charset="-34"/>
              </a:rPr>
              <a:t>Pemerintah Desa Tanjungpura</a:t>
            </a: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 — Pendampingan pengelolaan sumber daya alam dan hutan APL</a:t>
            </a:r>
            <a:endParaRPr lang="en-US" sz="800" dirty="0">
              <a:latin typeface="Leelawadee UI" panose="020B0502040204020203" pitchFamily="34" charset="-34"/>
              <a:cs typeface="Leelawadee UI" panose="020B0502040204020203" pitchFamily="34" charset="-34"/>
            </a:endParaRPr>
          </a:p>
          <a:p>
            <a:pPr marL="342900" indent="-342900">
              <a:lnSpc>
                <a:spcPct val="122000"/>
              </a:lnSpc>
              <a:buSzPct val="100000"/>
              <a:buChar char="•"/>
            </a:pPr>
            <a:r>
              <a:rPr lang="en-US" sz="800" b="1" dirty="0">
                <a:solidFill>
                  <a:srgbClr val="FFFFFF"/>
                </a:solidFill>
                <a:latin typeface="Leelawadee UI" panose="020B0502040204020203" pitchFamily="34" charset="-34"/>
                <a:ea typeface="Inter" pitchFamily="34" charset="-122"/>
                <a:cs typeface="Leelawadee UI" panose="020B0502040204020203" pitchFamily="34" charset="-34"/>
              </a:rPr>
              <a:t>Pemerintah Desa Mayak</a:t>
            </a: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 — Pendampingan pengelolaan sumber daya alam dan hutan APL</a:t>
            </a:r>
            <a:endParaRPr lang="en-US" sz="800" dirty="0">
              <a:latin typeface="Leelawadee UI" panose="020B0502040204020203" pitchFamily="34" charset="-34"/>
              <a:cs typeface="Leelawadee UI" panose="020B0502040204020203" pitchFamily="34" charset="-34"/>
            </a:endParaRPr>
          </a:p>
          <a:p>
            <a:pPr marL="342900" indent="-342900">
              <a:lnSpc>
                <a:spcPct val="122000"/>
              </a:lnSpc>
              <a:buSzPct val="100000"/>
              <a:buChar char="•"/>
            </a:pPr>
            <a:r>
              <a:rPr lang="en-US" sz="800" b="1" dirty="0">
                <a:solidFill>
                  <a:srgbClr val="FFFFFF"/>
                </a:solidFill>
                <a:latin typeface="Leelawadee UI" panose="020B0502040204020203" pitchFamily="34" charset="-34"/>
                <a:ea typeface="Inter" pitchFamily="34" charset="-122"/>
                <a:cs typeface="Leelawadee UI" panose="020B0502040204020203" pitchFamily="34" charset="-34"/>
              </a:rPr>
              <a:t>Pemerintah Desa Ulak Medang</a:t>
            </a: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 — Pendampingan pengelolaan sumber daya alam dan hutan APL</a:t>
            </a:r>
            <a:endParaRPr lang="en-US" sz="800" dirty="0">
              <a:latin typeface="Leelawadee UI" panose="020B0502040204020203" pitchFamily="34" charset="-34"/>
              <a:cs typeface="Leelawadee UI" panose="020B0502040204020203" pitchFamily="34" charset="-34"/>
            </a:endParaRPr>
          </a:p>
        </p:txBody>
      </p:sp>
      <p:sp>
        <p:nvSpPr>
          <p:cNvPr id="73" name="Shape 6">
            <a:extLst>
              <a:ext uri="{FF2B5EF4-FFF2-40B4-BE49-F238E27FC236}">
                <a16:creationId xmlns:a16="http://schemas.microsoft.com/office/drawing/2014/main" id="{5137C32C-4745-B247-B45C-24FD82DA9331}"/>
              </a:ext>
            </a:extLst>
          </p:cNvPr>
          <p:cNvSpPr/>
          <p:nvPr/>
        </p:nvSpPr>
        <p:spPr>
          <a:xfrm>
            <a:off x="4755653" y="16905364"/>
            <a:ext cx="759322" cy="189384"/>
          </a:xfrm>
          <a:prstGeom prst="roundRect">
            <a:avLst>
              <a:gd name="adj" fmla="val 6446"/>
            </a:avLst>
          </a:prstGeom>
          <a:noFill/>
          <a:ln w="4763">
            <a:solidFill>
              <a:srgbClr val="28282F"/>
            </a:solidFill>
            <a:prstDash val="solid"/>
          </a:ln>
        </p:spPr>
      </p:sp>
      <p:sp>
        <p:nvSpPr>
          <p:cNvPr id="74" name="Text 7">
            <a:extLst>
              <a:ext uri="{FF2B5EF4-FFF2-40B4-BE49-F238E27FC236}">
                <a16:creationId xmlns:a16="http://schemas.microsoft.com/office/drawing/2014/main" id="{FE502810-B041-EE5E-A22B-3085F439E12C}"/>
              </a:ext>
            </a:extLst>
          </p:cNvPr>
          <p:cNvSpPr/>
          <p:nvPr/>
        </p:nvSpPr>
        <p:spPr>
          <a:xfrm>
            <a:off x="4822033" y="16940934"/>
            <a:ext cx="940445" cy="120104"/>
          </a:xfrm>
          <a:prstGeom prst="rect">
            <a:avLst/>
          </a:prstGeom>
          <a:noFill/>
          <a:ln/>
        </p:spPr>
        <p:txBody>
          <a:bodyPr wrap="none" lIns="0" tIns="0" rIns="0" bIns="0" rtlCol="0" anchor="t"/>
          <a:lstStyle/>
          <a:p>
            <a:pPr>
              <a:lnSpc>
                <a:spcPct val="122000"/>
              </a:lnSpc>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KATEGORI B</a:t>
            </a:r>
            <a:endParaRPr lang="en-US" sz="900" dirty="0">
              <a:latin typeface="Leelawadee UI" panose="020B0502040204020203" pitchFamily="34" charset="-34"/>
              <a:cs typeface="Leelawadee UI" panose="020B0502040204020203" pitchFamily="34" charset="-34"/>
            </a:endParaRPr>
          </a:p>
        </p:txBody>
      </p:sp>
      <p:sp>
        <p:nvSpPr>
          <p:cNvPr id="75" name="Text 8">
            <a:extLst>
              <a:ext uri="{FF2B5EF4-FFF2-40B4-BE49-F238E27FC236}">
                <a16:creationId xmlns:a16="http://schemas.microsoft.com/office/drawing/2014/main" id="{93FB4532-AB2E-88C2-0C2C-F6EB4633FC9C}"/>
              </a:ext>
            </a:extLst>
          </p:cNvPr>
          <p:cNvSpPr/>
          <p:nvPr/>
        </p:nvSpPr>
        <p:spPr>
          <a:xfrm>
            <a:off x="4755655" y="17130617"/>
            <a:ext cx="2782937" cy="160511"/>
          </a:xfrm>
          <a:prstGeom prst="rect">
            <a:avLst/>
          </a:prstGeom>
          <a:noFill/>
          <a:ln/>
        </p:spPr>
        <p:txBody>
          <a:bodyPr wrap="none" lIns="0" tIns="0" rIns="0" bIns="0" rtlCol="0" anchor="t"/>
          <a:lstStyle/>
          <a:p>
            <a:pPr>
              <a:lnSpc>
                <a:spcPct val="104000"/>
              </a:lnSpc>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Mitra Donor &amp; Lembaga Pembangunan</a:t>
            </a:r>
            <a:endParaRPr lang="en-US" sz="1050" dirty="0">
              <a:latin typeface="Leelawadee UI" panose="020B0502040204020203" pitchFamily="34" charset="-34"/>
              <a:cs typeface="Leelawadee UI" panose="020B0502040204020203" pitchFamily="34" charset="-34"/>
            </a:endParaRPr>
          </a:p>
        </p:txBody>
      </p:sp>
      <p:sp>
        <p:nvSpPr>
          <p:cNvPr id="76" name="Text 9">
            <a:extLst>
              <a:ext uri="{FF2B5EF4-FFF2-40B4-BE49-F238E27FC236}">
                <a16:creationId xmlns:a16="http://schemas.microsoft.com/office/drawing/2014/main" id="{C0AEEEB0-C204-F790-0D55-5E4A1430CD6E}"/>
              </a:ext>
            </a:extLst>
          </p:cNvPr>
          <p:cNvSpPr/>
          <p:nvPr/>
        </p:nvSpPr>
        <p:spPr>
          <a:xfrm>
            <a:off x="4755653" y="17376184"/>
            <a:ext cx="3924970" cy="300335"/>
          </a:xfrm>
          <a:prstGeom prst="rect">
            <a:avLst/>
          </a:prstGeom>
          <a:noFill/>
          <a:ln/>
        </p:spPr>
        <p:txBody>
          <a:bodyPr wrap="square" lIns="0" tIns="0" rIns="0" bIns="0" rtlCol="0" anchor="t">
            <a:normAutofit/>
          </a:bodyPr>
          <a:lstStyle/>
          <a:p>
            <a:pPr>
              <a:lnSpc>
                <a:spcPct val="122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Dukungan dari lembaga donor internasional memungkinkan YNKI untuk memperluas dampak dan menjangkau lebih banyak komunitas.</a:t>
            </a:r>
            <a:endParaRPr lang="en-US" sz="800" dirty="0">
              <a:latin typeface="Leelawadee UI" panose="020B0502040204020203" pitchFamily="34" charset="-34"/>
              <a:cs typeface="Leelawadee UI" panose="020B0502040204020203" pitchFamily="34" charset="-34"/>
            </a:endParaRPr>
          </a:p>
        </p:txBody>
      </p:sp>
      <p:sp>
        <p:nvSpPr>
          <p:cNvPr id="77" name="Text 10">
            <a:extLst>
              <a:ext uri="{FF2B5EF4-FFF2-40B4-BE49-F238E27FC236}">
                <a16:creationId xmlns:a16="http://schemas.microsoft.com/office/drawing/2014/main" id="{CBE8D9EF-9929-B4E1-7C88-C1796A87778A}"/>
              </a:ext>
            </a:extLst>
          </p:cNvPr>
          <p:cNvSpPr/>
          <p:nvPr/>
        </p:nvSpPr>
        <p:spPr>
          <a:xfrm>
            <a:off x="4755653" y="17753015"/>
            <a:ext cx="3924970" cy="630436"/>
          </a:xfrm>
          <a:prstGeom prst="rect">
            <a:avLst/>
          </a:prstGeom>
          <a:noFill/>
          <a:ln/>
        </p:spPr>
        <p:txBody>
          <a:bodyPr wrap="square" lIns="0" tIns="0" rIns="0" bIns="0" rtlCol="0" anchor="t">
            <a:normAutofit/>
          </a:bodyPr>
          <a:lstStyle/>
          <a:p>
            <a:pPr marL="342900" indent="-342900">
              <a:lnSpc>
                <a:spcPct val="122000"/>
              </a:lnSpc>
              <a:buSzPct val="100000"/>
              <a:buChar char="•"/>
            </a:pPr>
            <a:r>
              <a:rPr lang="en-US" sz="800" b="1" dirty="0">
                <a:solidFill>
                  <a:srgbClr val="161613"/>
                </a:solidFill>
                <a:latin typeface="Leelawadee UI" panose="020B0502040204020203" pitchFamily="34" charset="-34"/>
                <a:ea typeface="Inter" pitchFamily="34" charset="-122"/>
                <a:cs typeface="Leelawadee UI" panose="020B0502040204020203" pitchFamily="34" charset="-34"/>
              </a:rPr>
              <a:t>UNDP KalFor</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 Pengembangan potensi desa dan penguatan pengelolaan sumber daya alam berbasis komunitas</a:t>
            </a:r>
            <a:endParaRPr lang="en-US" sz="800" dirty="0">
              <a:latin typeface="Leelawadee UI" panose="020B0502040204020203" pitchFamily="34" charset="-34"/>
              <a:cs typeface="Leelawadee UI" panose="020B0502040204020203" pitchFamily="34" charset="-34"/>
            </a:endParaRPr>
          </a:p>
          <a:p>
            <a:pPr marL="342900" indent="-342900">
              <a:lnSpc>
                <a:spcPct val="122000"/>
              </a:lnSpc>
              <a:buSzPct val="100000"/>
              <a:buChar char="•"/>
            </a:pPr>
            <a:r>
              <a:rPr lang="en-US" sz="800" b="1" dirty="0">
                <a:solidFill>
                  <a:srgbClr val="161613"/>
                </a:solidFill>
                <a:latin typeface="Leelawadee UI" panose="020B0502040204020203" pitchFamily="34" charset="-34"/>
                <a:ea typeface="Inter" pitchFamily="34" charset="-122"/>
                <a:cs typeface="Leelawadee UI" panose="020B0502040204020203" pitchFamily="34" charset="-34"/>
              </a:rPr>
              <a:t>PM Haze</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 Mobilisasi masyarakat dalam pencegahan kebakaran hutan dan lahan gambut di Kalimantan Barat</a:t>
            </a:r>
            <a:endParaRPr lang="en-US" sz="800" dirty="0">
              <a:latin typeface="Leelawadee UI" panose="020B0502040204020203" pitchFamily="34" charset="-34"/>
              <a:cs typeface="Leelawadee UI" panose="020B0502040204020203" pitchFamily="34" charset="-34"/>
            </a:endParaRPr>
          </a:p>
        </p:txBody>
      </p:sp>
      <p:sp>
        <p:nvSpPr>
          <p:cNvPr id="78" name="Shape 11">
            <a:extLst>
              <a:ext uri="{FF2B5EF4-FFF2-40B4-BE49-F238E27FC236}">
                <a16:creationId xmlns:a16="http://schemas.microsoft.com/office/drawing/2014/main" id="{DEECEA46-BB18-6F0B-0C2B-016735209E60}"/>
              </a:ext>
            </a:extLst>
          </p:cNvPr>
          <p:cNvSpPr/>
          <p:nvPr/>
        </p:nvSpPr>
        <p:spPr>
          <a:xfrm>
            <a:off x="4755653" y="18479147"/>
            <a:ext cx="3924970" cy="504676"/>
          </a:xfrm>
          <a:prstGeom prst="roundRect">
            <a:avLst>
              <a:gd name="adj" fmla="val 3053"/>
            </a:avLst>
          </a:prstGeom>
          <a:solidFill>
            <a:srgbClr val="D6D6DC"/>
          </a:solidFill>
          <a:ln/>
        </p:spPr>
      </p:sp>
      <p:pic>
        <p:nvPicPr>
          <p:cNvPr id="79" name="Image 0" descr="preencoded.png">
            <a:extLst>
              <a:ext uri="{FF2B5EF4-FFF2-40B4-BE49-F238E27FC236}">
                <a16:creationId xmlns:a16="http://schemas.microsoft.com/office/drawing/2014/main" id="{E1240A58-3DDF-380C-792B-5EB908017BF5}"/>
              </a:ext>
            </a:extLst>
          </p:cNvPr>
          <p:cNvPicPr>
            <a:picLocks noChangeAspect="1"/>
          </p:cNvPicPr>
          <p:nvPr/>
        </p:nvPicPr>
        <p:blipFill>
          <a:blip r:embed="rId9"/>
          <a:stretch>
            <a:fillRect/>
          </a:stretch>
        </p:blipFill>
        <p:spPr>
          <a:xfrm>
            <a:off x="4858345" y="18627159"/>
            <a:ext cx="128364" cy="102691"/>
          </a:xfrm>
          <a:prstGeom prst="rect">
            <a:avLst/>
          </a:prstGeom>
        </p:spPr>
      </p:pic>
      <p:sp>
        <p:nvSpPr>
          <p:cNvPr id="80" name="Text 12">
            <a:extLst>
              <a:ext uri="{FF2B5EF4-FFF2-40B4-BE49-F238E27FC236}">
                <a16:creationId xmlns:a16="http://schemas.microsoft.com/office/drawing/2014/main" id="{CFB2468D-EDA9-2007-91AC-32B181163C17}"/>
              </a:ext>
            </a:extLst>
          </p:cNvPr>
          <p:cNvSpPr/>
          <p:nvPr/>
        </p:nvSpPr>
        <p:spPr>
          <a:xfrm>
            <a:off x="5089402" y="18581320"/>
            <a:ext cx="3488531" cy="300335"/>
          </a:xfrm>
          <a:prstGeom prst="rect">
            <a:avLst/>
          </a:prstGeom>
          <a:noFill/>
          <a:ln/>
        </p:spPr>
        <p:txBody>
          <a:bodyPr wrap="square" lIns="0" tIns="0" rIns="0" bIns="0" rtlCol="0" anchor="t">
            <a:normAutofit/>
          </a:bodyPr>
          <a:lstStyle/>
          <a:p>
            <a:pPr>
              <a:lnSpc>
                <a:spcPct val="122000"/>
              </a:lnSpc>
            </a:pPr>
            <a:r>
              <a:rPr lang="en-US" sz="800" dirty="0">
                <a:solidFill>
                  <a:srgbClr val="000000"/>
                </a:solidFill>
                <a:latin typeface="Leelawadee UI" panose="020B0502040204020203" pitchFamily="34" charset="-34"/>
                <a:ea typeface="Inter" pitchFamily="34" charset="-122"/>
                <a:cs typeface="Leelawadee UI" panose="020B0502040204020203" pitchFamily="34" charset="-34"/>
              </a:rPr>
              <a:t>Daftar mitra donor akan terus diperbarui. Hubungi kami untuk informasi kemitraan terbaru.</a:t>
            </a:r>
            <a:endParaRPr lang="en-US" sz="800" dirty="0">
              <a:latin typeface="Leelawadee UI" panose="020B0502040204020203" pitchFamily="34" charset="-34"/>
              <a:cs typeface="Leelawadee UI" panose="020B0502040204020203" pitchFamily="34" charset="-34"/>
            </a:endParaRPr>
          </a:p>
        </p:txBody>
      </p:sp>
      <p:sp>
        <p:nvSpPr>
          <p:cNvPr id="81" name="Shape 13">
            <a:extLst>
              <a:ext uri="{FF2B5EF4-FFF2-40B4-BE49-F238E27FC236}">
                <a16:creationId xmlns:a16="http://schemas.microsoft.com/office/drawing/2014/main" id="{913C7E87-61AA-CF14-8BDD-36C2BAEA0AFA}"/>
              </a:ext>
            </a:extLst>
          </p:cNvPr>
          <p:cNvSpPr/>
          <p:nvPr/>
        </p:nvSpPr>
        <p:spPr>
          <a:xfrm>
            <a:off x="575295" y="19270913"/>
            <a:ext cx="748680" cy="183504"/>
          </a:xfrm>
          <a:prstGeom prst="roundRect">
            <a:avLst>
              <a:gd name="adj" fmla="val 6446"/>
            </a:avLst>
          </a:prstGeom>
          <a:noFill/>
          <a:ln w="4763">
            <a:solidFill>
              <a:srgbClr val="28282F"/>
            </a:solidFill>
            <a:prstDash val="solid"/>
          </a:ln>
        </p:spPr>
      </p:sp>
      <p:sp>
        <p:nvSpPr>
          <p:cNvPr id="82" name="Text 14">
            <a:extLst>
              <a:ext uri="{FF2B5EF4-FFF2-40B4-BE49-F238E27FC236}">
                <a16:creationId xmlns:a16="http://schemas.microsoft.com/office/drawing/2014/main" id="{F100F5AB-51B7-9178-D6EE-B1A7D4CC77A5}"/>
              </a:ext>
            </a:extLst>
          </p:cNvPr>
          <p:cNvSpPr/>
          <p:nvPr/>
        </p:nvSpPr>
        <p:spPr>
          <a:xfrm>
            <a:off x="641672" y="19287433"/>
            <a:ext cx="946696" cy="120104"/>
          </a:xfrm>
          <a:prstGeom prst="rect">
            <a:avLst/>
          </a:prstGeom>
          <a:noFill/>
          <a:ln/>
        </p:spPr>
        <p:txBody>
          <a:bodyPr wrap="none" lIns="0" tIns="0" rIns="0" bIns="0" rtlCol="0" anchor="t"/>
          <a:lstStyle/>
          <a:p>
            <a:pPr>
              <a:lnSpc>
                <a:spcPct val="122000"/>
              </a:lnSpc>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KATEGORI C</a:t>
            </a:r>
            <a:endParaRPr lang="en-US" sz="900" dirty="0">
              <a:latin typeface="Leelawadee UI" panose="020B0502040204020203" pitchFamily="34" charset="-34"/>
              <a:cs typeface="Leelawadee UI" panose="020B0502040204020203" pitchFamily="34" charset="-34"/>
            </a:endParaRPr>
          </a:p>
        </p:txBody>
      </p:sp>
      <p:sp>
        <p:nvSpPr>
          <p:cNvPr id="83" name="Text 15">
            <a:extLst>
              <a:ext uri="{FF2B5EF4-FFF2-40B4-BE49-F238E27FC236}">
                <a16:creationId xmlns:a16="http://schemas.microsoft.com/office/drawing/2014/main" id="{D446C37F-22BA-4665-4CEA-A724FB66C654}"/>
              </a:ext>
            </a:extLst>
          </p:cNvPr>
          <p:cNvSpPr/>
          <p:nvPr/>
        </p:nvSpPr>
        <p:spPr>
          <a:xfrm>
            <a:off x="575297" y="19496166"/>
            <a:ext cx="1741215" cy="160511"/>
          </a:xfrm>
          <a:prstGeom prst="rect">
            <a:avLst/>
          </a:prstGeom>
          <a:noFill/>
          <a:ln/>
        </p:spPr>
        <p:txBody>
          <a:bodyPr wrap="none" lIns="0" tIns="0" rIns="0" bIns="0" rtlCol="0" anchor="t"/>
          <a:lstStyle/>
          <a:p>
            <a:pPr>
              <a:lnSpc>
                <a:spcPct val="104000"/>
              </a:lnSpc>
            </a:pPr>
            <a:r>
              <a:rPr lang="en-US" sz="1000" dirty="0">
                <a:solidFill>
                  <a:srgbClr val="161613"/>
                </a:solidFill>
                <a:latin typeface="Leelawadee UI" panose="020B0502040204020203" pitchFamily="34" charset="-34"/>
                <a:ea typeface="DM Sans Medium" pitchFamily="34" charset="-122"/>
                <a:cs typeface="Leelawadee UI" panose="020B0502040204020203" pitchFamily="34" charset="-34"/>
              </a:rPr>
              <a:t>Mitra Sektor Swasta</a:t>
            </a:r>
            <a:endParaRPr lang="en-US" sz="1000" dirty="0">
              <a:latin typeface="Leelawadee UI" panose="020B0502040204020203" pitchFamily="34" charset="-34"/>
              <a:cs typeface="Leelawadee UI" panose="020B0502040204020203" pitchFamily="34" charset="-34"/>
            </a:endParaRPr>
          </a:p>
        </p:txBody>
      </p:sp>
      <p:sp>
        <p:nvSpPr>
          <p:cNvPr id="84" name="Text 16">
            <a:extLst>
              <a:ext uri="{FF2B5EF4-FFF2-40B4-BE49-F238E27FC236}">
                <a16:creationId xmlns:a16="http://schemas.microsoft.com/office/drawing/2014/main" id="{0D66F57A-D061-20D4-42A7-2698F5243023}"/>
              </a:ext>
            </a:extLst>
          </p:cNvPr>
          <p:cNvSpPr/>
          <p:nvPr/>
        </p:nvSpPr>
        <p:spPr>
          <a:xfrm>
            <a:off x="575295" y="19741732"/>
            <a:ext cx="3924970" cy="300335"/>
          </a:xfrm>
          <a:prstGeom prst="rect">
            <a:avLst/>
          </a:prstGeom>
          <a:noFill/>
          <a:ln/>
        </p:spPr>
        <p:txBody>
          <a:bodyPr wrap="square" lIns="0" tIns="0" rIns="0" bIns="0" rtlCol="0" anchor="t">
            <a:normAutofit/>
          </a:bodyPr>
          <a:lstStyle/>
          <a:p>
            <a:pPr>
              <a:lnSpc>
                <a:spcPct val="122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Kemitraan dengan sektor swasta membuka peluang kolaborasi berbasis nilai bersama untuk tata kelola lanskap yang bertanggung jawab.</a:t>
            </a:r>
            <a:endParaRPr lang="en-US" sz="800" dirty="0">
              <a:latin typeface="Leelawadee UI" panose="020B0502040204020203" pitchFamily="34" charset="-34"/>
              <a:cs typeface="Leelawadee UI" panose="020B0502040204020203" pitchFamily="34" charset="-34"/>
            </a:endParaRPr>
          </a:p>
        </p:txBody>
      </p:sp>
      <p:sp>
        <p:nvSpPr>
          <p:cNvPr id="85" name="Text 17">
            <a:extLst>
              <a:ext uri="{FF2B5EF4-FFF2-40B4-BE49-F238E27FC236}">
                <a16:creationId xmlns:a16="http://schemas.microsoft.com/office/drawing/2014/main" id="{701E2AB9-0846-72F0-2747-3FC29678FA53}"/>
              </a:ext>
            </a:extLst>
          </p:cNvPr>
          <p:cNvSpPr/>
          <p:nvPr/>
        </p:nvSpPr>
        <p:spPr>
          <a:xfrm>
            <a:off x="575295" y="20118565"/>
            <a:ext cx="3924970" cy="300335"/>
          </a:xfrm>
          <a:prstGeom prst="rect">
            <a:avLst/>
          </a:prstGeom>
          <a:noFill/>
          <a:ln/>
        </p:spPr>
        <p:txBody>
          <a:bodyPr wrap="square" lIns="0" tIns="0" rIns="0" bIns="0" rtlCol="0" anchor="t">
            <a:normAutofit/>
          </a:bodyPr>
          <a:lstStyle/>
          <a:p>
            <a:pPr marL="342900" indent="-342900">
              <a:lnSpc>
                <a:spcPct val="122000"/>
              </a:lnSpc>
              <a:buSzPct val="100000"/>
              <a:buChar char="•"/>
            </a:pPr>
            <a:r>
              <a:rPr lang="en-US" sz="800" b="1" dirty="0">
                <a:solidFill>
                  <a:srgbClr val="161613"/>
                </a:solidFill>
                <a:latin typeface="Leelawadee UI" panose="020B0502040204020203" pitchFamily="34" charset="-34"/>
                <a:ea typeface="Inter" pitchFamily="34" charset="-122"/>
                <a:cs typeface="Leelawadee UI" panose="020B0502040204020203" pitchFamily="34" charset="-34"/>
              </a:rPr>
              <a:t>PT. Sinar Karya Mandiri (SKM) / GOZCO Plantation</a:t>
            </a: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 — Diskusi strategis tata kelola lanskap berkelanjutan dan praktik bisnis yang ramah lingkungan</a:t>
            </a:r>
            <a:endParaRPr lang="en-US" sz="800" dirty="0">
              <a:latin typeface="Leelawadee UI" panose="020B0502040204020203" pitchFamily="34" charset="-34"/>
              <a:cs typeface="Leelawadee UI" panose="020B0502040204020203" pitchFamily="34" charset="-34"/>
            </a:endParaRPr>
          </a:p>
        </p:txBody>
      </p:sp>
      <p:sp>
        <p:nvSpPr>
          <p:cNvPr id="86" name="Shape 18">
            <a:extLst>
              <a:ext uri="{FF2B5EF4-FFF2-40B4-BE49-F238E27FC236}">
                <a16:creationId xmlns:a16="http://schemas.microsoft.com/office/drawing/2014/main" id="{7F2B9AE3-0DFE-ACBA-2217-8B2761CAAEA2}"/>
              </a:ext>
            </a:extLst>
          </p:cNvPr>
          <p:cNvSpPr/>
          <p:nvPr/>
        </p:nvSpPr>
        <p:spPr>
          <a:xfrm>
            <a:off x="4681688" y="19175218"/>
            <a:ext cx="3998937" cy="1603549"/>
          </a:xfrm>
          <a:prstGeom prst="roundRect">
            <a:avLst>
              <a:gd name="adj" fmla="val 961"/>
            </a:avLst>
          </a:prstGeom>
          <a:solidFill>
            <a:srgbClr val="1B5E20"/>
          </a:solidFill>
          <a:ln/>
        </p:spPr>
      </p:sp>
      <p:sp>
        <p:nvSpPr>
          <p:cNvPr id="87" name="Shape 19">
            <a:extLst>
              <a:ext uri="{FF2B5EF4-FFF2-40B4-BE49-F238E27FC236}">
                <a16:creationId xmlns:a16="http://schemas.microsoft.com/office/drawing/2014/main" id="{EB49A414-75D8-3C03-3D34-5CE024ABE52D}"/>
              </a:ext>
            </a:extLst>
          </p:cNvPr>
          <p:cNvSpPr/>
          <p:nvPr/>
        </p:nvSpPr>
        <p:spPr>
          <a:xfrm>
            <a:off x="4784377" y="19231771"/>
            <a:ext cx="882998" cy="219075"/>
          </a:xfrm>
          <a:prstGeom prst="roundRect">
            <a:avLst>
              <a:gd name="adj" fmla="val 6446"/>
            </a:avLst>
          </a:prstGeom>
          <a:noFill/>
          <a:ln w="4763">
            <a:solidFill>
              <a:srgbClr val="28282F"/>
            </a:solidFill>
            <a:prstDash val="solid"/>
          </a:ln>
        </p:spPr>
      </p:sp>
      <p:sp>
        <p:nvSpPr>
          <p:cNvPr id="88" name="Text 20">
            <a:extLst>
              <a:ext uri="{FF2B5EF4-FFF2-40B4-BE49-F238E27FC236}">
                <a16:creationId xmlns:a16="http://schemas.microsoft.com/office/drawing/2014/main" id="{F828A979-CC85-8887-D02F-996B96577B41}"/>
              </a:ext>
            </a:extLst>
          </p:cNvPr>
          <p:cNvSpPr/>
          <p:nvPr/>
        </p:nvSpPr>
        <p:spPr>
          <a:xfrm>
            <a:off x="4850755" y="19268383"/>
            <a:ext cx="945952" cy="120104"/>
          </a:xfrm>
          <a:prstGeom prst="rect">
            <a:avLst/>
          </a:prstGeom>
          <a:noFill/>
          <a:ln/>
        </p:spPr>
        <p:txBody>
          <a:bodyPr wrap="none" lIns="0" tIns="0" rIns="0" bIns="0" rtlCol="0" anchor="t"/>
          <a:lstStyle/>
          <a:p>
            <a:pPr>
              <a:lnSpc>
                <a:spcPct val="122000"/>
              </a:lnSpc>
            </a:pPr>
            <a:r>
              <a:rPr lang="en-US" sz="900" dirty="0">
                <a:solidFill>
                  <a:srgbClr val="28282F"/>
                </a:solidFill>
                <a:latin typeface="Leelawadee UI" panose="020B0502040204020203" pitchFamily="34" charset="-34"/>
                <a:ea typeface="Inter" pitchFamily="34" charset="-122"/>
                <a:cs typeface="Leelawadee UI" panose="020B0502040204020203" pitchFamily="34" charset="-34"/>
              </a:rPr>
              <a:t>KATEGORI D</a:t>
            </a:r>
            <a:endParaRPr lang="en-US" sz="900" dirty="0">
              <a:latin typeface="Leelawadee UI" panose="020B0502040204020203" pitchFamily="34" charset="-34"/>
              <a:cs typeface="Leelawadee UI" panose="020B0502040204020203" pitchFamily="34" charset="-34"/>
            </a:endParaRPr>
          </a:p>
        </p:txBody>
      </p:sp>
      <p:sp>
        <p:nvSpPr>
          <p:cNvPr id="89" name="Text 21">
            <a:extLst>
              <a:ext uri="{FF2B5EF4-FFF2-40B4-BE49-F238E27FC236}">
                <a16:creationId xmlns:a16="http://schemas.microsoft.com/office/drawing/2014/main" id="{BCB7C620-032B-390D-17EE-12B6C8562921}"/>
              </a:ext>
            </a:extLst>
          </p:cNvPr>
          <p:cNvSpPr/>
          <p:nvPr/>
        </p:nvSpPr>
        <p:spPr>
          <a:xfrm>
            <a:off x="4784379" y="19496166"/>
            <a:ext cx="2297981" cy="160511"/>
          </a:xfrm>
          <a:prstGeom prst="rect">
            <a:avLst/>
          </a:prstGeom>
          <a:noFill/>
          <a:ln/>
        </p:spPr>
        <p:txBody>
          <a:bodyPr wrap="none" lIns="0" tIns="0" rIns="0" bIns="0" rtlCol="0" anchor="t"/>
          <a:lstStyle/>
          <a:p>
            <a:pPr>
              <a:lnSpc>
                <a:spcPct val="104000"/>
              </a:lnSpc>
            </a:pPr>
            <a:r>
              <a:rPr lang="en-US" sz="1000" dirty="0">
                <a:solidFill>
                  <a:srgbClr val="FFFFFF"/>
                </a:solidFill>
                <a:latin typeface="Leelawadee UI" panose="020B0502040204020203" pitchFamily="34" charset="-34"/>
                <a:ea typeface="DM Sans Medium" pitchFamily="34" charset="-122"/>
                <a:cs typeface="Leelawadee UI" panose="020B0502040204020203" pitchFamily="34" charset="-34"/>
              </a:rPr>
              <a:t>Mitra Masyarakat &amp; Komunitas</a:t>
            </a:r>
            <a:endParaRPr lang="en-US" sz="1000" dirty="0">
              <a:latin typeface="Leelawadee UI" panose="020B0502040204020203" pitchFamily="34" charset="-34"/>
              <a:cs typeface="Leelawadee UI" panose="020B0502040204020203" pitchFamily="34" charset="-34"/>
            </a:endParaRPr>
          </a:p>
        </p:txBody>
      </p:sp>
      <p:sp>
        <p:nvSpPr>
          <p:cNvPr id="90" name="Text 22">
            <a:extLst>
              <a:ext uri="{FF2B5EF4-FFF2-40B4-BE49-F238E27FC236}">
                <a16:creationId xmlns:a16="http://schemas.microsoft.com/office/drawing/2014/main" id="{1405BE05-0FDE-13CE-9B72-2197F5565E81}"/>
              </a:ext>
            </a:extLst>
          </p:cNvPr>
          <p:cNvSpPr/>
          <p:nvPr/>
        </p:nvSpPr>
        <p:spPr>
          <a:xfrm>
            <a:off x="4784377" y="19741732"/>
            <a:ext cx="3867522" cy="300335"/>
          </a:xfrm>
          <a:prstGeom prst="rect">
            <a:avLst/>
          </a:prstGeom>
          <a:noFill/>
          <a:ln/>
        </p:spPr>
        <p:txBody>
          <a:bodyPr wrap="square" lIns="0" tIns="0" rIns="0" bIns="0" rtlCol="0" anchor="t">
            <a:normAutofit/>
          </a:bodyPr>
          <a:lstStyle/>
          <a:p>
            <a:pPr>
              <a:lnSpc>
                <a:spcPct val="122000"/>
              </a:lnSpc>
            </a:pP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Kemitraan dengan kelompok masyarakat adalah inti dari pendekatan YNKI dalam memastikan partisipasi dan kepemilikan komunitas lokal.</a:t>
            </a:r>
            <a:endParaRPr lang="en-US" sz="800" dirty="0">
              <a:latin typeface="Leelawadee UI" panose="020B0502040204020203" pitchFamily="34" charset="-34"/>
              <a:cs typeface="Leelawadee UI" panose="020B0502040204020203" pitchFamily="34" charset="-34"/>
            </a:endParaRPr>
          </a:p>
        </p:txBody>
      </p:sp>
      <p:sp>
        <p:nvSpPr>
          <p:cNvPr id="91" name="Text 23">
            <a:extLst>
              <a:ext uri="{FF2B5EF4-FFF2-40B4-BE49-F238E27FC236}">
                <a16:creationId xmlns:a16="http://schemas.microsoft.com/office/drawing/2014/main" id="{BFDD372B-6574-02D3-FD41-BCF4A9D5328C}"/>
              </a:ext>
            </a:extLst>
          </p:cNvPr>
          <p:cNvSpPr/>
          <p:nvPr/>
        </p:nvSpPr>
        <p:spPr>
          <a:xfrm>
            <a:off x="4784377" y="20118563"/>
            <a:ext cx="3867522" cy="630436"/>
          </a:xfrm>
          <a:prstGeom prst="rect">
            <a:avLst/>
          </a:prstGeom>
          <a:noFill/>
          <a:ln/>
        </p:spPr>
        <p:txBody>
          <a:bodyPr wrap="square" lIns="0" tIns="0" rIns="0" bIns="0" rtlCol="0" anchor="t">
            <a:normAutofit/>
          </a:bodyPr>
          <a:lstStyle/>
          <a:p>
            <a:pPr marL="342900" indent="-342900">
              <a:lnSpc>
                <a:spcPct val="122000"/>
              </a:lnSpc>
              <a:buSzPct val="100000"/>
              <a:buChar char="•"/>
            </a:pPr>
            <a:r>
              <a:rPr lang="en-US" sz="800" b="1" dirty="0">
                <a:solidFill>
                  <a:srgbClr val="FFFFFF"/>
                </a:solidFill>
                <a:latin typeface="Leelawadee UI" panose="020B0502040204020203" pitchFamily="34" charset="-34"/>
                <a:ea typeface="Inter" pitchFamily="34" charset="-122"/>
                <a:cs typeface="Leelawadee UI" panose="020B0502040204020203" pitchFamily="34" charset="-34"/>
              </a:rPr>
              <a:t>Lembaga Desa Pengelola Hutan (LDPH) Permata Jaya</a:t>
            </a: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 — Restorasi gambut dan pencegahan kebakaran hutan lahan (karhutla)</a:t>
            </a:r>
            <a:endParaRPr lang="en-US" sz="800" dirty="0">
              <a:latin typeface="Leelawadee UI" panose="020B0502040204020203" pitchFamily="34" charset="-34"/>
              <a:cs typeface="Leelawadee UI" panose="020B0502040204020203" pitchFamily="34" charset="-34"/>
            </a:endParaRPr>
          </a:p>
          <a:p>
            <a:pPr marL="342900" indent="-342900">
              <a:lnSpc>
                <a:spcPct val="122000"/>
              </a:lnSpc>
              <a:buSzPct val="100000"/>
              <a:buChar char="•"/>
            </a:pPr>
            <a:r>
              <a:rPr lang="en-US" sz="800" b="1" dirty="0">
                <a:solidFill>
                  <a:srgbClr val="FFFFFF"/>
                </a:solidFill>
                <a:latin typeface="Leelawadee UI" panose="020B0502040204020203" pitchFamily="34" charset="-34"/>
                <a:ea typeface="Inter" pitchFamily="34" charset="-122"/>
                <a:cs typeface="Leelawadee UI" panose="020B0502040204020203" pitchFamily="34" charset="-34"/>
              </a:rPr>
              <a:t>Kelompok Tani dan Produsen Lokal</a:t>
            </a:r>
            <a:r>
              <a:rPr lang="en-US" sz="800" dirty="0">
                <a:solidFill>
                  <a:srgbClr val="FFFFFF"/>
                </a:solidFill>
                <a:latin typeface="Leelawadee UI" panose="020B0502040204020203" pitchFamily="34" charset="-34"/>
                <a:ea typeface="Inter" pitchFamily="34" charset="-122"/>
                <a:cs typeface="Leelawadee UI" panose="020B0502040204020203" pitchFamily="34" charset="-34"/>
              </a:rPr>
              <a:t> — Pendampingan usaha madu hutan dan produk hasil hutan non-kayu</a:t>
            </a:r>
            <a:endParaRPr lang="en-US" sz="800" dirty="0">
              <a:latin typeface="Leelawadee UI" panose="020B0502040204020203" pitchFamily="34" charset="-34"/>
              <a:cs typeface="Leelawadee UI" panose="020B0502040204020203" pitchFamily="34" charset="-34"/>
            </a:endParaRPr>
          </a:p>
        </p:txBody>
      </p:sp>
      <p:sp>
        <p:nvSpPr>
          <p:cNvPr id="92" name="Text 24">
            <a:extLst>
              <a:ext uri="{FF2B5EF4-FFF2-40B4-BE49-F238E27FC236}">
                <a16:creationId xmlns:a16="http://schemas.microsoft.com/office/drawing/2014/main" id="{F0C48532-B59D-4690-FDA9-31A78C637196}"/>
              </a:ext>
            </a:extLst>
          </p:cNvPr>
          <p:cNvSpPr/>
          <p:nvPr/>
        </p:nvSpPr>
        <p:spPr>
          <a:xfrm>
            <a:off x="575295" y="20874463"/>
            <a:ext cx="8100640" cy="300335"/>
          </a:xfrm>
          <a:prstGeom prst="rect">
            <a:avLst/>
          </a:prstGeom>
          <a:noFill/>
          <a:ln/>
        </p:spPr>
        <p:txBody>
          <a:bodyPr wrap="square" lIns="0" tIns="0" rIns="0" bIns="0" rtlCol="0" anchor="t">
            <a:normAutofit/>
          </a:bodyPr>
          <a:lstStyle/>
          <a:p>
            <a:pPr>
              <a:lnSpc>
                <a:spcPct val="122000"/>
              </a:lnSpc>
            </a:pPr>
            <a:r>
              <a:rPr lang="en-US" sz="800" dirty="0">
                <a:solidFill>
                  <a:srgbClr val="161613"/>
                </a:solidFill>
                <a:latin typeface="Leelawadee UI" panose="020B0502040204020203" pitchFamily="34" charset="-34"/>
                <a:ea typeface="Inter" pitchFamily="34" charset="-122"/>
                <a:cs typeface="Leelawadee UI" panose="020B0502040204020203" pitchFamily="34" charset="-34"/>
              </a:rPr>
              <a:t>Daftar mitra ini akan terus diperbarui seiring dengan berkembangnya kemitraan strategis YNKI. Kami mengundang berbagai pihak untuk berkolaborasi dalam upaya memperkuat tata kelola lanskap yang inklusif dan berkelanjutan di Indonesia.</a:t>
            </a:r>
            <a:endParaRPr lang="en-US" sz="800" dirty="0">
              <a:latin typeface="Leelawadee UI" panose="020B0502040204020203" pitchFamily="34" charset="-34"/>
              <a:cs typeface="Leelawadee UI" panose="020B0502040204020203" pitchFamily="34" charset="-34"/>
            </a:endParaRPr>
          </a:p>
        </p:txBody>
      </p:sp>
      <p:sp>
        <p:nvSpPr>
          <p:cNvPr id="93" name="Text 0">
            <a:extLst>
              <a:ext uri="{FF2B5EF4-FFF2-40B4-BE49-F238E27FC236}">
                <a16:creationId xmlns:a16="http://schemas.microsoft.com/office/drawing/2014/main" id="{200F1D17-0886-DA25-B89B-00BF0A0A3D7A}"/>
              </a:ext>
            </a:extLst>
          </p:cNvPr>
          <p:cNvSpPr/>
          <p:nvPr/>
        </p:nvSpPr>
        <p:spPr>
          <a:xfrm>
            <a:off x="575295" y="21673522"/>
            <a:ext cx="4347270" cy="620167"/>
          </a:xfrm>
          <a:prstGeom prst="rect">
            <a:avLst/>
          </a:prstGeom>
          <a:noFill/>
          <a:ln/>
        </p:spPr>
        <p:txBody>
          <a:bodyPr wrap="square" lIns="0" tIns="0" rIns="0" bIns="0" rtlCol="0" anchor="t">
            <a:noAutofit/>
          </a:bodyPr>
          <a:lstStyle/>
          <a:p>
            <a:pPr>
              <a:lnSpc>
                <a:spcPct val="104000"/>
              </a:lnSpc>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Kebijakan Privasi dan Perlindungan Data</a:t>
            </a:r>
            <a:endParaRPr lang="en-US" sz="2200" dirty="0">
              <a:latin typeface="Leelawadee UI" panose="020B0502040204020203" pitchFamily="34" charset="-34"/>
              <a:cs typeface="Leelawadee UI" panose="020B0502040204020203" pitchFamily="34" charset="-34"/>
            </a:endParaRPr>
          </a:p>
        </p:txBody>
      </p:sp>
      <p:sp>
        <p:nvSpPr>
          <p:cNvPr id="94" name="Text 1">
            <a:extLst>
              <a:ext uri="{FF2B5EF4-FFF2-40B4-BE49-F238E27FC236}">
                <a16:creationId xmlns:a16="http://schemas.microsoft.com/office/drawing/2014/main" id="{81A06D18-56C7-701E-D47D-39C284045150}"/>
              </a:ext>
            </a:extLst>
          </p:cNvPr>
          <p:cNvSpPr/>
          <p:nvPr/>
        </p:nvSpPr>
        <p:spPr>
          <a:xfrm>
            <a:off x="575295" y="22417661"/>
            <a:ext cx="4347270" cy="2096244"/>
          </a:xfrm>
          <a:prstGeom prst="rect">
            <a:avLst/>
          </a:prstGeom>
          <a:noFill/>
          <a:ln/>
        </p:spPr>
        <p:txBody>
          <a:bodyPr wrap="square" lIns="0" tIns="0" rIns="0" bIns="0" rtlCol="0" anchor="t">
            <a:normAutofit/>
          </a:bodyPr>
          <a:lstStyle/>
          <a:p>
            <a:pPr>
              <a:lnSpc>
                <a:spcPct val="133000"/>
              </a:lnSpc>
              <a:spcAft>
                <a:spcPts val="850"/>
              </a:spcAft>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YNKI berkomitmen untuk melindungi data pribadi seluruh pemangku kepentingan yang berinteraksi dengan organisasi—termasuk donor, mitra, penerima manfaat, dan pengunjung situs web kami. Kebijakan privasi kami mengatur pengumpulan, penggunaan, penyimpanan, dan perlindungan data sesuai dengan peraturan perundang-undangan yang berlaku di Indonesia.</a:t>
            </a:r>
            <a:endParaRPr lang="en-US" sz="950" dirty="0">
              <a:latin typeface="Leelawadee UI" panose="020B0502040204020203" pitchFamily="34" charset="-34"/>
              <a:cs typeface="Leelawadee UI" panose="020B0502040204020203" pitchFamily="34" charset="-34"/>
            </a:endParaRPr>
          </a:p>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Kami tidak pernah menjual, menyewakan, atau membagikan data pribadi kepada pihak ketiga tanpa persetujuan eksplisit. Setiap data yang dikumpulkan semata-mata digunakan untuk keperluan operasional dan komunikasi organisasi.</a:t>
            </a:r>
            <a:endParaRPr lang="en-US" sz="950" dirty="0">
              <a:latin typeface="Leelawadee UI" panose="020B0502040204020203" pitchFamily="34" charset="-34"/>
              <a:cs typeface="Leelawadee UI" panose="020B0502040204020203" pitchFamily="34" charset="-34"/>
            </a:endParaRPr>
          </a:p>
        </p:txBody>
      </p:sp>
      <p:pic>
        <p:nvPicPr>
          <p:cNvPr id="95" name="Image 0" descr="preencoded.png">
            <a:hlinkClick r:id="" action="ppaction://noaction"/>
            <a:extLst>
              <a:ext uri="{FF2B5EF4-FFF2-40B4-BE49-F238E27FC236}">
                <a16:creationId xmlns:a16="http://schemas.microsoft.com/office/drawing/2014/main" id="{D95C15D2-749A-80C5-6348-0D591A38E72E}"/>
              </a:ext>
            </a:extLst>
          </p:cNvPr>
          <p:cNvPicPr>
            <a:picLocks noChangeAspect="1"/>
          </p:cNvPicPr>
          <p:nvPr/>
        </p:nvPicPr>
        <p:blipFill>
          <a:blip r:embed="rId10"/>
          <a:stretch>
            <a:fillRect/>
          </a:stretch>
        </p:blipFill>
        <p:spPr>
          <a:xfrm>
            <a:off x="575295" y="24348631"/>
            <a:ext cx="2147664" cy="341114"/>
          </a:xfrm>
          <a:prstGeom prst="rect">
            <a:avLst/>
          </a:prstGeom>
        </p:spPr>
      </p:pic>
      <p:sp>
        <p:nvSpPr>
          <p:cNvPr id="96" name="Shape 2">
            <a:extLst>
              <a:ext uri="{FF2B5EF4-FFF2-40B4-BE49-F238E27FC236}">
                <a16:creationId xmlns:a16="http://schemas.microsoft.com/office/drawing/2014/main" id="{651B9504-7D65-1A16-B68F-455E6D3BD20A}"/>
              </a:ext>
            </a:extLst>
          </p:cNvPr>
          <p:cNvSpPr/>
          <p:nvPr/>
        </p:nvSpPr>
        <p:spPr>
          <a:xfrm>
            <a:off x="5229894" y="21689073"/>
            <a:ext cx="1688902" cy="1388194"/>
          </a:xfrm>
          <a:prstGeom prst="roundRect">
            <a:avLst>
              <a:gd name="adj" fmla="val 1340"/>
            </a:avLst>
          </a:prstGeom>
          <a:solidFill>
            <a:srgbClr val="F9F8F5"/>
          </a:solidFill>
          <a:ln w="14288">
            <a:solidFill>
              <a:srgbClr val="D3D1C9"/>
            </a:solidFill>
            <a:prstDash val="solid"/>
          </a:ln>
        </p:spPr>
      </p:sp>
      <p:sp>
        <p:nvSpPr>
          <p:cNvPr id="97" name="Text 3">
            <a:extLst>
              <a:ext uri="{FF2B5EF4-FFF2-40B4-BE49-F238E27FC236}">
                <a16:creationId xmlns:a16="http://schemas.microsoft.com/office/drawing/2014/main" id="{98407874-7E33-ED47-9F4E-91CF5CE9FA73}"/>
              </a:ext>
            </a:extLst>
          </p:cNvPr>
          <p:cNvSpPr/>
          <p:nvPr/>
        </p:nvSpPr>
        <p:spPr>
          <a:xfrm>
            <a:off x="5368157" y="21827336"/>
            <a:ext cx="1412379" cy="193849"/>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Keamanan Data</a:t>
            </a:r>
            <a:endParaRPr lang="en-US" sz="1200" dirty="0">
              <a:latin typeface="Leelawadee UI" panose="020B0502040204020203" pitchFamily="34" charset="-34"/>
              <a:cs typeface="Leelawadee UI" panose="020B0502040204020203" pitchFamily="34" charset="-34"/>
            </a:endParaRPr>
          </a:p>
        </p:txBody>
      </p:sp>
      <p:sp>
        <p:nvSpPr>
          <p:cNvPr id="98" name="Text 4">
            <a:extLst>
              <a:ext uri="{FF2B5EF4-FFF2-40B4-BE49-F238E27FC236}">
                <a16:creationId xmlns:a16="http://schemas.microsoft.com/office/drawing/2014/main" id="{FD9F6005-4AD6-EC31-9DDD-E02AE102F878}"/>
              </a:ext>
            </a:extLst>
          </p:cNvPr>
          <p:cNvSpPr/>
          <p:nvPr/>
        </p:nvSpPr>
        <p:spPr>
          <a:xfrm>
            <a:off x="5368157" y="22145158"/>
            <a:ext cx="1412379" cy="793849"/>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Data disimpan dengan enkripsi dan perlindungan sistem berlapis.</a:t>
            </a:r>
            <a:endParaRPr lang="en-US" sz="950" dirty="0">
              <a:latin typeface="Leelawadee UI" panose="020B0502040204020203" pitchFamily="34" charset="-34"/>
              <a:cs typeface="Leelawadee UI" panose="020B0502040204020203" pitchFamily="34" charset="-34"/>
            </a:endParaRPr>
          </a:p>
        </p:txBody>
      </p:sp>
      <p:sp>
        <p:nvSpPr>
          <p:cNvPr id="99" name="Shape 5">
            <a:extLst>
              <a:ext uri="{FF2B5EF4-FFF2-40B4-BE49-F238E27FC236}">
                <a16:creationId xmlns:a16="http://schemas.microsoft.com/office/drawing/2014/main" id="{7F085D0A-E0A5-F3F5-3BDA-2869CB9CBBCC}"/>
              </a:ext>
            </a:extLst>
          </p:cNvPr>
          <p:cNvSpPr/>
          <p:nvPr/>
        </p:nvSpPr>
        <p:spPr>
          <a:xfrm>
            <a:off x="7042772" y="21689073"/>
            <a:ext cx="1618507" cy="1388194"/>
          </a:xfrm>
          <a:prstGeom prst="roundRect">
            <a:avLst>
              <a:gd name="adj" fmla="val 1340"/>
            </a:avLst>
          </a:prstGeom>
          <a:solidFill>
            <a:srgbClr val="F9F8F5"/>
          </a:solidFill>
          <a:ln w="14288">
            <a:solidFill>
              <a:srgbClr val="D3D1C9"/>
            </a:solidFill>
            <a:prstDash val="solid"/>
          </a:ln>
        </p:spPr>
      </p:sp>
      <p:sp>
        <p:nvSpPr>
          <p:cNvPr id="100" name="Text 6">
            <a:extLst>
              <a:ext uri="{FF2B5EF4-FFF2-40B4-BE49-F238E27FC236}">
                <a16:creationId xmlns:a16="http://schemas.microsoft.com/office/drawing/2014/main" id="{8EC94F1B-F39A-5BFA-BE70-24B4BBB1E9F0}"/>
              </a:ext>
            </a:extLst>
          </p:cNvPr>
          <p:cNvSpPr/>
          <p:nvPr/>
        </p:nvSpPr>
        <p:spPr>
          <a:xfrm>
            <a:off x="7181033" y="21827336"/>
            <a:ext cx="1412453" cy="387697"/>
          </a:xfrm>
          <a:prstGeom prst="rect">
            <a:avLst/>
          </a:prstGeom>
          <a:noFill/>
          <a:ln/>
        </p:spPr>
        <p:txBody>
          <a:bodyPr wrap="square" lIns="0" tIns="0" rIns="0" bIns="0" rtlCol="0" anchor="t">
            <a:normAutofit/>
          </a:bodyPr>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Transparansi Penggunaan</a:t>
            </a:r>
            <a:endParaRPr lang="en-US" sz="1200" dirty="0">
              <a:latin typeface="Leelawadee UI" panose="020B0502040204020203" pitchFamily="34" charset="-34"/>
              <a:cs typeface="Leelawadee UI" panose="020B0502040204020203" pitchFamily="34" charset="-34"/>
            </a:endParaRPr>
          </a:p>
        </p:txBody>
      </p:sp>
      <p:sp>
        <p:nvSpPr>
          <p:cNvPr id="101" name="Text 7">
            <a:extLst>
              <a:ext uri="{FF2B5EF4-FFF2-40B4-BE49-F238E27FC236}">
                <a16:creationId xmlns:a16="http://schemas.microsoft.com/office/drawing/2014/main" id="{95C33795-5879-7996-58F4-DC69BA6F68E7}"/>
              </a:ext>
            </a:extLst>
          </p:cNvPr>
          <p:cNvSpPr/>
          <p:nvPr/>
        </p:nvSpPr>
        <p:spPr>
          <a:xfrm>
            <a:off x="7181033" y="22339007"/>
            <a:ext cx="1412453" cy="595387"/>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Kami menjelaskan secara jelas untuk apa data digunakan.</a:t>
            </a:r>
            <a:endParaRPr lang="en-US" sz="950" dirty="0">
              <a:latin typeface="Leelawadee UI" panose="020B0502040204020203" pitchFamily="34" charset="-34"/>
              <a:cs typeface="Leelawadee UI" panose="020B0502040204020203" pitchFamily="34" charset="-34"/>
            </a:endParaRPr>
          </a:p>
        </p:txBody>
      </p:sp>
      <p:sp>
        <p:nvSpPr>
          <p:cNvPr id="102" name="Shape 8">
            <a:extLst>
              <a:ext uri="{FF2B5EF4-FFF2-40B4-BE49-F238E27FC236}">
                <a16:creationId xmlns:a16="http://schemas.microsoft.com/office/drawing/2014/main" id="{E885AEB9-B5C7-1BE5-9ECB-96AF8FCE4CD5}"/>
              </a:ext>
            </a:extLst>
          </p:cNvPr>
          <p:cNvSpPr/>
          <p:nvPr/>
        </p:nvSpPr>
        <p:spPr>
          <a:xfrm>
            <a:off x="5229896" y="23201241"/>
            <a:ext cx="3413225" cy="991270"/>
          </a:xfrm>
          <a:prstGeom prst="roundRect">
            <a:avLst>
              <a:gd name="adj" fmla="val 1877"/>
            </a:avLst>
          </a:prstGeom>
          <a:solidFill>
            <a:srgbClr val="F9F8F5"/>
          </a:solidFill>
          <a:ln w="14288">
            <a:solidFill>
              <a:srgbClr val="D3D1C9"/>
            </a:solidFill>
            <a:prstDash val="solid"/>
          </a:ln>
        </p:spPr>
      </p:sp>
      <p:sp>
        <p:nvSpPr>
          <p:cNvPr id="103" name="Text 9">
            <a:extLst>
              <a:ext uri="{FF2B5EF4-FFF2-40B4-BE49-F238E27FC236}">
                <a16:creationId xmlns:a16="http://schemas.microsoft.com/office/drawing/2014/main" id="{9804CC29-9EFD-6CFC-2AC8-23727A1B0360}"/>
              </a:ext>
            </a:extLst>
          </p:cNvPr>
          <p:cNvSpPr/>
          <p:nvPr/>
        </p:nvSpPr>
        <p:spPr>
          <a:xfrm>
            <a:off x="5368155" y="23339504"/>
            <a:ext cx="1550566" cy="193849"/>
          </a:xfrm>
          <a:prstGeom prst="rect">
            <a:avLst/>
          </a:prstGeom>
          <a:noFill/>
          <a:ln/>
        </p:spPr>
        <p:txBody>
          <a:bodyPr wrap="none" lIns="0" tIns="0" rIns="0" bIns="0" rtlCol="0" anchor="t"/>
          <a:lstStyle/>
          <a:p>
            <a:pPr>
              <a:lnSpc>
                <a:spcPct val="104000"/>
              </a:lnSpc>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Hak Individu</a:t>
            </a:r>
            <a:endParaRPr lang="en-US" sz="1200" dirty="0">
              <a:latin typeface="Leelawadee UI" panose="020B0502040204020203" pitchFamily="34" charset="-34"/>
              <a:cs typeface="Leelawadee UI" panose="020B0502040204020203" pitchFamily="34" charset="-34"/>
            </a:endParaRPr>
          </a:p>
        </p:txBody>
      </p:sp>
      <p:sp>
        <p:nvSpPr>
          <p:cNvPr id="104" name="Text 10">
            <a:extLst>
              <a:ext uri="{FF2B5EF4-FFF2-40B4-BE49-F238E27FC236}">
                <a16:creationId xmlns:a16="http://schemas.microsoft.com/office/drawing/2014/main" id="{A2E867C7-E652-1F57-F430-5C6EB6A5A93B}"/>
              </a:ext>
            </a:extLst>
          </p:cNvPr>
          <p:cNvSpPr/>
          <p:nvPr/>
        </p:nvSpPr>
        <p:spPr>
          <a:xfrm>
            <a:off x="5368157" y="23657327"/>
            <a:ext cx="3225329" cy="396925"/>
          </a:xfrm>
          <a:prstGeom prst="rect">
            <a:avLst/>
          </a:prstGeom>
          <a:noFill/>
          <a:ln/>
        </p:spPr>
        <p:txBody>
          <a:bodyPr wrap="square" lIns="0" tIns="0" rIns="0" bIns="0" rtlCol="0" anchor="t">
            <a:normAutofit/>
          </a:bodyPr>
          <a:lstStyle/>
          <a:p>
            <a:pPr>
              <a:lnSpc>
                <a:spcPct val="133000"/>
              </a:lnSpc>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Anda berhak mengakses, memperbarui, atau menghapus data Anda kapan saja.</a:t>
            </a:r>
            <a:endParaRPr lang="en-US" sz="950" dirty="0">
              <a:latin typeface="Leelawadee UI" panose="020B0502040204020203" pitchFamily="34" charset="-34"/>
              <a:cs typeface="Leelawadee UI" panose="020B0502040204020203" pitchFamily="34" charset="-34"/>
            </a:endParaRPr>
          </a:p>
        </p:txBody>
      </p:sp>
      <p:sp>
        <p:nvSpPr>
          <p:cNvPr id="105" name="Text 0">
            <a:extLst>
              <a:ext uri="{FF2B5EF4-FFF2-40B4-BE49-F238E27FC236}">
                <a16:creationId xmlns:a16="http://schemas.microsoft.com/office/drawing/2014/main" id="{4E9183E7-2C80-A650-0D72-C06803E6C6A0}"/>
              </a:ext>
            </a:extLst>
          </p:cNvPr>
          <p:cNvSpPr/>
          <p:nvPr/>
        </p:nvSpPr>
        <p:spPr>
          <a:xfrm>
            <a:off x="551483" y="25426441"/>
            <a:ext cx="3305324" cy="300410"/>
          </a:xfrm>
          <a:prstGeom prst="rect">
            <a:avLst/>
          </a:prstGeom>
          <a:noFill/>
          <a:ln/>
        </p:spPr>
        <p:txBody>
          <a:bodyPr wrap="none" lIns="0" tIns="0" rIns="0" bIns="0" rtlCol="0" anchor="t"/>
          <a:lstStyle/>
          <a:p>
            <a:pPr>
              <a:lnSpc>
                <a:spcPct val="104000"/>
              </a:lnSpc>
            </a:pPr>
            <a:r>
              <a:rPr lang="en-US" sz="2200" dirty="0">
                <a:solidFill>
                  <a:srgbClr val="161613"/>
                </a:solidFill>
                <a:latin typeface="Leelawadee UI" panose="020B0502040204020203" pitchFamily="34" charset="-34"/>
                <a:ea typeface="DM Sans Medium" pitchFamily="34" charset="-122"/>
                <a:cs typeface="Leelawadee UI" panose="020B0502040204020203" pitchFamily="34" charset="-34"/>
              </a:rPr>
              <a:t>Ingin Menjadi Mitra YNKI?</a:t>
            </a:r>
            <a:endParaRPr lang="en-US" sz="2200" dirty="0">
              <a:latin typeface="Leelawadee UI" panose="020B0502040204020203" pitchFamily="34" charset="-34"/>
              <a:cs typeface="Leelawadee UI" panose="020B0502040204020203" pitchFamily="34" charset="-34"/>
            </a:endParaRPr>
          </a:p>
        </p:txBody>
      </p:sp>
      <p:sp>
        <p:nvSpPr>
          <p:cNvPr id="106" name="Text 1">
            <a:extLst>
              <a:ext uri="{FF2B5EF4-FFF2-40B4-BE49-F238E27FC236}">
                <a16:creationId xmlns:a16="http://schemas.microsoft.com/office/drawing/2014/main" id="{5D00C16F-0800-BE6B-FD15-7A03515A4BEC}"/>
              </a:ext>
            </a:extLst>
          </p:cNvPr>
          <p:cNvSpPr/>
          <p:nvPr/>
        </p:nvSpPr>
        <p:spPr>
          <a:xfrm>
            <a:off x="551484" y="25959620"/>
            <a:ext cx="7980164" cy="567705"/>
          </a:xfrm>
          <a:prstGeom prst="rect">
            <a:avLst/>
          </a:prstGeom>
          <a:noFill/>
          <a:ln/>
        </p:spPr>
        <p:txBody>
          <a:bodyPr wrap="square" lIns="0" tIns="0" rIns="0" bIns="0" rtlCol="0" anchor="t">
            <a:normAutofit lnSpcReduction="10000"/>
          </a:bodyPr>
          <a:lstStyle/>
          <a:p>
            <a:pPr>
              <a:lnSpc>
                <a:spcPct val="131000"/>
              </a:lnSpc>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terbuka untuk menjalin kemitraan strategis dengan pemerintah, sektor swasta, lembaga donor, dan organisasi masyarakat sipil yang memiliki visi yang sama dalam mewujudkan lanskap yang sehat dan masyarakat yang sejahtera. Bersama, kita dapat menciptakan dampak yang lebih besar bagi kelestarian alam dan kesejahteraan komunitas di Kalimantan Barat dan sekitarnya.</a:t>
            </a:r>
            <a:endParaRPr lang="en-US" sz="1000" dirty="0">
              <a:latin typeface="Leelawadee UI" panose="020B0502040204020203" pitchFamily="34" charset="-34"/>
              <a:cs typeface="Leelawadee UI" panose="020B0502040204020203" pitchFamily="34" charset="-34"/>
            </a:endParaRPr>
          </a:p>
        </p:txBody>
      </p:sp>
      <p:sp>
        <p:nvSpPr>
          <p:cNvPr id="107" name="Shape 2">
            <a:extLst>
              <a:ext uri="{FF2B5EF4-FFF2-40B4-BE49-F238E27FC236}">
                <a16:creationId xmlns:a16="http://schemas.microsoft.com/office/drawing/2014/main" id="{2C46C80D-7BF2-DF48-668A-B4EA577DF83B}"/>
              </a:ext>
            </a:extLst>
          </p:cNvPr>
          <p:cNvSpPr/>
          <p:nvPr/>
        </p:nvSpPr>
        <p:spPr>
          <a:xfrm>
            <a:off x="551483" y="26658219"/>
            <a:ext cx="14288" cy="450949"/>
          </a:xfrm>
          <a:prstGeom prst="roundRect">
            <a:avLst>
              <a:gd name="adj" fmla="val 59998"/>
            </a:avLst>
          </a:prstGeom>
          <a:solidFill>
            <a:srgbClr val="28282F"/>
          </a:solidFill>
          <a:ln/>
        </p:spPr>
      </p:sp>
      <p:sp>
        <p:nvSpPr>
          <p:cNvPr id="108" name="Text 3">
            <a:extLst>
              <a:ext uri="{FF2B5EF4-FFF2-40B4-BE49-F238E27FC236}">
                <a16:creationId xmlns:a16="http://schemas.microsoft.com/office/drawing/2014/main" id="{DE8AE19D-9F74-ECFC-B153-7DF2006FD119}"/>
              </a:ext>
            </a:extLst>
          </p:cNvPr>
          <p:cNvSpPr/>
          <p:nvPr/>
        </p:nvSpPr>
        <p:spPr>
          <a:xfrm>
            <a:off x="731713" y="26789114"/>
            <a:ext cx="8428732" cy="189235"/>
          </a:xfrm>
          <a:prstGeom prst="rect">
            <a:avLst/>
          </a:prstGeom>
          <a:noFill/>
          <a:ln/>
        </p:spPr>
        <p:txBody>
          <a:bodyPr wrap="none" lIns="0" tIns="0" rIns="0" bIns="0" rtlCol="0" anchor="t"/>
          <a:lstStyle/>
          <a:p>
            <a:pPr>
              <a:lnSpc>
                <a:spcPct val="131000"/>
              </a:lnSpc>
            </a:pP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"Tata kelola lanskap yang kuat hanya dapat terwujud melalui kolaborasi yang tulus dan akuntabilitas yang nyata."</a:t>
            </a:r>
            <a:endParaRPr lang="en-US" sz="1000" dirty="0">
              <a:latin typeface="Leelawadee UI" panose="020B0502040204020203" pitchFamily="34" charset="-34"/>
              <a:cs typeface="Leelawadee UI" panose="020B0502040204020203" pitchFamily="34" charset="-34"/>
            </a:endParaRPr>
          </a:p>
        </p:txBody>
      </p:sp>
      <p:pic>
        <p:nvPicPr>
          <p:cNvPr id="109" name="Image 0" descr="preencoded.png">
            <a:hlinkClick r:id="" action="ppaction://noaction"/>
            <a:extLst>
              <a:ext uri="{FF2B5EF4-FFF2-40B4-BE49-F238E27FC236}">
                <a16:creationId xmlns:a16="http://schemas.microsoft.com/office/drawing/2014/main" id="{61B15460-2BF0-2964-4877-924B407EDA72}"/>
              </a:ext>
            </a:extLst>
          </p:cNvPr>
          <p:cNvPicPr>
            <a:picLocks noChangeAspect="1"/>
          </p:cNvPicPr>
          <p:nvPr/>
        </p:nvPicPr>
        <p:blipFill>
          <a:blip r:embed="rId11"/>
          <a:stretch>
            <a:fillRect/>
          </a:stretch>
        </p:blipFill>
        <p:spPr>
          <a:xfrm>
            <a:off x="551483" y="27240135"/>
            <a:ext cx="2037680" cy="330398"/>
          </a:xfrm>
          <a:prstGeom prst="rect">
            <a:avLst/>
          </a:prstGeom>
        </p:spPr>
      </p:pic>
      <p:pic>
        <p:nvPicPr>
          <p:cNvPr id="110" name="Image 1" descr="preencoded.png">
            <a:hlinkClick r:id="" action="ppaction://noaction"/>
            <a:extLst>
              <a:ext uri="{FF2B5EF4-FFF2-40B4-BE49-F238E27FC236}">
                <a16:creationId xmlns:a16="http://schemas.microsoft.com/office/drawing/2014/main" id="{5B60F974-F96D-C8D7-A279-3D490BC188B4}"/>
              </a:ext>
            </a:extLst>
          </p:cNvPr>
          <p:cNvPicPr>
            <a:picLocks noChangeAspect="1"/>
          </p:cNvPicPr>
          <p:nvPr/>
        </p:nvPicPr>
        <p:blipFill>
          <a:blip r:embed="rId12"/>
          <a:stretch>
            <a:fillRect/>
          </a:stretch>
        </p:blipFill>
        <p:spPr>
          <a:xfrm>
            <a:off x="2649217" y="27240135"/>
            <a:ext cx="1534567" cy="330398"/>
          </a:xfrm>
          <a:prstGeom prst="rect">
            <a:avLst/>
          </a:prstGeom>
        </p:spPr>
      </p:pic>
      <p:sp>
        <p:nvSpPr>
          <p:cNvPr id="111" name="Shape 4">
            <a:extLst>
              <a:ext uri="{FF2B5EF4-FFF2-40B4-BE49-F238E27FC236}">
                <a16:creationId xmlns:a16="http://schemas.microsoft.com/office/drawing/2014/main" id="{8AB19DB9-4916-25C9-A2E7-5A236561D3A4}"/>
              </a:ext>
            </a:extLst>
          </p:cNvPr>
          <p:cNvSpPr/>
          <p:nvPr/>
        </p:nvSpPr>
        <p:spPr>
          <a:xfrm>
            <a:off x="551485" y="27731419"/>
            <a:ext cx="8151763" cy="14957"/>
          </a:xfrm>
          <a:prstGeom prst="roundRect">
            <a:avLst>
              <a:gd name="adj" fmla="val 120516"/>
            </a:avLst>
          </a:prstGeom>
          <a:solidFill>
            <a:srgbClr val="161613">
              <a:alpha val="50000"/>
            </a:srgbClr>
          </a:solidFill>
          <a:ln/>
        </p:spPr>
      </p:sp>
      <p:sp>
        <p:nvSpPr>
          <p:cNvPr id="112" name="Text 5">
            <a:extLst>
              <a:ext uri="{FF2B5EF4-FFF2-40B4-BE49-F238E27FC236}">
                <a16:creationId xmlns:a16="http://schemas.microsoft.com/office/drawing/2014/main" id="{7347330E-69B1-7603-5AC4-D92E386D33C3}"/>
              </a:ext>
            </a:extLst>
          </p:cNvPr>
          <p:cNvSpPr/>
          <p:nvPr/>
        </p:nvSpPr>
        <p:spPr>
          <a:xfrm>
            <a:off x="551483" y="28023643"/>
            <a:ext cx="2521446" cy="375493"/>
          </a:xfrm>
          <a:prstGeom prst="rect">
            <a:avLst/>
          </a:prstGeom>
          <a:noFill/>
          <a:ln/>
        </p:spPr>
        <p:txBody>
          <a:bodyPr wrap="square" lIns="0" tIns="0" rIns="0" bIns="0" rtlCol="0" anchor="t">
            <a:normAutofit/>
          </a:bodyPr>
          <a:lstStyle/>
          <a:p>
            <a:pPr>
              <a:lnSpc>
                <a:spcPct val="104000"/>
              </a:lnSpc>
            </a:pPr>
            <a:r>
              <a:rPr lang="en-US" sz="115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 Yayasan Natural Kapital Indonesia</a:t>
            </a:r>
            <a:endParaRPr lang="en-US" sz="1150" dirty="0">
              <a:latin typeface="Leelawadee UI" panose="020B0502040204020203" pitchFamily="34" charset="-34"/>
              <a:cs typeface="Leelawadee UI" panose="020B0502040204020203" pitchFamily="34" charset="-34"/>
            </a:endParaRPr>
          </a:p>
        </p:txBody>
      </p:sp>
      <p:sp>
        <p:nvSpPr>
          <p:cNvPr id="113" name="Text 6">
            <a:extLst>
              <a:ext uri="{FF2B5EF4-FFF2-40B4-BE49-F238E27FC236}">
                <a16:creationId xmlns:a16="http://schemas.microsoft.com/office/drawing/2014/main" id="{F57A4DC5-587F-9175-A2DE-256C7B430C15}"/>
              </a:ext>
            </a:extLst>
          </p:cNvPr>
          <p:cNvSpPr/>
          <p:nvPr/>
        </p:nvSpPr>
        <p:spPr>
          <a:xfrm>
            <a:off x="551483" y="28515518"/>
            <a:ext cx="2521446" cy="1240110"/>
          </a:xfrm>
          <a:prstGeom prst="rect">
            <a:avLst/>
          </a:prstGeom>
          <a:noFill/>
          <a:ln/>
        </p:spPr>
        <p:txBody>
          <a:bodyPr wrap="square" lIns="0" tIns="0" rIns="0" bIns="0" rtlCol="0" anchor="t">
            <a:normAutofit lnSpcReduction="10000"/>
          </a:bodyPr>
          <a:lstStyle/>
          <a:p>
            <a:pPr>
              <a:lnSpc>
                <a:spcPct val="131000"/>
              </a:lnSpc>
            </a:pP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Nature for Life</a:t>
            </a:r>
            <a:endParaRPr lang="en-US" sz="1000" dirty="0">
              <a:latin typeface="Leelawadee UI" panose="020B0502040204020203" pitchFamily="34" charset="-34"/>
              <a:cs typeface="Leelawadee UI" panose="020B0502040204020203" pitchFamily="34" charset="-34"/>
            </a:endParaRPr>
          </a:p>
          <a:p>
            <a:pPr>
              <a:lnSpc>
                <a:spcPct val="131000"/>
              </a:lnSpc>
              <a:spcAft>
                <a:spcPts val="800"/>
              </a:spcAft>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1000" dirty="0">
              <a:latin typeface="Leelawadee UI" panose="020B0502040204020203" pitchFamily="34" charset="-34"/>
              <a:cs typeface="Leelawadee UI" panose="020B0502040204020203" pitchFamily="34" charset="-34"/>
            </a:endParaRPr>
          </a:p>
          <a:p>
            <a:pPr>
              <a:lnSpc>
                <a:spcPct val="131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Jalan Karna Sosial, Pontianak, Kalimantan Barat 78121</a:t>
            </a:r>
            <a:endParaRPr lang="en-US" sz="1000" dirty="0">
              <a:latin typeface="Leelawadee UI" panose="020B0502040204020203" pitchFamily="34" charset="-34"/>
              <a:cs typeface="Leelawadee UI" panose="020B0502040204020203" pitchFamily="34" charset="-34"/>
            </a:endParaRPr>
          </a:p>
        </p:txBody>
      </p:sp>
      <p:sp>
        <p:nvSpPr>
          <p:cNvPr id="114" name="Text 7">
            <a:extLst>
              <a:ext uri="{FF2B5EF4-FFF2-40B4-BE49-F238E27FC236}">
                <a16:creationId xmlns:a16="http://schemas.microsoft.com/office/drawing/2014/main" id="{DA9024A7-4A31-77AC-44D4-4F3A8B8CF8E8}"/>
              </a:ext>
            </a:extLst>
          </p:cNvPr>
          <p:cNvSpPr/>
          <p:nvPr/>
        </p:nvSpPr>
        <p:spPr>
          <a:xfrm>
            <a:off x="3370883" y="28023643"/>
            <a:ext cx="1959322" cy="187747"/>
          </a:xfrm>
          <a:prstGeom prst="rect">
            <a:avLst/>
          </a:prstGeom>
          <a:noFill/>
          <a:ln/>
        </p:spPr>
        <p:txBody>
          <a:bodyPr wrap="none" lIns="0" tIns="0" rIns="0" bIns="0" rtlCol="0" anchor="t"/>
          <a:lstStyle/>
          <a:p>
            <a:pPr>
              <a:lnSpc>
                <a:spcPct val="104000"/>
              </a:lnSpc>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150" dirty="0">
              <a:latin typeface="Leelawadee UI" panose="020B0502040204020203" pitchFamily="34" charset="-34"/>
              <a:cs typeface="Leelawadee UI" panose="020B0502040204020203" pitchFamily="34" charset="-34"/>
            </a:endParaRPr>
          </a:p>
        </p:txBody>
      </p:sp>
      <p:sp>
        <p:nvSpPr>
          <p:cNvPr id="115" name="Text 8">
            <a:extLst>
              <a:ext uri="{FF2B5EF4-FFF2-40B4-BE49-F238E27FC236}">
                <a16:creationId xmlns:a16="http://schemas.microsoft.com/office/drawing/2014/main" id="{D7D38B43-BE7D-55EB-171E-8F4D349FD259}"/>
              </a:ext>
            </a:extLst>
          </p:cNvPr>
          <p:cNvSpPr/>
          <p:nvPr/>
        </p:nvSpPr>
        <p:spPr>
          <a:xfrm>
            <a:off x="3370883" y="28327771"/>
            <a:ext cx="2521446" cy="378470"/>
          </a:xfrm>
          <a:prstGeom prst="rect">
            <a:avLst/>
          </a:prstGeom>
          <a:noFill/>
          <a:ln/>
        </p:spPr>
        <p:txBody>
          <a:bodyPr wrap="square" lIns="0" tIns="0" rIns="0" bIns="0" rtlCol="0" anchor="t">
            <a:normAutofit/>
          </a:bodyPr>
          <a:lstStyle/>
          <a:p>
            <a:pPr>
              <a:lnSpc>
                <a:spcPct val="131000"/>
              </a:lnSpc>
            </a:pP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Tentang Kami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a:t>
            </a: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Program Kami</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a:t>
            </a: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Ikut Serta</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a:t>
            </a: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Pustaka &amp; Pengetahuan</a:t>
            </a:r>
            <a:endParaRPr lang="en-US" sz="1000" dirty="0">
              <a:latin typeface="Leelawadee UI" panose="020B0502040204020203" pitchFamily="34" charset="-34"/>
              <a:cs typeface="Leelawadee UI" panose="020B0502040204020203" pitchFamily="34" charset="-34"/>
            </a:endParaRPr>
          </a:p>
        </p:txBody>
      </p:sp>
      <p:sp>
        <p:nvSpPr>
          <p:cNvPr id="116" name="Text 9">
            <a:extLst>
              <a:ext uri="{FF2B5EF4-FFF2-40B4-BE49-F238E27FC236}">
                <a16:creationId xmlns:a16="http://schemas.microsoft.com/office/drawing/2014/main" id="{E2519FC9-19E4-C162-7705-254DD6B1B604}"/>
              </a:ext>
            </a:extLst>
          </p:cNvPr>
          <p:cNvSpPr/>
          <p:nvPr/>
        </p:nvSpPr>
        <p:spPr>
          <a:xfrm>
            <a:off x="3370883" y="28822627"/>
            <a:ext cx="1959322" cy="187747"/>
          </a:xfrm>
          <a:prstGeom prst="rect">
            <a:avLst/>
          </a:prstGeom>
          <a:noFill/>
          <a:ln/>
        </p:spPr>
        <p:txBody>
          <a:bodyPr wrap="none" lIns="0" tIns="0" rIns="0" bIns="0" rtlCol="0" anchor="t"/>
          <a:lstStyle/>
          <a:p>
            <a:pPr>
              <a:lnSpc>
                <a:spcPct val="104000"/>
              </a:lnSpc>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150" dirty="0">
              <a:latin typeface="Leelawadee UI" panose="020B0502040204020203" pitchFamily="34" charset="-34"/>
              <a:cs typeface="Leelawadee UI" panose="020B0502040204020203" pitchFamily="34" charset="-34"/>
            </a:endParaRPr>
          </a:p>
        </p:txBody>
      </p:sp>
      <p:sp>
        <p:nvSpPr>
          <p:cNvPr id="117" name="Text 10">
            <a:extLst>
              <a:ext uri="{FF2B5EF4-FFF2-40B4-BE49-F238E27FC236}">
                <a16:creationId xmlns:a16="http://schemas.microsoft.com/office/drawing/2014/main" id="{6EC79470-A5C2-8D27-6D18-E78228B4E275}"/>
              </a:ext>
            </a:extLst>
          </p:cNvPr>
          <p:cNvSpPr/>
          <p:nvPr/>
        </p:nvSpPr>
        <p:spPr>
          <a:xfrm>
            <a:off x="3370883" y="29126755"/>
            <a:ext cx="2521446" cy="378470"/>
          </a:xfrm>
          <a:prstGeom prst="rect">
            <a:avLst/>
          </a:prstGeom>
          <a:noFill/>
          <a:ln/>
        </p:spPr>
        <p:txBody>
          <a:bodyPr wrap="square" lIns="0" tIns="0" rIns="0" bIns="0" rtlCol="0" anchor="t">
            <a:normAutofit/>
          </a:bodyPr>
          <a:lstStyle/>
          <a:p>
            <a:pPr>
              <a:lnSpc>
                <a:spcPct val="131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rId13">
                  <a:extLst>
                    <a:ext uri="{A12FA001-AC4F-418D-AE19-62706E023703}">
                      <ahyp:hlinkClr xmlns:ahyp="http://schemas.microsoft.com/office/drawing/2018/hyperlinkcolor" val="tx"/>
                    </a:ext>
                  </a:extLst>
                </a:hlinkClick>
              </a:rPr>
              <a:t>info@naturalkapital.or.id</a:t>
            </a:r>
            <a:endParaRPr lang="en-US" sz="1000" dirty="0">
              <a:latin typeface="Leelawadee UI" panose="020B0502040204020203" pitchFamily="34" charset="-34"/>
              <a:cs typeface="Leelawadee UI" panose="020B0502040204020203" pitchFamily="34" charset="-34"/>
            </a:endParaRPr>
          </a:p>
          <a:p>
            <a:pPr>
              <a:lnSpc>
                <a:spcPct val="131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(Nomor telepon akan diperbarui)</a:t>
            </a:r>
            <a:endParaRPr lang="en-US" sz="1000" dirty="0">
              <a:latin typeface="Leelawadee UI" panose="020B0502040204020203" pitchFamily="34" charset="-34"/>
              <a:cs typeface="Leelawadee UI" panose="020B0502040204020203" pitchFamily="34" charset="-34"/>
            </a:endParaRPr>
          </a:p>
        </p:txBody>
      </p:sp>
      <p:sp>
        <p:nvSpPr>
          <p:cNvPr id="118" name="Text 11">
            <a:extLst>
              <a:ext uri="{FF2B5EF4-FFF2-40B4-BE49-F238E27FC236}">
                <a16:creationId xmlns:a16="http://schemas.microsoft.com/office/drawing/2014/main" id="{81345F14-EB42-E8E2-1F44-E062B24C4D4B}"/>
              </a:ext>
            </a:extLst>
          </p:cNvPr>
          <p:cNvSpPr/>
          <p:nvPr/>
        </p:nvSpPr>
        <p:spPr>
          <a:xfrm>
            <a:off x="6190283" y="28023643"/>
            <a:ext cx="1959322" cy="187747"/>
          </a:xfrm>
          <a:prstGeom prst="rect">
            <a:avLst/>
          </a:prstGeom>
          <a:noFill/>
          <a:ln/>
        </p:spPr>
        <p:txBody>
          <a:bodyPr wrap="none" lIns="0" tIns="0" rIns="0" bIns="0" rtlCol="0" anchor="t"/>
          <a:lstStyle/>
          <a:p>
            <a:pPr>
              <a:lnSpc>
                <a:spcPct val="104000"/>
              </a:lnSpc>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Ikuti Kami</a:t>
            </a:r>
            <a:endParaRPr lang="en-US" sz="1150" dirty="0">
              <a:latin typeface="Leelawadee UI" panose="020B0502040204020203" pitchFamily="34" charset="-34"/>
              <a:cs typeface="Leelawadee UI" panose="020B0502040204020203" pitchFamily="34" charset="-34"/>
            </a:endParaRPr>
          </a:p>
        </p:txBody>
      </p:sp>
      <p:sp>
        <p:nvSpPr>
          <p:cNvPr id="119" name="Text 12">
            <a:extLst>
              <a:ext uri="{FF2B5EF4-FFF2-40B4-BE49-F238E27FC236}">
                <a16:creationId xmlns:a16="http://schemas.microsoft.com/office/drawing/2014/main" id="{23CF2FA6-2558-2D68-F71E-A6D0B00D74E1}"/>
              </a:ext>
            </a:extLst>
          </p:cNvPr>
          <p:cNvSpPr/>
          <p:nvPr/>
        </p:nvSpPr>
        <p:spPr>
          <a:xfrm>
            <a:off x="6190283" y="28327773"/>
            <a:ext cx="2978646" cy="189235"/>
          </a:xfrm>
          <a:prstGeom prst="rect">
            <a:avLst/>
          </a:prstGeom>
          <a:noFill/>
          <a:ln/>
        </p:spPr>
        <p:txBody>
          <a:bodyPr wrap="none" lIns="0" tIns="0" rIns="0" bIns="0" rtlCol="0" anchor="t"/>
          <a:lstStyle/>
          <a:p>
            <a:pPr>
              <a:lnSpc>
                <a:spcPct val="131000"/>
              </a:lnSpc>
            </a:pP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LinkedIn</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a:t>
            </a: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YouTube</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 </a:t>
            </a: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Instagram</a:t>
            </a:r>
            <a:endParaRPr lang="en-US" sz="1000" dirty="0">
              <a:latin typeface="Leelawadee UI" panose="020B0502040204020203" pitchFamily="34" charset="-34"/>
              <a:cs typeface="Leelawadee UI" panose="020B0502040204020203" pitchFamily="34" charset="-34"/>
            </a:endParaRPr>
          </a:p>
        </p:txBody>
      </p:sp>
      <p:sp>
        <p:nvSpPr>
          <p:cNvPr id="120" name="Text 13">
            <a:extLst>
              <a:ext uri="{FF2B5EF4-FFF2-40B4-BE49-F238E27FC236}">
                <a16:creationId xmlns:a16="http://schemas.microsoft.com/office/drawing/2014/main" id="{CA1F3460-C558-0D36-94D8-F5DB6B137420}"/>
              </a:ext>
            </a:extLst>
          </p:cNvPr>
          <p:cNvSpPr/>
          <p:nvPr/>
        </p:nvSpPr>
        <p:spPr>
          <a:xfrm>
            <a:off x="6190283" y="28633392"/>
            <a:ext cx="1959322" cy="187747"/>
          </a:xfrm>
          <a:prstGeom prst="rect">
            <a:avLst/>
          </a:prstGeom>
          <a:noFill/>
          <a:ln/>
        </p:spPr>
        <p:txBody>
          <a:bodyPr wrap="none" lIns="0" tIns="0" rIns="0" bIns="0" rtlCol="0" anchor="t"/>
          <a:lstStyle/>
          <a:p>
            <a:pPr>
              <a:lnSpc>
                <a:spcPct val="104000"/>
              </a:lnSpc>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Informasi Legal</a:t>
            </a:r>
            <a:endParaRPr lang="en-US" sz="1150" dirty="0">
              <a:latin typeface="Leelawadee UI" panose="020B0502040204020203" pitchFamily="34" charset="-34"/>
              <a:cs typeface="Leelawadee UI" panose="020B0502040204020203" pitchFamily="34" charset="-34"/>
            </a:endParaRPr>
          </a:p>
        </p:txBody>
      </p:sp>
      <p:sp>
        <p:nvSpPr>
          <p:cNvPr id="121" name="Text 14">
            <a:extLst>
              <a:ext uri="{FF2B5EF4-FFF2-40B4-BE49-F238E27FC236}">
                <a16:creationId xmlns:a16="http://schemas.microsoft.com/office/drawing/2014/main" id="{65BC6608-2038-E189-9DAA-158C6714F2E8}"/>
              </a:ext>
            </a:extLst>
          </p:cNvPr>
          <p:cNvSpPr/>
          <p:nvPr/>
        </p:nvSpPr>
        <p:spPr>
          <a:xfrm>
            <a:off x="6190283" y="28937520"/>
            <a:ext cx="2521446" cy="378470"/>
          </a:xfrm>
          <a:prstGeom prst="rect">
            <a:avLst/>
          </a:prstGeom>
          <a:noFill/>
          <a:ln/>
        </p:spPr>
        <p:txBody>
          <a:bodyPr wrap="square" lIns="0" tIns="0" rIns="0" bIns="0" rtlCol="0" anchor="t">
            <a:normAutofit/>
          </a:bodyPr>
          <a:lstStyle/>
          <a:p>
            <a:pPr>
              <a:lnSpc>
                <a:spcPct val="131000"/>
              </a:lnSpc>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a:t>
            </a:r>
            <a:endParaRPr lang="en-US" sz="1000" dirty="0">
              <a:latin typeface="Leelawadee UI" panose="020B0502040204020203" pitchFamily="34" charset="-34"/>
              <a:cs typeface="Leelawadee UI" panose="020B0502040204020203" pitchFamily="34" charset="-34"/>
            </a:endParaRPr>
          </a:p>
          <a:p>
            <a:pPr>
              <a:lnSpc>
                <a:spcPct val="131000"/>
              </a:lnSpc>
            </a:pP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Kebijakan Privasi</a:t>
            </a:r>
            <a:endParaRPr lang="en-US" sz="10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2739939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TotalTime>
  <Words>995</Words>
  <Application>Microsoft Office PowerPoint</Application>
  <PresentationFormat>Custom</PresentationFormat>
  <Paragraphs>96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2</cp:revision>
  <dcterms:created xsi:type="dcterms:W3CDTF">2026-06-19T15:17:57Z</dcterms:created>
  <dcterms:modified xsi:type="dcterms:W3CDTF">2026-06-19T18:51:24Z</dcterms:modified>
</cp:coreProperties>
</file>