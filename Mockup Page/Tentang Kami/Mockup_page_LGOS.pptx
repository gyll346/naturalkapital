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8999538" cy="323992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90" d="100"/>
          <a:sy n="90" d="100"/>
        </p:scale>
        <p:origin x="221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5302386"/>
            <a:ext cx="7649607" cy="1127975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7017128"/>
            <a:ext cx="6749654" cy="7822326"/>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846966-91B7-4D3B-BED9-F81364E57BC2}"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1595975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846966-91B7-4D3B-BED9-F81364E57BC2}"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1472906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8077332"/>
            <a:ext cx="7762102" cy="13477201"/>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1682033"/>
            <a:ext cx="7762102" cy="7087342"/>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846966-91B7-4D3B-BED9-F81364E57BC2}"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3891855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8624810"/>
            <a:ext cx="3824804" cy="20557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8624810"/>
            <a:ext cx="3824804" cy="20557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846966-91B7-4D3B-BED9-F81364E57BC2}" type="datetimeFigureOut">
              <a:rPr lang="en-ID" smtClean="0"/>
              <a:t>19/06/2026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951886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1724969"/>
            <a:ext cx="7762102" cy="626236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7942328"/>
            <a:ext cx="3807226" cy="3892412"/>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1834740"/>
            <a:ext cx="3807226" cy="174071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7942328"/>
            <a:ext cx="3825976" cy="3892412"/>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1834740"/>
            <a:ext cx="3825976" cy="174071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846966-91B7-4D3B-BED9-F81364E57BC2}" type="datetimeFigureOut">
              <a:rPr lang="en-ID" smtClean="0"/>
              <a:t>19/06/2026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313135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846966-91B7-4D3B-BED9-F81364E57BC2}" type="datetimeFigureOut">
              <a:rPr lang="en-ID" smtClean="0"/>
              <a:t>19/06/2026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1143058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846966-91B7-4D3B-BED9-F81364E57BC2}" type="datetimeFigureOut">
              <a:rPr lang="en-ID" smtClean="0"/>
              <a:t>19/06/2026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3231142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159952"/>
            <a:ext cx="2902585" cy="7559834"/>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4664905"/>
            <a:ext cx="4556016" cy="23024494"/>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9719786"/>
            <a:ext cx="2902585" cy="18007107"/>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78846966-91B7-4D3B-BED9-F81364E57BC2}" type="datetimeFigureOut">
              <a:rPr lang="en-ID" smtClean="0"/>
              <a:t>19/06/2026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401302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159952"/>
            <a:ext cx="2902585" cy="7559834"/>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4664905"/>
            <a:ext cx="4556016" cy="23024494"/>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9719786"/>
            <a:ext cx="2902585" cy="18007107"/>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78846966-91B7-4D3B-BED9-F81364E57BC2}" type="datetimeFigureOut">
              <a:rPr lang="en-ID" smtClean="0"/>
              <a:t>19/06/2026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3083183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846966-91B7-4D3B-BED9-F81364E57BC2}"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643356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1724962"/>
            <a:ext cx="1940525" cy="274568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1724962"/>
            <a:ext cx="5709082" cy="274568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846966-91B7-4D3B-BED9-F81364E57BC2}" type="datetimeFigureOut">
              <a:rPr lang="en-ID" smtClean="0"/>
              <a:t>19/06/2026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A6B613D7-0ACB-4495-BFC9-B4A1FE8DF3EC}" type="slidenum">
              <a:rPr lang="en-ID" smtClean="0"/>
              <a:t>‹#›</a:t>
            </a:fld>
            <a:endParaRPr lang="en-ID"/>
          </a:p>
        </p:txBody>
      </p:sp>
    </p:spTree>
    <p:extLst>
      <p:ext uri="{BB962C8B-B14F-4D97-AF65-F5344CB8AC3E}">
        <p14:creationId xmlns:p14="http://schemas.microsoft.com/office/powerpoint/2010/main" val="21265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1724969"/>
            <a:ext cx="7762102" cy="62623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8624810"/>
            <a:ext cx="7762102" cy="205570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30029347"/>
            <a:ext cx="2024896" cy="1724962"/>
          </a:xfrm>
          <a:prstGeom prst="rect">
            <a:avLst/>
          </a:prstGeom>
        </p:spPr>
        <p:txBody>
          <a:bodyPr vert="horz" lIns="91440" tIns="45720" rIns="91440" bIns="45720" rtlCol="0" anchor="ctr"/>
          <a:lstStyle>
            <a:lvl1pPr algn="l">
              <a:defRPr sz="1181">
                <a:solidFill>
                  <a:schemeClr val="tx1">
                    <a:tint val="75000"/>
                  </a:schemeClr>
                </a:solidFill>
              </a:defRPr>
            </a:lvl1pPr>
          </a:lstStyle>
          <a:p>
            <a:fld id="{78846966-91B7-4D3B-BED9-F81364E57BC2}" type="datetimeFigureOut">
              <a:rPr lang="en-ID" smtClean="0"/>
              <a:t>19/06/2026</a:t>
            </a:fld>
            <a:endParaRPr lang="en-ID"/>
          </a:p>
        </p:txBody>
      </p:sp>
      <p:sp>
        <p:nvSpPr>
          <p:cNvPr id="5" name="Footer Placeholder 4"/>
          <p:cNvSpPr>
            <a:spLocks noGrp="1"/>
          </p:cNvSpPr>
          <p:nvPr>
            <p:ph type="ftr" sz="quarter" idx="3"/>
          </p:nvPr>
        </p:nvSpPr>
        <p:spPr>
          <a:xfrm>
            <a:off x="2981097" y="30029347"/>
            <a:ext cx="3037344" cy="1724962"/>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30029347"/>
            <a:ext cx="2024896" cy="1724962"/>
          </a:xfrm>
          <a:prstGeom prst="rect">
            <a:avLst/>
          </a:prstGeom>
        </p:spPr>
        <p:txBody>
          <a:bodyPr vert="horz" lIns="91440" tIns="45720" rIns="91440" bIns="45720" rtlCol="0" anchor="ctr"/>
          <a:lstStyle>
            <a:lvl1pPr algn="r">
              <a:defRPr sz="1181">
                <a:solidFill>
                  <a:schemeClr val="tx1">
                    <a:tint val="75000"/>
                  </a:schemeClr>
                </a:solidFill>
              </a:defRPr>
            </a:lvl1pPr>
          </a:lstStyle>
          <a:p>
            <a:fld id="{A6B613D7-0ACB-4495-BFC9-B4A1FE8DF3EC}" type="slidenum">
              <a:rPr lang="en-ID" smtClean="0"/>
              <a:t>‹#›</a:t>
            </a:fld>
            <a:endParaRPr lang="en-ID"/>
          </a:p>
        </p:txBody>
      </p:sp>
    </p:spTree>
    <p:extLst>
      <p:ext uri="{BB962C8B-B14F-4D97-AF65-F5344CB8AC3E}">
        <p14:creationId xmlns:p14="http://schemas.microsoft.com/office/powerpoint/2010/main" val="6971070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950F7BA1-2051-EBDA-922B-CD2CD9566900}"/>
              </a:ext>
            </a:extLst>
          </p:cNvPr>
          <p:cNvPicPr>
            <a:picLocks noChangeAspect="1"/>
          </p:cNvPicPr>
          <p:nvPr/>
        </p:nvPicPr>
        <p:blipFill>
          <a:blip r:embed="rId2"/>
          <a:stretch>
            <a:fillRect/>
          </a:stretch>
        </p:blipFill>
        <p:spPr>
          <a:xfrm>
            <a:off x="5715000" y="0"/>
            <a:ext cx="3303399" cy="4955099"/>
          </a:xfrm>
          <a:prstGeom prst="rect">
            <a:avLst/>
          </a:prstGeom>
        </p:spPr>
      </p:pic>
      <p:sp>
        <p:nvSpPr>
          <p:cNvPr id="5" name="Shape 0">
            <a:extLst>
              <a:ext uri="{FF2B5EF4-FFF2-40B4-BE49-F238E27FC236}">
                <a16:creationId xmlns:a16="http://schemas.microsoft.com/office/drawing/2014/main" id="{A3D40671-0313-BFAF-22D8-F8E8C692EEC0}"/>
              </a:ext>
            </a:extLst>
          </p:cNvPr>
          <p:cNvSpPr/>
          <p:nvPr/>
        </p:nvSpPr>
        <p:spPr>
          <a:xfrm>
            <a:off x="496119" y="936783"/>
            <a:ext cx="1973117" cy="215206"/>
          </a:xfrm>
          <a:prstGeom prst="roundRect">
            <a:avLst>
              <a:gd name="adj" fmla="val 6132"/>
            </a:avLst>
          </a:prstGeom>
          <a:noFill/>
          <a:ln w="4763">
            <a:solidFill>
              <a:srgbClr val="28282F"/>
            </a:solidFill>
            <a:prstDash val="solid"/>
          </a:ln>
        </p:spPr>
      </p:sp>
      <p:sp>
        <p:nvSpPr>
          <p:cNvPr id="6" name="Text 1">
            <a:extLst>
              <a:ext uri="{FF2B5EF4-FFF2-40B4-BE49-F238E27FC236}">
                <a16:creationId xmlns:a16="http://schemas.microsoft.com/office/drawing/2014/main" id="{DBF41280-A9CA-DA59-3D35-6069A82603FD}"/>
              </a:ext>
            </a:extLst>
          </p:cNvPr>
          <p:cNvSpPr/>
          <p:nvPr/>
        </p:nvSpPr>
        <p:spPr>
          <a:xfrm>
            <a:off x="575295" y="957486"/>
            <a:ext cx="2125638" cy="158800"/>
          </a:xfrm>
          <a:prstGeom prst="rect">
            <a:avLst/>
          </a:prstGeom>
          <a:noFill/>
          <a:ln/>
        </p:spPr>
        <p:txBody>
          <a:bodyPr wrap="none" lIns="0" tIns="0" rIns="0" bIns="0" rtlCol="0" anchor="t"/>
          <a:lstStyle/>
          <a:p>
            <a:pPr marL="0" indent="0" algn="l">
              <a:lnSpc>
                <a:spcPct val="133000"/>
              </a:lnSpc>
              <a:buNone/>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BERANDA / TENTANG KAMI / LGOS</a:t>
            </a:r>
            <a:endParaRPr lang="en-US" sz="900" dirty="0">
              <a:latin typeface="Leelawadee UI" panose="020B0502040204020203" pitchFamily="34" charset="-34"/>
              <a:cs typeface="Leelawadee UI" panose="020B0502040204020203" pitchFamily="34" charset="-34"/>
            </a:endParaRPr>
          </a:p>
        </p:txBody>
      </p:sp>
      <p:sp>
        <p:nvSpPr>
          <p:cNvPr id="7" name="Text 2">
            <a:extLst>
              <a:ext uri="{FF2B5EF4-FFF2-40B4-BE49-F238E27FC236}">
                <a16:creationId xmlns:a16="http://schemas.microsoft.com/office/drawing/2014/main" id="{BBAEFF4E-D3DD-594E-6D60-9C3059F2AC2F}"/>
              </a:ext>
            </a:extLst>
          </p:cNvPr>
          <p:cNvSpPr/>
          <p:nvPr/>
        </p:nvSpPr>
        <p:spPr>
          <a:xfrm>
            <a:off x="496119" y="1207815"/>
            <a:ext cx="4722763" cy="1162645"/>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Landscape Governance Operating System (LGOS): Sistem Operasi Organisasi YNKI</a:t>
            </a:r>
            <a:endParaRPr lang="en-US" sz="2400" dirty="0">
              <a:latin typeface="Leelawadee UI" panose="020B0502040204020203" pitchFamily="34" charset="-34"/>
              <a:cs typeface="Leelawadee UI" panose="020B0502040204020203" pitchFamily="34" charset="-34"/>
            </a:endParaRPr>
          </a:p>
        </p:txBody>
      </p:sp>
      <p:sp>
        <p:nvSpPr>
          <p:cNvPr id="8" name="Text 3">
            <a:extLst>
              <a:ext uri="{FF2B5EF4-FFF2-40B4-BE49-F238E27FC236}">
                <a16:creationId xmlns:a16="http://schemas.microsoft.com/office/drawing/2014/main" id="{1A0C2012-F990-8952-3EA8-7B3F99F6906A}"/>
              </a:ext>
            </a:extLst>
          </p:cNvPr>
          <p:cNvSpPr/>
          <p:nvPr/>
        </p:nvSpPr>
        <p:spPr>
          <a:xfrm>
            <a:off x="496119" y="2556495"/>
            <a:ext cx="4722763" cy="1190774"/>
          </a:xfrm>
          <a:prstGeom prst="rect">
            <a:avLst/>
          </a:prstGeom>
          <a:noFill/>
          <a:ln/>
        </p:spPr>
        <p:txBody>
          <a:bodyPr wrap="square" lIns="0" tIns="0" rIns="0" bIns="0" rtlCol="0" anchor="t">
            <a:normAutofit lnSpcReduction="10000"/>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LGOS adalah kerangka kerja kami yang terintegrasi menghubungkan filosofi, strategi, program, pembelajaran, pengetahuan, dan sumber daya dalam satu sistem perubahan yang utuh. Sebagai </a:t>
            </a:r>
            <a:r>
              <a:rPr lang="en-US" sz="1000" b="1" i="1" dirty="0">
                <a:solidFill>
                  <a:srgbClr val="161613"/>
                </a:solidFill>
                <a:latin typeface="Leelawadee UI" panose="020B0502040204020203" pitchFamily="34" charset="-34"/>
                <a:ea typeface="Inter" pitchFamily="34" charset="-122"/>
                <a:cs typeface="Leelawadee UI" panose="020B0502040204020203" pitchFamily="34" charset="-34"/>
              </a:rPr>
              <a:t>Landscape Governance Backbone Organization</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YNKI menggunakan LGOS untuk memastikan seluruh elemen organisasi bekerja secara terhubung dalam mendukung visi: </a:t>
            </a: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Sustainable and Resilient Landscapes for People, Nature and Future Generations.</a:t>
            </a:r>
            <a:endParaRPr lang="en-US" sz="1000" dirty="0">
              <a:latin typeface="Leelawadee UI" panose="020B0502040204020203" pitchFamily="34" charset="-34"/>
              <a:cs typeface="Leelawadee UI" panose="020B0502040204020203" pitchFamily="34" charset="-34"/>
            </a:endParaRPr>
          </a:p>
        </p:txBody>
      </p:sp>
      <p:pic>
        <p:nvPicPr>
          <p:cNvPr id="9" name="Image 1" descr="preencoded.png">
            <a:hlinkClick r:id="" action="ppaction://noaction"/>
            <a:extLst>
              <a:ext uri="{FF2B5EF4-FFF2-40B4-BE49-F238E27FC236}">
                <a16:creationId xmlns:a16="http://schemas.microsoft.com/office/drawing/2014/main" id="{EA4EE21D-89D2-BC2D-4434-3E50D14E7383}"/>
              </a:ext>
            </a:extLst>
          </p:cNvPr>
          <p:cNvPicPr>
            <a:picLocks noChangeAspect="1"/>
          </p:cNvPicPr>
          <p:nvPr/>
        </p:nvPicPr>
        <p:blipFill>
          <a:blip r:embed="rId3"/>
          <a:stretch>
            <a:fillRect/>
          </a:stretch>
        </p:blipFill>
        <p:spPr>
          <a:xfrm>
            <a:off x="496119" y="3886795"/>
            <a:ext cx="2714774" cy="341114"/>
          </a:xfrm>
          <a:prstGeom prst="rect">
            <a:avLst/>
          </a:prstGeom>
        </p:spPr>
      </p:pic>
      <p:pic>
        <p:nvPicPr>
          <p:cNvPr id="10" name="Image 2" descr="preencoded.png">
            <a:hlinkClick r:id="" action="ppaction://noaction"/>
            <a:extLst>
              <a:ext uri="{FF2B5EF4-FFF2-40B4-BE49-F238E27FC236}">
                <a16:creationId xmlns:a16="http://schemas.microsoft.com/office/drawing/2014/main" id="{DEA46B57-F506-AE7C-7611-2EDC33D884E8}"/>
              </a:ext>
            </a:extLst>
          </p:cNvPr>
          <p:cNvPicPr>
            <a:picLocks noChangeAspect="1"/>
          </p:cNvPicPr>
          <p:nvPr/>
        </p:nvPicPr>
        <p:blipFill>
          <a:blip r:embed="rId4"/>
          <a:stretch>
            <a:fillRect/>
          </a:stretch>
        </p:blipFill>
        <p:spPr>
          <a:xfrm>
            <a:off x="3272879" y="3886795"/>
            <a:ext cx="1387227" cy="341114"/>
          </a:xfrm>
          <a:prstGeom prst="rect">
            <a:avLst/>
          </a:prstGeom>
        </p:spPr>
      </p:pic>
      <p:sp>
        <p:nvSpPr>
          <p:cNvPr id="11" name="Text 0">
            <a:extLst>
              <a:ext uri="{FF2B5EF4-FFF2-40B4-BE49-F238E27FC236}">
                <a16:creationId xmlns:a16="http://schemas.microsoft.com/office/drawing/2014/main" id="{A96FE7D0-0935-5B52-DB3F-9D38295B533E}"/>
              </a:ext>
            </a:extLst>
          </p:cNvPr>
          <p:cNvSpPr/>
          <p:nvPr/>
        </p:nvSpPr>
        <p:spPr>
          <a:xfrm>
            <a:off x="972839" y="5990868"/>
            <a:ext cx="7053858" cy="333077"/>
          </a:xfrm>
          <a:prstGeom prst="rect">
            <a:avLst/>
          </a:prstGeom>
          <a:noFill/>
          <a:ln/>
        </p:spPr>
        <p:txBody>
          <a:bodyPr wrap="none" lIns="0" tIns="0" rIns="0" bIns="0" rtlCol="0" anchor="t"/>
          <a:lstStyle/>
          <a:p>
            <a:pPr marL="0" indent="0" algn="ctr">
              <a:lnSpc>
                <a:spcPct val="104000"/>
              </a:lnSpc>
              <a:buNone/>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Arsitektur LGOS: 8 Komponen yang Saling Terhubung</a:t>
            </a:r>
            <a:endParaRPr lang="en-US" sz="2200" dirty="0">
              <a:latin typeface="Leelawadee UI" panose="020B0502040204020203" pitchFamily="34" charset="-34"/>
              <a:cs typeface="Leelawadee UI" panose="020B0502040204020203" pitchFamily="34" charset="-34"/>
            </a:endParaRPr>
          </a:p>
        </p:txBody>
      </p:sp>
      <p:sp>
        <p:nvSpPr>
          <p:cNvPr id="12" name="Text 1">
            <a:extLst>
              <a:ext uri="{FF2B5EF4-FFF2-40B4-BE49-F238E27FC236}">
                <a16:creationId xmlns:a16="http://schemas.microsoft.com/office/drawing/2014/main" id="{112CB0AA-639D-466F-B9D1-E953DF6203CF}"/>
              </a:ext>
            </a:extLst>
          </p:cNvPr>
          <p:cNvSpPr/>
          <p:nvPr/>
        </p:nvSpPr>
        <p:spPr>
          <a:xfrm>
            <a:off x="423887" y="6507153"/>
            <a:ext cx="8151763" cy="587145"/>
          </a:xfrm>
          <a:prstGeom prst="rect">
            <a:avLst/>
          </a:prstGeom>
          <a:noFill/>
          <a:ln/>
        </p:spPr>
        <p:txBody>
          <a:bodyPr wrap="square" lIns="0" tIns="0" rIns="0" bIns="0" rtlCol="0" anchor="t">
            <a:normAutofit/>
          </a:bodyPr>
          <a:lstStyle/>
          <a:p>
            <a:pPr marL="0" indent="0" algn="ctr">
              <a:lnSpc>
                <a:spcPct val="124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Setiap komponen LGOS memiliki peran spesifik—dari fondasi filosofis hingga mobilisasi sumber daya—yang bekerja bersama membentuk sistem perubahan yang utuh dan berkelanjutan.</a:t>
            </a:r>
            <a:endParaRPr lang="en-US" sz="1000" dirty="0">
              <a:latin typeface="Leelawadee UI" panose="020B0502040204020203" pitchFamily="34" charset="-34"/>
              <a:cs typeface="Leelawadee UI" panose="020B0502040204020203" pitchFamily="34" charset="-34"/>
            </a:endParaRPr>
          </a:p>
        </p:txBody>
      </p:sp>
      <p:pic>
        <p:nvPicPr>
          <p:cNvPr id="13" name="Image 0" descr="preencoded.png">
            <a:extLst>
              <a:ext uri="{FF2B5EF4-FFF2-40B4-BE49-F238E27FC236}">
                <a16:creationId xmlns:a16="http://schemas.microsoft.com/office/drawing/2014/main" id="{5E49D5A6-C6D5-9183-8B7C-B80CE25EDC6F}"/>
              </a:ext>
            </a:extLst>
          </p:cNvPr>
          <p:cNvPicPr>
            <a:picLocks noChangeAspect="1"/>
          </p:cNvPicPr>
          <p:nvPr/>
        </p:nvPicPr>
        <p:blipFill>
          <a:blip r:embed="rId5"/>
          <a:stretch>
            <a:fillRect/>
          </a:stretch>
        </p:blipFill>
        <p:spPr>
          <a:xfrm>
            <a:off x="1345910" y="6943564"/>
            <a:ext cx="5468838" cy="3052316"/>
          </a:xfrm>
          <a:prstGeom prst="rect">
            <a:avLst/>
          </a:prstGeom>
        </p:spPr>
      </p:pic>
      <p:sp>
        <p:nvSpPr>
          <p:cNvPr id="14" name="Text 2">
            <a:extLst>
              <a:ext uri="{FF2B5EF4-FFF2-40B4-BE49-F238E27FC236}">
                <a16:creationId xmlns:a16="http://schemas.microsoft.com/office/drawing/2014/main" id="{C82BBC4C-EE55-8C77-F7B3-174C0201CC2B}"/>
              </a:ext>
            </a:extLst>
          </p:cNvPr>
          <p:cNvSpPr/>
          <p:nvPr/>
        </p:nvSpPr>
        <p:spPr>
          <a:xfrm>
            <a:off x="1884547" y="7228964"/>
            <a:ext cx="3056167" cy="144922"/>
          </a:xfrm>
          <a:prstGeom prst="rect">
            <a:avLst/>
          </a:prstGeom>
          <a:noFill/>
          <a:ln/>
        </p:spPr>
        <p:txBody>
          <a:bodyPr wrap="none" lIns="0" tIns="0" rIns="0" bIns="0" rtlCol="0" anchor="t"/>
          <a:lstStyle/>
          <a:p>
            <a:pPr marL="0" indent="0" algn="ctr">
              <a:lnSpc>
                <a:spcPct val="104000"/>
              </a:lnSpc>
              <a:buNone/>
            </a:pPr>
            <a:r>
              <a:rPr lang="en-US" sz="900" b="1" dirty="0">
                <a:solidFill>
                  <a:srgbClr val="161613"/>
                </a:solidFill>
                <a:latin typeface="Leelawadee UI" panose="020B0502040204020203" pitchFamily="34" charset="-34"/>
                <a:ea typeface="DM Sans Medium" pitchFamily="34" charset="-122"/>
                <a:cs typeface="Leelawadee UI" panose="020B0502040204020203" pitchFamily="34" charset="-34"/>
              </a:rPr>
              <a:t>KERTAS POSISI</a:t>
            </a: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 (Filosofi – Mengapa Kami Ada)</a:t>
            </a:r>
            <a:endParaRPr lang="en-US" sz="900" dirty="0">
              <a:latin typeface="Leelawadee UI" panose="020B0502040204020203" pitchFamily="34" charset="-34"/>
              <a:cs typeface="Leelawadee UI" panose="020B0502040204020203" pitchFamily="34" charset="-34"/>
            </a:endParaRPr>
          </a:p>
        </p:txBody>
      </p:sp>
      <p:sp>
        <p:nvSpPr>
          <p:cNvPr id="15" name="Text 3">
            <a:extLst>
              <a:ext uri="{FF2B5EF4-FFF2-40B4-BE49-F238E27FC236}">
                <a16:creationId xmlns:a16="http://schemas.microsoft.com/office/drawing/2014/main" id="{66CD9DB7-E723-7722-4BE5-26ED9F1334AA}"/>
              </a:ext>
            </a:extLst>
          </p:cNvPr>
          <p:cNvSpPr/>
          <p:nvPr/>
        </p:nvSpPr>
        <p:spPr>
          <a:xfrm>
            <a:off x="1906422" y="7571785"/>
            <a:ext cx="4285863" cy="144921"/>
          </a:xfrm>
          <a:prstGeom prst="rect">
            <a:avLst/>
          </a:prstGeom>
          <a:noFill/>
          <a:ln/>
        </p:spPr>
        <p:txBody>
          <a:bodyPr wrap="none" lIns="0" tIns="0" rIns="0" bIns="0" rtlCol="0" anchor="t"/>
          <a:lstStyle/>
          <a:p>
            <a:pPr marL="0" indent="0" algn="ctr">
              <a:lnSpc>
                <a:spcPct val="104000"/>
              </a:lnSpc>
              <a:buNone/>
            </a:pPr>
            <a:r>
              <a:rPr lang="en-US" sz="900" b="1" dirty="0">
                <a:solidFill>
                  <a:srgbClr val="161613"/>
                </a:solidFill>
                <a:latin typeface="Leelawadee UI" panose="020B0502040204020203" pitchFamily="34" charset="-34"/>
                <a:ea typeface="DM Sans Medium" pitchFamily="34" charset="-122"/>
                <a:cs typeface="Leelawadee UI" panose="020B0502040204020203" pitchFamily="34" charset="-34"/>
              </a:rPr>
              <a:t>MASTER ToC</a:t>
            </a: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 (Mesin Perubahan – Bagaimana Perubahan Terjadi)</a:t>
            </a:r>
            <a:endParaRPr lang="en-US" sz="900" dirty="0">
              <a:latin typeface="Leelawadee UI" panose="020B0502040204020203" pitchFamily="34" charset="-34"/>
              <a:cs typeface="Leelawadee UI" panose="020B0502040204020203" pitchFamily="34" charset="-34"/>
            </a:endParaRPr>
          </a:p>
        </p:txBody>
      </p:sp>
      <p:sp>
        <p:nvSpPr>
          <p:cNvPr id="16" name="Text 4">
            <a:extLst>
              <a:ext uri="{FF2B5EF4-FFF2-40B4-BE49-F238E27FC236}">
                <a16:creationId xmlns:a16="http://schemas.microsoft.com/office/drawing/2014/main" id="{1E3AFF57-0A93-2D4E-DFBF-84C6C3DAAAC8}"/>
              </a:ext>
            </a:extLst>
          </p:cNvPr>
          <p:cNvSpPr/>
          <p:nvPr/>
        </p:nvSpPr>
        <p:spPr>
          <a:xfrm>
            <a:off x="1868568" y="7910761"/>
            <a:ext cx="4465220" cy="144921"/>
          </a:xfrm>
          <a:prstGeom prst="rect">
            <a:avLst/>
          </a:prstGeom>
          <a:noFill/>
          <a:ln/>
        </p:spPr>
        <p:txBody>
          <a:bodyPr wrap="none" lIns="0" tIns="0" rIns="0" bIns="0" rtlCol="0" anchor="t"/>
          <a:lstStyle/>
          <a:p>
            <a:pPr marL="0" indent="0" algn="ctr">
              <a:lnSpc>
                <a:spcPct val="104000"/>
              </a:lnSpc>
              <a:buNone/>
            </a:pPr>
            <a:r>
              <a:rPr lang="en-US" sz="900" b="1" dirty="0">
                <a:solidFill>
                  <a:srgbClr val="161613"/>
                </a:solidFill>
                <a:latin typeface="Leelawadee UI" panose="020B0502040204020203" pitchFamily="34" charset="-34"/>
                <a:ea typeface="DM Sans Medium" pitchFamily="34" charset="-122"/>
                <a:cs typeface="Leelawadee UI" panose="020B0502040204020203" pitchFamily="34" charset="-34"/>
              </a:rPr>
              <a:t>RENCANA STRATEGIS</a:t>
            </a: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 (Sistem Navigasi – Ke Mana Kami Akan Pergi)</a:t>
            </a:r>
            <a:endParaRPr lang="en-US" sz="900" dirty="0">
              <a:latin typeface="Leelawadee UI" panose="020B0502040204020203" pitchFamily="34" charset="-34"/>
              <a:cs typeface="Leelawadee UI" panose="020B0502040204020203" pitchFamily="34" charset="-34"/>
            </a:endParaRPr>
          </a:p>
        </p:txBody>
      </p:sp>
      <p:sp>
        <p:nvSpPr>
          <p:cNvPr id="17" name="Text 5">
            <a:extLst>
              <a:ext uri="{FF2B5EF4-FFF2-40B4-BE49-F238E27FC236}">
                <a16:creationId xmlns:a16="http://schemas.microsoft.com/office/drawing/2014/main" id="{5651B791-32C9-A56E-E331-E94921BC1A68}"/>
              </a:ext>
            </a:extLst>
          </p:cNvPr>
          <p:cNvSpPr/>
          <p:nvPr/>
        </p:nvSpPr>
        <p:spPr>
          <a:xfrm>
            <a:off x="1899928" y="8249652"/>
            <a:ext cx="4255016" cy="139453"/>
          </a:xfrm>
          <a:prstGeom prst="rect">
            <a:avLst/>
          </a:prstGeom>
          <a:noFill/>
          <a:ln/>
        </p:spPr>
        <p:txBody>
          <a:bodyPr wrap="none" lIns="0" tIns="0" rIns="0" bIns="0" rtlCol="0" anchor="t"/>
          <a:lstStyle/>
          <a:p>
            <a:pPr marL="0" indent="0" algn="ctr">
              <a:lnSpc>
                <a:spcPct val="104000"/>
              </a:lnSpc>
              <a:buNone/>
            </a:pPr>
            <a:r>
              <a:rPr lang="en-US" sz="850" b="1" dirty="0">
                <a:solidFill>
                  <a:srgbClr val="161613"/>
                </a:solidFill>
                <a:latin typeface="Leelawadee UI" panose="020B0502040204020203" pitchFamily="34" charset="-34"/>
                <a:ea typeface="DM Sans Medium" pitchFamily="34" charset="-122"/>
                <a:cs typeface="Leelawadee UI" panose="020B0502040204020203" pitchFamily="34" charset="-34"/>
              </a:rPr>
              <a:t>KERANGKA PROGRAM</a:t>
            </a:r>
            <a:r>
              <a:rPr lang="en-US" sz="850" dirty="0">
                <a:solidFill>
                  <a:srgbClr val="161613"/>
                </a:solidFill>
                <a:latin typeface="Leelawadee UI" panose="020B0502040204020203" pitchFamily="34" charset="-34"/>
                <a:ea typeface="DM Sans Medium" pitchFamily="34" charset="-122"/>
                <a:cs typeface="Leelawadee UI" panose="020B0502040204020203" pitchFamily="34" charset="-34"/>
              </a:rPr>
              <a:t> (Lapisan Aplikasi – Portofolio Program)</a:t>
            </a:r>
            <a:endParaRPr lang="en-US" sz="850" dirty="0">
              <a:latin typeface="Leelawadee UI" panose="020B0502040204020203" pitchFamily="34" charset="-34"/>
              <a:cs typeface="Leelawadee UI" panose="020B0502040204020203" pitchFamily="34" charset="-34"/>
            </a:endParaRPr>
          </a:p>
        </p:txBody>
      </p:sp>
      <p:sp>
        <p:nvSpPr>
          <p:cNvPr id="18" name="Text 6">
            <a:extLst>
              <a:ext uri="{FF2B5EF4-FFF2-40B4-BE49-F238E27FC236}">
                <a16:creationId xmlns:a16="http://schemas.microsoft.com/office/drawing/2014/main" id="{AC1A73A7-CC51-5562-7AEF-277237A1EC20}"/>
              </a:ext>
            </a:extLst>
          </p:cNvPr>
          <p:cNvSpPr/>
          <p:nvPr/>
        </p:nvSpPr>
        <p:spPr>
          <a:xfrm>
            <a:off x="1846608" y="8584611"/>
            <a:ext cx="4574852" cy="144922"/>
          </a:xfrm>
          <a:prstGeom prst="rect">
            <a:avLst/>
          </a:prstGeom>
          <a:noFill/>
          <a:ln/>
        </p:spPr>
        <p:txBody>
          <a:bodyPr wrap="none" lIns="0" tIns="0" rIns="0" bIns="0" rtlCol="0" anchor="t"/>
          <a:lstStyle/>
          <a:p>
            <a:pPr marL="0" indent="0" algn="ctr">
              <a:lnSpc>
                <a:spcPct val="104000"/>
              </a:lnSpc>
              <a:buNone/>
            </a:pPr>
            <a:r>
              <a:rPr lang="en-US" sz="900" b="1" dirty="0">
                <a:solidFill>
                  <a:srgbClr val="161613"/>
                </a:solidFill>
                <a:latin typeface="Leelawadee UI" panose="020B0502040204020203" pitchFamily="34" charset="-34"/>
                <a:ea typeface="DM Sans Medium" pitchFamily="34" charset="-122"/>
                <a:cs typeface="Leelawadee UI" panose="020B0502040204020203" pitchFamily="34" charset="-34"/>
              </a:rPr>
              <a:t>PORTOFOLIO PROYEK</a:t>
            </a:r>
            <a:r>
              <a:rPr lang="en-US" sz="900" dirty="0">
                <a:solidFill>
                  <a:srgbClr val="161613"/>
                </a:solidFill>
                <a:latin typeface="Leelawadee UI" panose="020B0502040204020203" pitchFamily="34" charset="-34"/>
                <a:ea typeface="DM Sans Medium" pitchFamily="34" charset="-122"/>
                <a:cs typeface="Leelawadee UI" panose="020B0502040204020203" pitchFamily="34" charset="-34"/>
              </a:rPr>
              <a:t> (Antarmuka Pengguna – Antarmuka Lapangan)</a:t>
            </a:r>
            <a:endParaRPr lang="en-US" sz="900" dirty="0">
              <a:latin typeface="Leelawadee UI" panose="020B0502040204020203" pitchFamily="34" charset="-34"/>
              <a:cs typeface="Leelawadee UI" panose="020B0502040204020203" pitchFamily="34" charset="-34"/>
            </a:endParaRPr>
          </a:p>
        </p:txBody>
      </p:sp>
      <p:sp>
        <p:nvSpPr>
          <p:cNvPr id="19" name="Text 7">
            <a:extLst>
              <a:ext uri="{FF2B5EF4-FFF2-40B4-BE49-F238E27FC236}">
                <a16:creationId xmlns:a16="http://schemas.microsoft.com/office/drawing/2014/main" id="{140FE13C-ACC1-EA72-3A52-F7C4189B8891}"/>
              </a:ext>
            </a:extLst>
          </p:cNvPr>
          <p:cNvSpPr/>
          <p:nvPr/>
        </p:nvSpPr>
        <p:spPr>
          <a:xfrm>
            <a:off x="1921888" y="8919571"/>
            <a:ext cx="4155382" cy="139453"/>
          </a:xfrm>
          <a:prstGeom prst="rect">
            <a:avLst/>
          </a:prstGeom>
          <a:noFill/>
          <a:ln/>
        </p:spPr>
        <p:txBody>
          <a:bodyPr wrap="none" lIns="0" tIns="0" rIns="0" bIns="0" rtlCol="0" anchor="t"/>
          <a:lstStyle/>
          <a:p>
            <a:pPr marL="0" indent="0" algn="ctr">
              <a:lnSpc>
                <a:spcPct val="104000"/>
              </a:lnSpc>
              <a:buNone/>
            </a:pPr>
            <a:r>
              <a:rPr lang="en-US" sz="850" b="1" dirty="0">
                <a:solidFill>
                  <a:srgbClr val="161613"/>
                </a:solidFill>
                <a:latin typeface="Leelawadee UI" panose="020B0502040204020203" pitchFamily="34" charset="-34"/>
                <a:ea typeface="DM Sans Medium" pitchFamily="34" charset="-122"/>
                <a:cs typeface="Leelawadee UI" panose="020B0502040204020203" pitchFamily="34" charset="-34"/>
              </a:rPr>
              <a:t>SISTEM MEL</a:t>
            </a:r>
            <a:r>
              <a:rPr lang="en-US" sz="850" dirty="0">
                <a:solidFill>
                  <a:srgbClr val="161613"/>
                </a:solidFill>
                <a:latin typeface="Leelawadee UI" panose="020B0502040204020203" pitchFamily="34" charset="-34"/>
                <a:ea typeface="DM Sans Medium" pitchFamily="34" charset="-122"/>
                <a:cs typeface="Leelawadee UI" panose="020B0502040204020203" pitchFamily="34" charset="-34"/>
              </a:rPr>
              <a:t> (Mesin Pembelajaran – Pemantauan dan Evaluasi)</a:t>
            </a:r>
            <a:endParaRPr lang="en-US" sz="850" dirty="0">
              <a:latin typeface="Leelawadee UI" panose="020B0502040204020203" pitchFamily="34" charset="-34"/>
              <a:cs typeface="Leelawadee UI" panose="020B0502040204020203" pitchFamily="34" charset="-34"/>
            </a:endParaRPr>
          </a:p>
        </p:txBody>
      </p:sp>
      <p:sp>
        <p:nvSpPr>
          <p:cNvPr id="20" name="Text 8">
            <a:extLst>
              <a:ext uri="{FF2B5EF4-FFF2-40B4-BE49-F238E27FC236}">
                <a16:creationId xmlns:a16="http://schemas.microsoft.com/office/drawing/2014/main" id="{6C3255EF-224F-1910-6B02-B350898C9FD6}"/>
              </a:ext>
            </a:extLst>
          </p:cNvPr>
          <p:cNvSpPr/>
          <p:nvPr/>
        </p:nvSpPr>
        <p:spPr>
          <a:xfrm>
            <a:off x="1823622" y="9252566"/>
            <a:ext cx="4501365" cy="133899"/>
          </a:xfrm>
          <a:prstGeom prst="rect">
            <a:avLst/>
          </a:prstGeom>
          <a:noFill/>
          <a:ln/>
        </p:spPr>
        <p:txBody>
          <a:bodyPr wrap="none" lIns="0" tIns="0" rIns="0" bIns="0" rtlCol="0" anchor="t"/>
          <a:lstStyle/>
          <a:p>
            <a:pPr marL="0" indent="0" algn="ctr">
              <a:lnSpc>
                <a:spcPct val="104000"/>
              </a:lnSpc>
              <a:buNone/>
            </a:pPr>
            <a:r>
              <a:rPr lang="en-US" sz="800" b="1" dirty="0">
                <a:solidFill>
                  <a:srgbClr val="161613"/>
                </a:solidFill>
                <a:latin typeface="Leelawadee UI" panose="020B0502040204020203" pitchFamily="34" charset="-34"/>
                <a:ea typeface="DM Sans Medium" pitchFamily="34" charset="-122"/>
                <a:cs typeface="Leelawadee UI" panose="020B0502040204020203" pitchFamily="34" charset="-34"/>
              </a:rPr>
              <a:t>MANAJEMEN PENGETAHUAN</a:t>
            </a:r>
            <a:r>
              <a:rPr lang="en-US" sz="800" dirty="0">
                <a:solidFill>
                  <a:srgbClr val="161613"/>
                </a:solidFill>
                <a:latin typeface="Leelawadee UI" panose="020B0502040204020203" pitchFamily="34" charset="-34"/>
                <a:ea typeface="DM Sans Medium" pitchFamily="34" charset="-122"/>
                <a:cs typeface="Leelawadee UI" panose="020B0502040204020203" pitchFamily="34" charset="-34"/>
              </a:rPr>
              <a:t> (Sistem Memori – Memori Organisasi)</a:t>
            </a:r>
            <a:endParaRPr lang="en-US" sz="800" dirty="0">
              <a:latin typeface="Leelawadee UI" panose="020B0502040204020203" pitchFamily="34" charset="-34"/>
              <a:cs typeface="Leelawadee UI" panose="020B0502040204020203" pitchFamily="34" charset="-34"/>
            </a:endParaRPr>
          </a:p>
        </p:txBody>
      </p:sp>
      <p:sp>
        <p:nvSpPr>
          <p:cNvPr id="21" name="Text 9">
            <a:extLst>
              <a:ext uri="{FF2B5EF4-FFF2-40B4-BE49-F238E27FC236}">
                <a16:creationId xmlns:a16="http://schemas.microsoft.com/office/drawing/2014/main" id="{5B5AEBCE-8944-6292-CF75-68AA7358A12C}"/>
              </a:ext>
            </a:extLst>
          </p:cNvPr>
          <p:cNvSpPr/>
          <p:nvPr/>
        </p:nvSpPr>
        <p:spPr>
          <a:xfrm>
            <a:off x="1795167" y="9589491"/>
            <a:ext cx="4627915" cy="128430"/>
          </a:xfrm>
          <a:prstGeom prst="rect">
            <a:avLst/>
          </a:prstGeom>
          <a:noFill/>
          <a:ln/>
        </p:spPr>
        <p:txBody>
          <a:bodyPr wrap="none" lIns="0" tIns="0" rIns="0" bIns="0" rtlCol="0" anchor="t"/>
          <a:lstStyle/>
          <a:p>
            <a:pPr marL="0" indent="0" algn="ctr">
              <a:lnSpc>
                <a:spcPct val="104000"/>
              </a:lnSpc>
              <a:buNone/>
            </a:pPr>
            <a:r>
              <a:rPr lang="en-US" sz="800" b="1" dirty="0">
                <a:solidFill>
                  <a:srgbClr val="161613"/>
                </a:solidFill>
                <a:latin typeface="Leelawadee UI" panose="020B0502040204020203" pitchFamily="34" charset="-34"/>
                <a:ea typeface="DM Sans Medium" pitchFamily="34" charset="-122"/>
                <a:cs typeface="Leelawadee UI" panose="020B0502040204020203" pitchFamily="34" charset="-34"/>
              </a:rPr>
              <a:t>MOBILISASI SUMBER DAYA</a:t>
            </a:r>
            <a:r>
              <a:rPr lang="en-US" sz="800" dirty="0">
                <a:solidFill>
                  <a:srgbClr val="161613"/>
                </a:solidFill>
                <a:latin typeface="Leelawadee UI" panose="020B0502040204020203" pitchFamily="34" charset="-34"/>
                <a:ea typeface="DM Sans Medium" pitchFamily="34" charset="-122"/>
                <a:cs typeface="Leelawadee UI" panose="020B0502040204020203" pitchFamily="34" charset="-34"/>
              </a:rPr>
              <a:t> (Sistem Energi – Pendanaan dan Kemitraan)</a:t>
            </a:r>
            <a:endParaRPr lang="en-US" sz="800" dirty="0">
              <a:latin typeface="Leelawadee UI" panose="020B0502040204020203" pitchFamily="34" charset="-34"/>
              <a:cs typeface="Leelawadee UI" panose="020B0502040204020203" pitchFamily="34" charset="-34"/>
            </a:endParaRPr>
          </a:p>
        </p:txBody>
      </p:sp>
      <p:sp>
        <p:nvSpPr>
          <p:cNvPr id="22" name="Text 10">
            <a:extLst>
              <a:ext uri="{FF2B5EF4-FFF2-40B4-BE49-F238E27FC236}">
                <a16:creationId xmlns:a16="http://schemas.microsoft.com/office/drawing/2014/main" id="{CBA8D1BE-CA17-2D2B-6E9A-9D91F9414905}"/>
              </a:ext>
            </a:extLst>
          </p:cNvPr>
          <p:cNvSpPr/>
          <p:nvPr/>
        </p:nvSpPr>
        <p:spPr>
          <a:xfrm>
            <a:off x="423887" y="10260794"/>
            <a:ext cx="8151763" cy="538486"/>
          </a:xfrm>
          <a:prstGeom prst="rect">
            <a:avLst/>
          </a:prstGeom>
          <a:noFill/>
          <a:ln/>
        </p:spPr>
        <p:txBody>
          <a:bodyPr wrap="square" lIns="0" tIns="0" rIns="0" bIns="0" rtlCol="0" anchor="t">
            <a:normAutofit/>
          </a:bodyPr>
          <a:lstStyle/>
          <a:p>
            <a:pPr marL="0" indent="0" algn="ctr">
              <a:lnSpc>
                <a:spcPct val="124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LGOS memastikan bahwa seluruh aktivitas organisasi tetap terhubung dengan misi dan Theory of Change. Setiap keputusan organisasi dapat ditelusuri kembali ke tujuan perubahan yang lebih besar: </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Healthy Landscapes, Thriving Communities.</a:t>
            </a:r>
            <a:endParaRPr lang="en-US" sz="1000" dirty="0">
              <a:latin typeface="Leelawadee UI" panose="020B0502040204020203" pitchFamily="34" charset="-34"/>
              <a:cs typeface="Leelawadee UI" panose="020B0502040204020203" pitchFamily="34" charset="-34"/>
            </a:endParaRPr>
          </a:p>
        </p:txBody>
      </p:sp>
      <p:sp>
        <p:nvSpPr>
          <p:cNvPr id="23" name="Shape 0">
            <a:extLst>
              <a:ext uri="{FF2B5EF4-FFF2-40B4-BE49-F238E27FC236}">
                <a16:creationId xmlns:a16="http://schemas.microsoft.com/office/drawing/2014/main" id="{210C9056-362C-D7A7-EA54-CE7C922C06B9}"/>
              </a:ext>
            </a:extLst>
          </p:cNvPr>
          <p:cNvSpPr/>
          <p:nvPr/>
        </p:nvSpPr>
        <p:spPr>
          <a:xfrm>
            <a:off x="517475" y="11240382"/>
            <a:ext cx="1238249" cy="226009"/>
          </a:xfrm>
          <a:prstGeom prst="roundRect">
            <a:avLst>
              <a:gd name="adj" fmla="val 6710"/>
            </a:avLst>
          </a:prstGeom>
          <a:solidFill>
            <a:srgbClr val="E3E3E8"/>
          </a:solidFill>
          <a:ln/>
        </p:spPr>
      </p:sp>
      <p:sp>
        <p:nvSpPr>
          <p:cNvPr id="24" name="Text 1">
            <a:extLst>
              <a:ext uri="{FF2B5EF4-FFF2-40B4-BE49-F238E27FC236}">
                <a16:creationId xmlns:a16="http://schemas.microsoft.com/office/drawing/2014/main" id="{349D068F-BA9D-5192-9C15-B9B1CBFC7773}"/>
              </a:ext>
            </a:extLst>
          </p:cNvPr>
          <p:cNvSpPr/>
          <p:nvPr/>
        </p:nvSpPr>
        <p:spPr>
          <a:xfrm>
            <a:off x="581397" y="11272305"/>
            <a:ext cx="1359173" cy="126802"/>
          </a:xfrm>
          <a:prstGeom prst="rect">
            <a:avLst/>
          </a:prstGeom>
          <a:noFill/>
          <a:ln/>
        </p:spPr>
        <p:txBody>
          <a:bodyPr wrap="none" lIns="0" tIns="0" rIns="0" bIns="0" rtlCol="0" anchor="t"/>
          <a:lstStyle/>
          <a:p>
            <a:pPr marL="0" indent="0" algn="l">
              <a:lnSpc>
                <a:spcPct val="12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3 KOMPONEN UTAMA</a:t>
            </a:r>
            <a:endParaRPr lang="en-US" sz="900" dirty="0">
              <a:latin typeface="Leelawadee UI" panose="020B0502040204020203" pitchFamily="34" charset="-34"/>
              <a:cs typeface="Leelawadee UI" panose="020B0502040204020203" pitchFamily="34" charset="-34"/>
            </a:endParaRPr>
          </a:p>
        </p:txBody>
      </p:sp>
      <p:sp>
        <p:nvSpPr>
          <p:cNvPr id="25" name="Text 2">
            <a:extLst>
              <a:ext uri="{FF2B5EF4-FFF2-40B4-BE49-F238E27FC236}">
                <a16:creationId xmlns:a16="http://schemas.microsoft.com/office/drawing/2014/main" id="{AC69DAB5-824A-B7DD-7F2B-BBBC751162E8}"/>
              </a:ext>
            </a:extLst>
          </p:cNvPr>
          <p:cNvSpPr/>
          <p:nvPr/>
        </p:nvSpPr>
        <p:spPr>
          <a:xfrm>
            <a:off x="517476" y="11467642"/>
            <a:ext cx="7096274" cy="333077"/>
          </a:xfrm>
          <a:prstGeom prst="rect">
            <a:avLst/>
          </a:prstGeom>
          <a:noFill/>
          <a:ln/>
        </p:spPr>
        <p:txBody>
          <a:bodyPr wrap="none" lIns="0" tIns="0" rIns="0" bIns="0" rtlCol="0" anchor="t"/>
          <a:lstStyle/>
          <a:p>
            <a:pPr marL="0" indent="0" algn="l">
              <a:lnSpc>
                <a:spcPct val="104000"/>
              </a:lnSpc>
              <a:buNone/>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Fondasi, Mesin Perubahan, dan Sistem Navigasi LGOS</a:t>
            </a:r>
            <a:endParaRPr lang="en-US" sz="2200" dirty="0">
              <a:latin typeface="Leelawadee UI" panose="020B0502040204020203" pitchFamily="34" charset="-34"/>
              <a:cs typeface="Leelawadee UI" panose="020B0502040204020203" pitchFamily="34" charset="-34"/>
            </a:endParaRPr>
          </a:p>
        </p:txBody>
      </p:sp>
      <p:sp>
        <p:nvSpPr>
          <p:cNvPr id="26" name="Text 3">
            <a:extLst>
              <a:ext uri="{FF2B5EF4-FFF2-40B4-BE49-F238E27FC236}">
                <a16:creationId xmlns:a16="http://schemas.microsoft.com/office/drawing/2014/main" id="{A2D68035-A3F0-D55D-FED6-465E77491CF1}"/>
              </a:ext>
            </a:extLst>
          </p:cNvPr>
          <p:cNvSpPr/>
          <p:nvPr/>
        </p:nvSpPr>
        <p:spPr>
          <a:xfrm>
            <a:off x="517477" y="11845822"/>
            <a:ext cx="8058174" cy="409419"/>
          </a:xfrm>
          <a:prstGeom prst="rect">
            <a:avLst/>
          </a:prstGeom>
          <a:noFill/>
          <a:ln/>
        </p:spPr>
        <p:txBody>
          <a:bodyPr wrap="square" lIns="0" tIns="0" rIns="0" bIns="0" rtlCol="0" anchor="t">
            <a:normAutofit/>
          </a:bodyPr>
          <a:lstStyle/>
          <a:p>
            <a:pPr marL="0" indent="0" algn="l">
              <a:lnSpc>
                <a:spcPct val="124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Tiga komponen pertama LGOS membentuk tulang punggung organisasi—menjawab pertanyaan mendasar tentang identitas, mekanisme perubahan, dan arah strategis YNKI. Ketiga dokumen ini wajib dipahami oleh seluruh pemangku kepentingan organisasi.</a:t>
            </a:r>
            <a:endParaRPr lang="en-US" sz="1000" dirty="0">
              <a:latin typeface="Leelawadee UI" panose="020B0502040204020203" pitchFamily="34" charset="-34"/>
              <a:cs typeface="Leelawadee UI" panose="020B0502040204020203" pitchFamily="34" charset="-34"/>
            </a:endParaRPr>
          </a:p>
        </p:txBody>
      </p:sp>
      <p:pic>
        <p:nvPicPr>
          <p:cNvPr id="27" name="Image 0" descr="preencoded.png">
            <a:extLst>
              <a:ext uri="{FF2B5EF4-FFF2-40B4-BE49-F238E27FC236}">
                <a16:creationId xmlns:a16="http://schemas.microsoft.com/office/drawing/2014/main" id="{7678E443-5325-6450-FB64-E34CDF7A9E8E}"/>
              </a:ext>
            </a:extLst>
          </p:cNvPr>
          <p:cNvPicPr>
            <a:picLocks noChangeAspect="1"/>
          </p:cNvPicPr>
          <p:nvPr/>
        </p:nvPicPr>
        <p:blipFill>
          <a:blip r:embed="rId6"/>
          <a:stretch>
            <a:fillRect/>
          </a:stretch>
        </p:blipFill>
        <p:spPr>
          <a:xfrm>
            <a:off x="517476" y="12358230"/>
            <a:ext cx="1531739" cy="946621"/>
          </a:xfrm>
          <a:prstGeom prst="rect">
            <a:avLst/>
          </a:prstGeom>
        </p:spPr>
      </p:pic>
      <p:sp>
        <p:nvSpPr>
          <p:cNvPr id="28" name="Text 4">
            <a:extLst>
              <a:ext uri="{FF2B5EF4-FFF2-40B4-BE49-F238E27FC236}">
                <a16:creationId xmlns:a16="http://schemas.microsoft.com/office/drawing/2014/main" id="{BEB3A35E-89BA-33DE-48F3-DBF1F38D33EE}"/>
              </a:ext>
            </a:extLst>
          </p:cNvPr>
          <p:cNvSpPr/>
          <p:nvPr/>
        </p:nvSpPr>
        <p:spPr>
          <a:xfrm>
            <a:off x="517476" y="13419300"/>
            <a:ext cx="2453506" cy="166539"/>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 Position Paper – Mengapa Kami Ada</a:t>
            </a:r>
            <a:endParaRPr lang="en-US" sz="1000" dirty="0">
              <a:latin typeface="Leelawadee UI" panose="020B0502040204020203" pitchFamily="34" charset="-34"/>
              <a:cs typeface="Leelawadee UI" panose="020B0502040204020203" pitchFamily="34" charset="-34"/>
            </a:endParaRPr>
          </a:p>
        </p:txBody>
      </p:sp>
      <p:sp>
        <p:nvSpPr>
          <p:cNvPr id="29" name="Text 5">
            <a:extLst>
              <a:ext uri="{FF2B5EF4-FFF2-40B4-BE49-F238E27FC236}">
                <a16:creationId xmlns:a16="http://schemas.microsoft.com/office/drawing/2014/main" id="{2440E116-3E8A-720C-05F0-D85A4FB679E3}"/>
              </a:ext>
            </a:extLst>
          </p:cNvPr>
          <p:cNvSpPr/>
          <p:nvPr/>
        </p:nvSpPr>
        <p:spPr>
          <a:xfrm>
            <a:off x="517476" y="13735262"/>
            <a:ext cx="2640955" cy="2041641"/>
          </a:xfrm>
          <a:prstGeom prst="rect">
            <a:avLst/>
          </a:prstGeom>
          <a:noFill/>
          <a:ln/>
        </p:spPr>
        <p:txBody>
          <a:bodyPr wrap="square" lIns="0" tIns="0" rIns="0" bIns="0" rtlCol="0" anchor="t">
            <a:normAutofit/>
          </a:bodyPr>
          <a:lstStyle/>
          <a:p>
            <a:pPr marL="0" indent="0" algn="l">
              <a:lnSpc>
                <a:spcPct val="12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Position Paper merupakan </a:t>
            </a: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fondasi filosofis</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organisasi yang menjelaskan mengapa YNKI ada, bagaimana YNKI memandang hubungan manusia, alam, dan ekonomi, serta nilai dan prinsip yang menjadi dasar seluruh keputusan organisasi.</a:t>
            </a:r>
            <a:endParaRPr lang="en-US" sz="900" dirty="0">
              <a:latin typeface="Leelawadee UI" panose="020B0502040204020203" pitchFamily="34" charset="-34"/>
              <a:cs typeface="Leelawadee UI" panose="020B0502040204020203" pitchFamily="34" charset="-34"/>
            </a:endParaRPr>
          </a:p>
          <a:p>
            <a:pPr marL="0" indent="0" algn="l">
              <a:lnSpc>
                <a:spcPct val="12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Dokumen ini menjawab pertanyaan: </a:t>
            </a:r>
            <a:r>
              <a:rPr lang="en-US" sz="900" i="1" dirty="0">
                <a:solidFill>
                  <a:srgbClr val="161613"/>
                </a:solidFill>
                <a:latin typeface="Leelawadee UI" panose="020B0502040204020203" pitchFamily="34" charset="-34"/>
                <a:ea typeface="Inter" pitchFamily="34" charset="-122"/>
                <a:cs typeface="Leelawadee UI" panose="020B0502040204020203" pitchFamily="34" charset="-34"/>
              </a:rPr>
              <a:t>"Why do we exist?"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Sebagai fondasi sistem, Position Paper memastikan bahwa seluruh strategi dan tindakan organisasi tetap selaras dengan identitas dan nilai-nilai inti.</a:t>
            </a:r>
            <a:endParaRPr lang="en-US" sz="900" dirty="0">
              <a:latin typeface="Leelawadee UI" panose="020B0502040204020203" pitchFamily="34" charset="-34"/>
              <a:cs typeface="Leelawadee UI" panose="020B0502040204020203" pitchFamily="34" charset="-34"/>
            </a:endParaRPr>
          </a:p>
        </p:txBody>
      </p:sp>
      <p:pic>
        <p:nvPicPr>
          <p:cNvPr id="30" name="Image 1" descr="preencoded.png">
            <a:hlinkClick r:id="" action="ppaction://noaction"/>
            <a:extLst>
              <a:ext uri="{FF2B5EF4-FFF2-40B4-BE49-F238E27FC236}">
                <a16:creationId xmlns:a16="http://schemas.microsoft.com/office/drawing/2014/main" id="{25689504-60A7-E3F1-2EB8-FDD9203E3EED}"/>
              </a:ext>
            </a:extLst>
          </p:cNvPr>
          <p:cNvPicPr>
            <a:picLocks noChangeAspect="1"/>
          </p:cNvPicPr>
          <p:nvPr/>
        </p:nvPicPr>
        <p:blipFill>
          <a:blip r:embed="rId7"/>
          <a:stretch>
            <a:fillRect/>
          </a:stretch>
        </p:blipFill>
        <p:spPr>
          <a:xfrm>
            <a:off x="517476" y="15673183"/>
            <a:ext cx="1238250" cy="293117"/>
          </a:xfrm>
          <a:prstGeom prst="rect">
            <a:avLst/>
          </a:prstGeom>
        </p:spPr>
      </p:pic>
      <p:pic>
        <p:nvPicPr>
          <p:cNvPr id="31" name="Image 2" descr="preencoded.png">
            <a:hlinkClick r:id="" action="ppaction://noaction"/>
            <a:extLst>
              <a:ext uri="{FF2B5EF4-FFF2-40B4-BE49-F238E27FC236}">
                <a16:creationId xmlns:a16="http://schemas.microsoft.com/office/drawing/2014/main" id="{40653BED-85A4-A926-A014-D83D8ECF9682}"/>
              </a:ext>
            </a:extLst>
          </p:cNvPr>
          <p:cNvPicPr>
            <a:picLocks noChangeAspect="1"/>
          </p:cNvPicPr>
          <p:nvPr/>
        </p:nvPicPr>
        <p:blipFill>
          <a:blip r:embed="rId8"/>
          <a:stretch>
            <a:fillRect/>
          </a:stretch>
        </p:blipFill>
        <p:spPr>
          <a:xfrm>
            <a:off x="1809006" y="15673183"/>
            <a:ext cx="788938" cy="293117"/>
          </a:xfrm>
          <a:prstGeom prst="rect">
            <a:avLst/>
          </a:prstGeom>
        </p:spPr>
      </p:pic>
      <p:pic>
        <p:nvPicPr>
          <p:cNvPr id="32" name="Image 3" descr="preencoded.png">
            <a:extLst>
              <a:ext uri="{FF2B5EF4-FFF2-40B4-BE49-F238E27FC236}">
                <a16:creationId xmlns:a16="http://schemas.microsoft.com/office/drawing/2014/main" id="{59066665-B578-9E5B-BE09-09C1B9D63962}"/>
              </a:ext>
            </a:extLst>
          </p:cNvPr>
          <p:cNvPicPr>
            <a:picLocks noChangeAspect="1"/>
          </p:cNvPicPr>
          <p:nvPr/>
        </p:nvPicPr>
        <p:blipFill>
          <a:blip r:embed="rId9"/>
          <a:stretch>
            <a:fillRect/>
          </a:stretch>
        </p:blipFill>
        <p:spPr>
          <a:xfrm>
            <a:off x="3272879" y="12358230"/>
            <a:ext cx="1531739" cy="946621"/>
          </a:xfrm>
          <a:prstGeom prst="rect">
            <a:avLst/>
          </a:prstGeom>
        </p:spPr>
      </p:pic>
      <p:sp>
        <p:nvSpPr>
          <p:cNvPr id="33" name="Text 6">
            <a:extLst>
              <a:ext uri="{FF2B5EF4-FFF2-40B4-BE49-F238E27FC236}">
                <a16:creationId xmlns:a16="http://schemas.microsoft.com/office/drawing/2014/main" id="{A48A9265-03C7-E8FA-BAD4-B9A800E0256B}"/>
              </a:ext>
            </a:extLst>
          </p:cNvPr>
          <p:cNvSpPr/>
          <p:nvPr/>
        </p:nvSpPr>
        <p:spPr>
          <a:xfrm>
            <a:off x="3272879" y="13419300"/>
            <a:ext cx="2640955" cy="333077"/>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 Master Theory of Change – Bagaimana Perubahan Terjadi</a:t>
            </a:r>
            <a:endParaRPr lang="en-US" sz="1000" dirty="0">
              <a:latin typeface="Leelawadee UI" panose="020B0502040204020203" pitchFamily="34" charset="-34"/>
              <a:cs typeface="Leelawadee UI" panose="020B0502040204020203" pitchFamily="34" charset="-34"/>
            </a:endParaRPr>
          </a:p>
        </p:txBody>
      </p:sp>
      <p:sp>
        <p:nvSpPr>
          <p:cNvPr id="34" name="Text 7">
            <a:extLst>
              <a:ext uri="{FF2B5EF4-FFF2-40B4-BE49-F238E27FC236}">
                <a16:creationId xmlns:a16="http://schemas.microsoft.com/office/drawing/2014/main" id="{8BCD1D9C-B094-EBBE-97B3-A8516F1D9DE4}"/>
              </a:ext>
            </a:extLst>
          </p:cNvPr>
          <p:cNvSpPr/>
          <p:nvPr/>
        </p:nvSpPr>
        <p:spPr>
          <a:xfrm>
            <a:off x="3272879" y="13807295"/>
            <a:ext cx="2640955" cy="2007037"/>
          </a:xfrm>
          <a:prstGeom prst="rect">
            <a:avLst/>
          </a:prstGeom>
          <a:noFill/>
          <a:ln/>
        </p:spPr>
        <p:txBody>
          <a:bodyPr wrap="square" lIns="0" tIns="0" rIns="0" bIns="0" rtlCol="0" anchor="t">
            <a:normAutofit/>
          </a:bodyPr>
          <a:lstStyle/>
          <a:p>
            <a:pPr marL="0" indent="0" algn="l">
              <a:lnSpc>
                <a:spcPct val="124000"/>
              </a:lnSpc>
              <a:spcAft>
                <a:spcPts val="400"/>
              </a:spcAft>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Master Theory of Change menjelaskan bagaimana perubahan terjadi. Dokumen ini menggambarkan hubungan antara tata kelola lanskap, perubahan perilaku, perubahan kelembagaan, perubahan sistem, dan dampak jangka panjang.</a:t>
            </a:r>
            <a:endParaRPr lang="en-US" sz="900" dirty="0">
              <a:latin typeface="Leelawadee UI" panose="020B0502040204020203" pitchFamily="34" charset="-34"/>
              <a:cs typeface="Leelawadee UI" panose="020B0502040204020203" pitchFamily="34" charset="-34"/>
            </a:endParaRPr>
          </a:p>
          <a:p>
            <a:pPr marL="0" indent="0" algn="l">
              <a:lnSpc>
                <a:spcPct val="12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ToC menjawab pertanyaan: </a:t>
            </a:r>
            <a:r>
              <a:rPr lang="en-US" sz="900" i="1" dirty="0">
                <a:solidFill>
                  <a:srgbClr val="161613"/>
                </a:solidFill>
                <a:latin typeface="Leelawadee UI" panose="020B0502040204020203" pitchFamily="34" charset="-34"/>
                <a:ea typeface="Inter" pitchFamily="34" charset="-122"/>
                <a:cs typeface="Leelawadee UI" panose="020B0502040204020203" pitchFamily="34" charset="-34"/>
              </a:rPr>
              <a:t>"How does change happen?"</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Sebagai </a:t>
            </a: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Change Engine</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ToC menjadi kerangka utama yang menghubungkan visi jangka panjang dengan tindakan nyata di lapangan.</a:t>
            </a:r>
            <a:endParaRPr lang="en-US" sz="900" dirty="0">
              <a:latin typeface="Leelawadee UI" panose="020B0502040204020203" pitchFamily="34" charset="-34"/>
              <a:cs typeface="Leelawadee UI" panose="020B0502040204020203" pitchFamily="34" charset="-34"/>
            </a:endParaRPr>
          </a:p>
        </p:txBody>
      </p:sp>
      <p:pic>
        <p:nvPicPr>
          <p:cNvPr id="35" name="Image 4" descr="preencoded.png">
            <a:hlinkClick r:id="" action="ppaction://noaction"/>
            <a:extLst>
              <a:ext uri="{FF2B5EF4-FFF2-40B4-BE49-F238E27FC236}">
                <a16:creationId xmlns:a16="http://schemas.microsoft.com/office/drawing/2014/main" id="{CB78EE93-0AFE-F8AC-3E3E-4D6D7E52C77B}"/>
              </a:ext>
            </a:extLst>
          </p:cNvPr>
          <p:cNvPicPr>
            <a:picLocks noChangeAspect="1"/>
          </p:cNvPicPr>
          <p:nvPr/>
        </p:nvPicPr>
        <p:blipFill>
          <a:blip r:embed="rId10"/>
          <a:stretch>
            <a:fillRect/>
          </a:stretch>
        </p:blipFill>
        <p:spPr>
          <a:xfrm>
            <a:off x="3272879" y="15681145"/>
            <a:ext cx="1087934" cy="293117"/>
          </a:xfrm>
          <a:prstGeom prst="rect">
            <a:avLst/>
          </a:prstGeom>
        </p:spPr>
      </p:pic>
      <p:pic>
        <p:nvPicPr>
          <p:cNvPr id="36" name="Image 5" descr="preencoded.png">
            <a:hlinkClick r:id="" action="ppaction://noaction"/>
            <a:extLst>
              <a:ext uri="{FF2B5EF4-FFF2-40B4-BE49-F238E27FC236}">
                <a16:creationId xmlns:a16="http://schemas.microsoft.com/office/drawing/2014/main" id="{1B33257C-EEE2-4863-4615-3AAB6127BFF0}"/>
              </a:ext>
            </a:extLst>
          </p:cNvPr>
          <p:cNvPicPr>
            <a:picLocks noChangeAspect="1"/>
          </p:cNvPicPr>
          <p:nvPr/>
        </p:nvPicPr>
        <p:blipFill>
          <a:blip r:embed="rId8"/>
          <a:stretch>
            <a:fillRect/>
          </a:stretch>
        </p:blipFill>
        <p:spPr>
          <a:xfrm>
            <a:off x="4414094" y="15681145"/>
            <a:ext cx="788938" cy="293117"/>
          </a:xfrm>
          <a:prstGeom prst="rect">
            <a:avLst/>
          </a:prstGeom>
        </p:spPr>
      </p:pic>
      <p:pic>
        <p:nvPicPr>
          <p:cNvPr id="37" name="Image 6" descr="preencoded.png">
            <a:extLst>
              <a:ext uri="{FF2B5EF4-FFF2-40B4-BE49-F238E27FC236}">
                <a16:creationId xmlns:a16="http://schemas.microsoft.com/office/drawing/2014/main" id="{6B43B3EF-1739-7084-A4C6-B52C5AB94D33}"/>
              </a:ext>
            </a:extLst>
          </p:cNvPr>
          <p:cNvPicPr>
            <a:picLocks noChangeAspect="1"/>
          </p:cNvPicPr>
          <p:nvPr/>
        </p:nvPicPr>
        <p:blipFill>
          <a:blip r:embed="rId11"/>
          <a:stretch>
            <a:fillRect/>
          </a:stretch>
        </p:blipFill>
        <p:spPr>
          <a:xfrm>
            <a:off x="6028283" y="12358230"/>
            <a:ext cx="1531739" cy="946621"/>
          </a:xfrm>
          <a:prstGeom prst="rect">
            <a:avLst/>
          </a:prstGeom>
        </p:spPr>
      </p:pic>
      <p:sp>
        <p:nvSpPr>
          <p:cNvPr id="38" name="Text 8">
            <a:extLst>
              <a:ext uri="{FF2B5EF4-FFF2-40B4-BE49-F238E27FC236}">
                <a16:creationId xmlns:a16="http://schemas.microsoft.com/office/drawing/2014/main" id="{34D4FB6A-DB4E-201B-3935-98211E00EC6A}"/>
              </a:ext>
            </a:extLst>
          </p:cNvPr>
          <p:cNvSpPr/>
          <p:nvPr/>
        </p:nvSpPr>
        <p:spPr>
          <a:xfrm>
            <a:off x="6028283" y="13419300"/>
            <a:ext cx="2640955" cy="333077"/>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 Strategic Plan – Ke Mana Kami Melangkah</a:t>
            </a:r>
            <a:endParaRPr lang="en-US" sz="1000" dirty="0">
              <a:latin typeface="Leelawadee UI" panose="020B0502040204020203" pitchFamily="34" charset="-34"/>
              <a:cs typeface="Leelawadee UI" panose="020B0502040204020203" pitchFamily="34" charset="-34"/>
            </a:endParaRPr>
          </a:p>
        </p:txBody>
      </p:sp>
      <p:sp>
        <p:nvSpPr>
          <p:cNvPr id="39" name="Text 9">
            <a:extLst>
              <a:ext uri="{FF2B5EF4-FFF2-40B4-BE49-F238E27FC236}">
                <a16:creationId xmlns:a16="http://schemas.microsoft.com/office/drawing/2014/main" id="{33632BAC-6909-3DAF-A75E-BF8224EFFE5C}"/>
              </a:ext>
            </a:extLst>
          </p:cNvPr>
          <p:cNvSpPr/>
          <p:nvPr/>
        </p:nvSpPr>
        <p:spPr>
          <a:xfrm>
            <a:off x="6028283" y="13807295"/>
            <a:ext cx="2547367" cy="2019837"/>
          </a:xfrm>
          <a:prstGeom prst="rect">
            <a:avLst/>
          </a:prstGeom>
          <a:noFill/>
          <a:ln/>
        </p:spPr>
        <p:txBody>
          <a:bodyPr wrap="square" lIns="0" tIns="0" rIns="0" bIns="0" rtlCol="0" anchor="t">
            <a:normAutofit/>
          </a:bodyPr>
          <a:lstStyle/>
          <a:p>
            <a:pPr marL="0" indent="0" algn="l">
              <a:lnSpc>
                <a:spcPct val="12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Strategic Plan menerjemahkan Theory of Change menjadi arah organisasi jangka menengah dan panjang </a:t>
            </a: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(2026–2035)</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Dokumen ini menetapkan tujuan strategis, prioritas organisasi, hasil yang ingin dicapai, dan tahapan perkembangan organisasi.</a:t>
            </a:r>
            <a:endParaRPr lang="en-US" sz="900" dirty="0">
              <a:latin typeface="Leelawadee UI" panose="020B0502040204020203" pitchFamily="34" charset="-34"/>
              <a:cs typeface="Leelawadee UI" panose="020B0502040204020203" pitchFamily="34" charset="-34"/>
            </a:endParaRPr>
          </a:p>
          <a:p>
            <a:pPr marL="0" indent="0" algn="l">
              <a:lnSpc>
                <a:spcPct val="12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Strategic Plan menjawab pertanyaan: </a:t>
            </a:r>
            <a:r>
              <a:rPr lang="en-US" sz="900" i="1" dirty="0">
                <a:solidFill>
                  <a:srgbClr val="161613"/>
                </a:solidFill>
                <a:latin typeface="Leelawadee UI" panose="020B0502040204020203" pitchFamily="34" charset="-34"/>
                <a:ea typeface="Inter" pitchFamily="34" charset="-122"/>
                <a:cs typeface="Leelawadee UI" panose="020B0502040204020203" pitchFamily="34" charset="-34"/>
              </a:rPr>
              <a:t>"Where are we going?"</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Sebagai </a:t>
            </a: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Navigation System</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dokumen ini membantu organisasi menjaga arah di tengah perubahan konteks dan peluang.</a:t>
            </a:r>
            <a:endParaRPr lang="en-US" sz="900" dirty="0">
              <a:latin typeface="Leelawadee UI" panose="020B0502040204020203" pitchFamily="34" charset="-34"/>
              <a:cs typeface="Leelawadee UI" panose="020B0502040204020203" pitchFamily="34" charset="-34"/>
            </a:endParaRPr>
          </a:p>
        </p:txBody>
      </p:sp>
      <p:pic>
        <p:nvPicPr>
          <p:cNvPr id="40" name="Image 7" descr="preencoded.png">
            <a:hlinkClick r:id="" action="ppaction://noaction"/>
            <a:extLst>
              <a:ext uri="{FF2B5EF4-FFF2-40B4-BE49-F238E27FC236}">
                <a16:creationId xmlns:a16="http://schemas.microsoft.com/office/drawing/2014/main" id="{93FA4361-DFA6-CD17-254E-5497CE76EED4}"/>
              </a:ext>
            </a:extLst>
          </p:cNvPr>
          <p:cNvPicPr>
            <a:picLocks noChangeAspect="1"/>
          </p:cNvPicPr>
          <p:nvPr/>
        </p:nvPicPr>
        <p:blipFill>
          <a:blip r:embed="rId12"/>
          <a:stretch>
            <a:fillRect/>
          </a:stretch>
        </p:blipFill>
        <p:spPr>
          <a:xfrm>
            <a:off x="6028283" y="15681145"/>
            <a:ext cx="1211238" cy="293117"/>
          </a:xfrm>
          <a:prstGeom prst="rect">
            <a:avLst/>
          </a:prstGeom>
        </p:spPr>
      </p:pic>
      <p:pic>
        <p:nvPicPr>
          <p:cNvPr id="41" name="Image 8" descr="preencoded.png">
            <a:hlinkClick r:id="" action="ppaction://noaction"/>
            <a:extLst>
              <a:ext uri="{FF2B5EF4-FFF2-40B4-BE49-F238E27FC236}">
                <a16:creationId xmlns:a16="http://schemas.microsoft.com/office/drawing/2014/main" id="{34A1AF07-9BFF-C183-8F5B-2D5FA97EE3D0}"/>
              </a:ext>
            </a:extLst>
          </p:cNvPr>
          <p:cNvPicPr>
            <a:picLocks noChangeAspect="1"/>
          </p:cNvPicPr>
          <p:nvPr/>
        </p:nvPicPr>
        <p:blipFill>
          <a:blip r:embed="rId8"/>
          <a:stretch>
            <a:fillRect/>
          </a:stretch>
        </p:blipFill>
        <p:spPr>
          <a:xfrm>
            <a:off x="7292802" y="15681145"/>
            <a:ext cx="788938" cy="293117"/>
          </a:xfrm>
          <a:prstGeom prst="rect">
            <a:avLst/>
          </a:prstGeom>
        </p:spPr>
      </p:pic>
      <p:sp>
        <p:nvSpPr>
          <p:cNvPr id="42" name="Shape 0">
            <a:extLst>
              <a:ext uri="{FF2B5EF4-FFF2-40B4-BE49-F238E27FC236}">
                <a16:creationId xmlns:a16="http://schemas.microsoft.com/office/drawing/2014/main" id="{6AAE3E63-DFB7-8DD0-4A71-E5E86485D5E7}"/>
              </a:ext>
            </a:extLst>
          </p:cNvPr>
          <p:cNvSpPr/>
          <p:nvPr/>
        </p:nvSpPr>
        <p:spPr>
          <a:xfrm>
            <a:off x="496891" y="16721744"/>
            <a:ext cx="1552323" cy="226009"/>
          </a:xfrm>
          <a:prstGeom prst="roundRect">
            <a:avLst>
              <a:gd name="adj" fmla="val 6492"/>
            </a:avLst>
          </a:prstGeom>
          <a:solidFill>
            <a:srgbClr val="E3E3E8"/>
          </a:solidFill>
          <a:ln/>
        </p:spPr>
      </p:sp>
      <p:sp>
        <p:nvSpPr>
          <p:cNvPr id="43" name="Text 1">
            <a:extLst>
              <a:ext uri="{FF2B5EF4-FFF2-40B4-BE49-F238E27FC236}">
                <a16:creationId xmlns:a16="http://schemas.microsoft.com/office/drawing/2014/main" id="{F673FF1D-627C-36C3-A0E6-9055BCCCA2F0}"/>
              </a:ext>
            </a:extLst>
          </p:cNvPr>
          <p:cNvSpPr/>
          <p:nvPr/>
        </p:nvSpPr>
        <p:spPr>
          <a:xfrm>
            <a:off x="567808" y="16757166"/>
            <a:ext cx="1719635" cy="147712"/>
          </a:xfrm>
          <a:prstGeom prst="rect">
            <a:avLst/>
          </a:prstGeom>
          <a:noFill/>
          <a:ln/>
        </p:spPr>
        <p:txBody>
          <a:bodyPr wrap="none" lIns="0" tIns="0" rIns="0" bIns="0" rtlCol="0" anchor="t"/>
          <a:lstStyle/>
          <a:p>
            <a:pPr marL="0" indent="0" algn="l">
              <a:lnSpc>
                <a:spcPct val="13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5 KOMPONEN PENDUKUNG</a:t>
            </a:r>
            <a:endParaRPr lang="en-US" sz="900" dirty="0">
              <a:latin typeface="Leelawadee UI" panose="020B0502040204020203" pitchFamily="34" charset="-34"/>
              <a:cs typeface="Leelawadee UI" panose="020B0502040204020203" pitchFamily="34" charset="-34"/>
            </a:endParaRPr>
          </a:p>
        </p:txBody>
      </p:sp>
      <p:sp>
        <p:nvSpPr>
          <p:cNvPr id="44" name="Text 2">
            <a:extLst>
              <a:ext uri="{FF2B5EF4-FFF2-40B4-BE49-F238E27FC236}">
                <a16:creationId xmlns:a16="http://schemas.microsoft.com/office/drawing/2014/main" id="{E25ADB3B-DD11-8BF9-869D-669C0DEF5FAC}"/>
              </a:ext>
            </a:extLst>
          </p:cNvPr>
          <p:cNvSpPr/>
          <p:nvPr/>
        </p:nvSpPr>
        <p:spPr>
          <a:xfrm>
            <a:off x="496892" y="16985320"/>
            <a:ext cx="4416623" cy="369466"/>
          </a:xfrm>
          <a:prstGeom prst="rect">
            <a:avLst/>
          </a:prstGeom>
          <a:noFill/>
          <a:ln/>
        </p:spPr>
        <p:txBody>
          <a:bodyPr wrap="none" lIns="0" tIns="0" rIns="0" bIns="0" rtlCol="0" anchor="t"/>
          <a:lstStyle/>
          <a:p>
            <a:pPr marL="0" indent="0" algn="l">
              <a:lnSpc>
                <a:spcPct val="104000"/>
              </a:lnSpc>
              <a:buNone/>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Komponen Pendukung LGOS</a:t>
            </a:r>
            <a:endParaRPr lang="en-US" sz="2200" dirty="0">
              <a:latin typeface="Leelawadee UI" panose="020B0502040204020203" pitchFamily="34" charset="-34"/>
              <a:cs typeface="Leelawadee UI" panose="020B0502040204020203" pitchFamily="34" charset="-34"/>
            </a:endParaRPr>
          </a:p>
        </p:txBody>
      </p:sp>
      <p:sp>
        <p:nvSpPr>
          <p:cNvPr id="45" name="Text 3">
            <a:extLst>
              <a:ext uri="{FF2B5EF4-FFF2-40B4-BE49-F238E27FC236}">
                <a16:creationId xmlns:a16="http://schemas.microsoft.com/office/drawing/2014/main" id="{430A5D93-E3A5-27FA-BDD2-6092DC72BFFC}"/>
              </a:ext>
            </a:extLst>
          </p:cNvPr>
          <p:cNvSpPr/>
          <p:nvPr/>
        </p:nvSpPr>
        <p:spPr>
          <a:xfrm>
            <a:off x="496892" y="17523780"/>
            <a:ext cx="8151763" cy="905037"/>
          </a:xfrm>
          <a:prstGeom prst="rect">
            <a:avLst/>
          </a:prstGeom>
          <a:noFill/>
          <a:ln/>
        </p:spPr>
        <p:txBody>
          <a:bodyPr wrap="square" lIns="0" tIns="0" rIns="0" bIns="0" rtlCol="0" anchor="t">
            <a:norm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Selain tiga komponen utama, LGOS juga terdiri dari lima komponen pendukung yang saling melengkapi. Setiap komponen memiliki fungsi spesifik dalam memastikan organisasi berjalan secara efektif, adaptif, dan berkelanjutan—dari implementasi program hingga mobilisasi sumber daya strategis.</a:t>
            </a:r>
            <a:endParaRPr lang="en-US" sz="1000" dirty="0">
              <a:latin typeface="Leelawadee UI" panose="020B0502040204020203" pitchFamily="34" charset="-34"/>
              <a:cs typeface="Leelawadee UI" panose="020B0502040204020203" pitchFamily="34" charset="-34"/>
            </a:endParaRPr>
          </a:p>
        </p:txBody>
      </p:sp>
      <p:sp>
        <p:nvSpPr>
          <p:cNvPr id="46" name="Shape 4">
            <a:extLst>
              <a:ext uri="{FF2B5EF4-FFF2-40B4-BE49-F238E27FC236}">
                <a16:creationId xmlns:a16="http://schemas.microsoft.com/office/drawing/2014/main" id="{8A515144-054E-F43F-24E0-FDBED92DD71E}"/>
              </a:ext>
            </a:extLst>
          </p:cNvPr>
          <p:cNvSpPr/>
          <p:nvPr/>
        </p:nvSpPr>
        <p:spPr>
          <a:xfrm>
            <a:off x="496892" y="18204594"/>
            <a:ext cx="8151763" cy="2932956"/>
          </a:xfrm>
          <a:prstGeom prst="roundRect">
            <a:avLst>
              <a:gd name="adj" fmla="val 605"/>
            </a:avLst>
          </a:prstGeom>
          <a:noFill/>
          <a:ln w="4763">
            <a:solidFill>
              <a:srgbClr val="000000">
                <a:alpha val="8000"/>
              </a:srgbClr>
            </a:solidFill>
            <a:prstDash val="solid"/>
          </a:ln>
        </p:spPr>
      </p:sp>
      <p:sp>
        <p:nvSpPr>
          <p:cNvPr id="47" name="Text 5">
            <a:extLst>
              <a:ext uri="{FF2B5EF4-FFF2-40B4-BE49-F238E27FC236}">
                <a16:creationId xmlns:a16="http://schemas.microsoft.com/office/drawing/2014/main" id="{60FC25B9-0CC0-4ED9-1045-6D1429877668}"/>
              </a:ext>
            </a:extLst>
          </p:cNvPr>
          <p:cNvSpPr/>
          <p:nvPr/>
        </p:nvSpPr>
        <p:spPr>
          <a:xfrm>
            <a:off x="619972" y="18281687"/>
            <a:ext cx="1849264" cy="184696"/>
          </a:xfrm>
          <a:prstGeom prst="rect">
            <a:avLst/>
          </a:prstGeom>
          <a:noFill/>
          <a:ln/>
        </p:spPr>
        <p:txBody>
          <a:bodyPr wrap="none" lIns="0" tIns="0" rIns="0" bIns="0" rtlCol="0" anchor="t"/>
          <a:lstStyle/>
          <a:p>
            <a:pPr marL="0" indent="0" algn="l">
              <a:lnSpc>
                <a:spcPct val="130000"/>
              </a:lnSpc>
              <a:buNone/>
            </a:pP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Komponen</a:t>
            </a:r>
            <a:endParaRPr lang="en-US" sz="950" dirty="0">
              <a:latin typeface="Leelawadee UI" panose="020B0502040204020203" pitchFamily="34" charset="-34"/>
              <a:cs typeface="Leelawadee UI" panose="020B0502040204020203" pitchFamily="34" charset="-34"/>
            </a:endParaRPr>
          </a:p>
        </p:txBody>
      </p:sp>
      <p:sp>
        <p:nvSpPr>
          <p:cNvPr id="48" name="Text 6">
            <a:extLst>
              <a:ext uri="{FF2B5EF4-FFF2-40B4-BE49-F238E27FC236}">
                <a16:creationId xmlns:a16="http://schemas.microsoft.com/office/drawing/2014/main" id="{BE945858-B1FA-D527-CECC-6065DF4D7103}"/>
              </a:ext>
            </a:extLst>
          </p:cNvPr>
          <p:cNvSpPr/>
          <p:nvPr/>
        </p:nvSpPr>
        <p:spPr>
          <a:xfrm>
            <a:off x="2248375" y="18281687"/>
            <a:ext cx="4699025" cy="184696"/>
          </a:xfrm>
          <a:prstGeom prst="rect">
            <a:avLst/>
          </a:prstGeom>
          <a:noFill/>
          <a:ln/>
        </p:spPr>
        <p:txBody>
          <a:bodyPr wrap="none" lIns="0" tIns="0" rIns="0" bIns="0" rtlCol="0" anchor="t"/>
          <a:lstStyle/>
          <a:p>
            <a:pPr marL="0" indent="0" algn="l">
              <a:lnSpc>
                <a:spcPct val="130000"/>
              </a:lnSpc>
              <a:buNone/>
            </a:pP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Fungsi Spesifik</a:t>
            </a:r>
            <a:endParaRPr lang="en-US" sz="950" dirty="0">
              <a:latin typeface="Leelawadee UI" panose="020B0502040204020203" pitchFamily="34" charset="-34"/>
              <a:cs typeface="Leelawadee UI" panose="020B0502040204020203" pitchFamily="34" charset="-34"/>
            </a:endParaRPr>
          </a:p>
        </p:txBody>
      </p:sp>
      <p:sp>
        <p:nvSpPr>
          <p:cNvPr id="49" name="Text 7">
            <a:extLst>
              <a:ext uri="{FF2B5EF4-FFF2-40B4-BE49-F238E27FC236}">
                <a16:creationId xmlns:a16="http://schemas.microsoft.com/office/drawing/2014/main" id="{AC62D41E-2B53-9F5C-0CB3-26973BFD37C1}"/>
              </a:ext>
            </a:extLst>
          </p:cNvPr>
          <p:cNvSpPr/>
          <p:nvPr/>
        </p:nvSpPr>
        <p:spPr>
          <a:xfrm>
            <a:off x="6726539" y="18281687"/>
            <a:ext cx="2256383" cy="184696"/>
          </a:xfrm>
          <a:prstGeom prst="rect">
            <a:avLst/>
          </a:prstGeom>
          <a:noFill/>
          <a:ln/>
        </p:spPr>
        <p:txBody>
          <a:bodyPr wrap="none" lIns="0" tIns="0" rIns="0" bIns="0" rtlCol="0" anchor="t"/>
          <a:lstStyle/>
          <a:p>
            <a:pPr marL="0" indent="0" algn="l">
              <a:lnSpc>
                <a:spcPct val="130000"/>
              </a:lnSpc>
              <a:buNone/>
            </a:pP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Aksi</a:t>
            </a:r>
            <a:endParaRPr lang="en-US" sz="950" dirty="0">
              <a:latin typeface="Leelawadee UI" panose="020B0502040204020203" pitchFamily="34" charset="-34"/>
              <a:cs typeface="Leelawadee UI" panose="020B0502040204020203" pitchFamily="34" charset="-34"/>
            </a:endParaRPr>
          </a:p>
        </p:txBody>
      </p:sp>
      <p:sp>
        <p:nvSpPr>
          <p:cNvPr id="50" name="Text 8">
            <a:extLst>
              <a:ext uri="{FF2B5EF4-FFF2-40B4-BE49-F238E27FC236}">
                <a16:creationId xmlns:a16="http://schemas.microsoft.com/office/drawing/2014/main" id="{3CC7FB83-50C7-E87F-5251-FF66C84639C2}"/>
              </a:ext>
            </a:extLst>
          </p:cNvPr>
          <p:cNvSpPr/>
          <p:nvPr/>
        </p:nvSpPr>
        <p:spPr>
          <a:xfrm>
            <a:off x="619972" y="18615806"/>
            <a:ext cx="1849264" cy="184696"/>
          </a:xfrm>
          <a:prstGeom prst="rect">
            <a:avLst/>
          </a:prstGeom>
          <a:noFill/>
          <a:ln/>
        </p:spPr>
        <p:txBody>
          <a:bodyPr wrap="none" lIns="0" tIns="0" rIns="0" bIns="0" rtlCol="0" anchor="t"/>
          <a:lstStyle/>
          <a:p>
            <a:pPr marL="0" indent="0" algn="l">
              <a:lnSpc>
                <a:spcPct val="130000"/>
              </a:lnSpc>
              <a:buNone/>
            </a:pP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Program Framework</a:t>
            </a:r>
            <a:endParaRPr lang="en-US" sz="950" dirty="0">
              <a:latin typeface="Leelawadee UI" panose="020B0502040204020203" pitchFamily="34" charset="-34"/>
              <a:cs typeface="Leelawadee UI" panose="020B0502040204020203" pitchFamily="34" charset="-34"/>
            </a:endParaRPr>
          </a:p>
        </p:txBody>
      </p:sp>
      <p:sp>
        <p:nvSpPr>
          <p:cNvPr id="51" name="Text 9">
            <a:extLst>
              <a:ext uri="{FF2B5EF4-FFF2-40B4-BE49-F238E27FC236}">
                <a16:creationId xmlns:a16="http://schemas.microsoft.com/office/drawing/2014/main" id="{60C4EA51-FA59-A9BE-6E35-B915555007F5}"/>
              </a:ext>
            </a:extLst>
          </p:cNvPr>
          <p:cNvSpPr/>
          <p:nvPr/>
        </p:nvSpPr>
        <p:spPr>
          <a:xfrm>
            <a:off x="2248375" y="18615806"/>
            <a:ext cx="4241825" cy="369391"/>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Menentukan portofolio 5 program strategis sebagai jembatan antara strategi dan implementasi di lapangan.</a:t>
            </a:r>
            <a:endParaRPr lang="en-US" sz="950" dirty="0">
              <a:latin typeface="Leelawadee UI" panose="020B0502040204020203" pitchFamily="34" charset="-34"/>
              <a:cs typeface="Leelawadee UI" panose="020B0502040204020203" pitchFamily="34" charset="-34"/>
            </a:endParaRPr>
          </a:p>
        </p:txBody>
      </p:sp>
      <p:sp>
        <p:nvSpPr>
          <p:cNvPr id="52" name="Text 10">
            <a:extLst>
              <a:ext uri="{FF2B5EF4-FFF2-40B4-BE49-F238E27FC236}">
                <a16:creationId xmlns:a16="http://schemas.microsoft.com/office/drawing/2014/main" id="{BB002F98-B2A9-0B03-34B4-CB82FD3CC9D4}"/>
              </a:ext>
            </a:extLst>
          </p:cNvPr>
          <p:cNvSpPr/>
          <p:nvPr/>
        </p:nvSpPr>
        <p:spPr>
          <a:xfrm>
            <a:off x="6726539" y="18615806"/>
            <a:ext cx="2256383" cy="184696"/>
          </a:xfrm>
          <a:prstGeom prst="rect">
            <a:avLst/>
          </a:prstGeom>
          <a:noFill/>
          <a:ln/>
        </p:spPr>
        <p:txBody>
          <a:bodyPr wrap="none" lIns="0" tIns="0" rIns="0" bIns="0" rtlCol="0" anchor="t"/>
          <a:lstStyle/>
          <a:p>
            <a:pPr marL="0" indent="0" algn="l">
              <a:lnSpc>
                <a:spcPct val="130000"/>
              </a:lnSpc>
              <a:buNone/>
            </a:pPr>
            <a:r>
              <a:rPr lang="en-US" sz="95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Unduh PDF →</a:t>
            </a:r>
            <a:endParaRPr lang="en-US" sz="950" dirty="0">
              <a:latin typeface="Leelawadee UI" panose="020B0502040204020203" pitchFamily="34" charset="-34"/>
              <a:cs typeface="Leelawadee UI" panose="020B0502040204020203" pitchFamily="34" charset="-34"/>
            </a:endParaRPr>
          </a:p>
        </p:txBody>
      </p:sp>
      <p:sp>
        <p:nvSpPr>
          <p:cNvPr id="53" name="Text 11">
            <a:extLst>
              <a:ext uri="{FF2B5EF4-FFF2-40B4-BE49-F238E27FC236}">
                <a16:creationId xmlns:a16="http://schemas.microsoft.com/office/drawing/2014/main" id="{18331495-4C31-3B2C-8B04-38CAE7D06C00}"/>
              </a:ext>
            </a:extLst>
          </p:cNvPr>
          <p:cNvSpPr/>
          <p:nvPr/>
        </p:nvSpPr>
        <p:spPr>
          <a:xfrm>
            <a:off x="619972" y="19134621"/>
            <a:ext cx="1849264" cy="184696"/>
          </a:xfrm>
          <a:prstGeom prst="rect">
            <a:avLst/>
          </a:prstGeom>
          <a:noFill/>
          <a:ln/>
        </p:spPr>
        <p:txBody>
          <a:bodyPr wrap="none" lIns="0" tIns="0" rIns="0" bIns="0" rtlCol="0" anchor="t"/>
          <a:lstStyle/>
          <a:p>
            <a:pPr marL="0" indent="0" algn="l">
              <a:lnSpc>
                <a:spcPct val="130000"/>
              </a:lnSpc>
              <a:buNone/>
            </a:pP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Project Portfolio</a:t>
            </a:r>
            <a:endParaRPr lang="en-US" sz="950" dirty="0">
              <a:latin typeface="Leelawadee UI" panose="020B0502040204020203" pitchFamily="34" charset="-34"/>
              <a:cs typeface="Leelawadee UI" panose="020B0502040204020203" pitchFamily="34" charset="-34"/>
            </a:endParaRPr>
          </a:p>
        </p:txBody>
      </p:sp>
      <p:sp>
        <p:nvSpPr>
          <p:cNvPr id="54" name="Text 12">
            <a:extLst>
              <a:ext uri="{FF2B5EF4-FFF2-40B4-BE49-F238E27FC236}">
                <a16:creationId xmlns:a16="http://schemas.microsoft.com/office/drawing/2014/main" id="{AF8A3A23-1ACF-D995-DB51-FAAA63123AB7}"/>
              </a:ext>
            </a:extLst>
          </p:cNvPr>
          <p:cNvSpPr/>
          <p:nvPr/>
        </p:nvSpPr>
        <p:spPr>
          <a:xfrm>
            <a:off x="2248375" y="19134621"/>
            <a:ext cx="4241825" cy="369391"/>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Menerjemahkan strategi ke dalam proyek, kemitraan, dan inisiatif lapangan sebagai antarmuka dengan pemangku kepentingan.</a:t>
            </a:r>
            <a:endParaRPr lang="en-US" sz="950" dirty="0">
              <a:latin typeface="Leelawadee UI" panose="020B0502040204020203" pitchFamily="34" charset="-34"/>
              <a:cs typeface="Leelawadee UI" panose="020B0502040204020203" pitchFamily="34" charset="-34"/>
            </a:endParaRPr>
          </a:p>
        </p:txBody>
      </p:sp>
      <p:sp>
        <p:nvSpPr>
          <p:cNvPr id="55" name="Text 13">
            <a:extLst>
              <a:ext uri="{FF2B5EF4-FFF2-40B4-BE49-F238E27FC236}">
                <a16:creationId xmlns:a16="http://schemas.microsoft.com/office/drawing/2014/main" id="{1EEB06B3-69F8-7253-B7A7-59E29B7FB71A}"/>
              </a:ext>
            </a:extLst>
          </p:cNvPr>
          <p:cNvSpPr/>
          <p:nvPr/>
        </p:nvSpPr>
        <p:spPr>
          <a:xfrm>
            <a:off x="6726539" y="19134621"/>
            <a:ext cx="2256383" cy="184696"/>
          </a:xfrm>
          <a:prstGeom prst="rect">
            <a:avLst/>
          </a:prstGeom>
          <a:noFill/>
          <a:ln/>
        </p:spPr>
        <p:txBody>
          <a:bodyPr wrap="none" lIns="0" tIns="0" rIns="0" bIns="0" rtlCol="0" anchor="t"/>
          <a:lstStyle/>
          <a:p>
            <a:pPr marL="0" indent="0" algn="l">
              <a:lnSpc>
                <a:spcPct val="130000"/>
              </a:lnSpc>
              <a:buNone/>
            </a:pPr>
            <a:r>
              <a:rPr lang="en-US" sz="95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Unduh PDF →</a:t>
            </a:r>
            <a:endParaRPr lang="en-US" sz="950" dirty="0">
              <a:latin typeface="Leelawadee UI" panose="020B0502040204020203" pitchFamily="34" charset="-34"/>
              <a:cs typeface="Leelawadee UI" panose="020B0502040204020203" pitchFamily="34" charset="-34"/>
            </a:endParaRPr>
          </a:p>
        </p:txBody>
      </p:sp>
      <p:sp>
        <p:nvSpPr>
          <p:cNvPr id="56" name="Text 14">
            <a:extLst>
              <a:ext uri="{FF2B5EF4-FFF2-40B4-BE49-F238E27FC236}">
                <a16:creationId xmlns:a16="http://schemas.microsoft.com/office/drawing/2014/main" id="{8324AF9C-D870-B56D-3FAC-5609EB49CAB5}"/>
              </a:ext>
            </a:extLst>
          </p:cNvPr>
          <p:cNvSpPr/>
          <p:nvPr/>
        </p:nvSpPr>
        <p:spPr>
          <a:xfrm>
            <a:off x="619972" y="19653436"/>
            <a:ext cx="1849264" cy="184696"/>
          </a:xfrm>
          <a:prstGeom prst="rect">
            <a:avLst/>
          </a:prstGeom>
          <a:noFill/>
          <a:ln/>
        </p:spPr>
        <p:txBody>
          <a:bodyPr wrap="none" lIns="0" tIns="0" rIns="0" bIns="0" rtlCol="0" anchor="t"/>
          <a:lstStyle/>
          <a:p>
            <a:pPr marL="0" indent="0" algn="l">
              <a:lnSpc>
                <a:spcPct val="130000"/>
              </a:lnSpc>
              <a:buNone/>
            </a:pP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MEL System</a:t>
            </a:r>
            <a:endParaRPr lang="en-US" sz="950" dirty="0">
              <a:latin typeface="Leelawadee UI" panose="020B0502040204020203" pitchFamily="34" charset="-34"/>
              <a:cs typeface="Leelawadee UI" panose="020B0502040204020203" pitchFamily="34" charset="-34"/>
            </a:endParaRPr>
          </a:p>
        </p:txBody>
      </p:sp>
      <p:sp>
        <p:nvSpPr>
          <p:cNvPr id="57" name="Text 15">
            <a:extLst>
              <a:ext uri="{FF2B5EF4-FFF2-40B4-BE49-F238E27FC236}">
                <a16:creationId xmlns:a16="http://schemas.microsoft.com/office/drawing/2014/main" id="{70D2408C-3688-CE0F-152A-BE3431BE41A4}"/>
              </a:ext>
            </a:extLst>
          </p:cNvPr>
          <p:cNvSpPr/>
          <p:nvPr/>
        </p:nvSpPr>
        <p:spPr>
          <a:xfrm>
            <a:off x="2248375" y="19653436"/>
            <a:ext cx="4241825" cy="369391"/>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Menghasilkan pembelajaran dan mendukung adaptive management melalui monitoring, evaluasi, dan pembelajaran berkelanjutan.</a:t>
            </a:r>
            <a:endParaRPr lang="en-US" sz="950" dirty="0">
              <a:latin typeface="Leelawadee UI" panose="020B0502040204020203" pitchFamily="34" charset="-34"/>
              <a:cs typeface="Leelawadee UI" panose="020B0502040204020203" pitchFamily="34" charset="-34"/>
            </a:endParaRPr>
          </a:p>
        </p:txBody>
      </p:sp>
      <p:sp>
        <p:nvSpPr>
          <p:cNvPr id="58" name="Text 16">
            <a:extLst>
              <a:ext uri="{FF2B5EF4-FFF2-40B4-BE49-F238E27FC236}">
                <a16:creationId xmlns:a16="http://schemas.microsoft.com/office/drawing/2014/main" id="{C07FDB47-DADF-DB07-3848-C26FB140CFAF}"/>
              </a:ext>
            </a:extLst>
          </p:cNvPr>
          <p:cNvSpPr/>
          <p:nvPr/>
        </p:nvSpPr>
        <p:spPr>
          <a:xfrm>
            <a:off x="6726539" y="19653436"/>
            <a:ext cx="2256383" cy="184696"/>
          </a:xfrm>
          <a:prstGeom prst="rect">
            <a:avLst/>
          </a:prstGeom>
          <a:noFill/>
          <a:ln/>
        </p:spPr>
        <p:txBody>
          <a:bodyPr wrap="none" lIns="0" tIns="0" rIns="0" bIns="0" rtlCol="0" anchor="t"/>
          <a:lstStyle/>
          <a:p>
            <a:pPr marL="0" indent="0" algn="l">
              <a:lnSpc>
                <a:spcPct val="130000"/>
              </a:lnSpc>
              <a:buNone/>
            </a:pPr>
            <a:r>
              <a:rPr lang="en-US" sz="95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Unduh PDF →</a:t>
            </a:r>
            <a:endParaRPr lang="en-US" sz="950" dirty="0">
              <a:latin typeface="Leelawadee UI" panose="020B0502040204020203" pitchFamily="34" charset="-34"/>
              <a:cs typeface="Leelawadee UI" panose="020B0502040204020203" pitchFamily="34" charset="-34"/>
            </a:endParaRPr>
          </a:p>
        </p:txBody>
      </p:sp>
      <p:sp>
        <p:nvSpPr>
          <p:cNvPr id="59" name="Text 17">
            <a:extLst>
              <a:ext uri="{FF2B5EF4-FFF2-40B4-BE49-F238E27FC236}">
                <a16:creationId xmlns:a16="http://schemas.microsoft.com/office/drawing/2014/main" id="{47E41738-60AC-E9C2-BC56-35C0806CCE1A}"/>
              </a:ext>
            </a:extLst>
          </p:cNvPr>
          <p:cNvSpPr/>
          <p:nvPr/>
        </p:nvSpPr>
        <p:spPr>
          <a:xfrm>
            <a:off x="619972" y="20172251"/>
            <a:ext cx="1392064" cy="369391"/>
          </a:xfrm>
          <a:prstGeom prst="rect">
            <a:avLst/>
          </a:prstGeom>
          <a:noFill/>
          <a:ln/>
        </p:spPr>
        <p:txBody>
          <a:bodyPr wrap="square" lIns="0" tIns="0" rIns="0" bIns="0" rtlCol="0" anchor="t">
            <a:normAutofit/>
          </a:bodyPr>
          <a:lstStyle/>
          <a:p>
            <a:pPr marL="0" indent="0" algn="l">
              <a:lnSpc>
                <a:spcPct val="130000"/>
              </a:lnSpc>
              <a:buNone/>
            </a:pP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Knowledge Management</a:t>
            </a:r>
            <a:endParaRPr lang="en-US" sz="950" dirty="0">
              <a:latin typeface="Leelawadee UI" panose="020B0502040204020203" pitchFamily="34" charset="-34"/>
              <a:cs typeface="Leelawadee UI" panose="020B0502040204020203" pitchFamily="34" charset="-34"/>
            </a:endParaRPr>
          </a:p>
        </p:txBody>
      </p:sp>
      <p:sp>
        <p:nvSpPr>
          <p:cNvPr id="60" name="Text 18">
            <a:extLst>
              <a:ext uri="{FF2B5EF4-FFF2-40B4-BE49-F238E27FC236}">
                <a16:creationId xmlns:a16="http://schemas.microsoft.com/office/drawing/2014/main" id="{8FB8DE33-9D02-EA15-9278-8F8CFDE82F64}"/>
              </a:ext>
            </a:extLst>
          </p:cNvPr>
          <p:cNvSpPr/>
          <p:nvPr/>
        </p:nvSpPr>
        <p:spPr>
          <a:xfrm>
            <a:off x="2248375" y="20172251"/>
            <a:ext cx="4241825" cy="369391"/>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Menjaga memori organisasi agar pengalaman, data, dan inovasi tidak hilang ketika proyek atau individu berubah.</a:t>
            </a:r>
            <a:endParaRPr lang="en-US" sz="950" dirty="0">
              <a:latin typeface="Leelawadee UI" panose="020B0502040204020203" pitchFamily="34" charset="-34"/>
              <a:cs typeface="Leelawadee UI" panose="020B0502040204020203" pitchFamily="34" charset="-34"/>
            </a:endParaRPr>
          </a:p>
        </p:txBody>
      </p:sp>
      <p:sp>
        <p:nvSpPr>
          <p:cNvPr id="61" name="Text 19">
            <a:extLst>
              <a:ext uri="{FF2B5EF4-FFF2-40B4-BE49-F238E27FC236}">
                <a16:creationId xmlns:a16="http://schemas.microsoft.com/office/drawing/2014/main" id="{9D0E10C0-38DE-388C-82DF-406A547932BC}"/>
              </a:ext>
            </a:extLst>
          </p:cNvPr>
          <p:cNvSpPr/>
          <p:nvPr/>
        </p:nvSpPr>
        <p:spPr>
          <a:xfrm>
            <a:off x="6726539" y="20172251"/>
            <a:ext cx="2256383" cy="184696"/>
          </a:xfrm>
          <a:prstGeom prst="rect">
            <a:avLst/>
          </a:prstGeom>
          <a:noFill/>
          <a:ln/>
        </p:spPr>
        <p:txBody>
          <a:bodyPr wrap="none" lIns="0" tIns="0" rIns="0" bIns="0" rtlCol="0" anchor="t"/>
          <a:lstStyle/>
          <a:p>
            <a:pPr marL="0" indent="0" algn="l">
              <a:lnSpc>
                <a:spcPct val="130000"/>
              </a:lnSpc>
              <a:buNone/>
            </a:pPr>
            <a:r>
              <a:rPr lang="en-US" sz="95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Unduh PDF →</a:t>
            </a:r>
            <a:endParaRPr lang="en-US" sz="950" dirty="0">
              <a:latin typeface="Leelawadee UI" panose="020B0502040204020203" pitchFamily="34" charset="-34"/>
              <a:cs typeface="Leelawadee UI" panose="020B0502040204020203" pitchFamily="34" charset="-34"/>
            </a:endParaRPr>
          </a:p>
        </p:txBody>
      </p:sp>
      <p:sp>
        <p:nvSpPr>
          <p:cNvPr id="62" name="Text 20">
            <a:extLst>
              <a:ext uri="{FF2B5EF4-FFF2-40B4-BE49-F238E27FC236}">
                <a16:creationId xmlns:a16="http://schemas.microsoft.com/office/drawing/2014/main" id="{75347B73-0CD8-B61F-E566-9414F9679898}"/>
              </a:ext>
            </a:extLst>
          </p:cNvPr>
          <p:cNvSpPr/>
          <p:nvPr/>
        </p:nvSpPr>
        <p:spPr>
          <a:xfrm>
            <a:off x="619972" y="20691066"/>
            <a:ext cx="1849264" cy="184696"/>
          </a:xfrm>
          <a:prstGeom prst="rect">
            <a:avLst/>
          </a:prstGeom>
          <a:noFill/>
          <a:ln/>
        </p:spPr>
        <p:txBody>
          <a:bodyPr wrap="none" lIns="0" tIns="0" rIns="0" bIns="0" rtlCol="0" anchor="t"/>
          <a:lstStyle/>
          <a:p>
            <a:pPr marL="0" indent="0" algn="l">
              <a:lnSpc>
                <a:spcPct val="130000"/>
              </a:lnSpc>
              <a:buNone/>
            </a:pP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Resource Mobilization</a:t>
            </a:r>
            <a:endParaRPr lang="en-US" sz="950" dirty="0">
              <a:latin typeface="Leelawadee UI" panose="020B0502040204020203" pitchFamily="34" charset="-34"/>
              <a:cs typeface="Leelawadee UI" panose="020B0502040204020203" pitchFamily="34" charset="-34"/>
            </a:endParaRPr>
          </a:p>
        </p:txBody>
      </p:sp>
      <p:sp>
        <p:nvSpPr>
          <p:cNvPr id="63" name="Text 21">
            <a:extLst>
              <a:ext uri="{FF2B5EF4-FFF2-40B4-BE49-F238E27FC236}">
                <a16:creationId xmlns:a16="http://schemas.microsoft.com/office/drawing/2014/main" id="{19F0C22E-5D5F-5C7C-C155-5E8CE1586E37}"/>
              </a:ext>
            </a:extLst>
          </p:cNvPr>
          <p:cNvSpPr/>
          <p:nvPr/>
        </p:nvSpPr>
        <p:spPr>
          <a:xfrm>
            <a:off x="2248375" y="20691066"/>
            <a:ext cx="4241825" cy="369391"/>
          </a:xfrm>
          <a:prstGeom prst="rect">
            <a:avLst/>
          </a:prstGeom>
          <a:noFill/>
          <a:ln/>
        </p:spPr>
        <p:txBody>
          <a:bodyPr wrap="square" lIns="0" tIns="0" rIns="0" bIns="0" rtlCol="0" anchor="t">
            <a:normAutofit/>
          </a:bodyPr>
          <a:lstStyle/>
          <a:p>
            <a:pPr marL="0" indent="0" algn="l">
              <a:lnSpc>
                <a:spcPct val="130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Menyediakan energi (pendanaan, kemitraan, pengetahuan, teknologi) untuk menjalankan seluruh sistem organisasi.</a:t>
            </a:r>
            <a:endParaRPr lang="en-US" sz="950" dirty="0">
              <a:latin typeface="Leelawadee UI" panose="020B0502040204020203" pitchFamily="34" charset="-34"/>
              <a:cs typeface="Leelawadee UI" panose="020B0502040204020203" pitchFamily="34" charset="-34"/>
            </a:endParaRPr>
          </a:p>
        </p:txBody>
      </p:sp>
      <p:sp>
        <p:nvSpPr>
          <p:cNvPr id="64" name="Text 22">
            <a:extLst>
              <a:ext uri="{FF2B5EF4-FFF2-40B4-BE49-F238E27FC236}">
                <a16:creationId xmlns:a16="http://schemas.microsoft.com/office/drawing/2014/main" id="{8533200E-8E2D-9608-BFAD-E60F3D787B58}"/>
              </a:ext>
            </a:extLst>
          </p:cNvPr>
          <p:cNvSpPr/>
          <p:nvPr/>
        </p:nvSpPr>
        <p:spPr>
          <a:xfrm>
            <a:off x="6726539" y="20691066"/>
            <a:ext cx="2256383" cy="184696"/>
          </a:xfrm>
          <a:prstGeom prst="rect">
            <a:avLst/>
          </a:prstGeom>
          <a:noFill/>
          <a:ln/>
        </p:spPr>
        <p:txBody>
          <a:bodyPr wrap="none" lIns="0" tIns="0" rIns="0" bIns="0" rtlCol="0" anchor="t"/>
          <a:lstStyle/>
          <a:p>
            <a:pPr marL="0" indent="0" algn="l">
              <a:lnSpc>
                <a:spcPct val="130000"/>
              </a:lnSpc>
              <a:buNone/>
            </a:pPr>
            <a:r>
              <a:rPr lang="en-US" sz="95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Unduh PDF →</a:t>
            </a:r>
            <a:endParaRPr lang="en-US" sz="950" dirty="0">
              <a:latin typeface="Leelawadee UI" panose="020B0502040204020203" pitchFamily="34" charset="-34"/>
              <a:cs typeface="Leelawadee UI" panose="020B0502040204020203" pitchFamily="34" charset="-34"/>
            </a:endParaRPr>
          </a:p>
        </p:txBody>
      </p:sp>
      <p:sp>
        <p:nvSpPr>
          <p:cNvPr id="78" name="Shape 0">
            <a:extLst>
              <a:ext uri="{FF2B5EF4-FFF2-40B4-BE49-F238E27FC236}">
                <a16:creationId xmlns:a16="http://schemas.microsoft.com/office/drawing/2014/main" id="{2209FE8A-3661-F197-2AB4-87B7F60C928D}"/>
              </a:ext>
            </a:extLst>
          </p:cNvPr>
          <p:cNvSpPr/>
          <p:nvPr/>
        </p:nvSpPr>
        <p:spPr>
          <a:xfrm>
            <a:off x="451321" y="21641539"/>
            <a:ext cx="4525863" cy="4128418"/>
          </a:xfrm>
          <a:prstGeom prst="roundRect">
            <a:avLst>
              <a:gd name="adj" fmla="val 451"/>
            </a:avLst>
          </a:prstGeom>
          <a:solidFill>
            <a:srgbClr val="28282F"/>
          </a:solidFill>
          <a:ln/>
        </p:spPr>
      </p:sp>
      <p:sp>
        <p:nvSpPr>
          <p:cNvPr id="79" name="Text 1">
            <a:extLst>
              <a:ext uri="{FF2B5EF4-FFF2-40B4-BE49-F238E27FC236}">
                <a16:creationId xmlns:a16="http://schemas.microsoft.com/office/drawing/2014/main" id="{0200B509-5BF8-30D2-64CE-2DF775F59003}"/>
              </a:ext>
            </a:extLst>
          </p:cNvPr>
          <p:cNvSpPr/>
          <p:nvPr/>
        </p:nvSpPr>
        <p:spPr>
          <a:xfrm>
            <a:off x="575295" y="21765513"/>
            <a:ext cx="4146054" cy="310083"/>
          </a:xfrm>
          <a:prstGeom prst="rect">
            <a:avLst/>
          </a:prstGeom>
          <a:noFill/>
          <a:ln/>
        </p:spPr>
        <p:txBody>
          <a:bodyPr wrap="none" lIns="0" tIns="0" rIns="0" bIns="0" rtlCol="0" anchor="t"/>
          <a:lstStyle/>
          <a:p>
            <a:pPr marL="0" indent="0" algn="l">
              <a:lnSpc>
                <a:spcPct val="104000"/>
              </a:lnSpc>
              <a:buNone/>
            </a:pPr>
            <a:r>
              <a:rPr lang="en-US" sz="1950" dirty="0">
                <a:solidFill>
                  <a:srgbClr val="FFFFFF"/>
                </a:solidFill>
                <a:latin typeface="Leelawadee UI" panose="020B0502040204020203" pitchFamily="34" charset="-34"/>
                <a:ea typeface="DM Sans Medium" pitchFamily="34" charset="-122"/>
                <a:cs typeface="Leelawadee UI" panose="020B0502040204020203" pitchFamily="34" charset="-34"/>
              </a:rPr>
              <a:t>Unduh Dokumen Lengkap LGOS</a:t>
            </a:r>
            <a:endParaRPr lang="en-US" sz="1950" dirty="0">
              <a:latin typeface="Leelawadee UI" panose="020B0502040204020203" pitchFamily="34" charset="-34"/>
              <a:cs typeface="Leelawadee UI" panose="020B0502040204020203" pitchFamily="34" charset="-34"/>
            </a:endParaRPr>
          </a:p>
        </p:txBody>
      </p:sp>
      <p:sp>
        <p:nvSpPr>
          <p:cNvPr id="80" name="Text 2">
            <a:extLst>
              <a:ext uri="{FF2B5EF4-FFF2-40B4-BE49-F238E27FC236}">
                <a16:creationId xmlns:a16="http://schemas.microsoft.com/office/drawing/2014/main" id="{36836206-7C7A-46A1-32FE-BCC493029B37}"/>
              </a:ext>
            </a:extLst>
          </p:cNvPr>
          <p:cNvSpPr/>
          <p:nvPr/>
        </p:nvSpPr>
        <p:spPr>
          <a:xfrm>
            <a:off x="575295" y="22199570"/>
            <a:ext cx="4277916" cy="1500857"/>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Untuk memahami secara utuh bagaimana LGOS menjadi sistem operasi YNKI, unduh dokumen lengkap yang mencakup seluruh 8 komponen, hubungan antar komponen, dan panduan implementasinya di dalam organisasi.</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Dokumen ini dirancang untuk pembuat kebijakan, staf organisasi, dan mitra lanskap yang ingin memahami cara YNKI beroperasi sebagai </a:t>
            </a:r>
            <a:r>
              <a:rPr lang="en-US" sz="950" b="1" dirty="0">
                <a:solidFill>
                  <a:srgbClr val="FFFFFF"/>
                </a:solidFill>
                <a:latin typeface="Leelawadee UI" panose="020B0502040204020203" pitchFamily="34" charset="-34"/>
                <a:ea typeface="Inter" pitchFamily="34" charset="-122"/>
                <a:cs typeface="Leelawadee UI" panose="020B0502040204020203" pitchFamily="34" charset="-34"/>
              </a:rPr>
              <a:t>Landscape Governance Backbone Organization.</a:t>
            </a:r>
            <a:endParaRPr lang="en-US" sz="950" dirty="0">
              <a:latin typeface="Leelawadee UI" panose="020B0502040204020203" pitchFamily="34" charset="-34"/>
              <a:cs typeface="Leelawadee UI" panose="020B0502040204020203" pitchFamily="34" charset="-34"/>
            </a:endParaRPr>
          </a:p>
        </p:txBody>
      </p:sp>
      <p:pic>
        <p:nvPicPr>
          <p:cNvPr id="81" name="Image 0" descr="preencoded.png">
            <a:hlinkClick r:id="" action="ppaction://noaction"/>
            <a:extLst>
              <a:ext uri="{FF2B5EF4-FFF2-40B4-BE49-F238E27FC236}">
                <a16:creationId xmlns:a16="http://schemas.microsoft.com/office/drawing/2014/main" id="{5363014F-9DE7-A5EF-D1D0-23D0CCD5A236}"/>
              </a:ext>
            </a:extLst>
          </p:cNvPr>
          <p:cNvPicPr>
            <a:picLocks noChangeAspect="1"/>
          </p:cNvPicPr>
          <p:nvPr/>
        </p:nvPicPr>
        <p:blipFill>
          <a:blip r:embed="rId13"/>
          <a:stretch>
            <a:fillRect/>
          </a:stretch>
        </p:blipFill>
        <p:spPr>
          <a:xfrm>
            <a:off x="575295" y="23839954"/>
            <a:ext cx="2714774" cy="341114"/>
          </a:xfrm>
          <a:prstGeom prst="rect">
            <a:avLst/>
          </a:prstGeom>
        </p:spPr>
      </p:pic>
      <p:pic>
        <p:nvPicPr>
          <p:cNvPr id="82" name="Image 1" descr="preencoded.png">
            <a:extLst>
              <a:ext uri="{FF2B5EF4-FFF2-40B4-BE49-F238E27FC236}">
                <a16:creationId xmlns:a16="http://schemas.microsoft.com/office/drawing/2014/main" id="{AA445C5B-D80D-F9DD-38B5-EDCCF5D78D4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195217" y="21781065"/>
            <a:ext cx="248022" cy="248022"/>
          </a:xfrm>
          <a:prstGeom prst="rect">
            <a:avLst/>
          </a:prstGeom>
        </p:spPr>
      </p:pic>
      <p:sp>
        <p:nvSpPr>
          <p:cNvPr id="83" name="Text 3">
            <a:extLst>
              <a:ext uri="{FF2B5EF4-FFF2-40B4-BE49-F238E27FC236}">
                <a16:creationId xmlns:a16="http://schemas.microsoft.com/office/drawing/2014/main" id="{AD4C4CEF-3B11-6BF2-1BF5-D58BB7EF7412}"/>
              </a:ext>
            </a:extLst>
          </p:cNvPr>
          <p:cNvSpPr/>
          <p:nvPr/>
        </p:nvSpPr>
        <p:spPr>
          <a:xfrm>
            <a:off x="5195217" y="22184092"/>
            <a:ext cx="1814364"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8 Komponen Terintegrasi</a:t>
            </a:r>
            <a:endParaRPr lang="en-US" sz="1200" dirty="0">
              <a:latin typeface="Leelawadee UI" panose="020B0502040204020203" pitchFamily="34" charset="-34"/>
              <a:cs typeface="Leelawadee UI" panose="020B0502040204020203" pitchFamily="34" charset="-34"/>
            </a:endParaRPr>
          </a:p>
        </p:txBody>
      </p:sp>
      <p:sp>
        <p:nvSpPr>
          <p:cNvPr id="84" name="Text 4">
            <a:extLst>
              <a:ext uri="{FF2B5EF4-FFF2-40B4-BE49-F238E27FC236}">
                <a16:creationId xmlns:a16="http://schemas.microsoft.com/office/drawing/2014/main" id="{016867FD-171B-6B0C-AD6D-8DC4692FCDA2}"/>
              </a:ext>
            </a:extLst>
          </p:cNvPr>
          <p:cNvSpPr/>
          <p:nvPr/>
        </p:nvSpPr>
        <p:spPr>
          <a:xfrm>
            <a:off x="5195217" y="22501914"/>
            <a:ext cx="3501851"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Seluruh komponen LGOS dalam satu dokumen komprehensif.</a:t>
            </a:r>
            <a:endParaRPr lang="en-US" sz="950" dirty="0">
              <a:latin typeface="Leelawadee UI" panose="020B0502040204020203" pitchFamily="34" charset="-34"/>
              <a:cs typeface="Leelawadee UI" panose="020B0502040204020203" pitchFamily="34" charset="-34"/>
            </a:endParaRPr>
          </a:p>
        </p:txBody>
      </p:sp>
      <p:pic>
        <p:nvPicPr>
          <p:cNvPr id="85" name="Image 2" descr="preencoded.png">
            <a:extLst>
              <a:ext uri="{FF2B5EF4-FFF2-40B4-BE49-F238E27FC236}">
                <a16:creationId xmlns:a16="http://schemas.microsoft.com/office/drawing/2014/main" id="{EF3AA296-6A29-BB53-C80A-F9D892DFE50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195217" y="23146861"/>
            <a:ext cx="248022" cy="248022"/>
          </a:xfrm>
          <a:prstGeom prst="rect">
            <a:avLst/>
          </a:prstGeom>
        </p:spPr>
      </p:pic>
      <p:sp>
        <p:nvSpPr>
          <p:cNvPr id="86" name="Text 5">
            <a:extLst>
              <a:ext uri="{FF2B5EF4-FFF2-40B4-BE49-F238E27FC236}">
                <a16:creationId xmlns:a16="http://schemas.microsoft.com/office/drawing/2014/main" id="{89775545-1FE0-3386-2DF4-04AFEC408DC9}"/>
              </a:ext>
            </a:extLst>
          </p:cNvPr>
          <p:cNvSpPr/>
          <p:nvPr/>
        </p:nvSpPr>
        <p:spPr>
          <a:xfrm>
            <a:off x="5195217" y="23549888"/>
            <a:ext cx="2012752"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Hubungan Antar Komponen</a:t>
            </a:r>
            <a:endParaRPr lang="en-US" sz="1200" dirty="0">
              <a:latin typeface="Leelawadee UI" panose="020B0502040204020203" pitchFamily="34" charset="-34"/>
              <a:cs typeface="Leelawadee UI" panose="020B0502040204020203" pitchFamily="34" charset="-34"/>
            </a:endParaRPr>
          </a:p>
        </p:txBody>
      </p:sp>
      <p:sp>
        <p:nvSpPr>
          <p:cNvPr id="87" name="Text 6">
            <a:extLst>
              <a:ext uri="{FF2B5EF4-FFF2-40B4-BE49-F238E27FC236}">
                <a16:creationId xmlns:a16="http://schemas.microsoft.com/office/drawing/2014/main" id="{BFAFA2F7-EBD1-987D-795D-BCD703A425D9}"/>
              </a:ext>
            </a:extLst>
          </p:cNvPr>
          <p:cNvSpPr/>
          <p:nvPr/>
        </p:nvSpPr>
        <p:spPr>
          <a:xfrm>
            <a:off x="5195217" y="23867710"/>
            <a:ext cx="3501851" cy="587553"/>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Peta koneksi yang menjelaskan bagaimana setiap komponen saling menguatkan.</a:t>
            </a:r>
            <a:endParaRPr lang="en-US" sz="950" dirty="0">
              <a:latin typeface="Leelawadee UI" panose="020B0502040204020203" pitchFamily="34" charset="-34"/>
              <a:cs typeface="Leelawadee UI" panose="020B0502040204020203" pitchFamily="34" charset="-34"/>
            </a:endParaRPr>
          </a:p>
        </p:txBody>
      </p:sp>
      <p:pic>
        <p:nvPicPr>
          <p:cNvPr id="88" name="Image 3" descr="preencoded.png">
            <a:extLst>
              <a:ext uri="{FF2B5EF4-FFF2-40B4-BE49-F238E27FC236}">
                <a16:creationId xmlns:a16="http://schemas.microsoft.com/office/drawing/2014/main" id="{11EF0B45-0FC7-7CCB-104E-1DA0AFF70CE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195217" y="24512657"/>
            <a:ext cx="248022" cy="248022"/>
          </a:xfrm>
          <a:prstGeom prst="rect">
            <a:avLst/>
          </a:prstGeom>
        </p:spPr>
      </p:pic>
      <p:sp>
        <p:nvSpPr>
          <p:cNvPr id="89" name="Text 7">
            <a:extLst>
              <a:ext uri="{FF2B5EF4-FFF2-40B4-BE49-F238E27FC236}">
                <a16:creationId xmlns:a16="http://schemas.microsoft.com/office/drawing/2014/main" id="{B1AE9C20-7777-1760-12AD-F13059AD9577}"/>
              </a:ext>
            </a:extLst>
          </p:cNvPr>
          <p:cNvSpPr/>
          <p:nvPr/>
        </p:nvSpPr>
        <p:spPr>
          <a:xfrm>
            <a:off x="5195217" y="24915683"/>
            <a:ext cx="166352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Panduan Implementasi</a:t>
            </a:r>
            <a:endParaRPr lang="en-US" sz="1200" dirty="0">
              <a:latin typeface="Leelawadee UI" panose="020B0502040204020203" pitchFamily="34" charset="-34"/>
              <a:cs typeface="Leelawadee UI" panose="020B0502040204020203" pitchFamily="34" charset="-34"/>
            </a:endParaRPr>
          </a:p>
        </p:txBody>
      </p:sp>
      <p:sp>
        <p:nvSpPr>
          <p:cNvPr id="90" name="Text 8">
            <a:extLst>
              <a:ext uri="{FF2B5EF4-FFF2-40B4-BE49-F238E27FC236}">
                <a16:creationId xmlns:a16="http://schemas.microsoft.com/office/drawing/2014/main" id="{A7A1028C-CED7-B323-BD7D-47A6EFCF7EA1}"/>
              </a:ext>
            </a:extLst>
          </p:cNvPr>
          <p:cNvSpPr/>
          <p:nvPr/>
        </p:nvSpPr>
        <p:spPr>
          <a:xfrm>
            <a:off x="5195217" y="25233506"/>
            <a:ext cx="3501851"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Panduan praktis untuk menerapkan LGOS di dalam organisasi.</a:t>
            </a:r>
            <a:endParaRPr lang="en-US" sz="950" dirty="0">
              <a:latin typeface="Leelawadee UI" panose="020B0502040204020203" pitchFamily="34" charset="-34"/>
              <a:cs typeface="Leelawadee UI" panose="020B0502040204020203" pitchFamily="34" charset="-34"/>
            </a:endParaRPr>
          </a:p>
        </p:txBody>
      </p:sp>
      <p:sp>
        <p:nvSpPr>
          <p:cNvPr id="91" name="Text 0">
            <a:extLst>
              <a:ext uri="{FF2B5EF4-FFF2-40B4-BE49-F238E27FC236}">
                <a16:creationId xmlns:a16="http://schemas.microsoft.com/office/drawing/2014/main" id="{22242828-775E-B590-D967-2512FC981C92}"/>
              </a:ext>
            </a:extLst>
          </p:cNvPr>
          <p:cNvSpPr/>
          <p:nvPr/>
        </p:nvSpPr>
        <p:spPr>
          <a:xfrm>
            <a:off x="2274941" y="26935016"/>
            <a:ext cx="4226644" cy="302865"/>
          </a:xfrm>
          <a:prstGeom prst="rect">
            <a:avLst/>
          </a:prstGeom>
          <a:noFill/>
          <a:ln/>
        </p:spPr>
        <p:txBody>
          <a:bodyPr wrap="none" lIns="0" tIns="0" rIns="0" bIns="0" rtlCol="0" anchor="t"/>
          <a:lstStyle/>
          <a:p>
            <a:pPr marL="0" indent="0" algn="ctr">
              <a:lnSpc>
                <a:spcPct val="104000"/>
              </a:lnSpc>
              <a:buNone/>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Jelajahi Komponen LGOS Lainnya</a:t>
            </a:r>
            <a:endParaRPr lang="en-US" sz="2200" dirty="0">
              <a:latin typeface="Leelawadee UI" panose="020B0502040204020203" pitchFamily="34" charset="-34"/>
              <a:cs typeface="Leelawadee UI" panose="020B0502040204020203" pitchFamily="34" charset="-34"/>
            </a:endParaRPr>
          </a:p>
        </p:txBody>
      </p:sp>
      <p:sp>
        <p:nvSpPr>
          <p:cNvPr id="92" name="Text 1">
            <a:extLst>
              <a:ext uri="{FF2B5EF4-FFF2-40B4-BE49-F238E27FC236}">
                <a16:creationId xmlns:a16="http://schemas.microsoft.com/office/drawing/2014/main" id="{588E7551-D323-C5C9-1162-E5EB234D2110}"/>
              </a:ext>
            </a:extLst>
          </p:cNvPr>
          <p:cNvSpPr/>
          <p:nvPr/>
        </p:nvSpPr>
        <p:spPr>
          <a:xfrm>
            <a:off x="567212" y="27334768"/>
            <a:ext cx="7642101" cy="490967"/>
          </a:xfrm>
          <a:prstGeom prst="rect">
            <a:avLst/>
          </a:prstGeom>
          <a:noFill/>
          <a:ln/>
        </p:spPr>
        <p:txBody>
          <a:bodyPr wrap="square" lIns="0" tIns="0" rIns="0" bIns="0" rtlCol="0" anchor="t">
            <a:normAutofit/>
          </a:bodyPr>
          <a:lstStyle/>
          <a:p>
            <a:pPr marL="0" indent="0" algn="ctr">
              <a:lnSpc>
                <a:spcPct val="119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Setiap halaman di bawah ini mencerminkan salah satu komponen LGOS secara mendalam. Telusuri program, dampak, pengetahuan, dan cara berkolaborasi bersama YNKI dalam mendukung tata kelola lanskap yang inklusif dan berkelanjutan.</a:t>
            </a:r>
            <a:endParaRPr lang="en-US" sz="1000" dirty="0">
              <a:latin typeface="Leelawadee UI" panose="020B0502040204020203" pitchFamily="34" charset="-34"/>
              <a:cs typeface="Leelawadee UI" panose="020B0502040204020203" pitchFamily="34" charset="-34"/>
            </a:endParaRPr>
          </a:p>
        </p:txBody>
      </p:sp>
      <p:sp>
        <p:nvSpPr>
          <p:cNvPr id="93" name="Shape 2">
            <a:extLst>
              <a:ext uri="{FF2B5EF4-FFF2-40B4-BE49-F238E27FC236}">
                <a16:creationId xmlns:a16="http://schemas.microsoft.com/office/drawing/2014/main" id="{7396B776-0314-1AA7-4849-C885BA7060F1}"/>
              </a:ext>
            </a:extLst>
          </p:cNvPr>
          <p:cNvSpPr/>
          <p:nvPr/>
        </p:nvSpPr>
        <p:spPr>
          <a:xfrm>
            <a:off x="567212" y="27910865"/>
            <a:ext cx="3783211" cy="1018282"/>
          </a:xfrm>
          <a:prstGeom prst="roundRect">
            <a:avLst>
              <a:gd name="adj" fmla="val 1428"/>
            </a:avLst>
          </a:prstGeom>
          <a:solidFill>
            <a:srgbClr val="EDEBE3"/>
          </a:solidFill>
          <a:ln/>
        </p:spPr>
      </p:sp>
      <p:sp>
        <p:nvSpPr>
          <p:cNvPr id="94" name="Text 3">
            <a:extLst>
              <a:ext uri="{FF2B5EF4-FFF2-40B4-BE49-F238E27FC236}">
                <a16:creationId xmlns:a16="http://schemas.microsoft.com/office/drawing/2014/main" id="{D43CFE94-F3D0-F2E2-CF88-3FCA56B2F49A}"/>
              </a:ext>
            </a:extLst>
          </p:cNvPr>
          <p:cNvSpPr/>
          <p:nvPr/>
        </p:nvSpPr>
        <p:spPr>
          <a:xfrm>
            <a:off x="664099" y="28007752"/>
            <a:ext cx="1211387" cy="15143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Program Kami</a:t>
            </a:r>
            <a:endParaRPr lang="en-US" sz="1050" dirty="0">
              <a:latin typeface="Leelawadee UI" panose="020B0502040204020203" pitchFamily="34" charset="-34"/>
              <a:cs typeface="Leelawadee UI" panose="020B0502040204020203" pitchFamily="34" charset="-34"/>
            </a:endParaRPr>
          </a:p>
        </p:txBody>
      </p:sp>
      <p:sp>
        <p:nvSpPr>
          <p:cNvPr id="95" name="Text 4">
            <a:extLst>
              <a:ext uri="{FF2B5EF4-FFF2-40B4-BE49-F238E27FC236}">
                <a16:creationId xmlns:a16="http://schemas.microsoft.com/office/drawing/2014/main" id="{D0D13380-B074-78B3-7892-1B3796CE24A6}"/>
              </a:ext>
            </a:extLst>
          </p:cNvPr>
          <p:cNvSpPr/>
          <p:nvPr/>
        </p:nvSpPr>
        <p:spPr>
          <a:xfrm>
            <a:off x="664099" y="28204578"/>
            <a:ext cx="3589437" cy="276076"/>
          </a:xfrm>
          <a:prstGeom prst="rect">
            <a:avLst/>
          </a:prstGeom>
          <a:noFill/>
          <a:ln/>
        </p:spPr>
        <p:txBody>
          <a:bodyPr wrap="square" lIns="0" tIns="0" rIns="0" bIns="0" rtlCol="0" anchor="t">
            <a:noAutofit/>
          </a:bodyPr>
          <a:lstStyle/>
          <a:p>
            <a:pPr marL="0" indent="0" algn="l">
              <a:lnSpc>
                <a:spcPct val="119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Portofolio 5 program strategis sebagai implementasi Program Framework LGOS di lapangan.</a:t>
            </a:r>
            <a:endParaRPr lang="en-US" sz="900" dirty="0">
              <a:latin typeface="Leelawadee UI" panose="020B0502040204020203" pitchFamily="34" charset="-34"/>
              <a:cs typeface="Leelawadee UI" panose="020B0502040204020203" pitchFamily="34" charset="-34"/>
            </a:endParaRPr>
          </a:p>
        </p:txBody>
      </p:sp>
      <p:pic>
        <p:nvPicPr>
          <p:cNvPr id="96" name="Image 0" descr="preencoded.png">
            <a:hlinkClick r:id="" action="ppaction://noaction"/>
            <a:extLst>
              <a:ext uri="{FF2B5EF4-FFF2-40B4-BE49-F238E27FC236}">
                <a16:creationId xmlns:a16="http://schemas.microsoft.com/office/drawing/2014/main" id="{9E1E12DF-74CE-001E-21D5-D97D506A4757}"/>
              </a:ext>
            </a:extLst>
          </p:cNvPr>
          <p:cNvPicPr>
            <a:picLocks noChangeAspect="1"/>
          </p:cNvPicPr>
          <p:nvPr/>
        </p:nvPicPr>
        <p:blipFill>
          <a:blip r:embed="rId17"/>
          <a:stretch>
            <a:fillRect/>
          </a:stretch>
        </p:blipFill>
        <p:spPr>
          <a:xfrm>
            <a:off x="664099" y="28565784"/>
            <a:ext cx="962620" cy="266477"/>
          </a:xfrm>
          <a:prstGeom prst="rect">
            <a:avLst/>
          </a:prstGeom>
        </p:spPr>
      </p:pic>
      <p:sp>
        <p:nvSpPr>
          <p:cNvPr id="97" name="Shape 5">
            <a:extLst>
              <a:ext uri="{FF2B5EF4-FFF2-40B4-BE49-F238E27FC236}">
                <a16:creationId xmlns:a16="http://schemas.microsoft.com/office/drawing/2014/main" id="{33D218CD-0ACB-31A7-EA08-78035CC82EC3}"/>
              </a:ext>
            </a:extLst>
          </p:cNvPr>
          <p:cNvSpPr/>
          <p:nvPr/>
        </p:nvSpPr>
        <p:spPr>
          <a:xfrm>
            <a:off x="4426102" y="27910865"/>
            <a:ext cx="3783211" cy="1018282"/>
          </a:xfrm>
          <a:prstGeom prst="roundRect">
            <a:avLst>
              <a:gd name="adj" fmla="val 1428"/>
            </a:avLst>
          </a:prstGeom>
          <a:solidFill>
            <a:srgbClr val="EDEBE3"/>
          </a:solidFill>
          <a:ln/>
        </p:spPr>
      </p:sp>
      <p:sp>
        <p:nvSpPr>
          <p:cNvPr id="98" name="Text 6">
            <a:extLst>
              <a:ext uri="{FF2B5EF4-FFF2-40B4-BE49-F238E27FC236}">
                <a16:creationId xmlns:a16="http://schemas.microsoft.com/office/drawing/2014/main" id="{F5649C06-2583-8F9C-4013-361EE6A22976}"/>
              </a:ext>
            </a:extLst>
          </p:cNvPr>
          <p:cNvSpPr/>
          <p:nvPr/>
        </p:nvSpPr>
        <p:spPr>
          <a:xfrm>
            <a:off x="4522989" y="28007752"/>
            <a:ext cx="1577653" cy="15143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Dampak &amp; Pembelajaran</a:t>
            </a:r>
            <a:endParaRPr lang="en-US" sz="1050" dirty="0">
              <a:latin typeface="Leelawadee UI" panose="020B0502040204020203" pitchFamily="34" charset="-34"/>
              <a:cs typeface="Leelawadee UI" panose="020B0502040204020203" pitchFamily="34" charset="-34"/>
            </a:endParaRPr>
          </a:p>
        </p:txBody>
      </p:sp>
      <p:sp>
        <p:nvSpPr>
          <p:cNvPr id="99" name="Text 7">
            <a:extLst>
              <a:ext uri="{FF2B5EF4-FFF2-40B4-BE49-F238E27FC236}">
                <a16:creationId xmlns:a16="http://schemas.microsoft.com/office/drawing/2014/main" id="{537A6EE1-DEF6-45BB-0B27-FD770DACD2ED}"/>
              </a:ext>
            </a:extLst>
          </p:cNvPr>
          <p:cNvSpPr/>
          <p:nvPr/>
        </p:nvSpPr>
        <p:spPr>
          <a:xfrm>
            <a:off x="4522989" y="28204578"/>
            <a:ext cx="3589437" cy="276076"/>
          </a:xfrm>
          <a:prstGeom prst="rect">
            <a:avLst/>
          </a:prstGeom>
          <a:noFill/>
          <a:ln/>
        </p:spPr>
        <p:txBody>
          <a:bodyPr wrap="square" lIns="0" tIns="0" rIns="0" bIns="0" rtlCol="0" anchor="t">
            <a:noAutofit/>
          </a:bodyPr>
          <a:lstStyle/>
          <a:p>
            <a:pPr marL="0" indent="0" algn="l">
              <a:lnSpc>
                <a:spcPct val="119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Sistem monitoring, evaluasi, dan pembelajaran yang mencerminkan MEL System LGOS.</a:t>
            </a:r>
            <a:endParaRPr lang="en-US" sz="900" dirty="0">
              <a:latin typeface="Leelawadee UI" panose="020B0502040204020203" pitchFamily="34" charset="-34"/>
              <a:cs typeface="Leelawadee UI" panose="020B0502040204020203" pitchFamily="34" charset="-34"/>
            </a:endParaRPr>
          </a:p>
        </p:txBody>
      </p:sp>
      <p:pic>
        <p:nvPicPr>
          <p:cNvPr id="100" name="Image 1" descr="preencoded.png">
            <a:hlinkClick r:id="" action="ppaction://noaction"/>
            <a:extLst>
              <a:ext uri="{FF2B5EF4-FFF2-40B4-BE49-F238E27FC236}">
                <a16:creationId xmlns:a16="http://schemas.microsoft.com/office/drawing/2014/main" id="{9A9275A8-7455-DF1E-6054-A1C6A0BCC6BE}"/>
              </a:ext>
            </a:extLst>
          </p:cNvPr>
          <p:cNvPicPr>
            <a:picLocks noChangeAspect="1"/>
          </p:cNvPicPr>
          <p:nvPr/>
        </p:nvPicPr>
        <p:blipFill>
          <a:blip r:embed="rId18"/>
          <a:stretch>
            <a:fillRect/>
          </a:stretch>
        </p:blipFill>
        <p:spPr>
          <a:xfrm>
            <a:off x="4522989" y="28565784"/>
            <a:ext cx="948854" cy="266477"/>
          </a:xfrm>
          <a:prstGeom prst="rect">
            <a:avLst/>
          </a:prstGeom>
        </p:spPr>
      </p:pic>
      <p:sp>
        <p:nvSpPr>
          <p:cNvPr id="101" name="Shape 8">
            <a:extLst>
              <a:ext uri="{FF2B5EF4-FFF2-40B4-BE49-F238E27FC236}">
                <a16:creationId xmlns:a16="http://schemas.microsoft.com/office/drawing/2014/main" id="{C58DD8C9-18AF-649D-17B6-942899102F8F}"/>
              </a:ext>
            </a:extLst>
          </p:cNvPr>
          <p:cNvSpPr/>
          <p:nvPr/>
        </p:nvSpPr>
        <p:spPr>
          <a:xfrm>
            <a:off x="567212" y="29004826"/>
            <a:ext cx="3783211" cy="1018282"/>
          </a:xfrm>
          <a:prstGeom prst="roundRect">
            <a:avLst>
              <a:gd name="adj" fmla="val 1428"/>
            </a:avLst>
          </a:prstGeom>
          <a:solidFill>
            <a:srgbClr val="EDEBE3"/>
          </a:solidFill>
          <a:ln/>
        </p:spPr>
      </p:sp>
      <p:sp>
        <p:nvSpPr>
          <p:cNvPr id="102" name="Text 9">
            <a:extLst>
              <a:ext uri="{FF2B5EF4-FFF2-40B4-BE49-F238E27FC236}">
                <a16:creationId xmlns:a16="http://schemas.microsoft.com/office/drawing/2014/main" id="{2374066A-DF8C-4EDE-0522-7E6AFF797170}"/>
              </a:ext>
            </a:extLst>
          </p:cNvPr>
          <p:cNvSpPr/>
          <p:nvPr/>
        </p:nvSpPr>
        <p:spPr>
          <a:xfrm>
            <a:off x="664099" y="29101714"/>
            <a:ext cx="1524595" cy="15143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Pustaka &amp; Pengetahuan</a:t>
            </a:r>
            <a:endParaRPr lang="en-US" sz="1050" dirty="0">
              <a:latin typeface="Leelawadee UI" panose="020B0502040204020203" pitchFamily="34" charset="-34"/>
              <a:cs typeface="Leelawadee UI" panose="020B0502040204020203" pitchFamily="34" charset="-34"/>
            </a:endParaRPr>
          </a:p>
        </p:txBody>
      </p:sp>
      <p:sp>
        <p:nvSpPr>
          <p:cNvPr id="103" name="Text 10">
            <a:extLst>
              <a:ext uri="{FF2B5EF4-FFF2-40B4-BE49-F238E27FC236}">
                <a16:creationId xmlns:a16="http://schemas.microsoft.com/office/drawing/2014/main" id="{225D701B-D53F-3697-C10E-321EB5B9B5FD}"/>
              </a:ext>
            </a:extLst>
          </p:cNvPr>
          <p:cNvSpPr/>
          <p:nvPr/>
        </p:nvSpPr>
        <p:spPr>
          <a:xfrm>
            <a:off x="664099" y="29298539"/>
            <a:ext cx="3589437" cy="276076"/>
          </a:xfrm>
          <a:prstGeom prst="rect">
            <a:avLst/>
          </a:prstGeom>
          <a:noFill/>
          <a:ln/>
        </p:spPr>
        <p:txBody>
          <a:bodyPr wrap="square" lIns="0" tIns="0" rIns="0" bIns="0" rtlCol="0" anchor="t">
            <a:noAutofit/>
          </a:bodyPr>
          <a:lstStyle/>
          <a:p>
            <a:pPr marL="0" indent="0" algn="l">
              <a:lnSpc>
                <a:spcPct val="119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Repositori pengetahuan organisasi yang mencerminkan Knowledge Management System LGOS.</a:t>
            </a:r>
            <a:endParaRPr lang="en-US" sz="900" dirty="0">
              <a:latin typeface="Leelawadee UI" panose="020B0502040204020203" pitchFamily="34" charset="-34"/>
              <a:cs typeface="Leelawadee UI" panose="020B0502040204020203" pitchFamily="34" charset="-34"/>
            </a:endParaRPr>
          </a:p>
        </p:txBody>
      </p:sp>
      <p:pic>
        <p:nvPicPr>
          <p:cNvPr id="104" name="Image 2" descr="preencoded.png">
            <a:hlinkClick r:id="" action="ppaction://noaction"/>
            <a:extLst>
              <a:ext uri="{FF2B5EF4-FFF2-40B4-BE49-F238E27FC236}">
                <a16:creationId xmlns:a16="http://schemas.microsoft.com/office/drawing/2014/main" id="{F846085B-BCE0-3BFC-1BAB-E2B050D0DBAB}"/>
              </a:ext>
            </a:extLst>
          </p:cNvPr>
          <p:cNvPicPr>
            <a:picLocks noChangeAspect="1"/>
          </p:cNvPicPr>
          <p:nvPr/>
        </p:nvPicPr>
        <p:blipFill>
          <a:blip r:embed="rId19"/>
          <a:stretch>
            <a:fillRect/>
          </a:stretch>
        </p:blipFill>
        <p:spPr>
          <a:xfrm>
            <a:off x="664099" y="29659745"/>
            <a:ext cx="1123876" cy="266477"/>
          </a:xfrm>
          <a:prstGeom prst="rect">
            <a:avLst/>
          </a:prstGeom>
        </p:spPr>
      </p:pic>
      <p:sp>
        <p:nvSpPr>
          <p:cNvPr id="105" name="Shape 11">
            <a:extLst>
              <a:ext uri="{FF2B5EF4-FFF2-40B4-BE49-F238E27FC236}">
                <a16:creationId xmlns:a16="http://schemas.microsoft.com/office/drawing/2014/main" id="{F7F3496E-E630-9DD6-E773-D2F754D8B34E}"/>
              </a:ext>
            </a:extLst>
          </p:cNvPr>
          <p:cNvSpPr/>
          <p:nvPr/>
        </p:nvSpPr>
        <p:spPr>
          <a:xfrm>
            <a:off x="4426102" y="29004826"/>
            <a:ext cx="3783211" cy="1018282"/>
          </a:xfrm>
          <a:prstGeom prst="roundRect">
            <a:avLst>
              <a:gd name="adj" fmla="val 1428"/>
            </a:avLst>
          </a:prstGeom>
          <a:solidFill>
            <a:srgbClr val="EDEBE3"/>
          </a:solidFill>
          <a:ln/>
        </p:spPr>
      </p:sp>
      <p:sp>
        <p:nvSpPr>
          <p:cNvPr id="106" name="Text 12">
            <a:extLst>
              <a:ext uri="{FF2B5EF4-FFF2-40B4-BE49-F238E27FC236}">
                <a16:creationId xmlns:a16="http://schemas.microsoft.com/office/drawing/2014/main" id="{9EF26CBD-7818-A9FB-BE95-FE517856717C}"/>
              </a:ext>
            </a:extLst>
          </p:cNvPr>
          <p:cNvSpPr/>
          <p:nvPr/>
        </p:nvSpPr>
        <p:spPr>
          <a:xfrm>
            <a:off x="4522989" y="29101714"/>
            <a:ext cx="1211387" cy="15143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Ikut Serta</a:t>
            </a:r>
            <a:endParaRPr lang="en-US" sz="1050" dirty="0">
              <a:latin typeface="Leelawadee UI" panose="020B0502040204020203" pitchFamily="34" charset="-34"/>
              <a:cs typeface="Leelawadee UI" panose="020B0502040204020203" pitchFamily="34" charset="-34"/>
            </a:endParaRPr>
          </a:p>
        </p:txBody>
      </p:sp>
      <p:sp>
        <p:nvSpPr>
          <p:cNvPr id="107" name="Text 13">
            <a:extLst>
              <a:ext uri="{FF2B5EF4-FFF2-40B4-BE49-F238E27FC236}">
                <a16:creationId xmlns:a16="http://schemas.microsoft.com/office/drawing/2014/main" id="{03C60830-23D4-EC35-A379-FE042A7A46F4}"/>
              </a:ext>
            </a:extLst>
          </p:cNvPr>
          <p:cNvSpPr/>
          <p:nvPr/>
        </p:nvSpPr>
        <p:spPr>
          <a:xfrm>
            <a:off x="4522989" y="29298539"/>
            <a:ext cx="3589437" cy="276076"/>
          </a:xfrm>
          <a:prstGeom prst="rect">
            <a:avLst/>
          </a:prstGeom>
          <a:noFill/>
          <a:ln/>
        </p:spPr>
        <p:txBody>
          <a:bodyPr wrap="square" lIns="0" tIns="0" rIns="0" bIns="0" rtlCol="0" anchor="t">
            <a:noAutofit/>
          </a:bodyPr>
          <a:lstStyle/>
          <a:p>
            <a:pPr marL="0" indent="0" algn="l">
              <a:lnSpc>
                <a:spcPct val="119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Bergabunglah sebagai mitra dan dukung Resource Mobilization untuk lanskap yang sehat.</a:t>
            </a:r>
            <a:endParaRPr lang="en-US" sz="900" dirty="0">
              <a:latin typeface="Leelawadee UI" panose="020B0502040204020203" pitchFamily="34" charset="-34"/>
              <a:cs typeface="Leelawadee UI" panose="020B0502040204020203" pitchFamily="34" charset="-34"/>
            </a:endParaRPr>
          </a:p>
        </p:txBody>
      </p:sp>
      <p:pic>
        <p:nvPicPr>
          <p:cNvPr id="108" name="Image 3" descr="preencoded.png">
            <a:hlinkClick r:id="" action="ppaction://noaction"/>
            <a:extLst>
              <a:ext uri="{FF2B5EF4-FFF2-40B4-BE49-F238E27FC236}">
                <a16:creationId xmlns:a16="http://schemas.microsoft.com/office/drawing/2014/main" id="{1C7D6AED-2A71-CE3B-5C55-0601B7147995}"/>
              </a:ext>
            </a:extLst>
          </p:cNvPr>
          <p:cNvPicPr>
            <a:picLocks noChangeAspect="1"/>
          </p:cNvPicPr>
          <p:nvPr/>
        </p:nvPicPr>
        <p:blipFill>
          <a:blip r:embed="rId20"/>
          <a:stretch>
            <a:fillRect/>
          </a:stretch>
        </p:blipFill>
        <p:spPr>
          <a:xfrm>
            <a:off x="4522989" y="29659745"/>
            <a:ext cx="760958" cy="266477"/>
          </a:xfrm>
          <a:prstGeom prst="rect">
            <a:avLst/>
          </a:prstGeom>
        </p:spPr>
      </p:pic>
      <p:sp>
        <p:nvSpPr>
          <p:cNvPr id="109" name="Shape 14">
            <a:extLst>
              <a:ext uri="{FF2B5EF4-FFF2-40B4-BE49-F238E27FC236}">
                <a16:creationId xmlns:a16="http://schemas.microsoft.com/office/drawing/2014/main" id="{08020B4A-23BB-E12C-6F69-4474ECF01BC8}"/>
              </a:ext>
            </a:extLst>
          </p:cNvPr>
          <p:cNvSpPr/>
          <p:nvPr/>
        </p:nvSpPr>
        <p:spPr>
          <a:xfrm>
            <a:off x="567212" y="30132423"/>
            <a:ext cx="7642101" cy="12055"/>
          </a:xfrm>
          <a:prstGeom prst="roundRect">
            <a:avLst>
              <a:gd name="adj" fmla="val 120586"/>
            </a:avLst>
          </a:prstGeom>
          <a:solidFill>
            <a:srgbClr val="161613">
              <a:alpha val="50000"/>
            </a:srgbClr>
          </a:solidFill>
          <a:ln/>
        </p:spPr>
      </p:sp>
      <p:sp>
        <p:nvSpPr>
          <p:cNvPr id="110" name="Text 15">
            <a:extLst>
              <a:ext uri="{FF2B5EF4-FFF2-40B4-BE49-F238E27FC236}">
                <a16:creationId xmlns:a16="http://schemas.microsoft.com/office/drawing/2014/main" id="{E30B46A8-7C34-298A-E2C4-8EEAE760D076}"/>
              </a:ext>
            </a:extLst>
          </p:cNvPr>
          <p:cNvSpPr/>
          <p:nvPr/>
        </p:nvSpPr>
        <p:spPr>
          <a:xfrm>
            <a:off x="567212" y="30329471"/>
            <a:ext cx="2366442" cy="151433"/>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050" dirty="0">
              <a:latin typeface="Leelawadee UI" panose="020B0502040204020203" pitchFamily="34" charset="-34"/>
              <a:cs typeface="Leelawadee UI" panose="020B0502040204020203" pitchFamily="34" charset="-34"/>
            </a:endParaRPr>
          </a:p>
        </p:txBody>
      </p:sp>
      <p:sp>
        <p:nvSpPr>
          <p:cNvPr id="111" name="Text 16">
            <a:extLst>
              <a:ext uri="{FF2B5EF4-FFF2-40B4-BE49-F238E27FC236}">
                <a16:creationId xmlns:a16="http://schemas.microsoft.com/office/drawing/2014/main" id="{F086B658-EFF4-3959-F59B-A674E124787D}"/>
              </a:ext>
            </a:extLst>
          </p:cNvPr>
          <p:cNvSpPr/>
          <p:nvPr/>
        </p:nvSpPr>
        <p:spPr>
          <a:xfrm>
            <a:off x="567212" y="30556583"/>
            <a:ext cx="2127126" cy="826368"/>
          </a:xfrm>
          <a:prstGeom prst="rect">
            <a:avLst/>
          </a:prstGeom>
          <a:noFill/>
          <a:ln/>
        </p:spPr>
        <p:txBody>
          <a:bodyPr wrap="square" lIns="0" tIns="0" rIns="0" bIns="0" rtlCol="0" anchor="t"/>
          <a:lstStyle/>
          <a:p>
            <a:pPr marL="0" indent="0" algn="l">
              <a:lnSpc>
                <a:spcPct val="119000"/>
              </a:lnSpc>
              <a:spcAft>
                <a:spcPts val="500"/>
              </a:spcAft>
              <a:buNone/>
            </a:pPr>
            <a:r>
              <a:rPr lang="en-US" sz="900" i="1" dirty="0">
                <a:solidFill>
                  <a:srgbClr val="161613"/>
                </a:solidFill>
                <a:latin typeface="Leelawadee UI" panose="020B0502040204020203" pitchFamily="34" charset="-34"/>
                <a:ea typeface="Inter" pitchFamily="34" charset="-122"/>
                <a:cs typeface="Leelawadee UI" panose="020B0502040204020203" pitchFamily="34" charset="-34"/>
              </a:rPr>
              <a:t>Nature for Life</a:t>
            </a:r>
            <a:endParaRPr lang="en-US" sz="900" dirty="0">
              <a:latin typeface="Leelawadee UI" panose="020B0502040204020203" pitchFamily="34" charset="-34"/>
              <a:cs typeface="Leelawadee UI" panose="020B0502040204020203" pitchFamily="34" charset="-34"/>
            </a:endParaRPr>
          </a:p>
          <a:p>
            <a:pPr marL="0" indent="0" algn="l">
              <a:lnSpc>
                <a:spcPct val="119000"/>
              </a:lnSpc>
              <a:spcAft>
                <a:spcPts val="500"/>
              </a:spcAft>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Jalan Sejarah Gang </a:t>
            </a:r>
            <a:r>
              <a:rPr lang="en-US" sz="900" dirty="0" err="1">
                <a:solidFill>
                  <a:srgbClr val="161613"/>
                </a:solidFill>
                <a:latin typeface="Leelawadee UI" panose="020B0502040204020203" pitchFamily="34" charset="-34"/>
                <a:ea typeface="Inter" pitchFamily="34" charset="-122"/>
                <a:cs typeface="Leelawadee UI" panose="020B0502040204020203" pitchFamily="34" charset="-34"/>
              </a:rPr>
              <a:t>Gununung</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900" dirty="0" err="1">
                <a:solidFill>
                  <a:srgbClr val="161613"/>
                </a:solidFill>
                <a:latin typeface="Leelawadee UI" panose="020B0502040204020203" pitchFamily="34" charset="-34"/>
                <a:ea typeface="Inter" pitchFamily="34" charset="-122"/>
                <a:cs typeface="Leelawadee UI" panose="020B0502040204020203" pitchFamily="34" charset="-34"/>
              </a:rPr>
              <a:t>Malbar</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No. 3a, Pontianak, Kalimantan Barat 78116</a:t>
            </a:r>
            <a:endParaRPr lang="en-US" sz="900" dirty="0">
              <a:latin typeface="Leelawadee UI" panose="020B0502040204020203" pitchFamily="34" charset="-34"/>
              <a:cs typeface="Leelawadee UI" panose="020B0502040204020203" pitchFamily="34" charset="-34"/>
            </a:endParaRPr>
          </a:p>
          <a:p>
            <a:pPr marL="0" indent="0" algn="l">
              <a:lnSpc>
                <a:spcPct val="119000"/>
              </a:lnSpc>
              <a:buNone/>
            </a:pP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Landscape Governance Backbone Organization</a:t>
            </a:r>
            <a:endParaRPr lang="en-US" sz="900" dirty="0">
              <a:latin typeface="Leelawadee UI" panose="020B0502040204020203" pitchFamily="34" charset="-34"/>
              <a:cs typeface="Leelawadee UI" panose="020B0502040204020203" pitchFamily="34" charset="-34"/>
            </a:endParaRPr>
          </a:p>
        </p:txBody>
      </p:sp>
      <p:sp>
        <p:nvSpPr>
          <p:cNvPr id="112" name="Text 17">
            <a:extLst>
              <a:ext uri="{FF2B5EF4-FFF2-40B4-BE49-F238E27FC236}">
                <a16:creationId xmlns:a16="http://schemas.microsoft.com/office/drawing/2014/main" id="{631807D7-78E8-0710-38C0-B1CAD78C0BD2}"/>
              </a:ext>
            </a:extLst>
          </p:cNvPr>
          <p:cNvSpPr/>
          <p:nvPr/>
        </p:nvSpPr>
        <p:spPr>
          <a:xfrm>
            <a:off x="2935440" y="30329471"/>
            <a:ext cx="1668587" cy="151433"/>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050" dirty="0">
              <a:latin typeface="Leelawadee UI" panose="020B0502040204020203" pitchFamily="34" charset="-34"/>
              <a:cs typeface="Leelawadee UI" panose="020B0502040204020203" pitchFamily="34" charset="-34"/>
            </a:endParaRPr>
          </a:p>
        </p:txBody>
      </p:sp>
      <p:sp>
        <p:nvSpPr>
          <p:cNvPr id="113" name="Text 18">
            <a:extLst>
              <a:ext uri="{FF2B5EF4-FFF2-40B4-BE49-F238E27FC236}">
                <a16:creationId xmlns:a16="http://schemas.microsoft.com/office/drawing/2014/main" id="{D83CEC6A-05D6-B378-D4DB-781F041EC04C}"/>
              </a:ext>
            </a:extLst>
          </p:cNvPr>
          <p:cNvSpPr/>
          <p:nvPr/>
        </p:nvSpPr>
        <p:spPr>
          <a:xfrm>
            <a:off x="2935440" y="30556583"/>
            <a:ext cx="1339304" cy="756419"/>
          </a:xfrm>
          <a:prstGeom prst="rect">
            <a:avLst/>
          </a:prstGeom>
          <a:noFill/>
          <a:ln/>
        </p:spPr>
        <p:txBody>
          <a:bodyPr wrap="square" lIns="0" tIns="0" rIns="0" bIns="0" rtlCol="0" anchor="t"/>
          <a:lstStyle/>
          <a:p>
            <a:pPr marL="0" indent="0" algn="l">
              <a:lnSpc>
                <a:spcPct val="119000"/>
              </a:lnSpc>
              <a:spcAft>
                <a:spcPts val="500"/>
              </a:spcAft>
              <a:buNone/>
            </a:pP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Tentang Kami</a:t>
            </a:r>
            <a:endParaRPr lang="en-US" sz="900" dirty="0">
              <a:latin typeface="Leelawadee UI" panose="020B0502040204020203" pitchFamily="34" charset="-34"/>
              <a:cs typeface="Leelawadee UI" panose="020B0502040204020203" pitchFamily="34" charset="-34"/>
            </a:endParaRPr>
          </a:p>
          <a:p>
            <a:pPr marL="0" indent="0" algn="l">
              <a:lnSpc>
                <a:spcPct val="119000"/>
              </a:lnSpc>
              <a:spcAft>
                <a:spcPts val="500"/>
              </a:spcAft>
              <a:buNone/>
            </a:pP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Program Kami</a:t>
            </a:r>
            <a:endParaRPr lang="en-US" sz="900" dirty="0">
              <a:latin typeface="Leelawadee UI" panose="020B0502040204020203" pitchFamily="34" charset="-34"/>
              <a:cs typeface="Leelawadee UI" panose="020B0502040204020203" pitchFamily="34" charset="-34"/>
            </a:endParaRPr>
          </a:p>
          <a:p>
            <a:pPr marL="0" indent="0" algn="l">
              <a:lnSpc>
                <a:spcPct val="119000"/>
              </a:lnSpc>
              <a:spcAft>
                <a:spcPts val="500"/>
              </a:spcAft>
              <a:buNone/>
            </a:pP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Ikut Serta</a:t>
            </a:r>
            <a:endParaRPr lang="en-US" sz="900" dirty="0">
              <a:latin typeface="Leelawadee UI" panose="020B0502040204020203" pitchFamily="34" charset="-34"/>
              <a:cs typeface="Leelawadee UI" panose="020B0502040204020203" pitchFamily="34" charset="-34"/>
            </a:endParaRPr>
          </a:p>
          <a:p>
            <a:pPr marL="0" indent="0" algn="l">
              <a:lnSpc>
                <a:spcPct val="119000"/>
              </a:lnSpc>
              <a:buNone/>
            </a:pP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Pustaka &amp; Pengetahuan</a:t>
            </a:r>
            <a:endParaRPr lang="en-US" sz="900" dirty="0">
              <a:latin typeface="Leelawadee UI" panose="020B0502040204020203" pitchFamily="34" charset="-34"/>
              <a:cs typeface="Leelawadee UI" panose="020B0502040204020203" pitchFamily="34" charset="-34"/>
            </a:endParaRPr>
          </a:p>
        </p:txBody>
      </p:sp>
      <p:sp>
        <p:nvSpPr>
          <p:cNvPr id="114" name="Text 19">
            <a:extLst>
              <a:ext uri="{FF2B5EF4-FFF2-40B4-BE49-F238E27FC236}">
                <a16:creationId xmlns:a16="http://schemas.microsoft.com/office/drawing/2014/main" id="{9B24F895-4DE4-489D-0B56-25BC1C3900B4}"/>
              </a:ext>
            </a:extLst>
          </p:cNvPr>
          <p:cNvSpPr/>
          <p:nvPr/>
        </p:nvSpPr>
        <p:spPr>
          <a:xfrm>
            <a:off x="4515846" y="30329471"/>
            <a:ext cx="1668587" cy="151433"/>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Kontak</a:t>
            </a:r>
            <a:endParaRPr lang="en-US" sz="1050" dirty="0">
              <a:latin typeface="Leelawadee UI" panose="020B0502040204020203" pitchFamily="34" charset="-34"/>
              <a:cs typeface="Leelawadee UI" panose="020B0502040204020203" pitchFamily="34" charset="-34"/>
            </a:endParaRPr>
          </a:p>
        </p:txBody>
      </p:sp>
      <p:sp>
        <p:nvSpPr>
          <p:cNvPr id="115" name="Text 20">
            <a:extLst>
              <a:ext uri="{FF2B5EF4-FFF2-40B4-BE49-F238E27FC236}">
                <a16:creationId xmlns:a16="http://schemas.microsoft.com/office/drawing/2014/main" id="{B4A856B0-F65C-8046-B43E-332A697D1AA0}"/>
              </a:ext>
            </a:extLst>
          </p:cNvPr>
          <p:cNvSpPr/>
          <p:nvPr/>
        </p:nvSpPr>
        <p:spPr>
          <a:xfrm>
            <a:off x="4515846" y="30556583"/>
            <a:ext cx="1733252" cy="550292"/>
          </a:xfrm>
          <a:prstGeom prst="rect">
            <a:avLst/>
          </a:prstGeom>
          <a:noFill/>
          <a:ln/>
        </p:spPr>
        <p:txBody>
          <a:bodyPr wrap="square" lIns="0" tIns="0" rIns="0" bIns="0" rtlCol="0" anchor="t"/>
          <a:lstStyle/>
          <a:p>
            <a:pPr marL="0" indent="0" algn="l">
              <a:lnSpc>
                <a:spcPct val="119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info@naturalkapital.or.id</a:t>
            </a:r>
            <a:endParaRPr lang="en-US" sz="900" dirty="0">
              <a:latin typeface="Leelawadee UI" panose="020B0502040204020203" pitchFamily="34" charset="-34"/>
              <a:cs typeface="Leelawadee UI" panose="020B0502040204020203" pitchFamily="34" charset="-34"/>
            </a:endParaRPr>
          </a:p>
          <a:p>
            <a:pPr marL="0" indent="0" algn="l">
              <a:lnSpc>
                <a:spcPct val="119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(Telepon – segera hadir)</a:t>
            </a:r>
            <a:endParaRPr lang="en-US" sz="900" dirty="0">
              <a:latin typeface="Leelawadee UI" panose="020B0502040204020203" pitchFamily="34" charset="-34"/>
              <a:cs typeface="Leelawadee UI" panose="020B0502040204020203" pitchFamily="34" charset="-34"/>
            </a:endParaRPr>
          </a:p>
          <a:p>
            <a:pPr marL="0" indent="0" algn="l">
              <a:lnSpc>
                <a:spcPct val="119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Pontianak, Kalimantan Barat</a:t>
            </a:r>
            <a:endParaRPr lang="en-US" sz="900" dirty="0">
              <a:latin typeface="Leelawadee UI" panose="020B0502040204020203" pitchFamily="34" charset="-34"/>
              <a:cs typeface="Leelawadee UI" panose="020B0502040204020203" pitchFamily="34" charset="-34"/>
            </a:endParaRPr>
          </a:p>
        </p:txBody>
      </p:sp>
      <p:sp>
        <p:nvSpPr>
          <p:cNvPr id="116" name="Text 21">
            <a:extLst>
              <a:ext uri="{FF2B5EF4-FFF2-40B4-BE49-F238E27FC236}">
                <a16:creationId xmlns:a16="http://schemas.microsoft.com/office/drawing/2014/main" id="{58CD928A-D856-4CA7-8CD6-DFE508DA7EC2}"/>
              </a:ext>
            </a:extLst>
          </p:cNvPr>
          <p:cNvSpPr/>
          <p:nvPr/>
        </p:nvSpPr>
        <p:spPr>
          <a:xfrm>
            <a:off x="6490200" y="30329471"/>
            <a:ext cx="1668587" cy="151433"/>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Ikuti Kami</a:t>
            </a:r>
            <a:endParaRPr lang="en-US" sz="1050" dirty="0">
              <a:latin typeface="Leelawadee UI" panose="020B0502040204020203" pitchFamily="34" charset="-34"/>
              <a:cs typeface="Leelawadee UI" panose="020B0502040204020203" pitchFamily="34" charset="-34"/>
            </a:endParaRPr>
          </a:p>
        </p:txBody>
      </p:sp>
      <p:sp>
        <p:nvSpPr>
          <p:cNvPr id="117" name="Text 22">
            <a:extLst>
              <a:ext uri="{FF2B5EF4-FFF2-40B4-BE49-F238E27FC236}">
                <a16:creationId xmlns:a16="http://schemas.microsoft.com/office/drawing/2014/main" id="{D528CEA1-4DED-A22A-42C9-352687E30E66}"/>
              </a:ext>
            </a:extLst>
          </p:cNvPr>
          <p:cNvSpPr/>
          <p:nvPr/>
        </p:nvSpPr>
        <p:spPr>
          <a:xfrm>
            <a:off x="6490200" y="30556583"/>
            <a:ext cx="1733252" cy="688330"/>
          </a:xfrm>
          <a:prstGeom prst="rect">
            <a:avLst/>
          </a:prstGeom>
          <a:noFill/>
          <a:ln/>
        </p:spPr>
        <p:txBody>
          <a:bodyPr wrap="square" lIns="0" tIns="0" rIns="0" bIns="0" rtlCol="0" anchor="t"/>
          <a:lstStyle/>
          <a:p>
            <a:pPr marL="0" indent="0" algn="l">
              <a:lnSpc>
                <a:spcPct val="119000"/>
              </a:lnSpc>
              <a:buNone/>
            </a:pP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LinkedIn</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 </a:t>
            </a: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YouTube</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 </a:t>
            </a: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Instagram</a:t>
            </a:r>
            <a:endParaRPr lang="en-US" sz="900" dirty="0">
              <a:latin typeface="Leelawadee UI" panose="020B0502040204020203" pitchFamily="34" charset="-34"/>
              <a:cs typeface="Leelawadee UI" panose="020B0502040204020203" pitchFamily="34" charset="-34"/>
            </a:endParaRPr>
          </a:p>
          <a:p>
            <a:pPr marL="0" indent="0" algn="l">
              <a:lnSpc>
                <a:spcPct val="119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a:t>
            </a:r>
            <a:endParaRPr lang="en-US" sz="900" dirty="0">
              <a:latin typeface="Leelawadee UI" panose="020B0502040204020203" pitchFamily="34" charset="-34"/>
              <a:cs typeface="Leelawadee UI" panose="020B0502040204020203" pitchFamily="34" charset="-34"/>
            </a:endParaRPr>
          </a:p>
          <a:p>
            <a:pPr marL="0" indent="0" algn="l">
              <a:lnSpc>
                <a:spcPct val="119000"/>
              </a:lnSpc>
              <a:buNone/>
            </a:pP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Kebijakan Privasi</a:t>
            </a:r>
            <a:endParaRPr lang="en-US" sz="90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14356217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TotalTime>
  <Words>909</Words>
  <Application>Microsoft Office PowerPoint</Application>
  <PresentationFormat>Custom</PresentationFormat>
  <Paragraphs>83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2</cp:revision>
  <dcterms:created xsi:type="dcterms:W3CDTF">2026-06-19T14:55:35Z</dcterms:created>
  <dcterms:modified xsi:type="dcterms:W3CDTF">2026-06-19T15:06:31Z</dcterms:modified>
</cp:coreProperties>
</file>