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
  </p:notesMasterIdLst>
  <p:sldIdLst>
    <p:sldId id="256" r:id="rId2"/>
  </p:sldIdLst>
  <p:sldSz cx="9001125" cy="288004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80" d="100"/>
          <a:sy n="80" d="100"/>
        </p:scale>
        <p:origin x="16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239052-3A7D-4656-82A5-776799E1D5DA}" type="datetimeFigureOut">
              <a:rPr lang="en-ID" smtClean="0"/>
              <a:t>19/06/2026</a:t>
            </a:fld>
            <a:endParaRPr lang="en-ID"/>
          </a:p>
        </p:txBody>
      </p:sp>
      <p:sp>
        <p:nvSpPr>
          <p:cNvPr id="4" name="Slide Image Placeholder 3"/>
          <p:cNvSpPr>
            <a:spLocks noGrp="1" noRot="1" noChangeAspect="1"/>
          </p:cNvSpPr>
          <p:nvPr>
            <p:ph type="sldImg" idx="2"/>
          </p:nvPr>
        </p:nvSpPr>
        <p:spPr>
          <a:xfrm>
            <a:off x="2947988" y="1143000"/>
            <a:ext cx="962025"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7EDF8B-16C4-4923-A67B-131ABD7800B4}" type="slidenum">
              <a:rPr lang="en-ID" smtClean="0"/>
              <a:t>‹#›</a:t>
            </a:fld>
            <a:endParaRPr lang="en-ID"/>
          </a:p>
        </p:txBody>
      </p:sp>
    </p:spTree>
    <p:extLst>
      <p:ext uri="{BB962C8B-B14F-4D97-AF65-F5344CB8AC3E}">
        <p14:creationId xmlns:p14="http://schemas.microsoft.com/office/powerpoint/2010/main" val="3606929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5085" y="4713405"/>
            <a:ext cx="7650956" cy="10026815"/>
          </a:xfrm>
        </p:spPr>
        <p:txBody>
          <a:bodyPr anchor="b"/>
          <a:lstStyle>
            <a:lvl1pPr algn="ctr">
              <a:defRPr sz="5906"/>
            </a:lvl1pPr>
          </a:lstStyle>
          <a:p>
            <a:r>
              <a:rPr lang="en-US"/>
              <a:t>Click to edit Master title style</a:t>
            </a:r>
            <a:endParaRPr lang="en-US" dirty="0"/>
          </a:p>
        </p:txBody>
      </p:sp>
      <p:sp>
        <p:nvSpPr>
          <p:cNvPr id="3" name="Subtitle 2"/>
          <p:cNvSpPr>
            <a:spLocks noGrp="1"/>
          </p:cNvSpPr>
          <p:nvPr>
            <p:ph type="subTitle" idx="1"/>
          </p:nvPr>
        </p:nvSpPr>
        <p:spPr>
          <a:xfrm>
            <a:off x="1125141" y="15126892"/>
            <a:ext cx="6750844" cy="6953434"/>
          </a:xfrm>
        </p:spPr>
        <p:txBody>
          <a:bodyPr/>
          <a:lstStyle>
            <a:lvl1pPr marL="0" indent="0" algn="ctr">
              <a:buNone/>
              <a:defRPr sz="2363"/>
            </a:lvl1pPr>
            <a:lvl2pPr marL="450068" indent="0" algn="ctr">
              <a:buNone/>
              <a:defRPr sz="1969"/>
            </a:lvl2pPr>
            <a:lvl3pPr marL="900135" indent="0" algn="ctr">
              <a:buNone/>
              <a:defRPr sz="1772"/>
            </a:lvl3pPr>
            <a:lvl4pPr marL="1350203" indent="0" algn="ctr">
              <a:buNone/>
              <a:defRPr sz="1575"/>
            </a:lvl4pPr>
            <a:lvl5pPr marL="1800271" indent="0" algn="ctr">
              <a:buNone/>
              <a:defRPr sz="1575"/>
            </a:lvl5pPr>
            <a:lvl6pPr marL="2250338" indent="0" algn="ctr">
              <a:buNone/>
              <a:defRPr sz="1575"/>
            </a:lvl6pPr>
            <a:lvl7pPr marL="2700406" indent="0" algn="ctr">
              <a:buNone/>
              <a:defRPr sz="1575"/>
            </a:lvl7pPr>
            <a:lvl8pPr marL="3150474" indent="0" algn="ctr">
              <a:buNone/>
              <a:defRPr sz="1575"/>
            </a:lvl8pPr>
            <a:lvl9pPr marL="3600541"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141643-6667-4B84-AC81-B7F5F3686564}"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39595A87-F1B3-41E5-B7E5-AD5448C35CCE}" type="slidenum">
              <a:rPr lang="en-ID" smtClean="0"/>
              <a:t>‹#›</a:t>
            </a:fld>
            <a:endParaRPr lang="en-ID"/>
          </a:p>
        </p:txBody>
      </p:sp>
    </p:spTree>
    <p:extLst>
      <p:ext uri="{BB962C8B-B14F-4D97-AF65-F5344CB8AC3E}">
        <p14:creationId xmlns:p14="http://schemas.microsoft.com/office/powerpoint/2010/main" val="296675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141643-6667-4B84-AC81-B7F5F3686564}"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39595A87-F1B3-41E5-B7E5-AD5448C35CCE}" type="slidenum">
              <a:rPr lang="en-ID" smtClean="0"/>
              <a:t>‹#›</a:t>
            </a:fld>
            <a:endParaRPr lang="en-ID"/>
          </a:p>
        </p:txBody>
      </p:sp>
    </p:spTree>
    <p:extLst>
      <p:ext uri="{BB962C8B-B14F-4D97-AF65-F5344CB8AC3E}">
        <p14:creationId xmlns:p14="http://schemas.microsoft.com/office/powerpoint/2010/main" val="234113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140" y="7180114"/>
            <a:ext cx="7763470" cy="11980175"/>
          </a:xfrm>
        </p:spPr>
        <p:txBody>
          <a:bodyPr anchor="b"/>
          <a:lstStyle>
            <a:lvl1pPr>
              <a:defRPr sz="5906"/>
            </a:lvl1pPr>
          </a:lstStyle>
          <a:p>
            <a:r>
              <a:rPr lang="en-US"/>
              <a:t>Click to edit Master title style</a:t>
            </a:r>
            <a:endParaRPr lang="en-US" dirty="0"/>
          </a:p>
        </p:txBody>
      </p:sp>
      <p:sp>
        <p:nvSpPr>
          <p:cNvPr id="3" name="Text Placeholder 2"/>
          <p:cNvSpPr>
            <a:spLocks noGrp="1"/>
          </p:cNvSpPr>
          <p:nvPr>
            <p:ph type="body" idx="1"/>
          </p:nvPr>
        </p:nvSpPr>
        <p:spPr>
          <a:xfrm>
            <a:off x="614140" y="19273626"/>
            <a:ext cx="7763470" cy="6300091"/>
          </a:xfrm>
        </p:spPr>
        <p:txBody>
          <a:bodyPr/>
          <a:lstStyle>
            <a:lvl1pPr marL="0" indent="0">
              <a:buNone/>
              <a:defRPr sz="2363">
                <a:solidFill>
                  <a:schemeClr val="tx1"/>
                </a:solidFill>
              </a:defRPr>
            </a:lvl1pPr>
            <a:lvl2pPr marL="450068" indent="0">
              <a:buNone/>
              <a:defRPr sz="1969">
                <a:solidFill>
                  <a:schemeClr val="tx1">
                    <a:tint val="75000"/>
                  </a:schemeClr>
                </a:solidFill>
              </a:defRPr>
            </a:lvl2pPr>
            <a:lvl3pPr marL="900135" indent="0">
              <a:buNone/>
              <a:defRPr sz="1772">
                <a:solidFill>
                  <a:schemeClr val="tx1">
                    <a:tint val="75000"/>
                  </a:schemeClr>
                </a:solidFill>
              </a:defRPr>
            </a:lvl3pPr>
            <a:lvl4pPr marL="1350203" indent="0">
              <a:buNone/>
              <a:defRPr sz="1575">
                <a:solidFill>
                  <a:schemeClr val="tx1">
                    <a:tint val="75000"/>
                  </a:schemeClr>
                </a:solidFill>
              </a:defRPr>
            </a:lvl4pPr>
            <a:lvl5pPr marL="1800271" indent="0">
              <a:buNone/>
              <a:defRPr sz="1575">
                <a:solidFill>
                  <a:schemeClr val="tx1">
                    <a:tint val="75000"/>
                  </a:schemeClr>
                </a:solidFill>
              </a:defRPr>
            </a:lvl5pPr>
            <a:lvl6pPr marL="2250338" indent="0">
              <a:buNone/>
              <a:defRPr sz="1575">
                <a:solidFill>
                  <a:schemeClr val="tx1">
                    <a:tint val="75000"/>
                  </a:schemeClr>
                </a:solidFill>
              </a:defRPr>
            </a:lvl6pPr>
            <a:lvl7pPr marL="2700406" indent="0">
              <a:buNone/>
              <a:defRPr sz="1575">
                <a:solidFill>
                  <a:schemeClr val="tx1">
                    <a:tint val="75000"/>
                  </a:schemeClr>
                </a:solidFill>
              </a:defRPr>
            </a:lvl7pPr>
            <a:lvl8pPr marL="3150474" indent="0">
              <a:buNone/>
              <a:defRPr sz="1575">
                <a:solidFill>
                  <a:schemeClr val="tx1">
                    <a:tint val="75000"/>
                  </a:schemeClr>
                </a:solidFill>
              </a:defRPr>
            </a:lvl8pPr>
            <a:lvl9pPr marL="3600541"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141643-6667-4B84-AC81-B7F5F3686564}"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39595A87-F1B3-41E5-B7E5-AD5448C35CCE}" type="slidenum">
              <a:rPr lang="en-ID" smtClean="0"/>
              <a:t>‹#›</a:t>
            </a:fld>
            <a:endParaRPr lang="en-ID"/>
          </a:p>
        </p:txBody>
      </p:sp>
    </p:spTree>
    <p:extLst>
      <p:ext uri="{BB962C8B-B14F-4D97-AF65-F5344CB8AC3E}">
        <p14:creationId xmlns:p14="http://schemas.microsoft.com/office/powerpoint/2010/main" val="245311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827" y="7666780"/>
            <a:ext cx="3825478" cy="182736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820" y="7666780"/>
            <a:ext cx="3825478" cy="182736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141643-6667-4B84-AC81-B7F5F3686564}" type="datetimeFigureOut">
              <a:rPr lang="en-ID" smtClean="0"/>
              <a:t>19/06/2026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39595A87-F1B3-41E5-B7E5-AD5448C35CCE}" type="slidenum">
              <a:rPr lang="en-ID" smtClean="0"/>
              <a:t>‹#›</a:t>
            </a:fld>
            <a:endParaRPr lang="en-ID"/>
          </a:p>
        </p:txBody>
      </p:sp>
    </p:spTree>
    <p:extLst>
      <p:ext uri="{BB962C8B-B14F-4D97-AF65-F5344CB8AC3E}">
        <p14:creationId xmlns:p14="http://schemas.microsoft.com/office/powerpoint/2010/main" val="503245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0000" y="1533362"/>
            <a:ext cx="7763470" cy="5566751"/>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0001" y="7060106"/>
            <a:ext cx="3807897" cy="3460049"/>
          </a:xfrm>
        </p:spPr>
        <p:txBody>
          <a:bodyPr anchor="b"/>
          <a:lstStyle>
            <a:lvl1pPr marL="0" indent="0">
              <a:buNone/>
              <a:defRPr sz="2363" b="1"/>
            </a:lvl1pPr>
            <a:lvl2pPr marL="450068" indent="0">
              <a:buNone/>
              <a:defRPr sz="1969" b="1"/>
            </a:lvl2pPr>
            <a:lvl3pPr marL="900135" indent="0">
              <a:buNone/>
              <a:defRPr sz="1772" b="1"/>
            </a:lvl3pPr>
            <a:lvl4pPr marL="1350203" indent="0">
              <a:buNone/>
              <a:defRPr sz="1575" b="1"/>
            </a:lvl4pPr>
            <a:lvl5pPr marL="1800271" indent="0">
              <a:buNone/>
              <a:defRPr sz="1575" b="1"/>
            </a:lvl5pPr>
            <a:lvl6pPr marL="2250338" indent="0">
              <a:buNone/>
              <a:defRPr sz="1575" b="1"/>
            </a:lvl6pPr>
            <a:lvl7pPr marL="2700406" indent="0">
              <a:buNone/>
              <a:defRPr sz="1575" b="1"/>
            </a:lvl7pPr>
            <a:lvl8pPr marL="3150474" indent="0">
              <a:buNone/>
              <a:defRPr sz="1575" b="1"/>
            </a:lvl8pPr>
            <a:lvl9pPr marL="3600541" indent="0">
              <a:buNone/>
              <a:defRPr sz="1575" b="1"/>
            </a:lvl9pPr>
          </a:lstStyle>
          <a:p>
            <a:pPr lvl="0"/>
            <a:r>
              <a:rPr lang="en-US"/>
              <a:t>Click to edit Master text styles</a:t>
            </a:r>
          </a:p>
        </p:txBody>
      </p:sp>
      <p:sp>
        <p:nvSpPr>
          <p:cNvPr id="4" name="Content Placeholder 3"/>
          <p:cNvSpPr>
            <a:spLocks noGrp="1"/>
          </p:cNvSpPr>
          <p:nvPr>
            <p:ph sz="half" idx="2"/>
          </p:nvPr>
        </p:nvSpPr>
        <p:spPr>
          <a:xfrm>
            <a:off x="620001" y="10520155"/>
            <a:ext cx="3807897" cy="154735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820" y="7060106"/>
            <a:ext cx="3826651" cy="3460049"/>
          </a:xfrm>
        </p:spPr>
        <p:txBody>
          <a:bodyPr anchor="b"/>
          <a:lstStyle>
            <a:lvl1pPr marL="0" indent="0">
              <a:buNone/>
              <a:defRPr sz="2363" b="1"/>
            </a:lvl1pPr>
            <a:lvl2pPr marL="450068" indent="0">
              <a:buNone/>
              <a:defRPr sz="1969" b="1"/>
            </a:lvl2pPr>
            <a:lvl3pPr marL="900135" indent="0">
              <a:buNone/>
              <a:defRPr sz="1772" b="1"/>
            </a:lvl3pPr>
            <a:lvl4pPr marL="1350203" indent="0">
              <a:buNone/>
              <a:defRPr sz="1575" b="1"/>
            </a:lvl4pPr>
            <a:lvl5pPr marL="1800271" indent="0">
              <a:buNone/>
              <a:defRPr sz="1575" b="1"/>
            </a:lvl5pPr>
            <a:lvl6pPr marL="2250338" indent="0">
              <a:buNone/>
              <a:defRPr sz="1575" b="1"/>
            </a:lvl6pPr>
            <a:lvl7pPr marL="2700406" indent="0">
              <a:buNone/>
              <a:defRPr sz="1575" b="1"/>
            </a:lvl7pPr>
            <a:lvl8pPr marL="3150474" indent="0">
              <a:buNone/>
              <a:defRPr sz="1575" b="1"/>
            </a:lvl8pPr>
            <a:lvl9pPr marL="3600541"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820" y="10520155"/>
            <a:ext cx="3826651" cy="154735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141643-6667-4B84-AC81-B7F5F3686564}" type="datetimeFigureOut">
              <a:rPr lang="en-ID" smtClean="0"/>
              <a:t>19/06/2026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39595A87-F1B3-41E5-B7E5-AD5448C35CCE}" type="slidenum">
              <a:rPr lang="en-ID" smtClean="0"/>
              <a:t>‹#›</a:t>
            </a:fld>
            <a:endParaRPr lang="en-ID"/>
          </a:p>
        </p:txBody>
      </p:sp>
    </p:spTree>
    <p:extLst>
      <p:ext uri="{BB962C8B-B14F-4D97-AF65-F5344CB8AC3E}">
        <p14:creationId xmlns:p14="http://schemas.microsoft.com/office/powerpoint/2010/main" val="20461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141643-6667-4B84-AC81-B7F5F3686564}" type="datetimeFigureOut">
              <a:rPr lang="en-ID" smtClean="0"/>
              <a:t>19/06/2026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39595A87-F1B3-41E5-B7E5-AD5448C35CCE}" type="slidenum">
              <a:rPr lang="en-ID" smtClean="0"/>
              <a:t>‹#›</a:t>
            </a:fld>
            <a:endParaRPr lang="en-ID"/>
          </a:p>
        </p:txBody>
      </p:sp>
    </p:spTree>
    <p:extLst>
      <p:ext uri="{BB962C8B-B14F-4D97-AF65-F5344CB8AC3E}">
        <p14:creationId xmlns:p14="http://schemas.microsoft.com/office/powerpoint/2010/main" val="3670449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141643-6667-4B84-AC81-B7F5F3686564}" type="datetimeFigureOut">
              <a:rPr lang="en-ID" smtClean="0"/>
              <a:t>19/06/2026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39595A87-F1B3-41E5-B7E5-AD5448C35CCE}" type="slidenum">
              <a:rPr lang="en-ID" smtClean="0"/>
              <a:t>‹#›</a:t>
            </a:fld>
            <a:endParaRPr lang="en-ID"/>
          </a:p>
        </p:txBody>
      </p:sp>
    </p:spTree>
    <p:extLst>
      <p:ext uri="{BB962C8B-B14F-4D97-AF65-F5344CB8AC3E}">
        <p14:creationId xmlns:p14="http://schemas.microsoft.com/office/powerpoint/2010/main" val="487982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0000" y="1920028"/>
            <a:ext cx="2903097" cy="6720099"/>
          </a:xfrm>
        </p:spPr>
        <p:txBody>
          <a:bodyPr anchor="b"/>
          <a:lstStyle>
            <a:lvl1pPr>
              <a:defRPr sz="3150"/>
            </a:lvl1pPr>
          </a:lstStyle>
          <a:p>
            <a:r>
              <a:rPr lang="en-US"/>
              <a:t>Click to edit Master title style</a:t>
            </a:r>
            <a:endParaRPr lang="en-US" dirty="0"/>
          </a:p>
        </p:txBody>
      </p:sp>
      <p:sp>
        <p:nvSpPr>
          <p:cNvPr id="3" name="Content Placeholder 2"/>
          <p:cNvSpPr>
            <a:spLocks noGrp="1"/>
          </p:cNvSpPr>
          <p:nvPr>
            <p:ph idx="1"/>
          </p:nvPr>
        </p:nvSpPr>
        <p:spPr>
          <a:xfrm>
            <a:off x="3826650" y="4146734"/>
            <a:ext cx="4556820" cy="20466969"/>
          </a:xfrm>
        </p:spPr>
        <p:txBody>
          <a:bodyPr/>
          <a:lstStyle>
            <a:lvl1pPr>
              <a:defRPr sz="3150"/>
            </a:lvl1pPr>
            <a:lvl2pPr>
              <a:defRPr sz="2756"/>
            </a:lvl2pPr>
            <a:lvl3pPr>
              <a:defRPr sz="2363"/>
            </a:lvl3pPr>
            <a:lvl4pPr>
              <a:defRPr sz="1969"/>
            </a:lvl4pPr>
            <a:lvl5pPr>
              <a:defRPr sz="1969"/>
            </a:lvl5pPr>
            <a:lvl6pPr>
              <a:defRPr sz="1969"/>
            </a:lvl6pPr>
            <a:lvl7pPr>
              <a:defRPr sz="1969"/>
            </a:lvl7pPr>
            <a:lvl8pPr>
              <a:defRPr sz="1969"/>
            </a:lvl8pPr>
            <a:lvl9pPr>
              <a:defRPr sz="196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0000" y="8640127"/>
            <a:ext cx="2903097" cy="16006905"/>
          </a:xfrm>
        </p:spPr>
        <p:txBody>
          <a:bodyPr/>
          <a:lstStyle>
            <a:lvl1pPr marL="0" indent="0">
              <a:buNone/>
              <a:defRPr sz="1575"/>
            </a:lvl1pPr>
            <a:lvl2pPr marL="450068" indent="0">
              <a:buNone/>
              <a:defRPr sz="1378"/>
            </a:lvl2pPr>
            <a:lvl3pPr marL="900135" indent="0">
              <a:buNone/>
              <a:defRPr sz="1181"/>
            </a:lvl3pPr>
            <a:lvl4pPr marL="1350203" indent="0">
              <a:buNone/>
              <a:defRPr sz="984"/>
            </a:lvl4pPr>
            <a:lvl5pPr marL="1800271" indent="0">
              <a:buNone/>
              <a:defRPr sz="984"/>
            </a:lvl5pPr>
            <a:lvl6pPr marL="2250338" indent="0">
              <a:buNone/>
              <a:defRPr sz="984"/>
            </a:lvl6pPr>
            <a:lvl7pPr marL="2700406" indent="0">
              <a:buNone/>
              <a:defRPr sz="984"/>
            </a:lvl7pPr>
            <a:lvl8pPr marL="3150474" indent="0">
              <a:buNone/>
              <a:defRPr sz="984"/>
            </a:lvl8pPr>
            <a:lvl9pPr marL="3600541"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F3141643-6667-4B84-AC81-B7F5F3686564}" type="datetimeFigureOut">
              <a:rPr lang="en-ID" smtClean="0"/>
              <a:t>19/06/2026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39595A87-F1B3-41E5-B7E5-AD5448C35CCE}" type="slidenum">
              <a:rPr lang="en-ID" smtClean="0"/>
              <a:t>‹#›</a:t>
            </a:fld>
            <a:endParaRPr lang="en-ID"/>
          </a:p>
        </p:txBody>
      </p:sp>
    </p:spTree>
    <p:extLst>
      <p:ext uri="{BB962C8B-B14F-4D97-AF65-F5344CB8AC3E}">
        <p14:creationId xmlns:p14="http://schemas.microsoft.com/office/powerpoint/2010/main" val="1968833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0000" y="1920028"/>
            <a:ext cx="2903097" cy="6720099"/>
          </a:xfrm>
        </p:spPr>
        <p:txBody>
          <a:bodyPr anchor="b"/>
          <a:lstStyle>
            <a:lvl1pPr>
              <a:defRPr sz="315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6650" y="4146734"/>
            <a:ext cx="4556820" cy="20466969"/>
          </a:xfrm>
        </p:spPr>
        <p:txBody>
          <a:bodyPr anchor="t"/>
          <a:lstStyle>
            <a:lvl1pPr marL="0" indent="0">
              <a:buNone/>
              <a:defRPr sz="3150"/>
            </a:lvl1pPr>
            <a:lvl2pPr marL="450068" indent="0">
              <a:buNone/>
              <a:defRPr sz="2756"/>
            </a:lvl2pPr>
            <a:lvl3pPr marL="900135" indent="0">
              <a:buNone/>
              <a:defRPr sz="2363"/>
            </a:lvl3pPr>
            <a:lvl4pPr marL="1350203" indent="0">
              <a:buNone/>
              <a:defRPr sz="1969"/>
            </a:lvl4pPr>
            <a:lvl5pPr marL="1800271" indent="0">
              <a:buNone/>
              <a:defRPr sz="1969"/>
            </a:lvl5pPr>
            <a:lvl6pPr marL="2250338" indent="0">
              <a:buNone/>
              <a:defRPr sz="1969"/>
            </a:lvl6pPr>
            <a:lvl7pPr marL="2700406" indent="0">
              <a:buNone/>
              <a:defRPr sz="1969"/>
            </a:lvl7pPr>
            <a:lvl8pPr marL="3150474" indent="0">
              <a:buNone/>
              <a:defRPr sz="1969"/>
            </a:lvl8pPr>
            <a:lvl9pPr marL="3600541" indent="0">
              <a:buNone/>
              <a:defRPr sz="1969"/>
            </a:lvl9pPr>
          </a:lstStyle>
          <a:p>
            <a:r>
              <a:rPr lang="en-US"/>
              <a:t>Click icon to add picture</a:t>
            </a:r>
            <a:endParaRPr lang="en-US" dirty="0"/>
          </a:p>
        </p:txBody>
      </p:sp>
      <p:sp>
        <p:nvSpPr>
          <p:cNvPr id="4" name="Text Placeholder 3"/>
          <p:cNvSpPr>
            <a:spLocks noGrp="1"/>
          </p:cNvSpPr>
          <p:nvPr>
            <p:ph type="body" sz="half" idx="2"/>
          </p:nvPr>
        </p:nvSpPr>
        <p:spPr>
          <a:xfrm>
            <a:off x="620000" y="8640127"/>
            <a:ext cx="2903097" cy="16006905"/>
          </a:xfrm>
        </p:spPr>
        <p:txBody>
          <a:bodyPr/>
          <a:lstStyle>
            <a:lvl1pPr marL="0" indent="0">
              <a:buNone/>
              <a:defRPr sz="1575"/>
            </a:lvl1pPr>
            <a:lvl2pPr marL="450068" indent="0">
              <a:buNone/>
              <a:defRPr sz="1378"/>
            </a:lvl2pPr>
            <a:lvl3pPr marL="900135" indent="0">
              <a:buNone/>
              <a:defRPr sz="1181"/>
            </a:lvl3pPr>
            <a:lvl4pPr marL="1350203" indent="0">
              <a:buNone/>
              <a:defRPr sz="984"/>
            </a:lvl4pPr>
            <a:lvl5pPr marL="1800271" indent="0">
              <a:buNone/>
              <a:defRPr sz="984"/>
            </a:lvl5pPr>
            <a:lvl6pPr marL="2250338" indent="0">
              <a:buNone/>
              <a:defRPr sz="984"/>
            </a:lvl6pPr>
            <a:lvl7pPr marL="2700406" indent="0">
              <a:buNone/>
              <a:defRPr sz="984"/>
            </a:lvl7pPr>
            <a:lvl8pPr marL="3150474" indent="0">
              <a:buNone/>
              <a:defRPr sz="984"/>
            </a:lvl8pPr>
            <a:lvl9pPr marL="3600541"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F3141643-6667-4B84-AC81-B7F5F3686564}" type="datetimeFigureOut">
              <a:rPr lang="en-ID" smtClean="0"/>
              <a:t>19/06/2026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39595A87-F1B3-41E5-B7E5-AD5448C35CCE}" type="slidenum">
              <a:rPr lang="en-ID" smtClean="0"/>
              <a:t>‹#›</a:t>
            </a:fld>
            <a:endParaRPr lang="en-ID"/>
          </a:p>
        </p:txBody>
      </p:sp>
    </p:spTree>
    <p:extLst>
      <p:ext uri="{BB962C8B-B14F-4D97-AF65-F5344CB8AC3E}">
        <p14:creationId xmlns:p14="http://schemas.microsoft.com/office/powerpoint/2010/main" val="51872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141643-6667-4B84-AC81-B7F5F3686564}"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39595A87-F1B3-41E5-B7E5-AD5448C35CCE}" type="slidenum">
              <a:rPr lang="en-ID" smtClean="0"/>
              <a:t>‹#›</a:t>
            </a:fld>
            <a:endParaRPr lang="en-ID"/>
          </a:p>
        </p:txBody>
      </p:sp>
    </p:spTree>
    <p:extLst>
      <p:ext uri="{BB962C8B-B14F-4D97-AF65-F5344CB8AC3E}">
        <p14:creationId xmlns:p14="http://schemas.microsoft.com/office/powerpoint/2010/main" val="2494903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1430" y="1533356"/>
            <a:ext cx="1940868" cy="24407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828" y="1533356"/>
            <a:ext cx="5710089" cy="24407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141643-6667-4B84-AC81-B7F5F3686564}"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39595A87-F1B3-41E5-B7E5-AD5448C35CCE}" type="slidenum">
              <a:rPr lang="en-ID" smtClean="0"/>
              <a:t>‹#›</a:t>
            </a:fld>
            <a:endParaRPr lang="en-ID"/>
          </a:p>
        </p:txBody>
      </p:sp>
    </p:spTree>
    <p:extLst>
      <p:ext uri="{BB962C8B-B14F-4D97-AF65-F5344CB8AC3E}">
        <p14:creationId xmlns:p14="http://schemas.microsoft.com/office/powerpoint/2010/main" val="3631991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828" y="1533362"/>
            <a:ext cx="7763470" cy="556675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828" y="7666780"/>
            <a:ext cx="7763470" cy="1827360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827" y="26693734"/>
            <a:ext cx="2025253" cy="1533356"/>
          </a:xfrm>
          <a:prstGeom prst="rect">
            <a:avLst/>
          </a:prstGeom>
        </p:spPr>
        <p:txBody>
          <a:bodyPr vert="horz" lIns="91440" tIns="45720" rIns="91440" bIns="45720" rtlCol="0" anchor="ctr"/>
          <a:lstStyle>
            <a:lvl1pPr algn="l">
              <a:defRPr sz="1181">
                <a:solidFill>
                  <a:schemeClr val="tx1">
                    <a:tint val="75000"/>
                  </a:schemeClr>
                </a:solidFill>
              </a:defRPr>
            </a:lvl1pPr>
          </a:lstStyle>
          <a:p>
            <a:fld id="{F3141643-6667-4B84-AC81-B7F5F3686564}" type="datetimeFigureOut">
              <a:rPr lang="en-ID" smtClean="0"/>
              <a:t>19/06/2026</a:t>
            </a:fld>
            <a:endParaRPr lang="en-ID"/>
          </a:p>
        </p:txBody>
      </p:sp>
      <p:sp>
        <p:nvSpPr>
          <p:cNvPr id="5" name="Footer Placeholder 4"/>
          <p:cNvSpPr>
            <a:spLocks noGrp="1"/>
          </p:cNvSpPr>
          <p:nvPr>
            <p:ph type="ftr" sz="quarter" idx="3"/>
          </p:nvPr>
        </p:nvSpPr>
        <p:spPr>
          <a:xfrm>
            <a:off x="2981623" y="26693734"/>
            <a:ext cx="3037880" cy="1533356"/>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7045" y="26693734"/>
            <a:ext cx="2025253" cy="1533356"/>
          </a:xfrm>
          <a:prstGeom prst="rect">
            <a:avLst/>
          </a:prstGeom>
        </p:spPr>
        <p:txBody>
          <a:bodyPr vert="horz" lIns="91440" tIns="45720" rIns="91440" bIns="45720" rtlCol="0" anchor="ctr"/>
          <a:lstStyle>
            <a:lvl1pPr algn="r">
              <a:defRPr sz="1181">
                <a:solidFill>
                  <a:schemeClr val="tx1">
                    <a:tint val="75000"/>
                  </a:schemeClr>
                </a:solidFill>
              </a:defRPr>
            </a:lvl1pPr>
          </a:lstStyle>
          <a:p>
            <a:fld id="{39595A87-F1B3-41E5-B7E5-AD5448C35CCE}" type="slidenum">
              <a:rPr lang="en-ID" smtClean="0"/>
              <a:t>‹#›</a:t>
            </a:fld>
            <a:endParaRPr lang="en-ID"/>
          </a:p>
        </p:txBody>
      </p:sp>
    </p:spTree>
    <p:extLst>
      <p:ext uri="{BB962C8B-B14F-4D97-AF65-F5344CB8AC3E}">
        <p14:creationId xmlns:p14="http://schemas.microsoft.com/office/powerpoint/2010/main" val="100848169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00135" rtl="0" eaLnBrk="1" latinLnBrk="0" hangingPunct="1">
        <a:lnSpc>
          <a:spcPct val="90000"/>
        </a:lnSpc>
        <a:spcBef>
          <a:spcPct val="0"/>
        </a:spcBef>
        <a:buNone/>
        <a:defRPr sz="4331" kern="1200">
          <a:solidFill>
            <a:schemeClr val="tx1"/>
          </a:solidFill>
          <a:latin typeface="+mj-lt"/>
          <a:ea typeface="+mj-ea"/>
          <a:cs typeface="+mj-cs"/>
        </a:defRPr>
      </a:lvl1pPr>
    </p:titleStyle>
    <p:bodyStyle>
      <a:lvl1pPr marL="225034" indent="-225034" algn="l" defTabSz="900135"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5102" indent="-225034" algn="l" defTabSz="900135" rtl="0" eaLnBrk="1" latinLnBrk="0" hangingPunct="1">
        <a:lnSpc>
          <a:spcPct val="90000"/>
        </a:lnSpc>
        <a:spcBef>
          <a:spcPts val="492"/>
        </a:spcBef>
        <a:buFont typeface="Arial" panose="020B0604020202020204" pitchFamily="34" charset="0"/>
        <a:buChar char="•"/>
        <a:defRPr sz="2363" kern="1200">
          <a:solidFill>
            <a:schemeClr val="tx1"/>
          </a:solidFill>
          <a:latin typeface="+mn-lt"/>
          <a:ea typeface="+mn-ea"/>
          <a:cs typeface="+mn-cs"/>
        </a:defRPr>
      </a:lvl2pPr>
      <a:lvl3pPr marL="1125169" indent="-225034" algn="l" defTabSz="900135" rtl="0" eaLnBrk="1" latinLnBrk="0" hangingPunct="1">
        <a:lnSpc>
          <a:spcPct val="90000"/>
        </a:lnSpc>
        <a:spcBef>
          <a:spcPts val="492"/>
        </a:spcBef>
        <a:buFont typeface="Arial" panose="020B0604020202020204" pitchFamily="34" charset="0"/>
        <a:buChar char="•"/>
        <a:defRPr sz="1969" kern="1200">
          <a:solidFill>
            <a:schemeClr val="tx1"/>
          </a:solidFill>
          <a:latin typeface="+mn-lt"/>
          <a:ea typeface="+mn-ea"/>
          <a:cs typeface="+mn-cs"/>
        </a:defRPr>
      </a:lvl3pPr>
      <a:lvl4pPr marL="1575237" indent="-225034" algn="l" defTabSz="900135"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5305" indent="-225034" algn="l" defTabSz="900135"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5372" indent="-225034" algn="l" defTabSz="900135"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5440" indent="-225034" algn="l" defTabSz="900135"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5508" indent="-225034" algn="l" defTabSz="900135"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5575" indent="-225034" algn="l" defTabSz="900135"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900135" rtl="0" eaLnBrk="1" latinLnBrk="0" hangingPunct="1">
        <a:defRPr sz="1772" kern="1200">
          <a:solidFill>
            <a:schemeClr val="tx1"/>
          </a:solidFill>
          <a:latin typeface="+mn-lt"/>
          <a:ea typeface="+mn-ea"/>
          <a:cs typeface="+mn-cs"/>
        </a:defRPr>
      </a:lvl1pPr>
      <a:lvl2pPr marL="450068" algn="l" defTabSz="900135" rtl="0" eaLnBrk="1" latinLnBrk="0" hangingPunct="1">
        <a:defRPr sz="1772" kern="1200">
          <a:solidFill>
            <a:schemeClr val="tx1"/>
          </a:solidFill>
          <a:latin typeface="+mn-lt"/>
          <a:ea typeface="+mn-ea"/>
          <a:cs typeface="+mn-cs"/>
        </a:defRPr>
      </a:lvl2pPr>
      <a:lvl3pPr marL="900135" algn="l" defTabSz="900135" rtl="0" eaLnBrk="1" latinLnBrk="0" hangingPunct="1">
        <a:defRPr sz="1772" kern="1200">
          <a:solidFill>
            <a:schemeClr val="tx1"/>
          </a:solidFill>
          <a:latin typeface="+mn-lt"/>
          <a:ea typeface="+mn-ea"/>
          <a:cs typeface="+mn-cs"/>
        </a:defRPr>
      </a:lvl3pPr>
      <a:lvl4pPr marL="1350203" algn="l" defTabSz="900135" rtl="0" eaLnBrk="1" latinLnBrk="0" hangingPunct="1">
        <a:defRPr sz="1772" kern="1200">
          <a:solidFill>
            <a:schemeClr val="tx1"/>
          </a:solidFill>
          <a:latin typeface="+mn-lt"/>
          <a:ea typeface="+mn-ea"/>
          <a:cs typeface="+mn-cs"/>
        </a:defRPr>
      </a:lvl4pPr>
      <a:lvl5pPr marL="1800271" algn="l" defTabSz="900135" rtl="0" eaLnBrk="1" latinLnBrk="0" hangingPunct="1">
        <a:defRPr sz="1772" kern="1200">
          <a:solidFill>
            <a:schemeClr val="tx1"/>
          </a:solidFill>
          <a:latin typeface="+mn-lt"/>
          <a:ea typeface="+mn-ea"/>
          <a:cs typeface="+mn-cs"/>
        </a:defRPr>
      </a:lvl5pPr>
      <a:lvl6pPr marL="2250338" algn="l" defTabSz="900135" rtl="0" eaLnBrk="1" latinLnBrk="0" hangingPunct="1">
        <a:defRPr sz="1772" kern="1200">
          <a:solidFill>
            <a:schemeClr val="tx1"/>
          </a:solidFill>
          <a:latin typeface="+mn-lt"/>
          <a:ea typeface="+mn-ea"/>
          <a:cs typeface="+mn-cs"/>
        </a:defRPr>
      </a:lvl6pPr>
      <a:lvl7pPr marL="2700406" algn="l" defTabSz="900135" rtl="0" eaLnBrk="1" latinLnBrk="0" hangingPunct="1">
        <a:defRPr sz="1772" kern="1200">
          <a:solidFill>
            <a:schemeClr val="tx1"/>
          </a:solidFill>
          <a:latin typeface="+mn-lt"/>
          <a:ea typeface="+mn-ea"/>
          <a:cs typeface="+mn-cs"/>
        </a:defRPr>
      </a:lvl7pPr>
      <a:lvl8pPr marL="3150474" algn="l" defTabSz="900135" rtl="0" eaLnBrk="1" latinLnBrk="0" hangingPunct="1">
        <a:defRPr sz="1772" kern="1200">
          <a:solidFill>
            <a:schemeClr val="tx1"/>
          </a:solidFill>
          <a:latin typeface="+mn-lt"/>
          <a:ea typeface="+mn-ea"/>
          <a:cs typeface="+mn-cs"/>
        </a:defRPr>
      </a:lvl8pPr>
      <a:lvl9pPr marL="3600541" algn="l" defTabSz="900135"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program"/><Relationship Id="rId11" Type="http://schemas.openxmlformats.org/officeDocument/2006/relationships/image" Target="../media/image8.svg"/><Relationship Id="rId5" Type="http://schemas.openxmlformats.org/officeDocument/2006/relationships/image" Target="../media/image3.png"/><Relationship Id="rId10" Type="http://schemas.openxmlformats.org/officeDocument/2006/relationships/image" Target="../media/image7.svg"/><Relationship Id="rId4" Type="http://schemas.openxmlformats.org/officeDocument/2006/relationships/hyperlink" Target="#donasi"/><Relationship Id="rId9" Type="http://schemas.openxmlformats.org/officeDocument/2006/relationships/image" Target="../media/image6.sv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0">
            <a:extLst>
              <a:ext uri="{FF2B5EF4-FFF2-40B4-BE49-F238E27FC236}">
                <a16:creationId xmlns:a16="http://schemas.microsoft.com/office/drawing/2014/main" id="{E8CE5102-F747-F52D-8F07-9BDCBA3D55A8}"/>
              </a:ext>
            </a:extLst>
          </p:cNvPr>
          <p:cNvSpPr/>
          <p:nvPr/>
        </p:nvSpPr>
        <p:spPr>
          <a:xfrm>
            <a:off x="496120" y="5177013"/>
            <a:ext cx="832394" cy="185434"/>
          </a:xfrm>
          <a:prstGeom prst="roundRect">
            <a:avLst>
              <a:gd name="adj" fmla="val 7022"/>
            </a:avLst>
          </a:prstGeom>
          <a:solidFill>
            <a:srgbClr val="E3E3E8"/>
          </a:solidFill>
          <a:ln/>
        </p:spPr>
      </p:sp>
      <p:sp>
        <p:nvSpPr>
          <p:cNvPr id="13" name="Text 1">
            <a:extLst>
              <a:ext uri="{FF2B5EF4-FFF2-40B4-BE49-F238E27FC236}">
                <a16:creationId xmlns:a16="http://schemas.microsoft.com/office/drawing/2014/main" id="{2814BEC1-E36B-D3DA-5CA8-93DF9BF24EAA}"/>
              </a:ext>
            </a:extLst>
          </p:cNvPr>
          <p:cNvSpPr/>
          <p:nvPr/>
        </p:nvSpPr>
        <p:spPr>
          <a:xfrm>
            <a:off x="550742" y="5204324"/>
            <a:ext cx="1008385" cy="101054"/>
          </a:xfrm>
          <a:prstGeom prst="rect">
            <a:avLst/>
          </a:prstGeom>
          <a:noFill/>
          <a:ln/>
        </p:spPr>
        <p:txBody>
          <a:bodyPr wrap="none" lIns="0" tIns="0" rIns="0" bIns="0" rtlCol="0" anchor="t"/>
          <a:lstStyle/>
          <a:p>
            <a:pPr>
              <a:lnSpc>
                <a:spcPct val="116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800" dirty="0">
              <a:latin typeface="Leelawadee UI" panose="020B0502040204020203" pitchFamily="34" charset="-34"/>
              <a:cs typeface="Leelawadee UI" panose="020B0502040204020203" pitchFamily="34" charset="-34"/>
            </a:endParaRPr>
          </a:p>
        </p:txBody>
      </p:sp>
      <p:sp>
        <p:nvSpPr>
          <p:cNvPr id="14" name="Text 2">
            <a:extLst>
              <a:ext uri="{FF2B5EF4-FFF2-40B4-BE49-F238E27FC236}">
                <a16:creationId xmlns:a16="http://schemas.microsoft.com/office/drawing/2014/main" id="{FE31A7E0-3006-CDC1-D69A-F875D5F7BD57}"/>
              </a:ext>
            </a:extLst>
          </p:cNvPr>
          <p:cNvSpPr/>
          <p:nvPr/>
        </p:nvSpPr>
        <p:spPr>
          <a:xfrm>
            <a:off x="496118" y="5379875"/>
            <a:ext cx="2734568" cy="284634"/>
          </a:xfrm>
          <a:prstGeom prst="rect">
            <a:avLst/>
          </a:prstGeom>
          <a:noFill/>
          <a:ln/>
        </p:spPr>
        <p:txBody>
          <a:bodyPr wrap="none" lIns="0" tIns="0" rIns="0" bIns="0" rtlCol="0" anchor="t"/>
          <a:lstStyle/>
          <a:p>
            <a:pPr>
              <a:lnSpc>
                <a:spcPct val="104000"/>
              </a:lnSpc>
            </a:pPr>
            <a:r>
              <a:rPr lang="en-US" sz="1750" dirty="0">
                <a:solidFill>
                  <a:srgbClr val="161613"/>
                </a:solidFill>
                <a:latin typeface="Leelawadee UI" panose="020B0502040204020203" pitchFamily="34" charset="-34"/>
                <a:ea typeface="DM Sans Medium" pitchFamily="34" charset="-122"/>
                <a:cs typeface="Leelawadee UI" panose="020B0502040204020203" pitchFamily="34" charset="-34"/>
              </a:rPr>
              <a:t>Sejarah YNKI</a:t>
            </a:r>
            <a:endParaRPr lang="en-US" sz="1750" dirty="0">
              <a:latin typeface="Leelawadee UI" panose="020B0502040204020203" pitchFamily="34" charset="-34"/>
              <a:cs typeface="Leelawadee UI" panose="020B0502040204020203" pitchFamily="34" charset="-34"/>
            </a:endParaRPr>
          </a:p>
        </p:txBody>
      </p:sp>
      <p:sp>
        <p:nvSpPr>
          <p:cNvPr id="15" name="Text 3">
            <a:extLst>
              <a:ext uri="{FF2B5EF4-FFF2-40B4-BE49-F238E27FC236}">
                <a16:creationId xmlns:a16="http://schemas.microsoft.com/office/drawing/2014/main" id="{E2A92DA5-6621-18DC-3878-DAF113195F7B}"/>
              </a:ext>
            </a:extLst>
          </p:cNvPr>
          <p:cNvSpPr/>
          <p:nvPr/>
        </p:nvSpPr>
        <p:spPr>
          <a:xfrm>
            <a:off x="496120" y="5744352"/>
            <a:ext cx="7930713" cy="1014337"/>
          </a:xfrm>
          <a:prstGeom prst="rect">
            <a:avLst/>
          </a:prstGeom>
          <a:noFill/>
          <a:ln/>
        </p:spPr>
        <p:txBody>
          <a:bodyPr wrap="square" lIns="0" tIns="0" rIns="0" bIns="0" rtlCol="0" anchor="t">
            <a:normAutofit lnSpcReduction="10000"/>
          </a:bodyPr>
          <a:lstStyle/>
          <a:p>
            <a:pPr>
              <a:lnSpc>
                <a:spcPct val="116000"/>
              </a:lnSpc>
              <a:spcAft>
                <a:spcPts val="550"/>
              </a:spcAft>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Yayasan Natural Kapital Indonesia (YNKI) didirikan pada tahun 2019 di Pontianak, Kalimantan Barat. Kelahiran YNKI dilatarbelakangi oleh pengamatan bahwa sebagian besar permasalahan lingkungan dan sosial tidak terjadi secara terpisah—melainkan muncul dari kegagalan mengelola hubungan antara manusia, alam, dan ekonomi secara terpadu.</a:t>
            </a:r>
            <a:endParaRPr lang="en-US" sz="900" dirty="0">
              <a:latin typeface="Leelawadee UI" panose="020B0502040204020203" pitchFamily="34" charset="-34"/>
              <a:cs typeface="Leelawadee UI" panose="020B0502040204020203" pitchFamily="34" charset="-34"/>
            </a:endParaRPr>
          </a:p>
          <a:p>
            <a:pPr>
              <a:lnSpc>
                <a:spcPct val="116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Deforestasi, degradasi gambut, hilangnya keanekaragaman hayati, konflik tenurial, hingga dampak perubahan iklim merupakan manifestasi dari sistem tata kelola yang belum mampu mengintegrasikan berbagai kepentingan dalam satu lanskap yang sama. YNKI hadir sebagai jawaban atas kekosongan peran tersebut—membangun jembatan antara pengetahuan, kebijakan, dan aksi nyata di lapangan.</a:t>
            </a:r>
            <a:endParaRPr lang="en-US" sz="900" dirty="0">
              <a:latin typeface="Leelawadee UI" panose="020B0502040204020203" pitchFamily="34" charset="-34"/>
              <a:cs typeface="Leelawadee UI" panose="020B0502040204020203" pitchFamily="34" charset="-34"/>
            </a:endParaRPr>
          </a:p>
        </p:txBody>
      </p:sp>
      <p:sp>
        <p:nvSpPr>
          <p:cNvPr id="16" name="Shape 4">
            <a:extLst>
              <a:ext uri="{FF2B5EF4-FFF2-40B4-BE49-F238E27FC236}">
                <a16:creationId xmlns:a16="http://schemas.microsoft.com/office/drawing/2014/main" id="{A292E09D-B8F7-F0D2-4E2C-3ADD32226710}"/>
              </a:ext>
            </a:extLst>
          </p:cNvPr>
          <p:cNvSpPr/>
          <p:nvPr/>
        </p:nvSpPr>
        <p:spPr>
          <a:xfrm>
            <a:off x="496118" y="7786045"/>
            <a:ext cx="8095734" cy="45719"/>
          </a:xfrm>
          <a:prstGeom prst="roundRect">
            <a:avLst>
              <a:gd name="adj" fmla="val 143459"/>
            </a:avLst>
          </a:prstGeom>
          <a:solidFill>
            <a:srgbClr val="D3D1C9"/>
          </a:solidFill>
          <a:ln/>
        </p:spPr>
      </p:sp>
      <p:sp>
        <p:nvSpPr>
          <p:cNvPr id="17" name="Shape 5">
            <a:extLst>
              <a:ext uri="{FF2B5EF4-FFF2-40B4-BE49-F238E27FC236}">
                <a16:creationId xmlns:a16="http://schemas.microsoft.com/office/drawing/2014/main" id="{0A8397C1-EA7F-3211-11FE-9AF81AD59F05}"/>
              </a:ext>
            </a:extLst>
          </p:cNvPr>
          <p:cNvSpPr/>
          <p:nvPr/>
        </p:nvSpPr>
        <p:spPr>
          <a:xfrm>
            <a:off x="1357912" y="7624347"/>
            <a:ext cx="9525" cy="182166"/>
          </a:xfrm>
          <a:prstGeom prst="roundRect">
            <a:avLst>
              <a:gd name="adj" fmla="val 143459"/>
            </a:avLst>
          </a:prstGeom>
          <a:solidFill>
            <a:srgbClr val="D3D1C9"/>
          </a:solidFill>
          <a:ln/>
        </p:spPr>
      </p:sp>
      <p:sp>
        <p:nvSpPr>
          <p:cNvPr id="18" name="Shape 6">
            <a:extLst>
              <a:ext uri="{FF2B5EF4-FFF2-40B4-BE49-F238E27FC236}">
                <a16:creationId xmlns:a16="http://schemas.microsoft.com/office/drawing/2014/main" id="{AAE2865B-B940-9D75-0C0C-0F31E5B26F4B}"/>
              </a:ext>
            </a:extLst>
          </p:cNvPr>
          <p:cNvSpPr/>
          <p:nvPr/>
        </p:nvSpPr>
        <p:spPr>
          <a:xfrm>
            <a:off x="1328514" y="7772356"/>
            <a:ext cx="68312" cy="68312"/>
          </a:xfrm>
          <a:prstGeom prst="roundRect">
            <a:avLst>
              <a:gd name="adj" fmla="val 418301"/>
            </a:avLst>
          </a:prstGeom>
          <a:solidFill>
            <a:srgbClr val="28282F"/>
          </a:solidFill>
          <a:ln/>
        </p:spPr>
      </p:sp>
      <p:sp>
        <p:nvSpPr>
          <p:cNvPr id="19" name="Text 7">
            <a:extLst>
              <a:ext uri="{FF2B5EF4-FFF2-40B4-BE49-F238E27FC236}">
                <a16:creationId xmlns:a16="http://schemas.microsoft.com/office/drawing/2014/main" id="{EFCC4A0F-0946-993A-C045-C1F54E593120}"/>
              </a:ext>
            </a:extLst>
          </p:cNvPr>
          <p:cNvSpPr/>
          <p:nvPr/>
        </p:nvSpPr>
        <p:spPr>
          <a:xfrm>
            <a:off x="793328" y="6845455"/>
            <a:ext cx="1138684" cy="142280"/>
          </a:xfrm>
          <a:prstGeom prst="rect">
            <a:avLst/>
          </a:prstGeom>
          <a:noFill/>
          <a:ln/>
        </p:spPr>
        <p:txBody>
          <a:bodyPr wrap="none" lIns="0" tIns="0" rIns="0" bIns="0" rtlCol="0" anchor="t"/>
          <a:lstStyle/>
          <a:p>
            <a:pPr algn="ctr">
              <a:lnSpc>
                <a:spcPct val="104000"/>
              </a:lnSpc>
            </a:pPr>
            <a:r>
              <a:rPr lang="en-US" sz="850" dirty="0">
                <a:solidFill>
                  <a:srgbClr val="161613"/>
                </a:solidFill>
                <a:latin typeface="DM Sans Medium" pitchFamily="34" charset="0"/>
                <a:ea typeface="DM Sans Medium" pitchFamily="34" charset="-122"/>
                <a:cs typeface="DM Sans Medium" pitchFamily="34" charset="-120"/>
              </a:rPr>
              <a:t>2019</a:t>
            </a:r>
            <a:endParaRPr lang="en-US" sz="850" dirty="0"/>
          </a:p>
        </p:txBody>
      </p:sp>
      <p:sp>
        <p:nvSpPr>
          <p:cNvPr id="20" name="Text 8">
            <a:extLst>
              <a:ext uri="{FF2B5EF4-FFF2-40B4-BE49-F238E27FC236}">
                <a16:creationId xmlns:a16="http://schemas.microsoft.com/office/drawing/2014/main" id="{66E4FDE9-7A16-08DF-2C8E-78E6D407292C}"/>
              </a:ext>
            </a:extLst>
          </p:cNvPr>
          <p:cNvSpPr/>
          <p:nvPr/>
        </p:nvSpPr>
        <p:spPr>
          <a:xfrm>
            <a:off x="587201" y="7027849"/>
            <a:ext cx="1551012" cy="379065"/>
          </a:xfrm>
          <a:prstGeom prst="rect">
            <a:avLst/>
          </a:prstGeom>
          <a:noFill/>
          <a:ln/>
        </p:spPr>
        <p:txBody>
          <a:bodyPr wrap="square" lIns="0" tIns="0" rIns="0" bIns="0" rtlCol="0" anchor="t">
            <a:noAutofit/>
          </a:bodyPr>
          <a:lstStyle/>
          <a:p>
            <a:pPr algn="ctr">
              <a:lnSpc>
                <a:spcPct val="116000"/>
              </a:lnSpc>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Pendirian YNKI di Pontianak, Kalimantan Barat sebagai respons terhadap krisis tata kelola lanskap.</a:t>
            </a:r>
            <a:endParaRPr lang="en-US" sz="850" dirty="0">
              <a:latin typeface="Leelawadee UI" panose="020B0502040204020203" pitchFamily="34" charset="-34"/>
              <a:cs typeface="Leelawadee UI" panose="020B0502040204020203" pitchFamily="34" charset="-34"/>
            </a:endParaRPr>
          </a:p>
        </p:txBody>
      </p:sp>
      <p:sp>
        <p:nvSpPr>
          <p:cNvPr id="21" name="Shape 9">
            <a:extLst>
              <a:ext uri="{FF2B5EF4-FFF2-40B4-BE49-F238E27FC236}">
                <a16:creationId xmlns:a16="http://schemas.microsoft.com/office/drawing/2014/main" id="{6E333E3B-15C3-DCF1-6B6B-25454073893B}"/>
              </a:ext>
            </a:extLst>
          </p:cNvPr>
          <p:cNvSpPr/>
          <p:nvPr/>
        </p:nvSpPr>
        <p:spPr>
          <a:xfrm>
            <a:off x="2266285" y="7806512"/>
            <a:ext cx="9525" cy="182166"/>
          </a:xfrm>
          <a:prstGeom prst="roundRect">
            <a:avLst>
              <a:gd name="adj" fmla="val 143459"/>
            </a:avLst>
          </a:prstGeom>
          <a:solidFill>
            <a:srgbClr val="D3D1C9"/>
          </a:solidFill>
          <a:ln/>
        </p:spPr>
      </p:sp>
      <p:sp>
        <p:nvSpPr>
          <p:cNvPr id="22" name="Shape 10">
            <a:extLst>
              <a:ext uri="{FF2B5EF4-FFF2-40B4-BE49-F238E27FC236}">
                <a16:creationId xmlns:a16="http://schemas.microsoft.com/office/drawing/2014/main" id="{EE9F1287-7CCD-91DE-91A8-38014FA24C27}"/>
              </a:ext>
            </a:extLst>
          </p:cNvPr>
          <p:cNvSpPr/>
          <p:nvPr/>
        </p:nvSpPr>
        <p:spPr>
          <a:xfrm>
            <a:off x="2236886" y="7772356"/>
            <a:ext cx="68312" cy="68312"/>
          </a:xfrm>
          <a:prstGeom prst="roundRect">
            <a:avLst>
              <a:gd name="adj" fmla="val 418301"/>
            </a:avLst>
          </a:prstGeom>
          <a:solidFill>
            <a:srgbClr val="28282F"/>
          </a:solidFill>
          <a:ln/>
        </p:spPr>
      </p:sp>
      <p:sp>
        <p:nvSpPr>
          <p:cNvPr id="23" name="Text 11">
            <a:extLst>
              <a:ext uri="{FF2B5EF4-FFF2-40B4-BE49-F238E27FC236}">
                <a16:creationId xmlns:a16="http://schemas.microsoft.com/office/drawing/2014/main" id="{2F536262-8802-F3CE-8C18-2B394048EF27}"/>
              </a:ext>
            </a:extLst>
          </p:cNvPr>
          <p:cNvSpPr/>
          <p:nvPr/>
        </p:nvSpPr>
        <p:spPr>
          <a:xfrm>
            <a:off x="1701700" y="8079761"/>
            <a:ext cx="1138684" cy="142280"/>
          </a:xfrm>
          <a:prstGeom prst="rect">
            <a:avLst/>
          </a:prstGeom>
          <a:noFill/>
          <a:ln/>
        </p:spPr>
        <p:txBody>
          <a:bodyPr wrap="none" lIns="0" tIns="0" rIns="0" bIns="0" rtlCol="0" anchor="t"/>
          <a:lstStyle/>
          <a:p>
            <a:pPr algn="ctr">
              <a:lnSpc>
                <a:spcPct val="104000"/>
              </a:lnSpc>
            </a:pPr>
            <a:r>
              <a:rPr lang="en-US" sz="850" dirty="0">
                <a:solidFill>
                  <a:srgbClr val="161613"/>
                </a:solidFill>
                <a:latin typeface="DM Sans Medium" pitchFamily="34" charset="0"/>
                <a:ea typeface="DM Sans Medium" pitchFamily="34" charset="-122"/>
                <a:cs typeface="DM Sans Medium" pitchFamily="34" charset="-120"/>
              </a:rPr>
              <a:t>2020</a:t>
            </a:r>
            <a:endParaRPr lang="en-US" sz="850" dirty="0"/>
          </a:p>
        </p:txBody>
      </p:sp>
      <p:sp>
        <p:nvSpPr>
          <p:cNvPr id="24" name="Text 12">
            <a:extLst>
              <a:ext uri="{FF2B5EF4-FFF2-40B4-BE49-F238E27FC236}">
                <a16:creationId xmlns:a16="http://schemas.microsoft.com/office/drawing/2014/main" id="{55E3FCB1-1AA6-93CB-4390-13A85CC3CF6C}"/>
              </a:ext>
            </a:extLst>
          </p:cNvPr>
          <p:cNvSpPr/>
          <p:nvPr/>
        </p:nvSpPr>
        <p:spPr>
          <a:xfrm>
            <a:off x="1495573" y="8262155"/>
            <a:ext cx="1551012" cy="545009"/>
          </a:xfrm>
          <a:prstGeom prst="rect">
            <a:avLst/>
          </a:prstGeom>
          <a:noFill/>
          <a:ln/>
        </p:spPr>
        <p:txBody>
          <a:bodyPr wrap="square" lIns="0" tIns="0" rIns="0" bIns="0" rtlCol="0" anchor="t">
            <a:noAutofit/>
          </a:bodyPr>
          <a:lstStyle/>
          <a:p>
            <a:pPr algn="ctr">
              <a:lnSpc>
                <a:spcPct val="116000"/>
              </a:lnSpc>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Analisis spasial pertama kebakaran hutan dan lahan di Lanskap Gambut Pesisir Delta Kapuas.</a:t>
            </a:r>
            <a:endParaRPr lang="en-US" sz="850" dirty="0">
              <a:latin typeface="Leelawadee UI" panose="020B0502040204020203" pitchFamily="34" charset="-34"/>
              <a:cs typeface="Leelawadee UI" panose="020B0502040204020203" pitchFamily="34" charset="-34"/>
            </a:endParaRPr>
          </a:p>
        </p:txBody>
      </p:sp>
      <p:sp>
        <p:nvSpPr>
          <p:cNvPr id="25" name="Shape 13">
            <a:extLst>
              <a:ext uri="{FF2B5EF4-FFF2-40B4-BE49-F238E27FC236}">
                <a16:creationId xmlns:a16="http://schemas.microsoft.com/office/drawing/2014/main" id="{58197492-D51C-4F32-9ECE-E8B35518F144}"/>
              </a:ext>
            </a:extLst>
          </p:cNvPr>
          <p:cNvSpPr/>
          <p:nvPr/>
        </p:nvSpPr>
        <p:spPr>
          <a:xfrm>
            <a:off x="3379268" y="7624347"/>
            <a:ext cx="9525" cy="182166"/>
          </a:xfrm>
          <a:prstGeom prst="roundRect">
            <a:avLst>
              <a:gd name="adj" fmla="val 143459"/>
            </a:avLst>
          </a:prstGeom>
          <a:solidFill>
            <a:srgbClr val="D3D1C9"/>
          </a:solidFill>
          <a:ln/>
        </p:spPr>
      </p:sp>
      <p:sp>
        <p:nvSpPr>
          <p:cNvPr id="26" name="Shape 14">
            <a:extLst>
              <a:ext uri="{FF2B5EF4-FFF2-40B4-BE49-F238E27FC236}">
                <a16:creationId xmlns:a16="http://schemas.microsoft.com/office/drawing/2014/main" id="{690A1BCC-4DBE-4B4F-37FB-B6D1B9D87464}"/>
              </a:ext>
            </a:extLst>
          </p:cNvPr>
          <p:cNvSpPr/>
          <p:nvPr/>
        </p:nvSpPr>
        <p:spPr>
          <a:xfrm>
            <a:off x="3361907" y="7772356"/>
            <a:ext cx="68312" cy="68312"/>
          </a:xfrm>
          <a:prstGeom prst="roundRect">
            <a:avLst>
              <a:gd name="adj" fmla="val 418301"/>
            </a:avLst>
          </a:prstGeom>
          <a:solidFill>
            <a:srgbClr val="28282F"/>
          </a:solidFill>
          <a:ln/>
        </p:spPr>
      </p:sp>
      <p:sp>
        <p:nvSpPr>
          <p:cNvPr id="27" name="Text 15">
            <a:extLst>
              <a:ext uri="{FF2B5EF4-FFF2-40B4-BE49-F238E27FC236}">
                <a16:creationId xmlns:a16="http://schemas.microsoft.com/office/drawing/2014/main" id="{5B6F06F5-F213-9D64-E3A7-704689792918}"/>
              </a:ext>
            </a:extLst>
          </p:cNvPr>
          <p:cNvSpPr/>
          <p:nvPr/>
        </p:nvSpPr>
        <p:spPr>
          <a:xfrm>
            <a:off x="2826721" y="6845455"/>
            <a:ext cx="1138684" cy="142280"/>
          </a:xfrm>
          <a:prstGeom prst="rect">
            <a:avLst/>
          </a:prstGeom>
          <a:noFill/>
          <a:ln/>
        </p:spPr>
        <p:txBody>
          <a:bodyPr wrap="none" lIns="0" tIns="0" rIns="0" bIns="0" rtlCol="0" anchor="t"/>
          <a:lstStyle/>
          <a:p>
            <a:pPr algn="ctr">
              <a:lnSpc>
                <a:spcPct val="104000"/>
              </a:lnSpc>
            </a:pPr>
            <a:r>
              <a:rPr lang="en-US" sz="850" dirty="0">
                <a:solidFill>
                  <a:srgbClr val="161613"/>
                </a:solidFill>
                <a:latin typeface="DM Sans Medium" pitchFamily="34" charset="0"/>
                <a:ea typeface="DM Sans Medium" pitchFamily="34" charset="-122"/>
                <a:cs typeface="DM Sans Medium" pitchFamily="34" charset="-120"/>
              </a:rPr>
              <a:t>2021</a:t>
            </a:r>
            <a:endParaRPr lang="en-US" sz="850" dirty="0"/>
          </a:p>
        </p:txBody>
      </p:sp>
      <p:sp>
        <p:nvSpPr>
          <p:cNvPr id="28" name="Text 16">
            <a:extLst>
              <a:ext uri="{FF2B5EF4-FFF2-40B4-BE49-F238E27FC236}">
                <a16:creationId xmlns:a16="http://schemas.microsoft.com/office/drawing/2014/main" id="{056EA755-08F8-49BF-2AD7-8C817982F690}"/>
              </a:ext>
            </a:extLst>
          </p:cNvPr>
          <p:cNvSpPr/>
          <p:nvPr/>
        </p:nvSpPr>
        <p:spPr>
          <a:xfrm>
            <a:off x="2620525" y="7027844"/>
            <a:ext cx="1551087" cy="505420"/>
          </a:xfrm>
          <a:prstGeom prst="rect">
            <a:avLst/>
          </a:prstGeom>
          <a:noFill/>
          <a:ln/>
        </p:spPr>
        <p:txBody>
          <a:bodyPr wrap="square" lIns="0" tIns="0" rIns="0" bIns="0" rtlCol="0" anchor="t">
            <a:noAutofit/>
          </a:bodyPr>
          <a:lstStyle/>
          <a:p>
            <a:pPr algn="ctr">
              <a:lnSpc>
                <a:spcPct val="116000"/>
              </a:lnSpc>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Program restorasi vegetasi Hutan Desa Kalibandung dan kolaborasi pemadaman kebakaran lahan gambut.</a:t>
            </a:r>
            <a:endParaRPr lang="en-US" sz="850" dirty="0">
              <a:latin typeface="Leelawadee UI" panose="020B0502040204020203" pitchFamily="34" charset="-34"/>
              <a:cs typeface="Leelawadee UI" panose="020B0502040204020203" pitchFamily="34" charset="-34"/>
            </a:endParaRPr>
          </a:p>
        </p:txBody>
      </p:sp>
      <p:sp>
        <p:nvSpPr>
          <p:cNvPr id="29" name="Shape 17">
            <a:extLst>
              <a:ext uri="{FF2B5EF4-FFF2-40B4-BE49-F238E27FC236}">
                <a16:creationId xmlns:a16="http://schemas.microsoft.com/office/drawing/2014/main" id="{0EC94FC0-F6AA-C807-31B9-6CD70FD0A70E}"/>
              </a:ext>
            </a:extLst>
          </p:cNvPr>
          <p:cNvSpPr/>
          <p:nvPr/>
        </p:nvSpPr>
        <p:spPr>
          <a:xfrm>
            <a:off x="4701413" y="7806512"/>
            <a:ext cx="9525" cy="182166"/>
          </a:xfrm>
          <a:prstGeom prst="roundRect">
            <a:avLst>
              <a:gd name="adj" fmla="val 143459"/>
            </a:avLst>
          </a:prstGeom>
          <a:solidFill>
            <a:srgbClr val="D3D1C9"/>
          </a:solidFill>
          <a:ln/>
        </p:spPr>
      </p:sp>
      <p:sp>
        <p:nvSpPr>
          <p:cNvPr id="30" name="Shape 18">
            <a:extLst>
              <a:ext uri="{FF2B5EF4-FFF2-40B4-BE49-F238E27FC236}">
                <a16:creationId xmlns:a16="http://schemas.microsoft.com/office/drawing/2014/main" id="{4EEEC6F1-5606-1EF0-A42C-2B1DF5791D57}"/>
              </a:ext>
            </a:extLst>
          </p:cNvPr>
          <p:cNvSpPr/>
          <p:nvPr/>
        </p:nvSpPr>
        <p:spPr>
          <a:xfrm>
            <a:off x="4672022" y="7772356"/>
            <a:ext cx="68312" cy="68312"/>
          </a:xfrm>
          <a:prstGeom prst="roundRect">
            <a:avLst>
              <a:gd name="adj" fmla="val 418301"/>
            </a:avLst>
          </a:prstGeom>
          <a:solidFill>
            <a:srgbClr val="28282F"/>
          </a:solidFill>
          <a:ln/>
        </p:spPr>
      </p:sp>
      <p:sp>
        <p:nvSpPr>
          <p:cNvPr id="31" name="Text 19">
            <a:extLst>
              <a:ext uri="{FF2B5EF4-FFF2-40B4-BE49-F238E27FC236}">
                <a16:creationId xmlns:a16="http://schemas.microsoft.com/office/drawing/2014/main" id="{F6E0C11F-BAFB-74CF-CF5D-D682CDFB407C}"/>
              </a:ext>
            </a:extLst>
          </p:cNvPr>
          <p:cNvSpPr/>
          <p:nvPr/>
        </p:nvSpPr>
        <p:spPr>
          <a:xfrm>
            <a:off x="4136829" y="8079761"/>
            <a:ext cx="1138684" cy="142280"/>
          </a:xfrm>
          <a:prstGeom prst="rect">
            <a:avLst/>
          </a:prstGeom>
          <a:noFill/>
          <a:ln/>
        </p:spPr>
        <p:txBody>
          <a:bodyPr wrap="none" lIns="0" tIns="0" rIns="0" bIns="0" rtlCol="0" anchor="t"/>
          <a:lstStyle/>
          <a:p>
            <a:pPr algn="ctr">
              <a:lnSpc>
                <a:spcPct val="104000"/>
              </a:lnSpc>
            </a:pPr>
            <a:r>
              <a:rPr lang="en-US" sz="850" dirty="0">
                <a:solidFill>
                  <a:srgbClr val="161613"/>
                </a:solidFill>
                <a:latin typeface="DM Sans Medium" pitchFamily="34" charset="0"/>
                <a:ea typeface="DM Sans Medium" pitchFamily="34" charset="-122"/>
                <a:cs typeface="DM Sans Medium" pitchFamily="34" charset="-120"/>
              </a:rPr>
              <a:t>2021–2023</a:t>
            </a:r>
            <a:endParaRPr lang="en-US" sz="850" dirty="0"/>
          </a:p>
        </p:txBody>
      </p:sp>
      <p:sp>
        <p:nvSpPr>
          <p:cNvPr id="32" name="Text 20">
            <a:extLst>
              <a:ext uri="{FF2B5EF4-FFF2-40B4-BE49-F238E27FC236}">
                <a16:creationId xmlns:a16="http://schemas.microsoft.com/office/drawing/2014/main" id="{D9C51E3D-7872-A5AA-091F-E5A05160A00F}"/>
              </a:ext>
            </a:extLst>
          </p:cNvPr>
          <p:cNvSpPr/>
          <p:nvPr/>
        </p:nvSpPr>
        <p:spPr>
          <a:xfrm>
            <a:off x="3312318" y="8262150"/>
            <a:ext cx="2467508" cy="758130"/>
          </a:xfrm>
          <a:prstGeom prst="rect">
            <a:avLst/>
          </a:prstGeom>
          <a:noFill/>
          <a:ln/>
        </p:spPr>
        <p:txBody>
          <a:bodyPr wrap="square" lIns="0" tIns="0" rIns="0" bIns="0" rtlCol="0" anchor="t">
            <a:normAutofit/>
          </a:bodyPr>
          <a:lstStyle/>
          <a:p>
            <a:pPr algn="ctr">
              <a:lnSpc>
                <a:spcPct val="116000"/>
              </a:lnSpc>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Pendampingan 6 Desa Gambut (Pasak, Bengkarek, Sungai Asam, Kubu, Radak Dua, Permata) melalui Program ICRAF - Peat IMPACTS (Improving Peatland Management and Stakeholders Capacities).</a:t>
            </a:r>
            <a:endParaRPr lang="en-US" sz="850" dirty="0">
              <a:latin typeface="Leelawadee UI" panose="020B0502040204020203" pitchFamily="34" charset="-34"/>
              <a:cs typeface="Leelawadee UI" panose="020B0502040204020203" pitchFamily="34" charset="-34"/>
            </a:endParaRPr>
          </a:p>
        </p:txBody>
      </p:sp>
      <p:sp>
        <p:nvSpPr>
          <p:cNvPr id="33" name="Shape 21">
            <a:extLst>
              <a:ext uri="{FF2B5EF4-FFF2-40B4-BE49-F238E27FC236}">
                <a16:creationId xmlns:a16="http://schemas.microsoft.com/office/drawing/2014/main" id="{7F8F64F5-23E0-8F57-DD3C-0D1ADBAE9BD8}"/>
              </a:ext>
            </a:extLst>
          </p:cNvPr>
          <p:cNvSpPr/>
          <p:nvPr/>
        </p:nvSpPr>
        <p:spPr>
          <a:xfrm>
            <a:off x="5829707" y="7624347"/>
            <a:ext cx="9525" cy="182166"/>
          </a:xfrm>
          <a:prstGeom prst="roundRect">
            <a:avLst>
              <a:gd name="adj" fmla="val 143459"/>
            </a:avLst>
          </a:prstGeom>
          <a:solidFill>
            <a:srgbClr val="D3D1C9"/>
          </a:solidFill>
          <a:ln/>
        </p:spPr>
      </p:sp>
      <p:sp>
        <p:nvSpPr>
          <p:cNvPr id="34" name="Shape 22">
            <a:extLst>
              <a:ext uri="{FF2B5EF4-FFF2-40B4-BE49-F238E27FC236}">
                <a16:creationId xmlns:a16="http://schemas.microsoft.com/office/drawing/2014/main" id="{6D9847CE-B3A3-7F49-F62C-0411B3B5BAF0}"/>
              </a:ext>
            </a:extLst>
          </p:cNvPr>
          <p:cNvSpPr/>
          <p:nvPr/>
        </p:nvSpPr>
        <p:spPr>
          <a:xfrm>
            <a:off x="5800309" y="7772356"/>
            <a:ext cx="68312" cy="68312"/>
          </a:xfrm>
          <a:prstGeom prst="roundRect">
            <a:avLst>
              <a:gd name="adj" fmla="val 418301"/>
            </a:avLst>
          </a:prstGeom>
          <a:solidFill>
            <a:srgbClr val="28282F"/>
          </a:solidFill>
          <a:ln/>
        </p:spPr>
      </p:sp>
      <p:sp>
        <p:nvSpPr>
          <p:cNvPr id="35" name="Text 23">
            <a:extLst>
              <a:ext uri="{FF2B5EF4-FFF2-40B4-BE49-F238E27FC236}">
                <a16:creationId xmlns:a16="http://schemas.microsoft.com/office/drawing/2014/main" id="{9B4728C5-49C8-8FD8-744D-90FAEF62A84C}"/>
              </a:ext>
            </a:extLst>
          </p:cNvPr>
          <p:cNvSpPr/>
          <p:nvPr/>
        </p:nvSpPr>
        <p:spPr>
          <a:xfrm>
            <a:off x="5265123" y="6845455"/>
            <a:ext cx="1138684" cy="142280"/>
          </a:xfrm>
          <a:prstGeom prst="rect">
            <a:avLst/>
          </a:prstGeom>
          <a:noFill/>
          <a:ln/>
        </p:spPr>
        <p:txBody>
          <a:bodyPr wrap="none" lIns="0" tIns="0" rIns="0" bIns="0" rtlCol="0" anchor="t"/>
          <a:lstStyle/>
          <a:p>
            <a:pPr algn="ctr">
              <a:lnSpc>
                <a:spcPct val="104000"/>
              </a:lnSpc>
            </a:pPr>
            <a:r>
              <a:rPr lang="en-US" sz="850" dirty="0">
                <a:solidFill>
                  <a:srgbClr val="161613"/>
                </a:solidFill>
                <a:latin typeface="DM Sans Medium" pitchFamily="34" charset="0"/>
                <a:ea typeface="DM Sans Medium" pitchFamily="34" charset="-122"/>
                <a:cs typeface="DM Sans Medium" pitchFamily="34" charset="-120"/>
              </a:rPr>
              <a:t>2023–2024</a:t>
            </a:r>
            <a:endParaRPr lang="en-US" sz="850" dirty="0"/>
          </a:p>
        </p:txBody>
      </p:sp>
      <p:sp>
        <p:nvSpPr>
          <p:cNvPr id="36" name="Text 24">
            <a:extLst>
              <a:ext uri="{FF2B5EF4-FFF2-40B4-BE49-F238E27FC236}">
                <a16:creationId xmlns:a16="http://schemas.microsoft.com/office/drawing/2014/main" id="{D7C2292D-BACF-AFF2-8DAE-F7226665645D}"/>
              </a:ext>
            </a:extLst>
          </p:cNvPr>
          <p:cNvSpPr/>
          <p:nvPr/>
        </p:nvSpPr>
        <p:spPr>
          <a:xfrm>
            <a:off x="5058996" y="7027849"/>
            <a:ext cx="1551012" cy="379065"/>
          </a:xfrm>
          <a:prstGeom prst="rect">
            <a:avLst/>
          </a:prstGeom>
          <a:noFill/>
          <a:ln/>
        </p:spPr>
        <p:txBody>
          <a:bodyPr wrap="square" lIns="0" tIns="0" rIns="0" bIns="0" rtlCol="0" anchor="t">
            <a:noAutofit/>
          </a:bodyPr>
          <a:lstStyle/>
          <a:p>
            <a:pPr algn="ctr">
              <a:lnSpc>
                <a:spcPct val="116000"/>
              </a:lnSpc>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Pendampingan tiga desa (Tanjung Pura, Mayak, Ulak Medang) melalui program UNDP KalFor.</a:t>
            </a:r>
            <a:endParaRPr lang="en-US" sz="850" dirty="0">
              <a:latin typeface="Leelawadee UI" panose="020B0502040204020203" pitchFamily="34" charset="-34"/>
              <a:cs typeface="Leelawadee UI" panose="020B0502040204020203" pitchFamily="34" charset="-34"/>
            </a:endParaRPr>
          </a:p>
        </p:txBody>
      </p:sp>
      <p:sp>
        <p:nvSpPr>
          <p:cNvPr id="37" name="Shape 25">
            <a:extLst>
              <a:ext uri="{FF2B5EF4-FFF2-40B4-BE49-F238E27FC236}">
                <a16:creationId xmlns:a16="http://schemas.microsoft.com/office/drawing/2014/main" id="{34D05FA4-91F3-177B-B9A4-FC74FC4FFDE0}"/>
              </a:ext>
            </a:extLst>
          </p:cNvPr>
          <p:cNvSpPr/>
          <p:nvPr/>
        </p:nvSpPr>
        <p:spPr>
          <a:xfrm>
            <a:off x="6738079" y="7806512"/>
            <a:ext cx="9525" cy="182166"/>
          </a:xfrm>
          <a:prstGeom prst="roundRect">
            <a:avLst>
              <a:gd name="adj" fmla="val 143459"/>
            </a:avLst>
          </a:prstGeom>
          <a:solidFill>
            <a:srgbClr val="D3D1C9"/>
          </a:solidFill>
          <a:ln/>
        </p:spPr>
      </p:sp>
      <p:sp>
        <p:nvSpPr>
          <p:cNvPr id="38" name="Shape 26">
            <a:extLst>
              <a:ext uri="{FF2B5EF4-FFF2-40B4-BE49-F238E27FC236}">
                <a16:creationId xmlns:a16="http://schemas.microsoft.com/office/drawing/2014/main" id="{6F823784-60C1-3614-3EF2-CFA279F3198C}"/>
              </a:ext>
            </a:extLst>
          </p:cNvPr>
          <p:cNvSpPr/>
          <p:nvPr/>
        </p:nvSpPr>
        <p:spPr>
          <a:xfrm>
            <a:off x="6708681" y="7772356"/>
            <a:ext cx="68312" cy="68312"/>
          </a:xfrm>
          <a:prstGeom prst="roundRect">
            <a:avLst>
              <a:gd name="adj" fmla="val 418301"/>
            </a:avLst>
          </a:prstGeom>
          <a:solidFill>
            <a:srgbClr val="28282F"/>
          </a:solidFill>
          <a:ln/>
        </p:spPr>
      </p:sp>
      <p:sp>
        <p:nvSpPr>
          <p:cNvPr id="39" name="Text 27">
            <a:extLst>
              <a:ext uri="{FF2B5EF4-FFF2-40B4-BE49-F238E27FC236}">
                <a16:creationId xmlns:a16="http://schemas.microsoft.com/office/drawing/2014/main" id="{59660222-4589-08FF-EA01-E7689FECF00C}"/>
              </a:ext>
            </a:extLst>
          </p:cNvPr>
          <p:cNvSpPr/>
          <p:nvPr/>
        </p:nvSpPr>
        <p:spPr>
          <a:xfrm>
            <a:off x="6173496" y="8079761"/>
            <a:ext cx="1138684" cy="142280"/>
          </a:xfrm>
          <a:prstGeom prst="rect">
            <a:avLst/>
          </a:prstGeom>
          <a:noFill/>
          <a:ln/>
        </p:spPr>
        <p:txBody>
          <a:bodyPr wrap="none" lIns="0" tIns="0" rIns="0" bIns="0" rtlCol="0" anchor="t"/>
          <a:lstStyle/>
          <a:p>
            <a:pPr algn="ctr">
              <a:lnSpc>
                <a:spcPct val="104000"/>
              </a:lnSpc>
            </a:pPr>
            <a:r>
              <a:rPr lang="en-US" sz="850" dirty="0">
                <a:solidFill>
                  <a:srgbClr val="161613"/>
                </a:solidFill>
                <a:latin typeface="DM Sans Medium" pitchFamily="34" charset="0"/>
                <a:ea typeface="DM Sans Medium" pitchFamily="34" charset="-122"/>
                <a:cs typeface="DM Sans Medium" pitchFamily="34" charset="-120"/>
              </a:rPr>
              <a:t>2024</a:t>
            </a:r>
            <a:endParaRPr lang="en-US" sz="850" dirty="0"/>
          </a:p>
        </p:txBody>
      </p:sp>
      <p:sp>
        <p:nvSpPr>
          <p:cNvPr id="40" name="Text 28">
            <a:extLst>
              <a:ext uri="{FF2B5EF4-FFF2-40B4-BE49-F238E27FC236}">
                <a16:creationId xmlns:a16="http://schemas.microsoft.com/office/drawing/2014/main" id="{3ACB1BA7-6CDA-D865-ABD9-F61C47DFE50F}"/>
              </a:ext>
            </a:extLst>
          </p:cNvPr>
          <p:cNvSpPr/>
          <p:nvPr/>
        </p:nvSpPr>
        <p:spPr>
          <a:xfrm>
            <a:off x="5967369" y="8262155"/>
            <a:ext cx="1551012" cy="379065"/>
          </a:xfrm>
          <a:prstGeom prst="rect">
            <a:avLst/>
          </a:prstGeom>
          <a:noFill/>
          <a:ln/>
        </p:spPr>
        <p:txBody>
          <a:bodyPr wrap="square" lIns="0" tIns="0" rIns="0" bIns="0" rtlCol="0" anchor="t">
            <a:noAutofit/>
          </a:bodyPr>
          <a:lstStyle/>
          <a:p>
            <a:pPr algn="ctr">
              <a:lnSpc>
                <a:spcPct val="116000"/>
              </a:lnSpc>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Pengembangan dan penetapan Landscape Governance Operating System (LGOS).</a:t>
            </a:r>
            <a:endParaRPr lang="en-US" sz="850" dirty="0">
              <a:latin typeface="Leelawadee UI" panose="020B0502040204020203" pitchFamily="34" charset="-34"/>
              <a:cs typeface="Leelawadee UI" panose="020B0502040204020203" pitchFamily="34" charset="-34"/>
            </a:endParaRPr>
          </a:p>
        </p:txBody>
      </p:sp>
      <p:sp>
        <p:nvSpPr>
          <p:cNvPr id="41" name="Shape 29">
            <a:extLst>
              <a:ext uri="{FF2B5EF4-FFF2-40B4-BE49-F238E27FC236}">
                <a16:creationId xmlns:a16="http://schemas.microsoft.com/office/drawing/2014/main" id="{FFD92B16-3991-90E9-0D4B-369CB3C8F28F}"/>
              </a:ext>
            </a:extLst>
          </p:cNvPr>
          <p:cNvSpPr/>
          <p:nvPr/>
        </p:nvSpPr>
        <p:spPr>
          <a:xfrm>
            <a:off x="7646526" y="7624347"/>
            <a:ext cx="9525" cy="182166"/>
          </a:xfrm>
          <a:prstGeom prst="roundRect">
            <a:avLst>
              <a:gd name="adj" fmla="val 143459"/>
            </a:avLst>
          </a:prstGeom>
          <a:solidFill>
            <a:srgbClr val="D3D1C9"/>
          </a:solidFill>
          <a:ln/>
        </p:spPr>
      </p:sp>
      <p:sp>
        <p:nvSpPr>
          <p:cNvPr id="42" name="Shape 30">
            <a:extLst>
              <a:ext uri="{FF2B5EF4-FFF2-40B4-BE49-F238E27FC236}">
                <a16:creationId xmlns:a16="http://schemas.microsoft.com/office/drawing/2014/main" id="{46FCA900-9022-91C1-6696-C08C7799D971}"/>
              </a:ext>
            </a:extLst>
          </p:cNvPr>
          <p:cNvSpPr/>
          <p:nvPr/>
        </p:nvSpPr>
        <p:spPr>
          <a:xfrm>
            <a:off x="7617128" y="7772356"/>
            <a:ext cx="68312" cy="68312"/>
          </a:xfrm>
          <a:prstGeom prst="roundRect">
            <a:avLst>
              <a:gd name="adj" fmla="val 418301"/>
            </a:avLst>
          </a:prstGeom>
          <a:solidFill>
            <a:srgbClr val="28282F"/>
          </a:solidFill>
          <a:ln/>
        </p:spPr>
      </p:sp>
      <p:sp>
        <p:nvSpPr>
          <p:cNvPr id="43" name="Text 31">
            <a:extLst>
              <a:ext uri="{FF2B5EF4-FFF2-40B4-BE49-F238E27FC236}">
                <a16:creationId xmlns:a16="http://schemas.microsoft.com/office/drawing/2014/main" id="{2439AEFF-F74F-7223-9349-85B7DC4005E1}"/>
              </a:ext>
            </a:extLst>
          </p:cNvPr>
          <p:cNvSpPr/>
          <p:nvPr/>
        </p:nvSpPr>
        <p:spPr>
          <a:xfrm>
            <a:off x="7081942" y="6845455"/>
            <a:ext cx="1138684" cy="142280"/>
          </a:xfrm>
          <a:prstGeom prst="rect">
            <a:avLst/>
          </a:prstGeom>
          <a:noFill/>
          <a:ln/>
        </p:spPr>
        <p:txBody>
          <a:bodyPr wrap="none" lIns="0" tIns="0" rIns="0" bIns="0" rtlCol="0" anchor="t"/>
          <a:lstStyle/>
          <a:p>
            <a:pPr algn="ctr">
              <a:lnSpc>
                <a:spcPct val="104000"/>
              </a:lnSpc>
            </a:pPr>
            <a:r>
              <a:rPr lang="en-US" sz="850" dirty="0">
                <a:solidFill>
                  <a:srgbClr val="161613"/>
                </a:solidFill>
                <a:latin typeface="DM Sans Medium" pitchFamily="34" charset="0"/>
                <a:ea typeface="DM Sans Medium" pitchFamily="34" charset="-122"/>
                <a:cs typeface="DM Sans Medium" pitchFamily="34" charset="-120"/>
              </a:rPr>
              <a:t>2024–2025</a:t>
            </a:r>
            <a:endParaRPr lang="en-US" sz="850" dirty="0"/>
          </a:p>
        </p:txBody>
      </p:sp>
      <p:sp>
        <p:nvSpPr>
          <p:cNvPr id="44" name="Text 32">
            <a:extLst>
              <a:ext uri="{FF2B5EF4-FFF2-40B4-BE49-F238E27FC236}">
                <a16:creationId xmlns:a16="http://schemas.microsoft.com/office/drawing/2014/main" id="{BB8CE687-C434-F0AD-B9DC-55F016A45A30}"/>
              </a:ext>
            </a:extLst>
          </p:cNvPr>
          <p:cNvSpPr/>
          <p:nvPr/>
        </p:nvSpPr>
        <p:spPr>
          <a:xfrm>
            <a:off x="6875746" y="7027849"/>
            <a:ext cx="1551087" cy="379065"/>
          </a:xfrm>
          <a:prstGeom prst="rect">
            <a:avLst/>
          </a:prstGeom>
          <a:noFill/>
          <a:ln/>
        </p:spPr>
        <p:txBody>
          <a:bodyPr wrap="square" lIns="0" tIns="0" rIns="0" bIns="0" rtlCol="0" anchor="t">
            <a:noAutofit/>
          </a:bodyPr>
          <a:lstStyle/>
          <a:p>
            <a:pPr algn="ctr">
              <a:lnSpc>
                <a:spcPct val="116000"/>
              </a:lnSpc>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Penyusunan Strategic Plan 2026–2035 dan Program Framework lima pilar strategis.</a:t>
            </a:r>
            <a:endParaRPr lang="en-US" sz="850" dirty="0">
              <a:latin typeface="Leelawadee UI" panose="020B0502040204020203" pitchFamily="34" charset="-34"/>
              <a:cs typeface="Leelawadee UI" panose="020B0502040204020203" pitchFamily="34" charset="-34"/>
            </a:endParaRPr>
          </a:p>
        </p:txBody>
      </p:sp>
      <p:sp>
        <p:nvSpPr>
          <p:cNvPr id="45" name="Shape 33">
            <a:extLst>
              <a:ext uri="{FF2B5EF4-FFF2-40B4-BE49-F238E27FC236}">
                <a16:creationId xmlns:a16="http://schemas.microsoft.com/office/drawing/2014/main" id="{37FEA9E3-223B-44FF-FAD2-B02773A081F4}"/>
              </a:ext>
            </a:extLst>
          </p:cNvPr>
          <p:cNvSpPr/>
          <p:nvPr/>
        </p:nvSpPr>
        <p:spPr>
          <a:xfrm>
            <a:off x="496120" y="9095518"/>
            <a:ext cx="8032998" cy="786364"/>
          </a:xfrm>
          <a:prstGeom prst="roundRect">
            <a:avLst>
              <a:gd name="adj" fmla="val 2507"/>
            </a:avLst>
          </a:prstGeom>
          <a:solidFill>
            <a:srgbClr val="B6D6FC"/>
          </a:solidFill>
          <a:ln/>
        </p:spPr>
      </p:sp>
      <p:pic>
        <p:nvPicPr>
          <p:cNvPr id="46" name="Image 0" descr="preencoded.png">
            <a:extLst>
              <a:ext uri="{FF2B5EF4-FFF2-40B4-BE49-F238E27FC236}">
                <a16:creationId xmlns:a16="http://schemas.microsoft.com/office/drawing/2014/main" id="{93577250-5179-256D-2C8D-D4290BEBA281}"/>
              </a:ext>
            </a:extLst>
          </p:cNvPr>
          <p:cNvPicPr>
            <a:picLocks noChangeAspect="1"/>
          </p:cNvPicPr>
          <p:nvPr/>
        </p:nvPicPr>
        <p:blipFill>
          <a:blip r:embed="rId2"/>
          <a:stretch>
            <a:fillRect/>
          </a:stretch>
        </p:blipFill>
        <p:spPr>
          <a:xfrm>
            <a:off x="587201" y="9215399"/>
            <a:ext cx="113854" cy="91083"/>
          </a:xfrm>
          <a:prstGeom prst="rect">
            <a:avLst/>
          </a:prstGeom>
        </p:spPr>
      </p:pic>
      <p:sp>
        <p:nvSpPr>
          <p:cNvPr id="47" name="Text 34">
            <a:extLst>
              <a:ext uri="{FF2B5EF4-FFF2-40B4-BE49-F238E27FC236}">
                <a16:creationId xmlns:a16="http://schemas.microsoft.com/office/drawing/2014/main" id="{DE929197-1A09-E96F-B0D5-4C47BEB2C369}"/>
              </a:ext>
            </a:extLst>
          </p:cNvPr>
          <p:cNvSpPr/>
          <p:nvPr/>
        </p:nvSpPr>
        <p:spPr>
          <a:xfrm>
            <a:off x="792137" y="9178489"/>
            <a:ext cx="7634694" cy="663317"/>
          </a:xfrm>
          <a:prstGeom prst="rect">
            <a:avLst/>
          </a:prstGeom>
          <a:noFill/>
          <a:ln/>
        </p:spPr>
        <p:txBody>
          <a:bodyPr wrap="square" lIns="0" tIns="0" rIns="0" bIns="0" rtlCol="0" anchor="t">
            <a:normAutofit/>
          </a:bodyPr>
          <a:lstStyle/>
          <a:p>
            <a:pPr>
              <a:lnSpc>
                <a:spcPct val="116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Saat ini, YNKI memposisikan diri sebagai </a:t>
            </a:r>
            <a:r>
              <a:rPr lang="en-US" sz="900" b="1" dirty="0">
                <a:solidFill>
                  <a:srgbClr val="000000"/>
                </a:solidFill>
                <a:latin typeface="Leelawadee UI" panose="020B0502040204020203" pitchFamily="34" charset="-34"/>
                <a:ea typeface="Inter" pitchFamily="34" charset="-122"/>
                <a:cs typeface="Leelawadee UI" panose="020B0502040204020203" pitchFamily="34" charset="-34"/>
              </a:rPr>
              <a:t>Landscape Governance Backbone Organization</a:t>
            </a: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—sebuah organisasi penghubung yang menjembatani kepentingan pemerintah, masyarakat, sektor swasta, akademisi, dan donor dalam satu kerangka tata kelola lanskap yang sama. Peran ini semakin relevan di tengah perubahan arsitektur pembangunan global yang menekankan </a:t>
            </a:r>
            <a:r>
              <a:rPr lang="en-US" sz="900" i="1" dirty="0">
                <a:solidFill>
                  <a:srgbClr val="000000"/>
                </a:solidFill>
                <a:latin typeface="Leelawadee UI" panose="020B0502040204020203" pitchFamily="34" charset="-34"/>
                <a:ea typeface="Inter" pitchFamily="34" charset="-122"/>
                <a:cs typeface="Leelawadee UI" panose="020B0502040204020203" pitchFamily="34" charset="-34"/>
              </a:rPr>
              <a:t>country ownership</a:t>
            </a: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 pendekatan yurisdiksi, dan penguatan sistem pemerintahan.</a:t>
            </a:r>
            <a:endParaRPr lang="en-US" sz="900" dirty="0">
              <a:latin typeface="Leelawadee UI" panose="020B0502040204020203" pitchFamily="34" charset="-34"/>
              <a:cs typeface="Leelawadee UI" panose="020B0502040204020203" pitchFamily="34" charset="-34"/>
            </a:endParaRPr>
          </a:p>
        </p:txBody>
      </p:sp>
      <p:pic>
        <p:nvPicPr>
          <p:cNvPr id="48" name="Image 0" descr="preencoded.png">
            <a:extLst>
              <a:ext uri="{FF2B5EF4-FFF2-40B4-BE49-F238E27FC236}">
                <a16:creationId xmlns:a16="http://schemas.microsoft.com/office/drawing/2014/main" id="{FFD36EA6-7F0B-0524-AA2F-1E639D85AFEB}"/>
              </a:ext>
            </a:extLst>
          </p:cNvPr>
          <p:cNvPicPr>
            <a:picLocks noChangeAspect="1"/>
          </p:cNvPicPr>
          <p:nvPr/>
        </p:nvPicPr>
        <p:blipFill>
          <a:blip r:embed="rId3"/>
          <a:srcRect b="12957"/>
          <a:stretch>
            <a:fillRect/>
          </a:stretch>
        </p:blipFill>
        <p:spPr>
          <a:xfrm>
            <a:off x="2" y="-9253"/>
            <a:ext cx="9001125" cy="4407123"/>
          </a:xfrm>
          <a:prstGeom prst="rect">
            <a:avLst/>
          </a:prstGeom>
        </p:spPr>
      </p:pic>
      <p:sp>
        <p:nvSpPr>
          <p:cNvPr id="50" name="Shape 1">
            <a:extLst>
              <a:ext uri="{FF2B5EF4-FFF2-40B4-BE49-F238E27FC236}">
                <a16:creationId xmlns:a16="http://schemas.microsoft.com/office/drawing/2014/main" id="{DF9D95BD-5D4C-EBA6-F26F-1EE793CE9024}"/>
              </a:ext>
            </a:extLst>
          </p:cNvPr>
          <p:cNvSpPr/>
          <p:nvPr/>
        </p:nvSpPr>
        <p:spPr>
          <a:xfrm>
            <a:off x="6100085" y="647437"/>
            <a:ext cx="2580456" cy="242739"/>
          </a:xfrm>
          <a:prstGeom prst="roundRect">
            <a:avLst>
              <a:gd name="adj" fmla="val 6132"/>
            </a:avLst>
          </a:prstGeom>
          <a:noFill/>
          <a:ln w="4763">
            <a:solidFill>
              <a:srgbClr val="28282F"/>
            </a:solidFill>
            <a:prstDash val="solid"/>
          </a:ln>
        </p:spPr>
      </p:sp>
      <p:sp>
        <p:nvSpPr>
          <p:cNvPr id="51" name="Text 2">
            <a:extLst>
              <a:ext uri="{FF2B5EF4-FFF2-40B4-BE49-F238E27FC236}">
                <a16:creationId xmlns:a16="http://schemas.microsoft.com/office/drawing/2014/main" id="{47F9BC18-BF72-AD2E-4E38-5BCEFD0204CC}"/>
              </a:ext>
            </a:extLst>
          </p:cNvPr>
          <p:cNvSpPr/>
          <p:nvPr/>
        </p:nvSpPr>
        <p:spPr>
          <a:xfrm>
            <a:off x="6179266" y="689404"/>
            <a:ext cx="2879303" cy="158800"/>
          </a:xfrm>
          <a:prstGeom prst="rect">
            <a:avLst/>
          </a:prstGeom>
          <a:noFill/>
          <a:ln/>
        </p:spPr>
        <p:txBody>
          <a:bodyPr wrap="none" lIns="0" tIns="0" rIns="0" bIns="0" rtlCol="0" anchor="t"/>
          <a:lstStyle/>
          <a:p>
            <a:pPr>
              <a:lnSpc>
                <a:spcPct val="133000"/>
              </a:lnSpc>
            </a:pPr>
            <a:r>
              <a:rPr lang="en-US" sz="800" dirty="0">
                <a:solidFill>
                  <a:schemeClr val="bg1"/>
                </a:solidFill>
                <a:latin typeface="Leelawadee UI" panose="020B0502040204020203" pitchFamily="34" charset="-34"/>
                <a:ea typeface="Inter" pitchFamily="34" charset="-122"/>
                <a:cs typeface="Leelawadee UI" panose="020B0502040204020203" pitchFamily="34" charset="-34"/>
              </a:rPr>
              <a:t>BERANDA / TENTANG KAMI / SEJARAH, VISI &amp; MISI</a:t>
            </a:r>
            <a:endParaRPr lang="en-US" sz="800" dirty="0">
              <a:solidFill>
                <a:schemeClr val="bg1"/>
              </a:solidFill>
              <a:latin typeface="Leelawadee UI" panose="020B0502040204020203" pitchFamily="34" charset="-34"/>
              <a:cs typeface="Leelawadee UI" panose="020B0502040204020203" pitchFamily="34" charset="-34"/>
            </a:endParaRPr>
          </a:p>
        </p:txBody>
      </p:sp>
      <p:sp>
        <p:nvSpPr>
          <p:cNvPr id="52" name="Text 3">
            <a:extLst>
              <a:ext uri="{FF2B5EF4-FFF2-40B4-BE49-F238E27FC236}">
                <a16:creationId xmlns:a16="http://schemas.microsoft.com/office/drawing/2014/main" id="{E083D4B4-E8FF-2A01-2C49-9569C1D96427}"/>
              </a:ext>
            </a:extLst>
          </p:cNvPr>
          <p:cNvSpPr/>
          <p:nvPr/>
        </p:nvSpPr>
        <p:spPr>
          <a:xfrm>
            <a:off x="496123" y="1865463"/>
            <a:ext cx="8151763" cy="775097"/>
          </a:xfrm>
          <a:prstGeom prst="rect">
            <a:avLst/>
          </a:prstGeom>
          <a:noFill/>
          <a:ln/>
        </p:spPr>
        <p:txBody>
          <a:bodyPr wrap="square" lIns="0" tIns="0" rIns="0" bIns="0" rtlCol="0" anchor="t">
            <a:normAutofit/>
          </a:bodyPr>
          <a:lstStyle/>
          <a:p>
            <a:pPr>
              <a:lnSpc>
                <a:spcPct val="104000"/>
              </a:lnSpc>
            </a:pPr>
            <a:r>
              <a:rPr lang="en-US" sz="2400" dirty="0">
                <a:solidFill>
                  <a:schemeClr val="bg1"/>
                </a:solidFill>
                <a:latin typeface="Leelawadee UI" panose="020B0502040204020203" pitchFamily="34" charset="-34"/>
                <a:ea typeface="DM Sans Medium" pitchFamily="34" charset="-122"/>
                <a:cs typeface="Leelawadee UI" panose="020B0502040204020203" pitchFamily="34" charset="-34"/>
              </a:rPr>
              <a:t>Perjalanan, Visi, dan Misi YNKI untuk Lanskap yang Berkelanjutan</a:t>
            </a:r>
            <a:endParaRPr lang="en-US" sz="2400" dirty="0">
              <a:solidFill>
                <a:schemeClr val="bg1"/>
              </a:solidFill>
              <a:latin typeface="Leelawadee UI" panose="020B0502040204020203" pitchFamily="34" charset="-34"/>
              <a:cs typeface="Leelawadee UI" panose="020B0502040204020203" pitchFamily="34" charset="-34"/>
            </a:endParaRPr>
          </a:p>
        </p:txBody>
      </p:sp>
      <p:pic>
        <p:nvPicPr>
          <p:cNvPr id="54" name="Image 1" descr="preencoded.png">
            <a:hlinkClick r:id="rId4"/>
            <a:extLst>
              <a:ext uri="{FF2B5EF4-FFF2-40B4-BE49-F238E27FC236}">
                <a16:creationId xmlns:a16="http://schemas.microsoft.com/office/drawing/2014/main" id="{9A736DD4-C321-CD54-ED92-0C9690DDB789}"/>
              </a:ext>
            </a:extLst>
          </p:cNvPr>
          <p:cNvPicPr>
            <a:picLocks noChangeAspect="1"/>
          </p:cNvPicPr>
          <p:nvPr/>
        </p:nvPicPr>
        <p:blipFill>
          <a:blip r:embed="rId5"/>
          <a:stretch>
            <a:fillRect/>
          </a:stretch>
        </p:blipFill>
        <p:spPr>
          <a:xfrm>
            <a:off x="496119" y="3743705"/>
            <a:ext cx="1205582" cy="326329"/>
          </a:xfrm>
          <a:prstGeom prst="rect">
            <a:avLst/>
          </a:prstGeom>
        </p:spPr>
      </p:pic>
      <p:pic>
        <p:nvPicPr>
          <p:cNvPr id="55" name="Image 2" descr="preencoded.png">
            <a:hlinkClick r:id="rId6"/>
            <a:extLst>
              <a:ext uri="{FF2B5EF4-FFF2-40B4-BE49-F238E27FC236}">
                <a16:creationId xmlns:a16="http://schemas.microsoft.com/office/drawing/2014/main" id="{B2FABED8-BED4-0AD5-1BA3-86E234F5A34F}"/>
              </a:ext>
            </a:extLst>
          </p:cNvPr>
          <p:cNvPicPr>
            <a:picLocks noChangeAspect="1"/>
          </p:cNvPicPr>
          <p:nvPr/>
        </p:nvPicPr>
        <p:blipFill>
          <a:blip r:embed="rId7"/>
          <a:stretch>
            <a:fillRect/>
          </a:stretch>
        </p:blipFill>
        <p:spPr>
          <a:xfrm>
            <a:off x="1818308" y="3743704"/>
            <a:ext cx="1395338" cy="300476"/>
          </a:xfrm>
          <a:prstGeom prst="rect">
            <a:avLst/>
          </a:prstGeom>
        </p:spPr>
      </p:pic>
      <p:sp>
        <p:nvSpPr>
          <p:cNvPr id="56" name="Text 4">
            <a:extLst>
              <a:ext uri="{FF2B5EF4-FFF2-40B4-BE49-F238E27FC236}">
                <a16:creationId xmlns:a16="http://schemas.microsoft.com/office/drawing/2014/main" id="{F5BA23E7-2617-AF11-B09F-F6C13FB16688}"/>
              </a:ext>
            </a:extLst>
          </p:cNvPr>
          <p:cNvSpPr/>
          <p:nvPr/>
        </p:nvSpPr>
        <p:spPr>
          <a:xfrm>
            <a:off x="496123" y="2826597"/>
            <a:ext cx="8151763" cy="396925"/>
          </a:xfrm>
          <a:prstGeom prst="rect">
            <a:avLst/>
          </a:prstGeom>
          <a:noFill/>
          <a:ln/>
        </p:spPr>
        <p:txBody>
          <a:bodyPr wrap="square" lIns="0" tIns="0" rIns="0" bIns="0" rtlCol="0" anchor="t">
            <a:normAutofit/>
          </a:bodyPr>
          <a:lstStyle/>
          <a:p>
            <a:pPr>
              <a:lnSpc>
                <a:spcPct val="133000"/>
              </a:lnSpc>
            </a:pPr>
            <a:r>
              <a:rPr lang="en-US" sz="950" dirty="0">
                <a:solidFill>
                  <a:schemeClr val="bg1"/>
                </a:solidFill>
                <a:latin typeface="Leelawadee UI" panose="020B0502040204020203" pitchFamily="34" charset="-34"/>
                <a:ea typeface="Inter" pitchFamily="34" charset="-122"/>
                <a:cs typeface="Leelawadee UI" panose="020B0502040204020203" pitchFamily="34" charset="-34"/>
              </a:rPr>
              <a:t>Berdiri sejak 2019 di Pontianak, Yayasan Natural Kapital Indonesia (YNKI) berkomitmen memperkuat tata kelola lanskap yang inklusif dan kolaboratif untuk mewujudkan lanskap sehat dan masyarakat sejahtera.</a:t>
            </a:r>
            <a:endParaRPr lang="en-US" sz="950" dirty="0">
              <a:solidFill>
                <a:schemeClr val="bg1"/>
              </a:solidFill>
              <a:latin typeface="Leelawadee UI" panose="020B0502040204020203" pitchFamily="34" charset="-34"/>
              <a:cs typeface="Leelawadee UI" panose="020B0502040204020203" pitchFamily="34" charset="-34"/>
            </a:endParaRPr>
          </a:p>
        </p:txBody>
      </p:sp>
      <p:sp>
        <p:nvSpPr>
          <p:cNvPr id="57" name="Shape 0">
            <a:extLst>
              <a:ext uri="{FF2B5EF4-FFF2-40B4-BE49-F238E27FC236}">
                <a16:creationId xmlns:a16="http://schemas.microsoft.com/office/drawing/2014/main" id="{2B3D3A41-ACAE-19C9-EAD3-9C909A6605BF}"/>
              </a:ext>
            </a:extLst>
          </p:cNvPr>
          <p:cNvSpPr/>
          <p:nvPr/>
        </p:nvSpPr>
        <p:spPr>
          <a:xfrm>
            <a:off x="517697" y="10013836"/>
            <a:ext cx="613470" cy="233214"/>
          </a:xfrm>
          <a:prstGeom prst="roundRect">
            <a:avLst>
              <a:gd name="adj" fmla="val 6383"/>
            </a:avLst>
          </a:prstGeom>
          <a:solidFill>
            <a:srgbClr val="E3E3E8"/>
          </a:solidFill>
          <a:ln/>
        </p:spPr>
      </p:sp>
      <p:sp>
        <p:nvSpPr>
          <p:cNvPr id="58" name="Text 1">
            <a:extLst>
              <a:ext uri="{FF2B5EF4-FFF2-40B4-BE49-F238E27FC236}">
                <a16:creationId xmlns:a16="http://schemas.microsoft.com/office/drawing/2014/main" id="{1A4F21DE-A9ED-A789-35A9-14B1212FE46B}"/>
              </a:ext>
            </a:extLst>
          </p:cNvPr>
          <p:cNvSpPr/>
          <p:nvPr/>
        </p:nvSpPr>
        <p:spPr>
          <a:xfrm>
            <a:off x="592113" y="10051043"/>
            <a:ext cx="921841" cy="158800"/>
          </a:xfrm>
          <a:prstGeom prst="rect">
            <a:avLst/>
          </a:prstGeom>
          <a:noFill/>
          <a:ln/>
        </p:spPr>
        <p:txBody>
          <a:bodyPr wrap="none" lIns="0" tIns="0" rIns="0" bIns="0" rtlCol="0" anchor="t"/>
          <a:lstStyle/>
          <a:p>
            <a:pPr>
              <a:lnSpc>
                <a:spcPct val="133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VISI KAMI</a:t>
            </a:r>
            <a:endParaRPr lang="en-US" sz="800" dirty="0">
              <a:latin typeface="Leelawadee UI" panose="020B0502040204020203" pitchFamily="34" charset="-34"/>
              <a:cs typeface="Leelawadee UI" panose="020B0502040204020203" pitchFamily="34" charset="-34"/>
            </a:endParaRPr>
          </a:p>
        </p:txBody>
      </p:sp>
      <p:sp>
        <p:nvSpPr>
          <p:cNvPr id="59" name="Text 2">
            <a:extLst>
              <a:ext uri="{FF2B5EF4-FFF2-40B4-BE49-F238E27FC236}">
                <a16:creationId xmlns:a16="http://schemas.microsoft.com/office/drawing/2014/main" id="{1B5E0D9B-D413-4FCA-D8CF-920A5F641B67}"/>
              </a:ext>
            </a:extLst>
          </p:cNvPr>
          <p:cNvSpPr/>
          <p:nvPr/>
        </p:nvSpPr>
        <p:spPr>
          <a:xfrm>
            <a:off x="517697" y="10296609"/>
            <a:ext cx="3558332" cy="387548"/>
          </a:xfrm>
          <a:prstGeom prst="rect">
            <a:avLst/>
          </a:prstGeom>
          <a:noFill/>
          <a:ln/>
        </p:spPr>
        <p:txBody>
          <a:bodyPr wrap="none" lIns="0" tIns="0" rIns="0" bIns="0" rtlCol="0" anchor="t"/>
          <a:lstStyle/>
          <a:p>
            <a:pP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Visi YNKI</a:t>
            </a:r>
            <a:endParaRPr lang="en-US" sz="2400" dirty="0">
              <a:latin typeface="Leelawadee UI" panose="020B0502040204020203" pitchFamily="34" charset="-34"/>
              <a:cs typeface="Leelawadee UI" panose="020B0502040204020203" pitchFamily="34" charset="-34"/>
            </a:endParaRPr>
          </a:p>
        </p:txBody>
      </p:sp>
      <p:sp>
        <p:nvSpPr>
          <p:cNvPr id="60" name="Shape 3">
            <a:extLst>
              <a:ext uri="{FF2B5EF4-FFF2-40B4-BE49-F238E27FC236}">
                <a16:creationId xmlns:a16="http://schemas.microsoft.com/office/drawing/2014/main" id="{E7E3DCC9-8C84-ABED-DD0D-CAE49516A812}"/>
              </a:ext>
            </a:extLst>
          </p:cNvPr>
          <p:cNvSpPr/>
          <p:nvPr/>
        </p:nvSpPr>
        <p:spPr>
          <a:xfrm>
            <a:off x="517697" y="10870195"/>
            <a:ext cx="14288" cy="992237"/>
          </a:xfrm>
          <a:prstGeom prst="roundRect">
            <a:avLst>
              <a:gd name="adj" fmla="val 59998"/>
            </a:avLst>
          </a:prstGeom>
          <a:solidFill>
            <a:srgbClr val="28282F"/>
          </a:solidFill>
          <a:ln/>
        </p:spPr>
      </p:sp>
      <p:sp>
        <p:nvSpPr>
          <p:cNvPr id="61" name="Text 4">
            <a:extLst>
              <a:ext uri="{FF2B5EF4-FFF2-40B4-BE49-F238E27FC236}">
                <a16:creationId xmlns:a16="http://schemas.microsoft.com/office/drawing/2014/main" id="{65E2E622-4AED-3877-F787-9C50271AAAD6}"/>
              </a:ext>
            </a:extLst>
          </p:cNvPr>
          <p:cNvSpPr/>
          <p:nvPr/>
        </p:nvSpPr>
        <p:spPr>
          <a:xfrm>
            <a:off x="703732" y="11056230"/>
            <a:ext cx="7965728" cy="620167"/>
          </a:xfrm>
          <a:prstGeom prst="rect">
            <a:avLst/>
          </a:prstGeom>
          <a:noFill/>
          <a:ln/>
        </p:spPr>
        <p:txBody>
          <a:bodyPr wrap="square" lIns="0" tIns="0" rIns="0" bIns="0" rtlCol="0" anchor="t">
            <a:normAutofit/>
          </a:bodyPr>
          <a:lstStyle/>
          <a:p>
            <a:pPr>
              <a:lnSpc>
                <a:spcPct val="104000"/>
              </a:lnSpc>
            </a:pPr>
            <a:r>
              <a:rPr lang="en-US" sz="1950" dirty="0">
                <a:solidFill>
                  <a:srgbClr val="161613"/>
                </a:solidFill>
                <a:latin typeface="Leelawadee UI" panose="020B0502040204020203" pitchFamily="34" charset="-34"/>
                <a:ea typeface="DM Sans Medium" pitchFamily="34" charset="-122"/>
                <a:cs typeface="Leelawadee UI" panose="020B0502040204020203" pitchFamily="34" charset="-34"/>
              </a:rPr>
              <a:t>"Sustainable and Resilient Landscapes for People, Nature and Future Generations."</a:t>
            </a:r>
            <a:endParaRPr lang="en-US" sz="1950" dirty="0">
              <a:latin typeface="Leelawadee UI" panose="020B0502040204020203" pitchFamily="34" charset="-34"/>
              <a:cs typeface="Leelawadee UI" panose="020B0502040204020203" pitchFamily="34" charset="-34"/>
            </a:endParaRPr>
          </a:p>
        </p:txBody>
      </p:sp>
      <p:sp>
        <p:nvSpPr>
          <p:cNvPr id="62" name="Shape 5">
            <a:extLst>
              <a:ext uri="{FF2B5EF4-FFF2-40B4-BE49-F238E27FC236}">
                <a16:creationId xmlns:a16="http://schemas.microsoft.com/office/drawing/2014/main" id="{74D27765-2169-4E8E-FD55-1FEF4128F15E}"/>
              </a:ext>
            </a:extLst>
          </p:cNvPr>
          <p:cNvSpPr/>
          <p:nvPr/>
        </p:nvSpPr>
        <p:spPr>
          <a:xfrm>
            <a:off x="517699" y="12001957"/>
            <a:ext cx="2634555" cy="1706984"/>
          </a:xfrm>
          <a:prstGeom prst="roundRect">
            <a:avLst>
              <a:gd name="adj" fmla="val 1090"/>
            </a:avLst>
          </a:prstGeom>
          <a:solidFill>
            <a:srgbClr val="EDEBE3"/>
          </a:solidFill>
          <a:ln/>
        </p:spPr>
      </p:sp>
      <p:sp>
        <p:nvSpPr>
          <p:cNvPr id="63" name="Text 6">
            <a:extLst>
              <a:ext uri="{FF2B5EF4-FFF2-40B4-BE49-F238E27FC236}">
                <a16:creationId xmlns:a16="http://schemas.microsoft.com/office/drawing/2014/main" id="{57D566F4-D7F7-DF63-7745-AC51A7F82B1F}"/>
              </a:ext>
            </a:extLst>
          </p:cNvPr>
          <p:cNvSpPr/>
          <p:nvPr/>
        </p:nvSpPr>
        <p:spPr>
          <a:xfrm>
            <a:off x="641670" y="12125932"/>
            <a:ext cx="1550566" cy="193849"/>
          </a:xfrm>
          <a:prstGeom prst="rect">
            <a:avLst/>
          </a:prstGeom>
          <a:noFill/>
          <a:ln/>
        </p:spPr>
        <p:txBody>
          <a:bodyPr wrap="none" lIns="0" tIns="0" rIns="0" bIns="0" rtlCol="0" anchor="t"/>
          <a:lstStyle/>
          <a:p>
            <a:pPr>
              <a:lnSpc>
                <a:spcPct val="104000"/>
              </a:lnSpc>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Kepada Manusia</a:t>
            </a:r>
            <a:endParaRPr lang="en-US" sz="1200" dirty="0">
              <a:latin typeface="Leelawadee UI" panose="020B0502040204020203" pitchFamily="34" charset="-34"/>
              <a:cs typeface="Leelawadee UI" panose="020B0502040204020203" pitchFamily="34" charset="-34"/>
            </a:endParaRPr>
          </a:p>
        </p:txBody>
      </p:sp>
      <p:sp>
        <p:nvSpPr>
          <p:cNvPr id="64" name="Text 7">
            <a:extLst>
              <a:ext uri="{FF2B5EF4-FFF2-40B4-BE49-F238E27FC236}">
                <a16:creationId xmlns:a16="http://schemas.microsoft.com/office/drawing/2014/main" id="{DF51C02E-8658-7A0C-BAC3-FAE69552FCE5}"/>
              </a:ext>
            </a:extLst>
          </p:cNvPr>
          <p:cNvSpPr/>
          <p:nvPr/>
        </p:nvSpPr>
        <p:spPr>
          <a:xfrm>
            <a:off x="641670" y="12394193"/>
            <a:ext cx="2386608" cy="1190774"/>
          </a:xfrm>
          <a:prstGeom prst="rect">
            <a:avLst/>
          </a:prstGeom>
          <a:noFill/>
          <a:ln/>
        </p:spPr>
        <p:txBody>
          <a:bodyPr wrap="square" lIns="0" tIns="0" rIns="0" bIns="0" rtlCol="0" anchor="t">
            <a:normAutofit/>
          </a:bodyPr>
          <a:lstStyle/>
          <a:p>
            <a:pPr>
              <a:lnSpc>
                <a:spcPct val="133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Lanskap yang menyediakan penghidupan layak, keadilan sosial, dan kesejahteraan bagi masyarakat yang hidup di dalam dan di sekitarnya. Tidak ada pembangunan sejati tanpa keadilan bagi komunitas lokal.</a:t>
            </a:r>
            <a:endParaRPr lang="en-US" sz="950" dirty="0">
              <a:latin typeface="Leelawadee UI" panose="020B0502040204020203" pitchFamily="34" charset="-34"/>
              <a:cs typeface="Leelawadee UI" panose="020B0502040204020203" pitchFamily="34" charset="-34"/>
            </a:endParaRPr>
          </a:p>
        </p:txBody>
      </p:sp>
      <p:sp>
        <p:nvSpPr>
          <p:cNvPr id="65" name="Shape 8">
            <a:extLst>
              <a:ext uri="{FF2B5EF4-FFF2-40B4-BE49-F238E27FC236}">
                <a16:creationId xmlns:a16="http://schemas.microsoft.com/office/drawing/2014/main" id="{E9E3E558-CFBE-BFBD-D9EC-C0EDF271C46B}"/>
              </a:ext>
            </a:extLst>
          </p:cNvPr>
          <p:cNvSpPr/>
          <p:nvPr/>
        </p:nvSpPr>
        <p:spPr>
          <a:xfrm>
            <a:off x="3276226" y="12001957"/>
            <a:ext cx="2634630" cy="1706984"/>
          </a:xfrm>
          <a:prstGeom prst="roundRect">
            <a:avLst>
              <a:gd name="adj" fmla="val 1090"/>
            </a:avLst>
          </a:prstGeom>
          <a:solidFill>
            <a:srgbClr val="EDEBE3"/>
          </a:solidFill>
          <a:ln/>
        </p:spPr>
      </p:sp>
      <p:sp>
        <p:nvSpPr>
          <p:cNvPr id="66" name="Text 9">
            <a:extLst>
              <a:ext uri="{FF2B5EF4-FFF2-40B4-BE49-F238E27FC236}">
                <a16:creationId xmlns:a16="http://schemas.microsoft.com/office/drawing/2014/main" id="{2D977B47-978D-78B8-C0C1-1A6EC1D2F019}"/>
              </a:ext>
            </a:extLst>
          </p:cNvPr>
          <p:cNvSpPr/>
          <p:nvPr/>
        </p:nvSpPr>
        <p:spPr>
          <a:xfrm>
            <a:off x="3400200" y="12125932"/>
            <a:ext cx="1550566" cy="193849"/>
          </a:xfrm>
          <a:prstGeom prst="rect">
            <a:avLst/>
          </a:prstGeom>
          <a:noFill/>
          <a:ln/>
        </p:spPr>
        <p:txBody>
          <a:bodyPr wrap="none" lIns="0" tIns="0" rIns="0" bIns="0" rtlCol="0" anchor="t"/>
          <a:lstStyle/>
          <a:p>
            <a:pPr>
              <a:lnSpc>
                <a:spcPct val="104000"/>
              </a:lnSpc>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Kepada Alam</a:t>
            </a:r>
            <a:endParaRPr lang="en-US" sz="1200" dirty="0">
              <a:latin typeface="Leelawadee UI" panose="020B0502040204020203" pitchFamily="34" charset="-34"/>
              <a:cs typeface="Leelawadee UI" panose="020B0502040204020203" pitchFamily="34" charset="-34"/>
            </a:endParaRPr>
          </a:p>
        </p:txBody>
      </p:sp>
      <p:sp>
        <p:nvSpPr>
          <p:cNvPr id="67" name="Text 10">
            <a:extLst>
              <a:ext uri="{FF2B5EF4-FFF2-40B4-BE49-F238E27FC236}">
                <a16:creationId xmlns:a16="http://schemas.microsoft.com/office/drawing/2014/main" id="{A4C77D91-45AF-15F3-6D2C-37014B0D6E2E}"/>
              </a:ext>
            </a:extLst>
          </p:cNvPr>
          <p:cNvSpPr/>
          <p:nvPr/>
        </p:nvSpPr>
        <p:spPr>
          <a:xfrm>
            <a:off x="3400200" y="12394193"/>
            <a:ext cx="2386682" cy="1190774"/>
          </a:xfrm>
          <a:prstGeom prst="rect">
            <a:avLst/>
          </a:prstGeom>
          <a:noFill/>
          <a:ln/>
        </p:spPr>
        <p:txBody>
          <a:bodyPr wrap="square" lIns="0" tIns="0" rIns="0" bIns="0" rtlCol="0" anchor="t">
            <a:normAutofit/>
          </a:bodyPr>
          <a:lstStyle/>
          <a:p>
            <a:pPr>
              <a:lnSpc>
                <a:spcPct val="133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Lanskap yang menjaga keanekaragaman hayati, memulihkan fungsi ekologis, dan melindungi ekosistem sebagai fondasi kehidupan. Alam bukan sekadar sumber daya—ia adalah rumah kita bersama.</a:t>
            </a:r>
            <a:endParaRPr lang="en-US" sz="950" dirty="0">
              <a:latin typeface="Leelawadee UI" panose="020B0502040204020203" pitchFamily="34" charset="-34"/>
              <a:cs typeface="Leelawadee UI" panose="020B0502040204020203" pitchFamily="34" charset="-34"/>
            </a:endParaRPr>
          </a:p>
        </p:txBody>
      </p:sp>
      <p:sp>
        <p:nvSpPr>
          <p:cNvPr id="68" name="Shape 11">
            <a:extLst>
              <a:ext uri="{FF2B5EF4-FFF2-40B4-BE49-F238E27FC236}">
                <a16:creationId xmlns:a16="http://schemas.microsoft.com/office/drawing/2014/main" id="{48FFCD63-03D6-3807-B45D-F0E70C960B5D}"/>
              </a:ext>
            </a:extLst>
          </p:cNvPr>
          <p:cNvSpPr/>
          <p:nvPr/>
        </p:nvSpPr>
        <p:spPr>
          <a:xfrm>
            <a:off x="6034831" y="12001957"/>
            <a:ext cx="2461244" cy="1706984"/>
          </a:xfrm>
          <a:prstGeom prst="roundRect">
            <a:avLst>
              <a:gd name="adj" fmla="val 1090"/>
            </a:avLst>
          </a:prstGeom>
          <a:solidFill>
            <a:srgbClr val="EDEBE3"/>
          </a:solidFill>
          <a:ln/>
        </p:spPr>
      </p:sp>
      <p:sp>
        <p:nvSpPr>
          <p:cNvPr id="69" name="Text 12">
            <a:extLst>
              <a:ext uri="{FF2B5EF4-FFF2-40B4-BE49-F238E27FC236}">
                <a16:creationId xmlns:a16="http://schemas.microsoft.com/office/drawing/2014/main" id="{8246EF45-1591-EDD0-3882-6359A5DC0335}"/>
              </a:ext>
            </a:extLst>
          </p:cNvPr>
          <p:cNvSpPr/>
          <p:nvPr/>
        </p:nvSpPr>
        <p:spPr>
          <a:xfrm>
            <a:off x="6158805" y="12125932"/>
            <a:ext cx="2337271" cy="193849"/>
          </a:xfrm>
          <a:prstGeom prst="rect">
            <a:avLst/>
          </a:prstGeom>
          <a:noFill/>
          <a:ln/>
        </p:spPr>
        <p:txBody>
          <a:bodyPr wrap="none" lIns="0" tIns="0" rIns="0" bIns="0" rtlCol="0" anchor="t"/>
          <a:lstStyle/>
          <a:p>
            <a:pPr>
              <a:lnSpc>
                <a:spcPct val="104000"/>
              </a:lnSpc>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Kepada Generasi Mendatang</a:t>
            </a:r>
            <a:endParaRPr lang="en-US" sz="1200" dirty="0">
              <a:latin typeface="Leelawadee UI" panose="020B0502040204020203" pitchFamily="34" charset="-34"/>
              <a:cs typeface="Leelawadee UI" panose="020B0502040204020203" pitchFamily="34" charset="-34"/>
            </a:endParaRPr>
          </a:p>
        </p:txBody>
      </p:sp>
      <p:sp>
        <p:nvSpPr>
          <p:cNvPr id="70" name="Text 13">
            <a:extLst>
              <a:ext uri="{FF2B5EF4-FFF2-40B4-BE49-F238E27FC236}">
                <a16:creationId xmlns:a16="http://schemas.microsoft.com/office/drawing/2014/main" id="{191CBB7F-D2EE-C575-1E1B-00BADB2FACB7}"/>
              </a:ext>
            </a:extLst>
          </p:cNvPr>
          <p:cNvSpPr/>
          <p:nvPr/>
        </p:nvSpPr>
        <p:spPr>
          <a:xfrm>
            <a:off x="6158803" y="12394193"/>
            <a:ext cx="2134564" cy="992312"/>
          </a:xfrm>
          <a:prstGeom prst="rect">
            <a:avLst/>
          </a:prstGeom>
          <a:noFill/>
          <a:ln/>
        </p:spPr>
        <p:txBody>
          <a:bodyPr wrap="square" lIns="0" tIns="0" rIns="0" bIns="0" rtlCol="0" anchor="t">
            <a:normAutofit/>
          </a:bodyPr>
          <a:lstStyle/>
          <a:p>
            <a:pPr>
              <a:lnSpc>
                <a:spcPct val="133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Lanskap yang dikelola secara bertanggung jawab agar manfaatnya dapat dinikmati oleh anak cucu kita. Setiap keputusan hari ini adalah warisan untuk masa depan.</a:t>
            </a:r>
            <a:endParaRPr lang="en-US" sz="950" dirty="0">
              <a:latin typeface="Leelawadee UI" panose="020B0502040204020203" pitchFamily="34" charset="-34"/>
              <a:cs typeface="Leelawadee UI" panose="020B0502040204020203" pitchFamily="34" charset="-34"/>
            </a:endParaRPr>
          </a:p>
        </p:txBody>
      </p:sp>
      <p:sp>
        <p:nvSpPr>
          <p:cNvPr id="71" name="Text 14">
            <a:extLst>
              <a:ext uri="{FF2B5EF4-FFF2-40B4-BE49-F238E27FC236}">
                <a16:creationId xmlns:a16="http://schemas.microsoft.com/office/drawing/2014/main" id="{7413EB57-A435-06A5-7082-FA55370AF217}"/>
              </a:ext>
            </a:extLst>
          </p:cNvPr>
          <p:cNvSpPr/>
          <p:nvPr/>
        </p:nvSpPr>
        <p:spPr>
          <a:xfrm>
            <a:off x="517698" y="13848469"/>
            <a:ext cx="7965728" cy="595387"/>
          </a:xfrm>
          <a:prstGeom prst="rect">
            <a:avLst/>
          </a:prstGeom>
          <a:noFill/>
          <a:ln/>
        </p:spPr>
        <p:txBody>
          <a:bodyPr wrap="square" lIns="0" tIns="0" rIns="0" bIns="0" rtlCol="0" anchor="t">
            <a:normAutofit/>
          </a:bodyPr>
          <a:lstStyle/>
          <a:p>
            <a:pPr>
              <a:lnSpc>
                <a:spcPct val="133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Visi ini mencerminkan keyakinan YNKI bahwa masa depan keberlanjutan tidak terletak pada pilihan antara konservasi atau pembangunan, antara masyarakat atau pasar, maupun antara pemerintah atau sektor swasta. Masa depan keberlanjutan terletak pada kemampuan berbagai pihak untuk bekerja bersama dalam tata kelola lanskap yang kolaboratif, berbasis pengetahuan, dan berorientasi jangka panjang.</a:t>
            </a:r>
            <a:endParaRPr lang="en-US" sz="900" dirty="0">
              <a:latin typeface="Leelawadee UI" panose="020B0502040204020203" pitchFamily="34" charset="-34"/>
              <a:cs typeface="Leelawadee UI" panose="020B0502040204020203" pitchFamily="34" charset="-34"/>
            </a:endParaRPr>
          </a:p>
        </p:txBody>
      </p:sp>
      <p:sp>
        <p:nvSpPr>
          <p:cNvPr id="72" name="Shape 0">
            <a:extLst>
              <a:ext uri="{FF2B5EF4-FFF2-40B4-BE49-F238E27FC236}">
                <a16:creationId xmlns:a16="http://schemas.microsoft.com/office/drawing/2014/main" id="{4CF9D6BE-47CA-563B-F8C6-BBE60BC342B2}"/>
              </a:ext>
            </a:extLst>
          </p:cNvPr>
          <p:cNvSpPr/>
          <p:nvPr/>
        </p:nvSpPr>
        <p:spPr>
          <a:xfrm>
            <a:off x="530924" y="15176353"/>
            <a:ext cx="555129" cy="195263"/>
          </a:xfrm>
          <a:prstGeom prst="roundRect">
            <a:avLst>
              <a:gd name="adj" fmla="val 6670"/>
            </a:avLst>
          </a:prstGeom>
          <a:solidFill>
            <a:srgbClr val="E3E3E8"/>
          </a:solidFill>
          <a:ln/>
        </p:spPr>
      </p:sp>
      <p:sp>
        <p:nvSpPr>
          <p:cNvPr id="73" name="Text 1">
            <a:extLst>
              <a:ext uri="{FF2B5EF4-FFF2-40B4-BE49-F238E27FC236}">
                <a16:creationId xmlns:a16="http://schemas.microsoft.com/office/drawing/2014/main" id="{F97D042C-8603-6C95-DE66-C9582FEE14D4}"/>
              </a:ext>
            </a:extLst>
          </p:cNvPr>
          <p:cNvSpPr/>
          <p:nvPr/>
        </p:nvSpPr>
        <p:spPr>
          <a:xfrm>
            <a:off x="571970" y="15187524"/>
            <a:ext cx="882104" cy="130225"/>
          </a:xfrm>
          <a:prstGeom prst="rect">
            <a:avLst/>
          </a:prstGeom>
          <a:noFill/>
          <a:ln/>
        </p:spPr>
        <p:txBody>
          <a:bodyPr wrap="none" lIns="0" tIns="0" rIns="0" bIns="0" rtlCol="0" anchor="t"/>
          <a:lstStyle/>
          <a:p>
            <a:pPr>
              <a:lnSpc>
                <a:spcPct val="125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MISI KAMI</a:t>
            </a:r>
            <a:endParaRPr lang="en-US" sz="800" dirty="0">
              <a:latin typeface="Leelawadee UI" panose="020B0502040204020203" pitchFamily="34" charset="-34"/>
              <a:cs typeface="Leelawadee UI" panose="020B0502040204020203" pitchFamily="34" charset="-34"/>
            </a:endParaRPr>
          </a:p>
        </p:txBody>
      </p:sp>
      <p:sp>
        <p:nvSpPr>
          <p:cNvPr id="74" name="Text 2">
            <a:extLst>
              <a:ext uri="{FF2B5EF4-FFF2-40B4-BE49-F238E27FC236}">
                <a16:creationId xmlns:a16="http://schemas.microsoft.com/office/drawing/2014/main" id="{D10B1233-8B4C-99DD-50B4-733D28924B69}"/>
              </a:ext>
            </a:extLst>
          </p:cNvPr>
          <p:cNvSpPr/>
          <p:nvPr/>
        </p:nvSpPr>
        <p:spPr>
          <a:xfrm>
            <a:off x="530924" y="15409567"/>
            <a:ext cx="3170709" cy="339179"/>
          </a:xfrm>
          <a:prstGeom prst="rect">
            <a:avLst/>
          </a:prstGeom>
          <a:noFill/>
          <a:ln/>
        </p:spPr>
        <p:txBody>
          <a:bodyPr wrap="none" lIns="0" tIns="0" rIns="0" bIns="0" rtlCol="0" anchor="t"/>
          <a:lstStyle/>
          <a:p>
            <a:pPr>
              <a:lnSpc>
                <a:spcPct val="104000"/>
              </a:lnSpc>
            </a:pPr>
            <a:r>
              <a:rPr lang="en-US" sz="2100" dirty="0">
                <a:solidFill>
                  <a:srgbClr val="161613"/>
                </a:solidFill>
                <a:latin typeface="Leelawadee UI" panose="020B0502040204020203" pitchFamily="34" charset="-34"/>
                <a:ea typeface="DM Sans Medium" pitchFamily="34" charset="-122"/>
                <a:cs typeface="Leelawadee UI" panose="020B0502040204020203" pitchFamily="34" charset="-34"/>
              </a:rPr>
              <a:t>Misi YNKI</a:t>
            </a:r>
            <a:endParaRPr lang="en-US" sz="2100" dirty="0">
              <a:latin typeface="Leelawadee UI" panose="020B0502040204020203" pitchFamily="34" charset="-34"/>
              <a:cs typeface="Leelawadee UI" panose="020B0502040204020203" pitchFamily="34" charset="-34"/>
            </a:endParaRPr>
          </a:p>
        </p:txBody>
      </p:sp>
      <p:sp>
        <p:nvSpPr>
          <p:cNvPr id="75" name="Shape 3">
            <a:extLst>
              <a:ext uri="{FF2B5EF4-FFF2-40B4-BE49-F238E27FC236}">
                <a16:creationId xmlns:a16="http://schemas.microsoft.com/office/drawing/2014/main" id="{98A3308C-8164-E677-3451-706545CB5767}"/>
              </a:ext>
            </a:extLst>
          </p:cNvPr>
          <p:cNvSpPr/>
          <p:nvPr/>
        </p:nvSpPr>
        <p:spPr>
          <a:xfrm>
            <a:off x="530922" y="15891173"/>
            <a:ext cx="14288" cy="827484"/>
          </a:xfrm>
          <a:prstGeom prst="roundRect">
            <a:avLst>
              <a:gd name="adj" fmla="val 59998"/>
            </a:avLst>
          </a:prstGeom>
          <a:solidFill>
            <a:srgbClr val="28282F"/>
          </a:solidFill>
          <a:ln/>
        </p:spPr>
      </p:sp>
      <p:sp>
        <p:nvSpPr>
          <p:cNvPr id="76" name="Text 4">
            <a:extLst>
              <a:ext uri="{FF2B5EF4-FFF2-40B4-BE49-F238E27FC236}">
                <a16:creationId xmlns:a16="http://schemas.microsoft.com/office/drawing/2014/main" id="{CBBA5997-EB1F-2835-E237-57CE8ED50130}"/>
              </a:ext>
            </a:extLst>
          </p:cNvPr>
          <p:cNvSpPr/>
          <p:nvPr/>
        </p:nvSpPr>
        <p:spPr>
          <a:xfrm>
            <a:off x="693667" y="16033603"/>
            <a:ext cx="7733167" cy="542627"/>
          </a:xfrm>
          <a:prstGeom prst="rect">
            <a:avLst/>
          </a:prstGeom>
          <a:noFill/>
          <a:ln/>
        </p:spPr>
        <p:txBody>
          <a:bodyPr wrap="square" lIns="0" tIns="0" rIns="0" bIns="0" rtlCol="0" anchor="t">
            <a:normAutofit/>
          </a:bodyPr>
          <a:lstStyle/>
          <a:p>
            <a:pPr>
              <a:lnSpc>
                <a:spcPct val="104000"/>
              </a:lnSpc>
            </a:pPr>
            <a:r>
              <a:rPr lang="en-US" sz="1700" dirty="0">
                <a:solidFill>
                  <a:srgbClr val="161613"/>
                </a:solidFill>
                <a:latin typeface="Leelawadee UI" panose="020B0502040204020203" pitchFamily="34" charset="-34"/>
                <a:ea typeface="DM Sans Medium" pitchFamily="34" charset="-122"/>
                <a:cs typeface="Leelawadee UI" panose="020B0502040204020203" pitchFamily="34" charset="-34"/>
              </a:rPr>
              <a:t>"To transform forest - land use sector and its value chain actors for landscape productivity and climate resiliencies."</a:t>
            </a:r>
            <a:endParaRPr lang="en-US" sz="1700" dirty="0">
              <a:latin typeface="Leelawadee UI" panose="020B0502040204020203" pitchFamily="34" charset="-34"/>
              <a:cs typeface="Leelawadee UI" panose="020B0502040204020203" pitchFamily="34" charset="-34"/>
            </a:endParaRPr>
          </a:p>
        </p:txBody>
      </p:sp>
      <p:sp>
        <p:nvSpPr>
          <p:cNvPr id="77" name="Text 5">
            <a:extLst>
              <a:ext uri="{FF2B5EF4-FFF2-40B4-BE49-F238E27FC236}">
                <a16:creationId xmlns:a16="http://schemas.microsoft.com/office/drawing/2014/main" id="{BE95DB49-82E1-EC41-3A15-23CB50778660}"/>
              </a:ext>
            </a:extLst>
          </p:cNvPr>
          <p:cNvSpPr/>
          <p:nvPr/>
        </p:nvSpPr>
        <p:spPr>
          <a:xfrm>
            <a:off x="530923" y="16825441"/>
            <a:ext cx="7895910" cy="325636"/>
          </a:xfrm>
          <a:prstGeom prst="rect">
            <a:avLst/>
          </a:prstGeom>
          <a:noFill/>
          <a:ln/>
        </p:spPr>
        <p:txBody>
          <a:bodyPr wrap="square" lIns="0" tIns="0" rIns="0" bIns="0" rtlCol="0" anchor="t">
            <a:normAutofit fontScale="92500" lnSpcReduction="10000"/>
          </a:bodyPr>
          <a:lstStyle/>
          <a:p>
            <a:pPr>
              <a:lnSpc>
                <a:spcPct val="125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Untuk mewujudkan visi tersebut, YNKI menjalankan misi melalui empat fungsi inti yang saling menguatkan. Setiap fungsi dirancang untuk mengisi peran yang sering kali tidak tertangani dalam sistem tata kelola lanskap konvensional.</a:t>
            </a:r>
            <a:endParaRPr lang="en-US" sz="1000" dirty="0">
              <a:latin typeface="Leelawadee UI" panose="020B0502040204020203" pitchFamily="34" charset="-34"/>
              <a:cs typeface="Leelawadee UI" panose="020B0502040204020203" pitchFamily="34" charset="-34"/>
            </a:endParaRPr>
          </a:p>
        </p:txBody>
      </p:sp>
      <p:pic>
        <p:nvPicPr>
          <p:cNvPr id="78" name="Image 0" descr="preencoded.png">
            <a:extLst>
              <a:ext uri="{FF2B5EF4-FFF2-40B4-BE49-F238E27FC236}">
                <a16:creationId xmlns:a16="http://schemas.microsoft.com/office/drawing/2014/main" id="{B6CBF74D-D809-F423-A900-A48A3B1016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0922" y="17257862"/>
            <a:ext cx="217066" cy="217066"/>
          </a:xfrm>
          <a:prstGeom prst="rect">
            <a:avLst/>
          </a:prstGeom>
        </p:spPr>
      </p:pic>
      <p:sp>
        <p:nvSpPr>
          <p:cNvPr id="79" name="Text 6">
            <a:extLst>
              <a:ext uri="{FF2B5EF4-FFF2-40B4-BE49-F238E27FC236}">
                <a16:creationId xmlns:a16="http://schemas.microsoft.com/office/drawing/2014/main" id="{8080C23A-E255-9CDE-1385-06D36F0FCE82}"/>
              </a:ext>
            </a:extLst>
          </p:cNvPr>
          <p:cNvSpPr/>
          <p:nvPr/>
        </p:nvSpPr>
        <p:spPr>
          <a:xfrm>
            <a:off x="530924" y="17593620"/>
            <a:ext cx="1650281" cy="169515"/>
          </a:xfrm>
          <a:prstGeom prst="rect">
            <a:avLst/>
          </a:prstGeom>
          <a:noFill/>
          <a:ln/>
        </p:spPr>
        <p:txBody>
          <a:bodyPr wrap="none" lIns="0" tIns="0" rIns="0" bIns="0" rtlCol="0" anchor="t"/>
          <a:lstStyle/>
          <a:p>
            <a:pPr>
              <a:lnSpc>
                <a:spcPct val="104000"/>
              </a:lnSpc>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Knowledge Generation</a:t>
            </a:r>
            <a:endParaRPr lang="en-US" sz="1100" dirty="0">
              <a:latin typeface="Leelawadee UI" panose="020B0502040204020203" pitchFamily="34" charset="-34"/>
              <a:cs typeface="Leelawadee UI" panose="020B0502040204020203" pitchFamily="34" charset="-34"/>
            </a:endParaRPr>
          </a:p>
        </p:txBody>
      </p:sp>
      <p:sp>
        <p:nvSpPr>
          <p:cNvPr id="80" name="Text 7">
            <a:extLst>
              <a:ext uri="{FF2B5EF4-FFF2-40B4-BE49-F238E27FC236}">
                <a16:creationId xmlns:a16="http://schemas.microsoft.com/office/drawing/2014/main" id="{4EB51C32-AAF2-E08C-3001-A35D4CCCAF25}"/>
              </a:ext>
            </a:extLst>
          </p:cNvPr>
          <p:cNvSpPr/>
          <p:nvPr/>
        </p:nvSpPr>
        <p:spPr>
          <a:xfrm>
            <a:off x="530924" y="17820060"/>
            <a:ext cx="4016499" cy="488454"/>
          </a:xfrm>
          <a:prstGeom prst="rect">
            <a:avLst/>
          </a:prstGeom>
          <a:noFill/>
          <a:ln/>
        </p:spPr>
        <p:txBody>
          <a:bodyPr wrap="square" lIns="0" tIns="0" rIns="0" bIns="0" rtlCol="0" anchor="t">
            <a:noAutofit/>
          </a:bodyPr>
          <a:lstStyle/>
          <a:p>
            <a:pPr>
              <a:lnSpc>
                <a:spcPct val="125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Menghasilkan pengetahuan, data, analisis, dan pembelajaran mengenai lanskap melalui riset mendalam, pemetaan, GIS, dan analisis rantai pasok untuk mendukung pengambilan keputusan berbasis bukti.</a:t>
            </a:r>
            <a:endParaRPr lang="en-US" sz="900" dirty="0">
              <a:latin typeface="Leelawadee UI" panose="020B0502040204020203" pitchFamily="34" charset="-34"/>
              <a:cs typeface="Leelawadee UI" panose="020B0502040204020203" pitchFamily="34" charset="-34"/>
            </a:endParaRPr>
          </a:p>
        </p:txBody>
      </p:sp>
      <p:pic>
        <p:nvPicPr>
          <p:cNvPr id="81" name="Image 1" descr="preencoded.png">
            <a:extLst>
              <a:ext uri="{FF2B5EF4-FFF2-40B4-BE49-F238E27FC236}">
                <a16:creationId xmlns:a16="http://schemas.microsoft.com/office/drawing/2014/main" id="{2F11667F-DDA1-44E9-B5C6-30BF8A41FE6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666111" y="17257862"/>
            <a:ext cx="217066" cy="217066"/>
          </a:xfrm>
          <a:prstGeom prst="rect">
            <a:avLst/>
          </a:prstGeom>
        </p:spPr>
      </p:pic>
      <p:sp>
        <p:nvSpPr>
          <p:cNvPr id="82" name="Text 8">
            <a:extLst>
              <a:ext uri="{FF2B5EF4-FFF2-40B4-BE49-F238E27FC236}">
                <a16:creationId xmlns:a16="http://schemas.microsoft.com/office/drawing/2014/main" id="{8EA9BB96-305C-ACE2-44D3-11EF22365C0D}"/>
              </a:ext>
            </a:extLst>
          </p:cNvPr>
          <p:cNvSpPr/>
          <p:nvPr/>
        </p:nvSpPr>
        <p:spPr>
          <a:xfrm>
            <a:off x="4666113" y="17593620"/>
            <a:ext cx="1553691" cy="169515"/>
          </a:xfrm>
          <a:prstGeom prst="rect">
            <a:avLst/>
          </a:prstGeom>
          <a:noFill/>
          <a:ln/>
        </p:spPr>
        <p:txBody>
          <a:bodyPr wrap="none" lIns="0" tIns="0" rIns="0" bIns="0" rtlCol="0" anchor="t"/>
          <a:lstStyle/>
          <a:p>
            <a:pPr>
              <a:lnSpc>
                <a:spcPct val="104000"/>
              </a:lnSpc>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Governance Enabling</a:t>
            </a:r>
            <a:endParaRPr lang="en-US" sz="1100" dirty="0">
              <a:latin typeface="Leelawadee UI" panose="020B0502040204020203" pitchFamily="34" charset="-34"/>
              <a:cs typeface="Leelawadee UI" panose="020B0502040204020203" pitchFamily="34" charset="-34"/>
            </a:endParaRPr>
          </a:p>
        </p:txBody>
      </p:sp>
      <p:sp>
        <p:nvSpPr>
          <p:cNvPr id="83" name="Text 9">
            <a:extLst>
              <a:ext uri="{FF2B5EF4-FFF2-40B4-BE49-F238E27FC236}">
                <a16:creationId xmlns:a16="http://schemas.microsoft.com/office/drawing/2014/main" id="{6422082D-0430-6826-E595-58CF73FCF439}"/>
              </a:ext>
            </a:extLst>
          </p:cNvPr>
          <p:cNvSpPr/>
          <p:nvPr/>
        </p:nvSpPr>
        <p:spPr>
          <a:xfrm>
            <a:off x="4666113" y="17820060"/>
            <a:ext cx="3850359" cy="488454"/>
          </a:xfrm>
          <a:prstGeom prst="rect">
            <a:avLst/>
          </a:prstGeom>
          <a:noFill/>
          <a:ln/>
        </p:spPr>
        <p:txBody>
          <a:bodyPr wrap="square" lIns="0" tIns="0" rIns="0" bIns="0" rtlCol="0" anchor="t">
            <a:noAutofit/>
          </a:bodyPr>
          <a:lstStyle/>
          <a:p>
            <a:pPr>
              <a:lnSpc>
                <a:spcPct val="125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Memfasilitasi dialog multipihak, mendukung kebijakan publik, memperjelas hak dan tanggung jawab, serta membantu penyelesaian konflik tenurial dan sumber daya alam secara konstruktif.</a:t>
            </a:r>
            <a:endParaRPr lang="en-US" sz="900" dirty="0">
              <a:latin typeface="Leelawadee UI" panose="020B0502040204020203" pitchFamily="34" charset="-34"/>
              <a:cs typeface="Leelawadee UI" panose="020B0502040204020203" pitchFamily="34" charset="-34"/>
            </a:endParaRPr>
          </a:p>
        </p:txBody>
      </p:sp>
      <p:pic>
        <p:nvPicPr>
          <p:cNvPr id="84" name="Image 2" descr="preencoded.png">
            <a:extLst>
              <a:ext uri="{FF2B5EF4-FFF2-40B4-BE49-F238E27FC236}">
                <a16:creationId xmlns:a16="http://schemas.microsoft.com/office/drawing/2014/main" id="{E077478B-72F6-985B-22FD-22298F08FDB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30922" y="18498418"/>
            <a:ext cx="217066" cy="217066"/>
          </a:xfrm>
          <a:prstGeom prst="rect">
            <a:avLst/>
          </a:prstGeom>
        </p:spPr>
      </p:pic>
      <p:sp>
        <p:nvSpPr>
          <p:cNvPr id="85" name="Text 10">
            <a:extLst>
              <a:ext uri="{FF2B5EF4-FFF2-40B4-BE49-F238E27FC236}">
                <a16:creationId xmlns:a16="http://schemas.microsoft.com/office/drawing/2014/main" id="{A7134A90-6617-6CB6-7CFE-55E1C051B899}"/>
              </a:ext>
            </a:extLst>
          </p:cNvPr>
          <p:cNvSpPr/>
          <p:nvPr/>
        </p:nvSpPr>
        <p:spPr>
          <a:xfrm>
            <a:off x="530922" y="18834177"/>
            <a:ext cx="1937668" cy="169515"/>
          </a:xfrm>
          <a:prstGeom prst="rect">
            <a:avLst/>
          </a:prstGeom>
          <a:noFill/>
          <a:ln/>
        </p:spPr>
        <p:txBody>
          <a:bodyPr wrap="none" lIns="0" tIns="0" rIns="0" bIns="0" rtlCol="0" anchor="t"/>
          <a:lstStyle/>
          <a:p>
            <a:pPr>
              <a:lnSpc>
                <a:spcPct val="104000"/>
              </a:lnSpc>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Stakeholder Empowerment</a:t>
            </a:r>
            <a:endParaRPr lang="en-US" sz="1100" dirty="0">
              <a:latin typeface="Leelawadee UI" panose="020B0502040204020203" pitchFamily="34" charset="-34"/>
              <a:cs typeface="Leelawadee UI" panose="020B0502040204020203" pitchFamily="34" charset="-34"/>
            </a:endParaRPr>
          </a:p>
        </p:txBody>
      </p:sp>
      <p:sp>
        <p:nvSpPr>
          <p:cNvPr id="86" name="Text 11">
            <a:extLst>
              <a:ext uri="{FF2B5EF4-FFF2-40B4-BE49-F238E27FC236}">
                <a16:creationId xmlns:a16="http://schemas.microsoft.com/office/drawing/2014/main" id="{9D79696E-A24E-E384-4CD3-262B7ADD25AA}"/>
              </a:ext>
            </a:extLst>
          </p:cNvPr>
          <p:cNvSpPr/>
          <p:nvPr/>
        </p:nvSpPr>
        <p:spPr>
          <a:xfrm>
            <a:off x="530924" y="19060617"/>
            <a:ext cx="4016499" cy="488454"/>
          </a:xfrm>
          <a:prstGeom prst="rect">
            <a:avLst/>
          </a:prstGeom>
          <a:noFill/>
          <a:ln/>
        </p:spPr>
        <p:txBody>
          <a:bodyPr wrap="square" lIns="0" tIns="0" rIns="0" bIns="0" rtlCol="0" anchor="t">
            <a:noAutofit/>
          </a:bodyPr>
          <a:lstStyle/>
          <a:p>
            <a:pPr>
              <a:lnSpc>
                <a:spcPct val="125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Memperkuat kapasitas masyarakat, kelembagaan lokal, kelompok produsen, masyarakat adat, perempuan, dan pemuda agar dapat berpartisipasi secara bermakna dalam tata kelola lanskap.</a:t>
            </a:r>
            <a:endParaRPr lang="en-US" sz="900" dirty="0">
              <a:latin typeface="Leelawadee UI" panose="020B0502040204020203" pitchFamily="34" charset="-34"/>
              <a:cs typeface="Leelawadee UI" panose="020B0502040204020203" pitchFamily="34" charset="-34"/>
            </a:endParaRPr>
          </a:p>
        </p:txBody>
      </p:sp>
      <p:pic>
        <p:nvPicPr>
          <p:cNvPr id="87" name="Image 3" descr="preencoded.png">
            <a:extLst>
              <a:ext uri="{FF2B5EF4-FFF2-40B4-BE49-F238E27FC236}">
                <a16:creationId xmlns:a16="http://schemas.microsoft.com/office/drawing/2014/main" id="{22F76F7D-9502-9486-C7FF-6E17D0AD77A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66111" y="18498418"/>
            <a:ext cx="217066" cy="217066"/>
          </a:xfrm>
          <a:prstGeom prst="rect">
            <a:avLst/>
          </a:prstGeom>
        </p:spPr>
      </p:pic>
      <p:sp>
        <p:nvSpPr>
          <p:cNvPr id="88" name="Text 12">
            <a:extLst>
              <a:ext uri="{FF2B5EF4-FFF2-40B4-BE49-F238E27FC236}">
                <a16:creationId xmlns:a16="http://schemas.microsoft.com/office/drawing/2014/main" id="{A0080DBB-A25C-177D-EDD8-6421CC37A31F}"/>
              </a:ext>
            </a:extLst>
          </p:cNvPr>
          <p:cNvSpPr/>
          <p:nvPr/>
        </p:nvSpPr>
        <p:spPr>
          <a:xfrm>
            <a:off x="4666113" y="18834177"/>
            <a:ext cx="1431801" cy="169515"/>
          </a:xfrm>
          <a:prstGeom prst="rect">
            <a:avLst/>
          </a:prstGeom>
          <a:noFill/>
          <a:ln/>
        </p:spPr>
        <p:txBody>
          <a:bodyPr wrap="none" lIns="0" tIns="0" rIns="0" bIns="0" rtlCol="0" anchor="t"/>
          <a:lstStyle/>
          <a:p>
            <a:pPr>
              <a:lnSpc>
                <a:spcPct val="104000"/>
              </a:lnSpc>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Innovation Catalyst</a:t>
            </a:r>
            <a:endParaRPr lang="en-US" sz="1100" dirty="0">
              <a:latin typeface="Leelawadee UI" panose="020B0502040204020203" pitchFamily="34" charset="-34"/>
              <a:cs typeface="Leelawadee UI" panose="020B0502040204020203" pitchFamily="34" charset="-34"/>
            </a:endParaRPr>
          </a:p>
        </p:txBody>
      </p:sp>
      <p:sp>
        <p:nvSpPr>
          <p:cNvPr id="89" name="Text 13">
            <a:extLst>
              <a:ext uri="{FF2B5EF4-FFF2-40B4-BE49-F238E27FC236}">
                <a16:creationId xmlns:a16="http://schemas.microsoft.com/office/drawing/2014/main" id="{5A6683DB-4B4A-19B1-D61F-35B867E3DB16}"/>
              </a:ext>
            </a:extLst>
          </p:cNvPr>
          <p:cNvSpPr/>
          <p:nvPr/>
        </p:nvSpPr>
        <p:spPr>
          <a:xfrm>
            <a:off x="4666112" y="19060617"/>
            <a:ext cx="3925742" cy="488454"/>
          </a:xfrm>
          <a:prstGeom prst="rect">
            <a:avLst/>
          </a:prstGeom>
          <a:noFill/>
          <a:ln/>
        </p:spPr>
        <p:txBody>
          <a:bodyPr wrap="square" lIns="0" tIns="0" rIns="0" bIns="0" rtlCol="0" anchor="t">
            <a:noAutofit/>
          </a:bodyPr>
          <a:lstStyle/>
          <a:p>
            <a:pPr>
              <a:lnSpc>
                <a:spcPct val="125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Mengembangkan dan menghubungkan inovasi teknologi, keterlacakan komoditas, sertifikasi keberlanjutan, dan pembiayaan berkelanjutan untuk mendorong transformasi sektor penggunaan lahan.</a:t>
            </a:r>
            <a:endParaRPr lang="en-US" sz="900" dirty="0">
              <a:latin typeface="Leelawadee UI" panose="020B0502040204020203" pitchFamily="34" charset="-34"/>
              <a:cs typeface="Leelawadee UI" panose="020B0502040204020203" pitchFamily="34" charset="-34"/>
            </a:endParaRPr>
          </a:p>
        </p:txBody>
      </p:sp>
      <p:sp>
        <p:nvSpPr>
          <p:cNvPr id="90" name="Shape 0">
            <a:extLst>
              <a:ext uri="{FF2B5EF4-FFF2-40B4-BE49-F238E27FC236}">
                <a16:creationId xmlns:a16="http://schemas.microsoft.com/office/drawing/2014/main" id="{585B2DE2-1BFB-25CD-C50A-242E800C33CF}"/>
              </a:ext>
            </a:extLst>
          </p:cNvPr>
          <p:cNvSpPr/>
          <p:nvPr/>
        </p:nvSpPr>
        <p:spPr>
          <a:xfrm>
            <a:off x="535866" y="20218116"/>
            <a:ext cx="1868084" cy="209178"/>
          </a:xfrm>
          <a:prstGeom prst="roundRect">
            <a:avLst>
              <a:gd name="adj" fmla="val 6560"/>
            </a:avLst>
          </a:prstGeom>
          <a:solidFill>
            <a:srgbClr val="E3E3E8"/>
          </a:solidFill>
          <a:ln/>
        </p:spPr>
      </p:sp>
      <p:sp>
        <p:nvSpPr>
          <p:cNvPr id="91" name="Text 1">
            <a:extLst>
              <a:ext uri="{FF2B5EF4-FFF2-40B4-BE49-F238E27FC236}">
                <a16:creationId xmlns:a16="http://schemas.microsoft.com/office/drawing/2014/main" id="{28B262AB-19BC-A4F0-0DEB-3D5D4CDECA67}"/>
              </a:ext>
            </a:extLst>
          </p:cNvPr>
          <p:cNvSpPr/>
          <p:nvPr/>
        </p:nvSpPr>
        <p:spPr>
          <a:xfrm>
            <a:off x="604477" y="20240388"/>
            <a:ext cx="2089547" cy="140568"/>
          </a:xfrm>
          <a:prstGeom prst="rect">
            <a:avLst/>
          </a:prstGeom>
          <a:noFill/>
          <a:ln/>
        </p:spPr>
        <p:txBody>
          <a:bodyPr wrap="none" lIns="0" tIns="0" rIns="0" bIns="0" rtlCol="0" anchor="t"/>
          <a:lstStyle/>
          <a:p>
            <a:pPr>
              <a:lnSpc>
                <a:spcPct val="128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DAMPAK YANG KAMI PERJUANGKAN</a:t>
            </a:r>
            <a:endParaRPr lang="en-US" sz="800" dirty="0">
              <a:latin typeface="Leelawadee UI" panose="020B0502040204020203" pitchFamily="34" charset="-34"/>
              <a:cs typeface="Leelawadee UI" panose="020B0502040204020203" pitchFamily="34" charset="-34"/>
            </a:endParaRPr>
          </a:p>
        </p:txBody>
      </p:sp>
      <p:sp>
        <p:nvSpPr>
          <p:cNvPr id="92" name="Text 2">
            <a:extLst>
              <a:ext uri="{FF2B5EF4-FFF2-40B4-BE49-F238E27FC236}">
                <a16:creationId xmlns:a16="http://schemas.microsoft.com/office/drawing/2014/main" id="{4B640907-97AA-0DA0-4801-E12A6783F097}"/>
              </a:ext>
            </a:extLst>
          </p:cNvPr>
          <p:cNvSpPr/>
          <p:nvPr/>
        </p:nvSpPr>
        <p:spPr>
          <a:xfrm>
            <a:off x="535868" y="20469412"/>
            <a:ext cx="5544369" cy="357336"/>
          </a:xfrm>
          <a:prstGeom prst="rect">
            <a:avLst/>
          </a:prstGeom>
          <a:noFill/>
          <a:ln/>
        </p:spPr>
        <p:txBody>
          <a:bodyPr wrap="none" lIns="0" tIns="0" rIns="0" bIns="0" rtlCol="0" anchor="t"/>
          <a:lstStyle/>
          <a:p>
            <a:pPr>
              <a:lnSpc>
                <a:spcPct val="104000"/>
              </a:lnSpc>
            </a:pPr>
            <a:r>
              <a:rPr lang="en-US" dirty="0">
                <a:solidFill>
                  <a:srgbClr val="161613"/>
                </a:solidFill>
                <a:latin typeface="Leelawadee UI" panose="020B0502040204020203" pitchFamily="34" charset="-34"/>
                <a:ea typeface="DM Sans Medium" pitchFamily="34" charset="-122"/>
                <a:cs typeface="Leelawadee UI" panose="020B0502040204020203" pitchFamily="34" charset="-34"/>
              </a:rPr>
              <a:t>Dampak Jangka Panjang &amp; Positioning</a:t>
            </a:r>
            <a:endParaRPr lang="en-US" dirty="0">
              <a:latin typeface="Leelawadee UI" panose="020B0502040204020203" pitchFamily="34" charset="-34"/>
              <a:cs typeface="Leelawadee UI" panose="020B0502040204020203" pitchFamily="34" charset="-34"/>
            </a:endParaRPr>
          </a:p>
        </p:txBody>
      </p:sp>
      <p:sp>
        <p:nvSpPr>
          <p:cNvPr id="93" name="Text 3">
            <a:extLst>
              <a:ext uri="{FF2B5EF4-FFF2-40B4-BE49-F238E27FC236}">
                <a16:creationId xmlns:a16="http://schemas.microsoft.com/office/drawing/2014/main" id="{A47218F0-91A3-2522-AECD-F30694AAB836}"/>
              </a:ext>
            </a:extLst>
          </p:cNvPr>
          <p:cNvSpPr/>
          <p:nvPr/>
        </p:nvSpPr>
        <p:spPr>
          <a:xfrm>
            <a:off x="333089" y="20984878"/>
            <a:ext cx="8557245" cy="493142"/>
          </a:xfrm>
          <a:prstGeom prst="rect">
            <a:avLst/>
          </a:prstGeom>
          <a:noFill/>
          <a:ln/>
        </p:spPr>
        <p:txBody>
          <a:bodyPr wrap="none" lIns="0" tIns="0" rIns="0" bIns="0" rtlCol="0" anchor="t"/>
          <a:lstStyle/>
          <a:p>
            <a:pPr algn="ctr">
              <a:lnSpc>
                <a:spcPct val="104000"/>
              </a:lnSpc>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Healthy Landscapes, Thriving Communities.</a:t>
            </a:r>
            <a:endParaRPr lang="en-US" sz="2400" dirty="0">
              <a:latin typeface="Leelawadee UI" panose="020B0502040204020203" pitchFamily="34" charset="-34"/>
              <a:cs typeface="Leelawadee UI" panose="020B0502040204020203" pitchFamily="34" charset="-34"/>
            </a:endParaRPr>
          </a:p>
        </p:txBody>
      </p:sp>
      <p:sp>
        <p:nvSpPr>
          <p:cNvPr id="94" name="Text 4">
            <a:extLst>
              <a:ext uri="{FF2B5EF4-FFF2-40B4-BE49-F238E27FC236}">
                <a16:creationId xmlns:a16="http://schemas.microsoft.com/office/drawing/2014/main" id="{8E9F5CD7-FA5D-7EB5-9498-B40306DE22E5}"/>
              </a:ext>
            </a:extLst>
          </p:cNvPr>
          <p:cNvSpPr/>
          <p:nvPr/>
        </p:nvSpPr>
        <p:spPr>
          <a:xfrm>
            <a:off x="515992" y="21491427"/>
            <a:ext cx="7890966" cy="351681"/>
          </a:xfrm>
          <a:prstGeom prst="rect">
            <a:avLst/>
          </a:prstGeom>
          <a:noFill/>
          <a:ln/>
        </p:spPr>
        <p:txBody>
          <a:bodyPr wrap="square" lIns="0" tIns="0" rIns="0" bIns="0" rtlCol="0" anchor="t">
            <a:noAutofit/>
          </a:bodyPr>
          <a:lstStyle/>
          <a:p>
            <a:pPr algn="ctr">
              <a:lnSpc>
                <a:spcPct val="128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Yaitu kondisi ketika keanekaragaman hayati terjaga dan dipulihkan, fungsi ekosistem tetap berjalan, masyarakat memperoleh penghidupan yang layak, risiko iklim berkurang, konflik sumber daya alam menurun, dan pembangunan ekonomi berlangsung dalam batas daya dukung lingkungan.</a:t>
            </a:r>
            <a:endParaRPr lang="en-US" sz="950" dirty="0">
              <a:latin typeface="Leelawadee UI" panose="020B0502040204020203" pitchFamily="34" charset="-34"/>
              <a:cs typeface="Leelawadee UI" panose="020B0502040204020203" pitchFamily="34" charset="-34"/>
            </a:endParaRPr>
          </a:p>
        </p:txBody>
      </p:sp>
      <p:sp>
        <p:nvSpPr>
          <p:cNvPr id="95" name="Text 5">
            <a:extLst>
              <a:ext uri="{FF2B5EF4-FFF2-40B4-BE49-F238E27FC236}">
                <a16:creationId xmlns:a16="http://schemas.microsoft.com/office/drawing/2014/main" id="{FF9336BA-D0FB-2271-F707-59B719F2C589}"/>
              </a:ext>
            </a:extLst>
          </p:cNvPr>
          <p:cNvSpPr/>
          <p:nvPr/>
        </p:nvSpPr>
        <p:spPr>
          <a:xfrm>
            <a:off x="535868" y="22211743"/>
            <a:ext cx="2068041" cy="178668"/>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Indikator Lanskap Sehat</a:t>
            </a:r>
            <a:endParaRPr lang="en-US" sz="1200" dirty="0">
              <a:latin typeface="Leelawadee UI" panose="020B0502040204020203" pitchFamily="34" charset="-34"/>
              <a:cs typeface="Leelawadee UI" panose="020B0502040204020203" pitchFamily="34" charset="-34"/>
            </a:endParaRPr>
          </a:p>
        </p:txBody>
      </p:sp>
      <p:sp>
        <p:nvSpPr>
          <p:cNvPr id="96" name="Text 6">
            <a:extLst>
              <a:ext uri="{FF2B5EF4-FFF2-40B4-BE49-F238E27FC236}">
                <a16:creationId xmlns:a16="http://schemas.microsoft.com/office/drawing/2014/main" id="{9F9163E1-1B4A-47A8-5D96-839B0C275926}"/>
              </a:ext>
            </a:extLst>
          </p:cNvPr>
          <p:cNvSpPr/>
          <p:nvPr/>
        </p:nvSpPr>
        <p:spPr>
          <a:xfrm>
            <a:off x="535868" y="22495783"/>
            <a:ext cx="3936429" cy="813867"/>
          </a:xfrm>
          <a:prstGeom prst="rect">
            <a:avLst/>
          </a:prstGeom>
          <a:noFill/>
          <a:ln/>
        </p:spPr>
        <p:txBody>
          <a:bodyPr wrap="square" lIns="0" tIns="0" rIns="0" bIns="0" rtlCol="0" anchor="t">
            <a:normAutofit/>
          </a:bodyPr>
          <a:lstStyle/>
          <a:p>
            <a:pPr marL="342900" indent="-342900">
              <a:lnSpc>
                <a:spcPct val="128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Keanekaragaman hayati terjaga dan dipulihkan</a:t>
            </a:r>
            <a:endParaRPr lang="en-US" sz="1000" dirty="0">
              <a:latin typeface="Leelawadee UI" panose="020B0502040204020203" pitchFamily="34" charset="-34"/>
              <a:cs typeface="Leelawadee UI" panose="020B0502040204020203" pitchFamily="34" charset="-34"/>
            </a:endParaRPr>
          </a:p>
          <a:p>
            <a:pPr marL="342900" indent="-342900">
              <a:lnSpc>
                <a:spcPct val="128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Fungsi ekosistem gambut dan hutan tetap berjalan</a:t>
            </a:r>
            <a:endParaRPr lang="en-US" sz="1000" dirty="0">
              <a:latin typeface="Leelawadee UI" panose="020B0502040204020203" pitchFamily="34" charset="-34"/>
              <a:cs typeface="Leelawadee UI" panose="020B0502040204020203" pitchFamily="34" charset="-34"/>
            </a:endParaRPr>
          </a:p>
          <a:p>
            <a:pPr marL="342900" indent="-342900">
              <a:lnSpc>
                <a:spcPct val="128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Risiko kebakaran dan bencana iklim berkurang</a:t>
            </a:r>
            <a:endParaRPr lang="en-US" sz="1000" dirty="0">
              <a:latin typeface="Leelawadee UI" panose="020B0502040204020203" pitchFamily="34" charset="-34"/>
              <a:cs typeface="Leelawadee UI" panose="020B0502040204020203" pitchFamily="34" charset="-34"/>
            </a:endParaRPr>
          </a:p>
          <a:p>
            <a:pPr marL="342900" indent="-342900">
              <a:lnSpc>
                <a:spcPct val="128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Tutupan hutan dan lahan basah terpelihara</a:t>
            </a:r>
            <a:endParaRPr lang="en-US" sz="1000" dirty="0">
              <a:latin typeface="Leelawadee UI" panose="020B0502040204020203" pitchFamily="34" charset="-34"/>
              <a:cs typeface="Leelawadee UI" panose="020B0502040204020203" pitchFamily="34" charset="-34"/>
            </a:endParaRPr>
          </a:p>
        </p:txBody>
      </p:sp>
      <p:sp>
        <p:nvSpPr>
          <p:cNvPr id="97" name="Text 7">
            <a:extLst>
              <a:ext uri="{FF2B5EF4-FFF2-40B4-BE49-F238E27FC236}">
                <a16:creationId xmlns:a16="http://schemas.microsoft.com/office/drawing/2014/main" id="{8BA12CF5-C866-8E6E-DB13-9493781E85A8}"/>
              </a:ext>
            </a:extLst>
          </p:cNvPr>
          <p:cNvSpPr/>
          <p:nvPr/>
        </p:nvSpPr>
        <p:spPr>
          <a:xfrm>
            <a:off x="4755963" y="22211743"/>
            <a:ext cx="2473449" cy="178668"/>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Indikator Komunitas Sejahtera</a:t>
            </a:r>
            <a:endParaRPr lang="en-US" sz="1200" dirty="0">
              <a:latin typeface="Leelawadee UI" panose="020B0502040204020203" pitchFamily="34" charset="-34"/>
              <a:cs typeface="Leelawadee UI" panose="020B0502040204020203" pitchFamily="34" charset="-34"/>
            </a:endParaRPr>
          </a:p>
        </p:txBody>
      </p:sp>
      <p:sp>
        <p:nvSpPr>
          <p:cNvPr id="98" name="Text 8">
            <a:extLst>
              <a:ext uri="{FF2B5EF4-FFF2-40B4-BE49-F238E27FC236}">
                <a16:creationId xmlns:a16="http://schemas.microsoft.com/office/drawing/2014/main" id="{BA60E3F7-7513-A6FA-A897-BBD76AB435DE}"/>
              </a:ext>
            </a:extLst>
          </p:cNvPr>
          <p:cNvSpPr/>
          <p:nvPr/>
        </p:nvSpPr>
        <p:spPr>
          <a:xfrm>
            <a:off x="4755963" y="22495783"/>
            <a:ext cx="3760509" cy="1077515"/>
          </a:xfrm>
          <a:prstGeom prst="rect">
            <a:avLst/>
          </a:prstGeom>
          <a:noFill/>
          <a:ln/>
        </p:spPr>
        <p:txBody>
          <a:bodyPr wrap="square" lIns="0" tIns="0" rIns="0" bIns="0" rtlCol="0" anchor="t">
            <a:normAutofit/>
          </a:bodyPr>
          <a:lstStyle/>
          <a:p>
            <a:pPr marL="342900" indent="-342900">
              <a:lnSpc>
                <a:spcPct val="128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Masyarakat memperoleh penghidupan yang layak dan adil</a:t>
            </a:r>
            <a:endParaRPr lang="en-US" sz="1000" dirty="0">
              <a:latin typeface="Leelawadee UI" panose="020B0502040204020203" pitchFamily="34" charset="-34"/>
              <a:cs typeface="Leelawadee UI" panose="020B0502040204020203" pitchFamily="34" charset="-34"/>
            </a:endParaRPr>
          </a:p>
          <a:p>
            <a:pPr marL="342900" indent="-342900">
              <a:lnSpc>
                <a:spcPct val="128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Konflik sumber daya alam menurun secara signifikan</a:t>
            </a:r>
            <a:endParaRPr lang="en-US" sz="1000" dirty="0">
              <a:latin typeface="Leelawadee UI" panose="020B0502040204020203" pitchFamily="34" charset="-34"/>
              <a:cs typeface="Leelawadee UI" panose="020B0502040204020203" pitchFamily="34" charset="-34"/>
            </a:endParaRPr>
          </a:p>
          <a:p>
            <a:pPr marL="342900" indent="-342900">
              <a:lnSpc>
                <a:spcPct val="128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Kelembagaan lokal menguat dan berdaulat</a:t>
            </a:r>
            <a:endParaRPr lang="en-US" sz="1000" dirty="0">
              <a:latin typeface="Leelawadee UI" panose="020B0502040204020203" pitchFamily="34" charset="-34"/>
              <a:cs typeface="Leelawadee UI" panose="020B0502040204020203" pitchFamily="34" charset="-34"/>
            </a:endParaRPr>
          </a:p>
          <a:p>
            <a:pPr marL="342900" indent="-342900">
              <a:lnSpc>
                <a:spcPct val="128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Pembangunan ekonomi dalam batas daya dukung lingkungan</a:t>
            </a:r>
            <a:endParaRPr lang="en-US" sz="1000" dirty="0">
              <a:latin typeface="Leelawadee UI" panose="020B0502040204020203" pitchFamily="34" charset="-34"/>
              <a:cs typeface="Leelawadee UI" panose="020B0502040204020203" pitchFamily="34" charset="-34"/>
            </a:endParaRPr>
          </a:p>
        </p:txBody>
      </p:sp>
      <p:sp>
        <p:nvSpPr>
          <p:cNvPr id="99" name="Shape 9">
            <a:extLst>
              <a:ext uri="{FF2B5EF4-FFF2-40B4-BE49-F238E27FC236}">
                <a16:creationId xmlns:a16="http://schemas.microsoft.com/office/drawing/2014/main" id="{551D16B2-6BE2-2EF4-0C47-4A90503920EC}"/>
              </a:ext>
            </a:extLst>
          </p:cNvPr>
          <p:cNvSpPr/>
          <p:nvPr/>
        </p:nvSpPr>
        <p:spPr>
          <a:xfrm>
            <a:off x="565029" y="23618095"/>
            <a:ext cx="7993252" cy="598587"/>
          </a:xfrm>
          <a:prstGeom prst="roundRect">
            <a:avLst>
              <a:gd name="adj" fmla="val 2866"/>
            </a:avLst>
          </a:prstGeom>
          <a:solidFill>
            <a:srgbClr val="B6FCB8"/>
          </a:solidFill>
          <a:ln/>
        </p:spPr>
      </p:sp>
      <p:pic>
        <p:nvPicPr>
          <p:cNvPr id="100" name="Image 0" descr="preencoded.png">
            <a:extLst>
              <a:ext uri="{FF2B5EF4-FFF2-40B4-BE49-F238E27FC236}">
                <a16:creationId xmlns:a16="http://schemas.microsoft.com/office/drawing/2014/main" id="{46A02E3D-02A0-862E-0786-4F96B0CAD087}"/>
              </a:ext>
            </a:extLst>
          </p:cNvPr>
          <p:cNvPicPr>
            <a:picLocks noChangeAspect="1"/>
          </p:cNvPicPr>
          <p:nvPr/>
        </p:nvPicPr>
        <p:blipFill>
          <a:blip r:embed="rId12"/>
          <a:stretch>
            <a:fillRect/>
          </a:stretch>
        </p:blipFill>
        <p:spPr>
          <a:xfrm>
            <a:off x="679330" y="23775256"/>
            <a:ext cx="142875" cy="114300"/>
          </a:xfrm>
          <a:prstGeom prst="rect">
            <a:avLst/>
          </a:prstGeom>
        </p:spPr>
      </p:pic>
      <p:sp>
        <p:nvSpPr>
          <p:cNvPr id="101" name="Text 10">
            <a:extLst>
              <a:ext uri="{FF2B5EF4-FFF2-40B4-BE49-F238E27FC236}">
                <a16:creationId xmlns:a16="http://schemas.microsoft.com/office/drawing/2014/main" id="{F5D3BA99-0503-95B6-B20A-5B5901EC3B56}"/>
              </a:ext>
            </a:extLst>
          </p:cNvPr>
          <p:cNvSpPr/>
          <p:nvPr/>
        </p:nvSpPr>
        <p:spPr>
          <a:xfrm>
            <a:off x="936503" y="23741548"/>
            <a:ext cx="7419070" cy="351681"/>
          </a:xfrm>
          <a:prstGeom prst="rect">
            <a:avLst/>
          </a:prstGeom>
          <a:noFill/>
          <a:ln/>
        </p:spPr>
        <p:txBody>
          <a:bodyPr wrap="square" lIns="0" tIns="0" rIns="0" bIns="0" rtlCol="0" anchor="t">
            <a:normAutofit lnSpcReduction="10000"/>
          </a:bodyPr>
          <a:lstStyle/>
          <a:p>
            <a:pPr>
              <a:lnSpc>
                <a:spcPct val="128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b="1" dirty="0">
                <a:solidFill>
                  <a:srgbClr val="000000"/>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 — Positioning Statement YNKI sebagai Landscape Governance Backbone Organization di Kalimantan Barat dan Indonesia.</a:t>
            </a:r>
            <a:endParaRPr lang="en-US" sz="1000" dirty="0">
              <a:latin typeface="Leelawadee UI" panose="020B0502040204020203" pitchFamily="34" charset="-34"/>
              <a:cs typeface="Leelawadee UI" panose="020B0502040204020203" pitchFamily="34" charset="-34"/>
            </a:endParaRPr>
          </a:p>
        </p:txBody>
      </p:sp>
      <p:pic>
        <p:nvPicPr>
          <p:cNvPr id="102" name="Image 1" descr="preencoded.png">
            <a:hlinkClick r:id="rId6"/>
            <a:extLst>
              <a:ext uri="{FF2B5EF4-FFF2-40B4-BE49-F238E27FC236}">
                <a16:creationId xmlns:a16="http://schemas.microsoft.com/office/drawing/2014/main" id="{2259100A-8FBB-B0FD-111C-8F62B025CF82}"/>
              </a:ext>
            </a:extLst>
          </p:cNvPr>
          <p:cNvPicPr>
            <a:picLocks noChangeAspect="1"/>
          </p:cNvPicPr>
          <p:nvPr/>
        </p:nvPicPr>
        <p:blipFill>
          <a:blip r:embed="rId13"/>
          <a:stretch>
            <a:fillRect/>
          </a:stretch>
        </p:blipFill>
        <p:spPr>
          <a:xfrm>
            <a:off x="565028" y="24335222"/>
            <a:ext cx="1460450" cy="314474"/>
          </a:xfrm>
          <a:prstGeom prst="rect">
            <a:avLst/>
          </a:prstGeom>
        </p:spPr>
      </p:pic>
      <p:pic>
        <p:nvPicPr>
          <p:cNvPr id="103" name="Image 2" descr="preencoded.png">
            <a:hlinkClick r:id="rId4"/>
            <a:extLst>
              <a:ext uri="{FF2B5EF4-FFF2-40B4-BE49-F238E27FC236}">
                <a16:creationId xmlns:a16="http://schemas.microsoft.com/office/drawing/2014/main" id="{87D0AAD8-CB4C-6D8C-376D-96521D82EFD3}"/>
              </a:ext>
            </a:extLst>
          </p:cNvPr>
          <p:cNvPicPr>
            <a:picLocks noChangeAspect="1"/>
          </p:cNvPicPr>
          <p:nvPr/>
        </p:nvPicPr>
        <p:blipFill>
          <a:blip r:embed="rId14"/>
          <a:stretch>
            <a:fillRect/>
          </a:stretch>
        </p:blipFill>
        <p:spPr>
          <a:xfrm>
            <a:off x="2082630" y="24335222"/>
            <a:ext cx="1285949" cy="314474"/>
          </a:xfrm>
          <a:prstGeom prst="rect">
            <a:avLst/>
          </a:prstGeom>
        </p:spPr>
      </p:pic>
      <p:sp>
        <p:nvSpPr>
          <p:cNvPr id="104" name="Shape 0">
            <a:extLst>
              <a:ext uri="{FF2B5EF4-FFF2-40B4-BE49-F238E27FC236}">
                <a16:creationId xmlns:a16="http://schemas.microsoft.com/office/drawing/2014/main" id="{0FCB12DF-40B1-7BA4-B0E4-468A755C3A7D}"/>
              </a:ext>
            </a:extLst>
          </p:cNvPr>
          <p:cNvSpPr/>
          <p:nvPr/>
        </p:nvSpPr>
        <p:spPr>
          <a:xfrm>
            <a:off x="493250" y="25239147"/>
            <a:ext cx="4103191" cy="1651025"/>
          </a:xfrm>
          <a:prstGeom prst="roundRect">
            <a:avLst>
              <a:gd name="adj" fmla="val 1127"/>
            </a:avLst>
          </a:prstGeom>
          <a:solidFill>
            <a:srgbClr val="1B5E20"/>
          </a:solidFill>
          <a:ln/>
        </p:spPr>
      </p:sp>
      <p:sp>
        <p:nvSpPr>
          <p:cNvPr id="105" name="Text 1">
            <a:extLst>
              <a:ext uri="{FF2B5EF4-FFF2-40B4-BE49-F238E27FC236}">
                <a16:creationId xmlns:a16="http://schemas.microsoft.com/office/drawing/2014/main" id="{C90BBC42-551E-1FCD-6F58-499D88878CAC}"/>
              </a:ext>
            </a:extLst>
          </p:cNvPr>
          <p:cNvSpPr/>
          <p:nvPr/>
        </p:nvSpPr>
        <p:spPr>
          <a:xfrm>
            <a:off x="617224" y="25363121"/>
            <a:ext cx="2901479" cy="193849"/>
          </a:xfrm>
          <a:prstGeom prst="rect">
            <a:avLst/>
          </a:prstGeom>
          <a:noFill/>
          <a:ln/>
        </p:spPr>
        <p:txBody>
          <a:bodyPr wrap="none" lIns="0" tIns="0" rIns="0" bIns="0" rtlCol="0" anchor="t"/>
          <a:lstStyle/>
          <a:p>
            <a:pPr>
              <a:lnSpc>
                <a:spcPct val="104000"/>
              </a:lnSpc>
            </a:pP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Yayasan Natural Kapital Indonesia</a:t>
            </a:r>
            <a:endParaRPr lang="en-US" sz="1200" dirty="0">
              <a:latin typeface="Leelawadee UI" panose="020B0502040204020203" pitchFamily="34" charset="-34"/>
              <a:cs typeface="Leelawadee UI" panose="020B0502040204020203" pitchFamily="34" charset="-34"/>
            </a:endParaRPr>
          </a:p>
        </p:txBody>
      </p:sp>
      <p:sp>
        <p:nvSpPr>
          <p:cNvPr id="106" name="Text 2">
            <a:extLst>
              <a:ext uri="{FF2B5EF4-FFF2-40B4-BE49-F238E27FC236}">
                <a16:creationId xmlns:a16="http://schemas.microsoft.com/office/drawing/2014/main" id="{6B1DDED1-8823-104D-B612-3D6291E561C0}"/>
              </a:ext>
            </a:extLst>
          </p:cNvPr>
          <p:cNvSpPr/>
          <p:nvPr/>
        </p:nvSpPr>
        <p:spPr>
          <a:xfrm>
            <a:off x="617222" y="25680942"/>
            <a:ext cx="3855244" cy="1021854"/>
          </a:xfrm>
          <a:prstGeom prst="rect">
            <a:avLst/>
          </a:prstGeom>
          <a:noFill/>
          <a:ln/>
        </p:spPr>
        <p:txBody>
          <a:bodyPr wrap="square" lIns="0" tIns="0" rIns="0" bIns="0" rtlCol="0" anchor="t"/>
          <a:lstStyle/>
          <a:p>
            <a:pPr>
              <a:lnSpc>
                <a:spcPct val="133000"/>
              </a:lnSpc>
              <a:spcAft>
                <a:spcPts val="850"/>
              </a:spcAft>
            </a:pPr>
            <a:r>
              <a:rPr lang="en-US" sz="950" i="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950" dirty="0">
              <a:latin typeface="Leelawadee UI" panose="020B0502040204020203" pitchFamily="34" charset="-34"/>
              <a:cs typeface="Leelawadee UI" panose="020B0502040204020203" pitchFamily="34" charset="-34"/>
            </a:endParaRPr>
          </a:p>
          <a:p>
            <a:pPr>
              <a:lnSpc>
                <a:spcPct val="133000"/>
              </a:lnSpc>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 Pontianak, Kalimantan Barat, Indonesia</a:t>
            </a:r>
            <a:endParaRPr lang="en-US" sz="950" dirty="0">
              <a:latin typeface="Leelawadee UI" panose="020B0502040204020203" pitchFamily="34" charset="-34"/>
              <a:cs typeface="Leelawadee UI" panose="020B0502040204020203" pitchFamily="34" charset="-34"/>
            </a:endParaRPr>
          </a:p>
          <a:p>
            <a:pPr>
              <a:lnSpc>
                <a:spcPct val="133000"/>
              </a:lnSpc>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950" dirty="0">
              <a:latin typeface="Leelawadee UI" panose="020B0502040204020203" pitchFamily="34" charset="-34"/>
              <a:cs typeface="Leelawadee UI" panose="020B0502040204020203" pitchFamily="34" charset="-34"/>
            </a:endParaRPr>
          </a:p>
        </p:txBody>
      </p:sp>
      <p:sp>
        <p:nvSpPr>
          <p:cNvPr id="107" name="Text 3">
            <a:extLst>
              <a:ext uri="{FF2B5EF4-FFF2-40B4-BE49-F238E27FC236}">
                <a16:creationId xmlns:a16="http://schemas.microsoft.com/office/drawing/2014/main" id="{55CF4A29-9C09-CC59-E6A1-6B05E4FBACD3}"/>
              </a:ext>
            </a:extLst>
          </p:cNvPr>
          <p:cNvSpPr/>
          <p:nvPr/>
        </p:nvSpPr>
        <p:spPr>
          <a:xfrm>
            <a:off x="4814472" y="25363121"/>
            <a:ext cx="2007766" cy="193849"/>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200" dirty="0">
              <a:latin typeface="Leelawadee UI" panose="020B0502040204020203" pitchFamily="34" charset="-34"/>
              <a:cs typeface="Leelawadee UI" panose="020B0502040204020203" pitchFamily="34" charset="-34"/>
            </a:endParaRPr>
          </a:p>
        </p:txBody>
      </p:sp>
      <p:sp>
        <p:nvSpPr>
          <p:cNvPr id="108" name="Text 4">
            <a:extLst>
              <a:ext uri="{FF2B5EF4-FFF2-40B4-BE49-F238E27FC236}">
                <a16:creationId xmlns:a16="http://schemas.microsoft.com/office/drawing/2014/main" id="{7E4C4003-B0E1-C9E7-A747-BA7DEA04451D}"/>
              </a:ext>
            </a:extLst>
          </p:cNvPr>
          <p:cNvSpPr/>
          <p:nvPr/>
        </p:nvSpPr>
        <p:spPr>
          <a:xfrm>
            <a:off x="4814472" y="25680944"/>
            <a:ext cx="3924598" cy="1165845"/>
          </a:xfrm>
          <a:prstGeom prst="rect">
            <a:avLst/>
          </a:prstGeom>
          <a:noFill/>
          <a:ln/>
        </p:spPr>
        <p:txBody>
          <a:bodyPr wrap="square" lIns="0" tIns="0" rIns="0" bIns="0" rtlCol="0" anchor="t">
            <a:normAutofit/>
          </a:bodyPr>
          <a:lstStyle/>
          <a:p>
            <a:pPr marL="342900" indent="-342900">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950" dirty="0">
              <a:latin typeface="Leelawadee UI" panose="020B0502040204020203" pitchFamily="34" charset="-34"/>
              <a:cs typeface="Leelawadee UI" panose="020B0502040204020203" pitchFamily="34" charset="-34"/>
            </a:endParaRPr>
          </a:p>
          <a:p>
            <a:pPr marL="342900" indent="-342900">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Sejarah, Visi &amp; Misi</a:t>
            </a:r>
            <a:endParaRPr lang="en-US" sz="950" dirty="0">
              <a:latin typeface="Leelawadee UI" panose="020B0502040204020203" pitchFamily="34" charset="-34"/>
              <a:cs typeface="Leelawadee UI" panose="020B0502040204020203" pitchFamily="34" charset="-34"/>
            </a:endParaRPr>
          </a:p>
          <a:p>
            <a:pPr marL="342900" indent="-342900">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950" dirty="0">
              <a:latin typeface="Leelawadee UI" panose="020B0502040204020203" pitchFamily="34" charset="-34"/>
              <a:cs typeface="Leelawadee UI" panose="020B0502040204020203" pitchFamily="34" charset="-34"/>
            </a:endParaRPr>
          </a:p>
          <a:p>
            <a:pPr marL="342900" indent="-342900">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950" dirty="0">
              <a:latin typeface="Leelawadee UI" panose="020B0502040204020203" pitchFamily="34" charset="-34"/>
              <a:cs typeface="Leelawadee UI" panose="020B0502040204020203" pitchFamily="34" charset="-34"/>
            </a:endParaRPr>
          </a:p>
          <a:p>
            <a:pPr marL="342900" indent="-342900">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Donasi</a:t>
            </a:r>
            <a:endParaRPr lang="en-US" sz="950" dirty="0">
              <a:latin typeface="Leelawadee UI" panose="020B0502040204020203" pitchFamily="34" charset="-34"/>
              <a:cs typeface="Leelawadee UI" panose="020B0502040204020203" pitchFamily="34" charset="-34"/>
            </a:endParaRPr>
          </a:p>
        </p:txBody>
      </p:sp>
      <p:sp>
        <p:nvSpPr>
          <p:cNvPr id="109" name="Text 5">
            <a:extLst>
              <a:ext uri="{FF2B5EF4-FFF2-40B4-BE49-F238E27FC236}">
                <a16:creationId xmlns:a16="http://schemas.microsoft.com/office/drawing/2014/main" id="{858FB2FF-B212-5864-2855-366F3D061117}"/>
              </a:ext>
            </a:extLst>
          </p:cNvPr>
          <p:cNvSpPr/>
          <p:nvPr/>
        </p:nvSpPr>
        <p:spPr>
          <a:xfrm>
            <a:off x="582545" y="27153672"/>
            <a:ext cx="2007766" cy="193849"/>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Hubungi Kami</a:t>
            </a:r>
            <a:endParaRPr lang="en-US" sz="1200" dirty="0">
              <a:latin typeface="Leelawadee UI" panose="020B0502040204020203" pitchFamily="34" charset="-34"/>
              <a:cs typeface="Leelawadee UI" panose="020B0502040204020203" pitchFamily="34" charset="-34"/>
            </a:endParaRPr>
          </a:p>
        </p:txBody>
      </p:sp>
      <p:sp>
        <p:nvSpPr>
          <p:cNvPr id="110" name="Text 6">
            <a:extLst>
              <a:ext uri="{FF2B5EF4-FFF2-40B4-BE49-F238E27FC236}">
                <a16:creationId xmlns:a16="http://schemas.microsoft.com/office/drawing/2014/main" id="{4892E562-7E18-295B-9451-B5A5B402E016}"/>
              </a:ext>
            </a:extLst>
          </p:cNvPr>
          <p:cNvSpPr/>
          <p:nvPr/>
        </p:nvSpPr>
        <p:spPr>
          <a:xfrm>
            <a:off x="582545" y="27471495"/>
            <a:ext cx="3924598" cy="910233"/>
          </a:xfrm>
          <a:prstGeom prst="rect">
            <a:avLst/>
          </a:prstGeom>
          <a:noFill/>
          <a:ln/>
        </p:spPr>
        <p:txBody>
          <a:bodyPr wrap="square" lIns="0" tIns="0" rIns="0" bIns="0" rtlCol="0" anchor="t"/>
          <a:lstStyle/>
          <a:p>
            <a:pPr>
              <a:lnSpc>
                <a:spcPct val="133000"/>
              </a:lnSpc>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950" dirty="0">
              <a:latin typeface="Leelawadee UI" panose="020B0502040204020203" pitchFamily="34" charset="-34"/>
              <a:cs typeface="Leelawadee UI" panose="020B0502040204020203" pitchFamily="34" charset="-34"/>
            </a:endParaRPr>
          </a:p>
          <a:p>
            <a:pPr>
              <a:lnSpc>
                <a:spcPct val="133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Kami terbuka untuk kolaborasi dengan pemerintah, mitra swasta, lembaga donor, akademisi, dan komunitas lokal yang berbagi semangat yang sama.</a:t>
            </a:r>
            <a:endParaRPr lang="en-US" sz="950" dirty="0">
              <a:latin typeface="Leelawadee UI" panose="020B0502040204020203" pitchFamily="34" charset="-34"/>
              <a:cs typeface="Leelawadee UI" panose="020B0502040204020203" pitchFamily="34" charset="-34"/>
            </a:endParaRPr>
          </a:p>
        </p:txBody>
      </p:sp>
      <p:sp>
        <p:nvSpPr>
          <p:cNvPr id="111" name="Text 7">
            <a:extLst>
              <a:ext uri="{FF2B5EF4-FFF2-40B4-BE49-F238E27FC236}">
                <a16:creationId xmlns:a16="http://schemas.microsoft.com/office/drawing/2014/main" id="{9645D37F-47D1-C2F5-A576-0A095D79356E}"/>
              </a:ext>
            </a:extLst>
          </p:cNvPr>
          <p:cNvSpPr/>
          <p:nvPr/>
        </p:nvSpPr>
        <p:spPr>
          <a:xfrm>
            <a:off x="4814472" y="27153672"/>
            <a:ext cx="2007766" cy="193849"/>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Ikuti Kami</a:t>
            </a:r>
            <a:endParaRPr lang="en-US" sz="1200" dirty="0">
              <a:latin typeface="Leelawadee UI" panose="020B0502040204020203" pitchFamily="34" charset="-34"/>
              <a:cs typeface="Leelawadee UI" panose="020B0502040204020203" pitchFamily="34" charset="-34"/>
            </a:endParaRPr>
          </a:p>
        </p:txBody>
      </p:sp>
      <p:sp>
        <p:nvSpPr>
          <p:cNvPr id="112" name="Text 8">
            <a:extLst>
              <a:ext uri="{FF2B5EF4-FFF2-40B4-BE49-F238E27FC236}">
                <a16:creationId xmlns:a16="http://schemas.microsoft.com/office/drawing/2014/main" id="{B2870A95-0AFF-E42A-B8A1-E26BA5D85A4B}"/>
              </a:ext>
            </a:extLst>
          </p:cNvPr>
          <p:cNvSpPr/>
          <p:nvPr/>
        </p:nvSpPr>
        <p:spPr>
          <a:xfrm>
            <a:off x="4814472" y="27471493"/>
            <a:ext cx="3924598" cy="1147762"/>
          </a:xfrm>
          <a:prstGeom prst="rect">
            <a:avLst/>
          </a:prstGeom>
          <a:noFill/>
          <a:ln/>
        </p:spPr>
        <p:txBody>
          <a:bodyPr wrap="square" lIns="0" tIns="0" rIns="0" bIns="0" rtlCol="0" anchor="t"/>
          <a:lstStyle/>
          <a:p>
            <a:pPr>
              <a:lnSpc>
                <a:spcPct val="133000"/>
              </a:lnSpc>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LinkedIn: Yayasan Natural Kapital Indonesia</a:t>
            </a:r>
            <a:endParaRPr lang="en-US" sz="950" dirty="0">
              <a:latin typeface="Leelawadee UI" panose="020B0502040204020203" pitchFamily="34" charset="-34"/>
              <a:cs typeface="Leelawadee UI" panose="020B0502040204020203" pitchFamily="34" charset="-34"/>
            </a:endParaRPr>
          </a:p>
          <a:p>
            <a:pPr>
              <a:lnSpc>
                <a:spcPct val="133000"/>
              </a:lnSpc>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YouTube: Natural Kapital Indonesia</a:t>
            </a:r>
            <a:endParaRPr lang="en-US" sz="950" dirty="0">
              <a:latin typeface="Leelawadee UI" panose="020B0502040204020203" pitchFamily="34" charset="-34"/>
              <a:cs typeface="Leelawadee UI" panose="020B0502040204020203" pitchFamily="34" charset="-34"/>
            </a:endParaRPr>
          </a:p>
          <a:p>
            <a:pPr>
              <a:lnSpc>
                <a:spcPct val="133000"/>
              </a:lnSpc>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Instagram: @naturalkapital.id</a:t>
            </a:r>
            <a:endParaRPr lang="en-US" sz="950" dirty="0">
              <a:latin typeface="Leelawadee UI" panose="020B0502040204020203" pitchFamily="34" charset="-34"/>
              <a:cs typeface="Leelawadee UI" panose="020B0502040204020203" pitchFamily="34" charset="-34"/>
            </a:endParaRPr>
          </a:p>
          <a:p>
            <a:pPr>
              <a:lnSpc>
                <a:spcPct val="133000"/>
              </a:lnSpc>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 · Kebijakan Privasi</a:t>
            </a:r>
            <a:endParaRPr lang="en-US" sz="95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27607058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39</TotalTime>
  <Words>931</Words>
  <Application>Microsoft Office PowerPoint</Application>
  <PresentationFormat>Custom</PresentationFormat>
  <Paragraphs>77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DM Sans Medium</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2</cp:revision>
  <dcterms:created xsi:type="dcterms:W3CDTF">2026-06-19T09:03:40Z</dcterms:created>
  <dcterms:modified xsi:type="dcterms:W3CDTF">2026-06-19T09:43:17Z</dcterms:modified>
</cp:coreProperties>
</file>