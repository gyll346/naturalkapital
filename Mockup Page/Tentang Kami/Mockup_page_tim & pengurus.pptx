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Lst>
  <p:sldSz cx="89995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90" d="100"/>
          <a:sy n="90" d="100"/>
        </p:scale>
        <p:origin x="94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891626"/>
            <a:ext cx="7649607" cy="1253324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8908198"/>
            <a:ext cx="6749654" cy="869160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08DC78-4F4A-4369-A3B8-A0E6282A055F}"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1402351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08DC78-4F4A-4369-A3B8-A0E6282A055F}"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394882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974945"/>
            <a:ext cx="7762102" cy="1497488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4091502"/>
            <a:ext cx="7762102" cy="787494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08DC78-4F4A-4369-A3B8-A0E6282A055F}"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76192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08DC78-4F4A-4369-A3B8-A0E6282A055F}"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2230723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916661"/>
            <a:ext cx="7762102"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8824938"/>
            <a:ext cx="380722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149904"/>
            <a:ext cx="380722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8824938"/>
            <a:ext cx="382597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149904"/>
            <a:ext cx="382597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08DC78-4F4A-4369-A3B8-A0E6282A055F}" type="datetimeFigureOut">
              <a:rPr lang="en-ID" smtClean="0"/>
              <a:t>19/06/2026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2512896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08DC78-4F4A-4369-A3B8-A0E6282A055F}" type="datetimeFigureOut">
              <a:rPr lang="en-ID" smtClean="0"/>
              <a:t>19/06/2026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4228192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08DC78-4F4A-4369-A3B8-A0E6282A055F}" type="datetimeFigureOut">
              <a:rPr lang="en-ID" smtClean="0"/>
              <a:t>19/06/2026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3263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183304"/>
            <a:ext cx="4556016" cy="25583147"/>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FC08DC78-4F4A-4369-A3B8-A0E6282A055F}"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83107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183304"/>
            <a:ext cx="4556016" cy="25583147"/>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FC08DC78-4F4A-4369-A3B8-A0E6282A055F}"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806057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08DC78-4F4A-4369-A3B8-A0E6282A055F}"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1733746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916653"/>
            <a:ext cx="194052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916653"/>
            <a:ext cx="5709082"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08DC78-4F4A-4369-A3B8-A0E6282A055F}"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95A0D0-0C02-41C4-9029-69FFCF4D1D69}" type="slidenum">
              <a:rPr lang="en-ID" smtClean="0"/>
              <a:t>‹#›</a:t>
            </a:fld>
            <a:endParaRPr lang="en-ID"/>
          </a:p>
        </p:txBody>
      </p:sp>
    </p:spTree>
    <p:extLst>
      <p:ext uri="{BB962C8B-B14F-4D97-AF65-F5344CB8AC3E}">
        <p14:creationId xmlns:p14="http://schemas.microsoft.com/office/powerpoint/2010/main" val="2139416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916661"/>
            <a:ext cx="7762102"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9583264"/>
            <a:ext cx="7762102"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3366432"/>
            <a:ext cx="2024896" cy="1916653"/>
          </a:xfrm>
          <a:prstGeom prst="rect">
            <a:avLst/>
          </a:prstGeom>
        </p:spPr>
        <p:txBody>
          <a:bodyPr vert="horz" lIns="91440" tIns="45720" rIns="91440" bIns="45720" rtlCol="0" anchor="ctr"/>
          <a:lstStyle>
            <a:lvl1pPr algn="l">
              <a:defRPr sz="1181">
                <a:solidFill>
                  <a:schemeClr val="tx1">
                    <a:tint val="75000"/>
                  </a:schemeClr>
                </a:solidFill>
              </a:defRPr>
            </a:lvl1pPr>
          </a:lstStyle>
          <a:p>
            <a:fld id="{FC08DC78-4F4A-4369-A3B8-A0E6282A055F}" type="datetimeFigureOut">
              <a:rPr lang="en-ID" smtClean="0"/>
              <a:t>19/06/2026</a:t>
            </a:fld>
            <a:endParaRPr lang="en-ID"/>
          </a:p>
        </p:txBody>
      </p:sp>
      <p:sp>
        <p:nvSpPr>
          <p:cNvPr id="5" name="Footer Placeholder 4"/>
          <p:cNvSpPr>
            <a:spLocks noGrp="1"/>
          </p:cNvSpPr>
          <p:nvPr>
            <p:ph type="ftr" sz="quarter" idx="3"/>
          </p:nvPr>
        </p:nvSpPr>
        <p:spPr>
          <a:xfrm>
            <a:off x="2981097" y="33366432"/>
            <a:ext cx="3037344" cy="1916653"/>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3366432"/>
            <a:ext cx="2024896" cy="1916653"/>
          </a:xfrm>
          <a:prstGeom prst="rect">
            <a:avLst/>
          </a:prstGeom>
        </p:spPr>
        <p:txBody>
          <a:bodyPr vert="horz" lIns="91440" tIns="45720" rIns="91440" bIns="45720" rtlCol="0" anchor="ctr"/>
          <a:lstStyle>
            <a:lvl1pPr algn="r">
              <a:defRPr sz="1181">
                <a:solidFill>
                  <a:schemeClr val="tx1">
                    <a:tint val="75000"/>
                  </a:schemeClr>
                </a:solidFill>
              </a:defRPr>
            </a:lvl1pPr>
          </a:lstStyle>
          <a:p>
            <a:fld id="{FC95A0D0-0C02-41C4-9029-69FFCF4D1D69}" type="slidenum">
              <a:rPr lang="en-ID" smtClean="0"/>
              <a:t>‹#›</a:t>
            </a:fld>
            <a:endParaRPr lang="en-ID"/>
          </a:p>
        </p:txBody>
      </p:sp>
    </p:spTree>
    <p:extLst>
      <p:ext uri="{BB962C8B-B14F-4D97-AF65-F5344CB8AC3E}">
        <p14:creationId xmlns:p14="http://schemas.microsoft.com/office/powerpoint/2010/main" val="3953504579"/>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21" Type="http://schemas.openxmlformats.org/officeDocument/2006/relationships/image" Target="../media/image20.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sv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0" descr="preencoded.png">
            <a:extLst>
              <a:ext uri="{FF2B5EF4-FFF2-40B4-BE49-F238E27FC236}">
                <a16:creationId xmlns:a16="http://schemas.microsoft.com/office/drawing/2014/main" id="{BD596378-7B07-AB14-10DD-BCE23E78A0F8}"/>
              </a:ext>
            </a:extLst>
          </p:cNvPr>
          <p:cNvPicPr>
            <a:picLocks noChangeAspect="1"/>
          </p:cNvPicPr>
          <p:nvPr/>
        </p:nvPicPr>
        <p:blipFill>
          <a:blip r:embed="rId2"/>
          <a:stretch>
            <a:fillRect/>
          </a:stretch>
        </p:blipFill>
        <p:spPr>
          <a:xfrm>
            <a:off x="6119605" y="4080"/>
            <a:ext cx="2879933" cy="4319899"/>
          </a:xfrm>
          <a:prstGeom prst="rect">
            <a:avLst/>
          </a:prstGeom>
        </p:spPr>
      </p:pic>
      <p:sp>
        <p:nvSpPr>
          <p:cNvPr id="12" name="Shape 0">
            <a:extLst>
              <a:ext uri="{FF2B5EF4-FFF2-40B4-BE49-F238E27FC236}">
                <a16:creationId xmlns:a16="http://schemas.microsoft.com/office/drawing/2014/main" id="{11D52AE6-0940-B682-16BA-BB91EC925DD0}"/>
              </a:ext>
            </a:extLst>
          </p:cNvPr>
          <p:cNvSpPr/>
          <p:nvPr/>
        </p:nvSpPr>
        <p:spPr>
          <a:xfrm>
            <a:off x="546557" y="610210"/>
            <a:ext cx="3292322" cy="355672"/>
          </a:xfrm>
          <a:prstGeom prst="roundRect">
            <a:avLst>
              <a:gd name="adj" fmla="val 6132"/>
            </a:avLst>
          </a:prstGeom>
          <a:noFill/>
          <a:ln w="4763">
            <a:solidFill>
              <a:srgbClr val="28282F"/>
            </a:solidFill>
            <a:prstDash val="solid"/>
          </a:ln>
        </p:spPr>
      </p:sp>
      <p:sp>
        <p:nvSpPr>
          <p:cNvPr id="13" name="Text 1">
            <a:extLst>
              <a:ext uri="{FF2B5EF4-FFF2-40B4-BE49-F238E27FC236}">
                <a16:creationId xmlns:a16="http://schemas.microsoft.com/office/drawing/2014/main" id="{5170F05E-6061-7D73-5160-6038AC5A5CD0}"/>
              </a:ext>
            </a:extLst>
          </p:cNvPr>
          <p:cNvSpPr/>
          <p:nvPr/>
        </p:nvSpPr>
        <p:spPr>
          <a:xfrm>
            <a:off x="642903" y="661273"/>
            <a:ext cx="3292322" cy="193229"/>
          </a:xfrm>
          <a:prstGeom prst="rect">
            <a:avLst/>
          </a:prstGeom>
          <a:noFill/>
          <a:ln/>
        </p:spPr>
        <p:txBody>
          <a:bodyPr wrap="none" lIns="0" tIns="0" rIns="0" bIns="0" rtlCol="0" anchor="t"/>
          <a:lstStyle/>
          <a:p>
            <a:pPr>
              <a:lnSpc>
                <a:spcPct val="133000"/>
              </a:lnSpc>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BERANDA / TENTANG KAMI / TIM &amp; PENGURUS</a:t>
            </a:r>
            <a:endParaRPr lang="en-US" sz="1000" dirty="0">
              <a:latin typeface="Leelawadee UI" panose="020B0502040204020203" pitchFamily="34" charset="-34"/>
              <a:cs typeface="Leelawadee UI" panose="020B0502040204020203" pitchFamily="34" charset="-34"/>
            </a:endParaRPr>
          </a:p>
        </p:txBody>
      </p:sp>
      <p:sp>
        <p:nvSpPr>
          <p:cNvPr id="14" name="Text 2">
            <a:extLst>
              <a:ext uri="{FF2B5EF4-FFF2-40B4-BE49-F238E27FC236}">
                <a16:creationId xmlns:a16="http://schemas.microsoft.com/office/drawing/2014/main" id="{A1ABF826-8B2F-FC6E-E199-1EFA228F3E71}"/>
              </a:ext>
            </a:extLst>
          </p:cNvPr>
          <p:cNvSpPr/>
          <p:nvPr/>
        </p:nvSpPr>
        <p:spPr>
          <a:xfrm>
            <a:off x="546558" y="1224121"/>
            <a:ext cx="5746713" cy="943147"/>
          </a:xfrm>
          <a:prstGeom prst="rect">
            <a:avLst/>
          </a:prstGeom>
          <a:noFill/>
          <a:ln/>
        </p:spPr>
        <p:txBody>
          <a:bodyPr wrap="square" lIns="0" tIns="0" rIns="0" bIns="0" rtlCol="0" anchor="t">
            <a:normAutofit/>
          </a:bodyPr>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Tim di Balik Perubahan Lanskap Berkelanjutan</a:t>
            </a:r>
            <a:endParaRPr lang="en-US" sz="2400" dirty="0">
              <a:latin typeface="Leelawadee UI" panose="020B0502040204020203" pitchFamily="34" charset="-34"/>
              <a:cs typeface="Leelawadee UI" panose="020B0502040204020203" pitchFamily="34" charset="-34"/>
            </a:endParaRPr>
          </a:p>
        </p:txBody>
      </p:sp>
      <p:sp>
        <p:nvSpPr>
          <p:cNvPr id="15" name="Text 3">
            <a:extLst>
              <a:ext uri="{FF2B5EF4-FFF2-40B4-BE49-F238E27FC236}">
                <a16:creationId xmlns:a16="http://schemas.microsoft.com/office/drawing/2014/main" id="{99AB410C-D37B-03E1-0360-043C06B52C4D}"/>
              </a:ext>
            </a:extLst>
          </p:cNvPr>
          <p:cNvSpPr/>
          <p:nvPr/>
        </p:nvSpPr>
        <p:spPr>
          <a:xfrm>
            <a:off x="546557" y="2378461"/>
            <a:ext cx="4970659" cy="1207457"/>
          </a:xfrm>
          <a:prstGeom prst="rect">
            <a:avLst/>
          </a:prstGeom>
          <a:noFill/>
          <a:ln/>
        </p:spPr>
        <p:txBody>
          <a:bodyPr wrap="square" lIns="0" tIns="0" rIns="0" bIns="0" rtlCol="0" anchor="t">
            <a:normAutofit/>
          </a:bodyPr>
          <a:lstStyle/>
          <a:p>
            <a:pPr>
              <a:lnSpc>
                <a:spcPct val="133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Yayasan Natural Kapital Indonesia (YNKI) didukung oleh tim profesional yang berdedikasi dari berbagai latar belakang—ekologi, kebijakan publik, GIS, pemberdayaan masyarakat, dan pembangunan berkelanjutan. Kami percaya bahwa perubahan lanskap yang berarti lahir dari kolaborasi tim yang kuat dan berintegritas.</a:t>
            </a:r>
            <a:endParaRPr lang="en-US" sz="1100" dirty="0">
              <a:latin typeface="Leelawadee UI" panose="020B0502040204020203" pitchFamily="34" charset="-34"/>
              <a:cs typeface="Leelawadee UI" panose="020B0502040204020203" pitchFamily="34" charset="-34"/>
            </a:endParaRPr>
          </a:p>
        </p:txBody>
      </p:sp>
      <p:pic>
        <p:nvPicPr>
          <p:cNvPr id="16" name="Image 1" descr="preencoded.png">
            <a:hlinkClick r:id="" action="ppaction://noaction"/>
            <a:extLst>
              <a:ext uri="{FF2B5EF4-FFF2-40B4-BE49-F238E27FC236}">
                <a16:creationId xmlns:a16="http://schemas.microsoft.com/office/drawing/2014/main" id="{3DD04F6B-753C-9D02-A4CC-8E2D9CBB608E}"/>
              </a:ext>
            </a:extLst>
          </p:cNvPr>
          <p:cNvPicPr>
            <a:picLocks noChangeAspect="1"/>
          </p:cNvPicPr>
          <p:nvPr/>
        </p:nvPicPr>
        <p:blipFill>
          <a:blip r:embed="rId3"/>
          <a:stretch>
            <a:fillRect/>
          </a:stretch>
        </p:blipFill>
        <p:spPr>
          <a:xfrm>
            <a:off x="564355" y="3769460"/>
            <a:ext cx="1678215" cy="415071"/>
          </a:xfrm>
          <a:prstGeom prst="rect">
            <a:avLst/>
          </a:prstGeom>
        </p:spPr>
      </p:pic>
      <p:pic>
        <p:nvPicPr>
          <p:cNvPr id="17" name="Image 2" descr="preencoded.png">
            <a:hlinkClick r:id="" action="ppaction://noaction"/>
            <a:extLst>
              <a:ext uri="{FF2B5EF4-FFF2-40B4-BE49-F238E27FC236}">
                <a16:creationId xmlns:a16="http://schemas.microsoft.com/office/drawing/2014/main" id="{6D47C339-EAC2-B0AB-B092-3FCEAE233631}"/>
              </a:ext>
            </a:extLst>
          </p:cNvPr>
          <p:cNvPicPr>
            <a:picLocks noChangeAspect="1"/>
          </p:cNvPicPr>
          <p:nvPr/>
        </p:nvPicPr>
        <p:blipFill>
          <a:blip r:embed="rId4"/>
          <a:stretch>
            <a:fillRect/>
          </a:stretch>
        </p:blipFill>
        <p:spPr>
          <a:xfrm>
            <a:off x="2317994" y="3769460"/>
            <a:ext cx="1325259" cy="415071"/>
          </a:xfrm>
          <a:prstGeom prst="rect">
            <a:avLst/>
          </a:prstGeom>
        </p:spPr>
      </p:pic>
      <p:sp>
        <p:nvSpPr>
          <p:cNvPr id="18" name="Shape 0">
            <a:extLst>
              <a:ext uri="{FF2B5EF4-FFF2-40B4-BE49-F238E27FC236}">
                <a16:creationId xmlns:a16="http://schemas.microsoft.com/office/drawing/2014/main" id="{CD8ACA29-96A3-DDB2-A507-4BC37D4F0B28}"/>
              </a:ext>
            </a:extLst>
          </p:cNvPr>
          <p:cNvSpPr/>
          <p:nvPr/>
        </p:nvSpPr>
        <p:spPr>
          <a:xfrm>
            <a:off x="591596" y="4689937"/>
            <a:ext cx="1255662" cy="269645"/>
          </a:xfrm>
          <a:prstGeom prst="roundRect">
            <a:avLst>
              <a:gd name="adj" fmla="val 7694"/>
            </a:avLst>
          </a:prstGeom>
          <a:solidFill>
            <a:srgbClr val="E3E3E8"/>
          </a:solidFill>
          <a:ln/>
        </p:spPr>
      </p:sp>
      <p:sp>
        <p:nvSpPr>
          <p:cNvPr id="19" name="Text 1">
            <a:extLst>
              <a:ext uri="{FF2B5EF4-FFF2-40B4-BE49-F238E27FC236}">
                <a16:creationId xmlns:a16="http://schemas.microsoft.com/office/drawing/2014/main" id="{2A6B872D-7B6C-7FDE-EADD-883B2754C094}"/>
              </a:ext>
            </a:extLst>
          </p:cNvPr>
          <p:cNvSpPr/>
          <p:nvPr/>
        </p:nvSpPr>
        <p:spPr>
          <a:xfrm>
            <a:off x="619955" y="4746140"/>
            <a:ext cx="1678215" cy="190334"/>
          </a:xfrm>
          <a:prstGeom prst="rect">
            <a:avLst/>
          </a:prstGeom>
          <a:noFill/>
          <a:ln/>
        </p:spPr>
        <p:txBody>
          <a:bodyPr wrap="none" lIns="0" tIns="0" rIns="0" bIns="0" rtlCol="0" anchor="t"/>
          <a:lstStyle/>
          <a:p>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KEPEMIMPINAN</a:t>
            </a:r>
            <a:endParaRPr lang="en-US" sz="1000" dirty="0">
              <a:latin typeface="Leelawadee UI" panose="020B0502040204020203" pitchFamily="34" charset="-34"/>
              <a:cs typeface="Leelawadee UI" panose="020B0502040204020203" pitchFamily="34" charset="-34"/>
            </a:endParaRPr>
          </a:p>
        </p:txBody>
      </p:sp>
      <p:sp>
        <p:nvSpPr>
          <p:cNvPr id="20" name="Text 2">
            <a:extLst>
              <a:ext uri="{FF2B5EF4-FFF2-40B4-BE49-F238E27FC236}">
                <a16:creationId xmlns:a16="http://schemas.microsoft.com/office/drawing/2014/main" id="{F599853B-B36B-E623-8DD5-B7DAD93DB3F6}"/>
              </a:ext>
            </a:extLst>
          </p:cNvPr>
          <p:cNvSpPr/>
          <p:nvPr/>
        </p:nvSpPr>
        <p:spPr>
          <a:xfrm>
            <a:off x="582706" y="5058520"/>
            <a:ext cx="6254050" cy="713160"/>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Dewan Pengurus &amp; Kepemimpinan YNKI</a:t>
            </a:r>
            <a:endParaRPr lang="en-US" sz="2400" dirty="0">
              <a:latin typeface="Leelawadee UI" panose="020B0502040204020203" pitchFamily="34" charset="-34"/>
              <a:cs typeface="Leelawadee UI" panose="020B0502040204020203" pitchFamily="34" charset="-34"/>
            </a:endParaRPr>
          </a:p>
        </p:txBody>
      </p:sp>
      <p:sp>
        <p:nvSpPr>
          <p:cNvPr id="21" name="Text 3">
            <a:extLst>
              <a:ext uri="{FF2B5EF4-FFF2-40B4-BE49-F238E27FC236}">
                <a16:creationId xmlns:a16="http://schemas.microsoft.com/office/drawing/2014/main" id="{AEE30A06-2E63-E278-9B75-52EF35A654DA}"/>
              </a:ext>
            </a:extLst>
          </p:cNvPr>
          <p:cNvSpPr/>
          <p:nvPr/>
        </p:nvSpPr>
        <p:spPr>
          <a:xfrm>
            <a:off x="593924" y="5590287"/>
            <a:ext cx="7958827" cy="1145577"/>
          </a:xfrm>
          <a:prstGeom prst="rect">
            <a:avLst/>
          </a:prstGeom>
          <a:noFill/>
          <a:ln/>
        </p:spPr>
        <p:txBody>
          <a:bodyPr wrap="square" lIns="0" tIns="0" rIns="0" bIns="0" rtlCol="0" anchor="t">
            <a:normAutofit/>
          </a:bodyPr>
          <a:lstStyle/>
          <a:p>
            <a:pPr>
              <a:lnSpc>
                <a:spcPct val="130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Jajaran kepemimpinan YNKI terdiri dari para profesional dengan pengalaman luas di bidang tata kelola lanskap, konservasi, kebijakan publik, dan pemberdayaan masyarakat. Mereka memimpin organisasi dengan komitmen penuh pada nilai-nilai Participatory Development, Democratic Landscape Governance, Adaptive Learning &amp; Co-management, dan Biodiversity Stewardship—memastikan setiap keputusan strategis berpijak pada prinsip transparansi dan keberlanjutan jangka panjang.</a:t>
            </a:r>
            <a:endParaRPr lang="en-US" sz="1100" dirty="0">
              <a:latin typeface="Leelawadee UI" panose="020B0502040204020203" pitchFamily="34" charset="-34"/>
              <a:cs typeface="Leelawadee UI" panose="020B0502040204020203" pitchFamily="34" charset="-34"/>
            </a:endParaRPr>
          </a:p>
        </p:txBody>
      </p:sp>
      <p:pic>
        <p:nvPicPr>
          <p:cNvPr id="22" name="Image 0" descr="preencoded.png">
            <a:extLst>
              <a:ext uri="{FF2B5EF4-FFF2-40B4-BE49-F238E27FC236}">
                <a16:creationId xmlns:a16="http://schemas.microsoft.com/office/drawing/2014/main" id="{DC81946E-2EF5-09E5-D22D-6B3E8A1D9FB0}"/>
              </a:ext>
            </a:extLst>
          </p:cNvPr>
          <p:cNvPicPr>
            <a:picLocks noChangeAspect="1"/>
          </p:cNvPicPr>
          <p:nvPr/>
        </p:nvPicPr>
        <p:blipFill>
          <a:blip r:embed="rId5"/>
          <a:stretch>
            <a:fillRect/>
          </a:stretch>
        </p:blipFill>
        <p:spPr>
          <a:xfrm>
            <a:off x="591596" y="6782764"/>
            <a:ext cx="1452478" cy="1815576"/>
          </a:xfrm>
          <a:prstGeom prst="rect">
            <a:avLst/>
          </a:prstGeom>
        </p:spPr>
      </p:pic>
      <p:sp>
        <p:nvSpPr>
          <p:cNvPr id="23" name="Text 4">
            <a:extLst>
              <a:ext uri="{FF2B5EF4-FFF2-40B4-BE49-F238E27FC236}">
                <a16:creationId xmlns:a16="http://schemas.microsoft.com/office/drawing/2014/main" id="{7D03CEC5-F94D-68CB-2646-E114429CF330}"/>
              </a:ext>
            </a:extLst>
          </p:cNvPr>
          <p:cNvSpPr/>
          <p:nvPr/>
        </p:nvSpPr>
        <p:spPr>
          <a:xfrm>
            <a:off x="591596" y="8636010"/>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Haryono</a:t>
            </a:r>
            <a:endParaRPr lang="en-US" sz="1100" dirty="0">
              <a:latin typeface="Leelawadee UI" panose="020B0502040204020203" pitchFamily="34" charset="-34"/>
              <a:cs typeface="Leelawadee UI" panose="020B0502040204020203" pitchFamily="34" charset="-34"/>
            </a:endParaRPr>
          </a:p>
        </p:txBody>
      </p:sp>
      <p:sp>
        <p:nvSpPr>
          <p:cNvPr id="24" name="Text 5">
            <a:extLst>
              <a:ext uri="{FF2B5EF4-FFF2-40B4-BE49-F238E27FC236}">
                <a16:creationId xmlns:a16="http://schemas.microsoft.com/office/drawing/2014/main" id="{139038BA-DB1B-7A2C-6301-35D8050704B7}"/>
              </a:ext>
            </a:extLst>
          </p:cNvPr>
          <p:cNvSpPr/>
          <p:nvPr/>
        </p:nvSpPr>
        <p:spPr>
          <a:xfrm>
            <a:off x="619600" y="8943161"/>
            <a:ext cx="1583308" cy="1942404"/>
          </a:xfrm>
          <a:prstGeom prst="rect">
            <a:avLst/>
          </a:prstGeom>
          <a:noFill/>
          <a:ln/>
        </p:spPr>
        <p:txBody>
          <a:bodyPr wrap="square" lIns="0" tIns="0" rIns="0" bIns="0" rtlCol="0" anchor="t"/>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Direktur YNKI</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Memimpin organisasi sejak 2019 dengan fokus pada transformasi sektor tata guna lahan dan ketahanan iklim. Berpengalaman lebih dari 15 tahun di bidang kebijakan lingkungan dan tata kelola lanskap.</a:t>
            </a:r>
            <a:endParaRPr lang="en-US" sz="1000" dirty="0">
              <a:latin typeface="Leelawadee UI" panose="020B0502040204020203" pitchFamily="34" charset="-34"/>
              <a:cs typeface="Leelawadee UI" panose="020B0502040204020203" pitchFamily="34" charset="-34"/>
            </a:endParaRPr>
          </a:p>
        </p:txBody>
      </p:sp>
      <p:pic>
        <p:nvPicPr>
          <p:cNvPr id="25" name="Image 1" descr="preencoded.png">
            <a:extLst>
              <a:ext uri="{FF2B5EF4-FFF2-40B4-BE49-F238E27FC236}">
                <a16:creationId xmlns:a16="http://schemas.microsoft.com/office/drawing/2014/main" id="{B2F22CB2-4ED6-CFE5-0573-8E7923385E94}"/>
              </a:ext>
            </a:extLst>
          </p:cNvPr>
          <p:cNvPicPr>
            <a:picLocks noChangeAspect="1"/>
          </p:cNvPicPr>
          <p:nvPr/>
        </p:nvPicPr>
        <p:blipFill>
          <a:blip r:embed="rId6"/>
          <a:stretch>
            <a:fillRect/>
          </a:stretch>
        </p:blipFill>
        <p:spPr>
          <a:xfrm>
            <a:off x="2483303" y="6782384"/>
            <a:ext cx="1452570" cy="1815667"/>
          </a:xfrm>
          <a:prstGeom prst="rect">
            <a:avLst/>
          </a:prstGeom>
        </p:spPr>
      </p:pic>
      <p:sp>
        <p:nvSpPr>
          <p:cNvPr id="26" name="Text 6">
            <a:extLst>
              <a:ext uri="{FF2B5EF4-FFF2-40B4-BE49-F238E27FC236}">
                <a16:creationId xmlns:a16="http://schemas.microsoft.com/office/drawing/2014/main" id="{C69234B1-4951-6862-7E73-4BA7D6448645}"/>
              </a:ext>
            </a:extLst>
          </p:cNvPr>
          <p:cNvSpPr/>
          <p:nvPr/>
        </p:nvSpPr>
        <p:spPr>
          <a:xfrm>
            <a:off x="2483304" y="8635717"/>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27" name="Text 7">
            <a:extLst>
              <a:ext uri="{FF2B5EF4-FFF2-40B4-BE49-F238E27FC236}">
                <a16:creationId xmlns:a16="http://schemas.microsoft.com/office/drawing/2014/main" id="{FF75E5A6-57FF-A5E0-2CE5-798A7D40B37D}"/>
              </a:ext>
            </a:extLst>
          </p:cNvPr>
          <p:cNvSpPr/>
          <p:nvPr/>
        </p:nvSpPr>
        <p:spPr>
          <a:xfrm>
            <a:off x="2511306" y="8942397"/>
            <a:ext cx="1788971" cy="988691"/>
          </a:xfrm>
          <a:prstGeom prst="rect">
            <a:avLst/>
          </a:prstGeom>
          <a:noFill/>
          <a:ln/>
        </p:spPr>
        <p:txBody>
          <a:bodyPr wrap="square" lIns="0" tIns="0" rIns="0" bIns="0" rtlCol="0" anchor="t">
            <a:noAutofit/>
          </a:bodyPr>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Manajer Program Landscape Governance</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Berpengalaman dalam fasilitasi multipihak dan pendekatan yurisdiksi. Ahli dalam merancang kerangka tata kelola inklusif yang melibatkan pemerintah, sektor swasta, dan masyarakat lokal.</a:t>
            </a:r>
            <a:endParaRPr lang="en-US" sz="1000" dirty="0">
              <a:latin typeface="Leelawadee UI" panose="020B0502040204020203" pitchFamily="34" charset="-34"/>
              <a:cs typeface="Leelawadee UI" panose="020B0502040204020203" pitchFamily="34" charset="-34"/>
            </a:endParaRPr>
          </a:p>
        </p:txBody>
      </p:sp>
      <p:pic>
        <p:nvPicPr>
          <p:cNvPr id="28" name="Image 2" descr="preencoded.png">
            <a:extLst>
              <a:ext uri="{FF2B5EF4-FFF2-40B4-BE49-F238E27FC236}">
                <a16:creationId xmlns:a16="http://schemas.microsoft.com/office/drawing/2014/main" id="{DE5CAE37-6849-53A7-432C-4DDAC14CBE4A}"/>
              </a:ext>
            </a:extLst>
          </p:cNvPr>
          <p:cNvPicPr>
            <a:picLocks noChangeAspect="1"/>
          </p:cNvPicPr>
          <p:nvPr/>
        </p:nvPicPr>
        <p:blipFill>
          <a:blip r:embed="rId7"/>
          <a:stretch>
            <a:fillRect/>
          </a:stretch>
        </p:blipFill>
        <p:spPr>
          <a:xfrm>
            <a:off x="4636449" y="6767652"/>
            <a:ext cx="1452478" cy="1815576"/>
          </a:xfrm>
          <a:prstGeom prst="rect">
            <a:avLst/>
          </a:prstGeom>
        </p:spPr>
      </p:pic>
      <p:sp>
        <p:nvSpPr>
          <p:cNvPr id="29" name="Text 8">
            <a:extLst>
              <a:ext uri="{FF2B5EF4-FFF2-40B4-BE49-F238E27FC236}">
                <a16:creationId xmlns:a16="http://schemas.microsoft.com/office/drawing/2014/main" id="{B4D15D75-948F-3C57-960D-DBA2EB4BE5CD}"/>
              </a:ext>
            </a:extLst>
          </p:cNvPr>
          <p:cNvSpPr/>
          <p:nvPr/>
        </p:nvSpPr>
        <p:spPr>
          <a:xfrm>
            <a:off x="4636452" y="8620898"/>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30" name="Text 9">
            <a:extLst>
              <a:ext uri="{FF2B5EF4-FFF2-40B4-BE49-F238E27FC236}">
                <a16:creationId xmlns:a16="http://schemas.microsoft.com/office/drawing/2014/main" id="{D8090C51-BBE4-12AD-7804-B7C36FEF5187}"/>
              </a:ext>
            </a:extLst>
          </p:cNvPr>
          <p:cNvSpPr/>
          <p:nvPr/>
        </p:nvSpPr>
        <p:spPr>
          <a:xfrm>
            <a:off x="4610179" y="9002027"/>
            <a:ext cx="1702614" cy="921053"/>
          </a:xfrm>
          <a:prstGeom prst="rect">
            <a:avLst/>
          </a:prstGeom>
          <a:noFill/>
          <a:ln/>
        </p:spPr>
        <p:txBody>
          <a:bodyPr wrap="square" lIns="0" tIns="0" rIns="0" bIns="0" rtlCol="0" anchor="t">
            <a:noAutofit/>
          </a:bodyPr>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Manajer Program Natural Capital &amp; Restoration</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Ahli ekologi dan restorasi ekosistem gambut dengan rekam jejak panjang di proyek pemulihan lahan basah Kalimantan.</a:t>
            </a:r>
            <a:endParaRPr lang="en-US" sz="1000" dirty="0">
              <a:latin typeface="Leelawadee UI" panose="020B0502040204020203" pitchFamily="34" charset="-34"/>
              <a:cs typeface="Leelawadee UI" panose="020B0502040204020203" pitchFamily="34" charset="-34"/>
            </a:endParaRPr>
          </a:p>
        </p:txBody>
      </p:sp>
      <p:pic>
        <p:nvPicPr>
          <p:cNvPr id="31" name="Image 3" descr="preencoded.png">
            <a:extLst>
              <a:ext uri="{FF2B5EF4-FFF2-40B4-BE49-F238E27FC236}">
                <a16:creationId xmlns:a16="http://schemas.microsoft.com/office/drawing/2014/main" id="{2E3F6AC5-69FE-9FA9-6CC5-584F21580EFF}"/>
              </a:ext>
            </a:extLst>
          </p:cNvPr>
          <p:cNvPicPr>
            <a:picLocks noChangeAspect="1"/>
          </p:cNvPicPr>
          <p:nvPr/>
        </p:nvPicPr>
        <p:blipFill>
          <a:blip r:embed="rId8"/>
          <a:stretch>
            <a:fillRect/>
          </a:stretch>
        </p:blipFill>
        <p:spPr>
          <a:xfrm>
            <a:off x="6714880" y="6789304"/>
            <a:ext cx="1452570" cy="1815667"/>
          </a:xfrm>
          <a:prstGeom prst="rect">
            <a:avLst/>
          </a:prstGeom>
        </p:spPr>
      </p:pic>
      <p:sp>
        <p:nvSpPr>
          <p:cNvPr id="32" name="Text 10">
            <a:extLst>
              <a:ext uri="{FF2B5EF4-FFF2-40B4-BE49-F238E27FC236}">
                <a16:creationId xmlns:a16="http://schemas.microsoft.com/office/drawing/2014/main" id="{4D249655-7BCD-9BD3-5AAB-E8DA18A18CCD}"/>
              </a:ext>
            </a:extLst>
          </p:cNvPr>
          <p:cNvSpPr/>
          <p:nvPr/>
        </p:nvSpPr>
        <p:spPr>
          <a:xfrm>
            <a:off x="6714880" y="8642637"/>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33" name="Text 11">
            <a:extLst>
              <a:ext uri="{FF2B5EF4-FFF2-40B4-BE49-F238E27FC236}">
                <a16:creationId xmlns:a16="http://schemas.microsoft.com/office/drawing/2014/main" id="{4898041E-C038-96AA-B72C-7F6F5355E922}"/>
              </a:ext>
            </a:extLst>
          </p:cNvPr>
          <p:cNvSpPr/>
          <p:nvPr/>
        </p:nvSpPr>
        <p:spPr>
          <a:xfrm>
            <a:off x="6714880" y="8965082"/>
            <a:ext cx="1933495" cy="898324"/>
          </a:xfrm>
          <a:prstGeom prst="rect">
            <a:avLst/>
          </a:prstGeom>
          <a:noFill/>
          <a:ln/>
        </p:spPr>
        <p:txBody>
          <a:bodyPr wrap="square" lIns="0" tIns="0" rIns="0" bIns="0" rtlCol="0" anchor="t">
            <a:noAutofit/>
          </a:bodyPr>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Manajer Program Sustainable Commodity Systems</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Spesialis rantai pasok berkelanjutan dan keterlacakan komoditas. Berpengalaman bekerja dengan pelaku industri dan lembaga sertifikasi internasional.</a:t>
            </a:r>
            <a:endParaRPr lang="en-US" sz="1000" dirty="0">
              <a:latin typeface="Leelawadee UI" panose="020B0502040204020203" pitchFamily="34" charset="-34"/>
              <a:cs typeface="Leelawadee UI" panose="020B0502040204020203" pitchFamily="34" charset="-34"/>
            </a:endParaRPr>
          </a:p>
        </p:txBody>
      </p:sp>
      <p:pic>
        <p:nvPicPr>
          <p:cNvPr id="34" name="Image 4" descr="preencoded.png">
            <a:extLst>
              <a:ext uri="{FF2B5EF4-FFF2-40B4-BE49-F238E27FC236}">
                <a16:creationId xmlns:a16="http://schemas.microsoft.com/office/drawing/2014/main" id="{28C2C5BD-2D75-B970-E8EA-920A77357595}"/>
              </a:ext>
            </a:extLst>
          </p:cNvPr>
          <p:cNvPicPr>
            <a:picLocks noChangeAspect="1"/>
          </p:cNvPicPr>
          <p:nvPr/>
        </p:nvPicPr>
        <p:blipFill>
          <a:blip r:embed="rId9"/>
          <a:stretch>
            <a:fillRect/>
          </a:stretch>
        </p:blipFill>
        <p:spPr>
          <a:xfrm>
            <a:off x="610705" y="10911290"/>
            <a:ext cx="1452478" cy="1815576"/>
          </a:xfrm>
          <a:prstGeom prst="rect">
            <a:avLst/>
          </a:prstGeom>
        </p:spPr>
      </p:pic>
      <p:sp>
        <p:nvSpPr>
          <p:cNvPr id="35" name="Text 12">
            <a:extLst>
              <a:ext uri="{FF2B5EF4-FFF2-40B4-BE49-F238E27FC236}">
                <a16:creationId xmlns:a16="http://schemas.microsoft.com/office/drawing/2014/main" id="{2CD255D3-AB60-2D6C-E289-8F25DEDD4602}"/>
              </a:ext>
            </a:extLst>
          </p:cNvPr>
          <p:cNvSpPr/>
          <p:nvPr/>
        </p:nvSpPr>
        <p:spPr>
          <a:xfrm>
            <a:off x="610707" y="12764535"/>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36" name="Text 13">
            <a:extLst>
              <a:ext uri="{FF2B5EF4-FFF2-40B4-BE49-F238E27FC236}">
                <a16:creationId xmlns:a16="http://schemas.microsoft.com/office/drawing/2014/main" id="{DC46B493-61EF-A809-BC06-1E4721A38221}"/>
              </a:ext>
            </a:extLst>
          </p:cNvPr>
          <p:cNvSpPr/>
          <p:nvPr/>
        </p:nvSpPr>
        <p:spPr>
          <a:xfrm>
            <a:off x="638648" y="13085079"/>
            <a:ext cx="1583308" cy="565380"/>
          </a:xfrm>
          <a:prstGeom prst="rect">
            <a:avLst/>
          </a:prstGeom>
          <a:noFill/>
          <a:ln/>
        </p:spPr>
        <p:txBody>
          <a:bodyPr wrap="square" lIns="0" tIns="0" rIns="0" bIns="0" rtlCol="0" anchor="t">
            <a:noAutofit/>
          </a:bodyPr>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Manajer Program Landscape Intelligence</a:t>
            </a:r>
            <a:endParaRPr lang="en-US" sz="1050" dirty="0">
              <a:latin typeface="Leelawadee UI" panose="020B0502040204020203" pitchFamily="34" charset="-34"/>
              <a:cs typeface="Leelawadee UI" panose="020B0502040204020203" pitchFamily="34" charset="-34"/>
            </a:endParaRPr>
          </a:p>
          <a:p>
            <a:pPr>
              <a:lnSpc>
                <a:spcPct val="120000"/>
              </a:lnSpc>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Ahli GIS, penginderaan jauh, dan sistem informasi lanskap. </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Mengembangkan platform data spasial untuk mendukung pengambilan keputusan berbasis bukti.</a:t>
            </a:r>
            <a:endParaRPr lang="en-US" sz="1050" dirty="0">
              <a:latin typeface="Leelawadee UI" panose="020B0502040204020203" pitchFamily="34" charset="-34"/>
              <a:cs typeface="Leelawadee UI" panose="020B0502040204020203" pitchFamily="34" charset="-34"/>
            </a:endParaRPr>
          </a:p>
        </p:txBody>
      </p:sp>
      <p:pic>
        <p:nvPicPr>
          <p:cNvPr id="37" name="Image 5" descr="preencoded.png">
            <a:extLst>
              <a:ext uri="{FF2B5EF4-FFF2-40B4-BE49-F238E27FC236}">
                <a16:creationId xmlns:a16="http://schemas.microsoft.com/office/drawing/2014/main" id="{EC20BE12-E8EF-60B3-8AED-B3512F1A7E33}"/>
              </a:ext>
            </a:extLst>
          </p:cNvPr>
          <p:cNvPicPr>
            <a:picLocks noChangeAspect="1"/>
          </p:cNvPicPr>
          <p:nvPr/>
        </p:nvPicPr>
        <p:blipFill>
          <a:blip r:embed="rId10"/>
          <a:stretch>
            <a:fillRect/>
          </a:stretch>
        </p:blipFill>
        <p:spPr>
          <a:xfrm>
            <a:off x="2600016" y="10910909"/>
            <a:ext cx="1452570" cy="1815667"/>
          </a:xfrm>
          <a:prstGeom prst="rect">
            <a:avLst/>
          </a:prstGeom>
        </p:spPr>
      </p:pic>
      <p:sp>
        <p:nvSpPr>
          <p:cNvPr id="38" name="Text 14">
            <a:extLst>
              <a:ext uri="{FF2B5EF4-FFF2-40B4-BE49-F238E27FC236}">
                <a16:creationId xmlns:a16="http://schemas.microsoft.com/office/drawing/2014/main" id="{7F92EA4B-7EAB-0C5D-E00F-98D7909E7D32}"/>
              </a:ext>
            </a:extLst>
          </p:cNvPr>
          <p:cNvSpPr/>
          <p:nvPr/>
        </p:nvSpPr>
        <p:spPr>
          <a:xfrm>
            <a:off x="2600017" y="12764244"/>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39" name="Text 15">
            <a:extLst>
              <a:ext uri="{FF2B5EF4-FFF2-40B4-BE49-F238E27FC236}">
                <a16:creationId xmlns:a16="http://schemas.microsoft.com/office/drawing/2014/main" id="{F58A90AD-2F72-9FC2-2034-0BE4A60D4903}"/>
              </a:ext>
            </a:extLst>
          </p:cNvPr>
          <p:cNvSpPr/>
          <p:nvPr/>
        </p:nvSpPr>
        <p:spPr>
          <a:xfrm>
            <a:off x="2600018" y="13101263"/>
            <a:ext cx="1694655" cy="655838"/>
          </a:xfrm>
          <a:prstGeom prst="rect">
            <a:avLst/>
          </a:prstGeom>
          <a:noFill/>
          <a:ln/>
        </p:spPr>
        <p:txBody>
          <a:bodyPr wrap="square" lIns="0" tIns="0" rIns="0" bIns="0" rtlCol="0" anchor="t"/>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Strategic Communication Manager</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Bertanggung jawab atas strategi komunikasi organisasi, pengelolaan media dan publikasi, serta membangun narasi yang kuat untuk memperluas jangkauan dan dampak YNKI di tingkat nasional dan internasional.</a:t>
            </a:r>
            <a:endParaRPr lang="en-US" sz="1000" dirty="0">
              <a:latin typeface="Leelawadee UI" panose="020B0502040204020203" pitchFamily="34" charset="-34"/>
              <a:cs typeface="Leelawadee UI" panose="020B0502040204020203" pitchFamily="34" charset="-34"/>
            </a:endParaRPr>
          </a:p>
        </p:txBody>
      </p:sp>
      <p:pic>
        <p:nvPicPr>
          <p:cNvPr id="40" name="Image 6" descr="preencoded.png">
            <a:extLst>
              <a:ext uri="{FF2B5EF4-FFF2-40B4-BE49-F238E27FC236}">
                <a16:creationId xmlns:a16="http://schemas.microsoft.com/office/drawing/2014/main" id="{3A3E07D0-6E32-34B9-9183-980C2E9805CD}"/>
              </a:ext>
            </a:extLst>
          </p:cNvPr>
          <p:cNvPicPr>
            <a:picLocks noChangeAspect="1"/>
          </p:cNvPicPr>
          <p:nvPr/>
        </p:nvPicPr>
        <p:blipFill>
          <a:blip r:embed="rId11"/>
          <a:stretch>
            <a:fillRect/>
          </a:stretch>
        </p:blipFill>
        <p:spPr>
          <a:xfrm>
            <a:off x="4607601" y="10982528"/>
            <a:ext cx="1452478" cy="1815576"/>
          </a:xfrm>
          <a:prstGeom prst="rect">
            <a:avLst/>
          </a:prstGeom>
        </p:spPr>
      </p:pic>
      <p:sp>
        <p:nvSpPr>
          <p:cNvPr id="41" name="Text 16">
            <a:extLst>
              <a:ext uri="{FF2B5EF4-FFF2-40B4-BE49-F238E27FC236}">
                <a16:creationId xmlns:a16="http://schemas.microsoft.com/office/drawing/2014/main" id="{161B2548-D11B-F977-BE55-86B788AE6A23}"/>
              </a:ext>
            </a:extLst>
          </p:cNvPr>
          <p:cNvSpPr/>
          <p:nvPr/>
        </p:nvSpPr>
        <p:spPr>
          <a:xfrm>
            <a:off x="4607604" y="12835774"/>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42" name="Text 17">
            <a:extLst>
              <a:ext uri="{FF2B5EF4-FFF2-40B4-BE49-F238E27FC236}">
                <a16:creationId xmlns:a16="http://schemas.microsoft.com/office/drawing/2014/main" id="{33F0C1E9-B3C2-B08B-B384-49FA015853DE}"/>
              </a:ext>
            </a:extLst>
          </p:cNvPr>
          <p:cNvSpPr/>
          <p:nvPr/>
        </p:nvSpPr>
        <p:spPr>
          <a:xfrm>
            <a:off x="4618138" y="13043201"/>
            <a:ext cx="1694655" cy="2091564"/>
          </a:xfrm>
          <a:prstGeom prst="rect">
            <a:avLst/>
          </a:prstGeom>
          <a:noFill/>
          <a:ln/>
        </p:spPr>
        <p:txBody>
          <a:bodyPr wrap="square" lIns="0" tIns="0" rIns="0" bIns="0" rtlCol="0" anchor="t"/>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HR &amp; Finance Manager</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Mengelola sumber daya manusia dan keuangan organisasi dengan prinsip akuntabilitas dan transparansi. Memastikan operasional YNKI berjalan efisien dan sesuai dengan standar tata kelola keuangan yang baik.</a:t>
            </a:r>
            <a:endParaRPr lang="en-US" sz="1050" dirty="0">
              <a:latin typeface="Leelawadee UI" panose="020B0502040204020203" pitchFamily="34" charset="-34"/>
              <a:cs typeface="Leelawadee UI" panose="020B0502040204020203" pitchFamily="34" charset="-34"/>
            </a:endParaRPr>
          </a:p>
        </p:txBody>
      </p:sp>
      <p:pic>
        <p:nvPicPr>
          <p:cNvPr id="43" name="Image 7" descr="preencoded.png">
            <a:extLst>
              <a:ext uri="{FF2B5EF4-FFF2-40B4-BE49-F238E27FC236}">
                <a16:creationId xmlns:a16="http://schemas.microsoft.com/office/drawing/2014/main" id="{667624B2-5D00-AEC6-F42E-673471738CF2}"/>
              </a:ext>
            </a:extLst>
          </p:cNvPr>
          <p:cNvPicPr>
            <a:picLocks noChangeAspect="1"/>
          </p:cNvPicPr>
          <p:nvPr/>
        </p:nvPicPr>
        <p:blipFill>
          <a:blip r:embed="rId12"/>
          <a:stretch>
            <a:fillRect/>
          </a:stretch>
        </p:blipFill>
        <p:spPr>
          <a:xfrm>
            <a:off x="6714880" y="10937707"/>
            <a:ext cx="1452570" cy="1815667"/>
          </a:xfrm>
          <a:prstGeom prst="rect">
            <a:avLst/>
          </a:prstGeom>
        </p:spPr>
      </p:pic>
      <p:sp>
        <p:nvSpPr>
          <p:cNvPr id="44" name="Text 18">
            <a:extLst>
              <a:ext uri="{FF2B5EF4-FFF2-40B4-BE49-F238E27FC236}">
                <a16:creationId xmlns:a16="http://schemas.microsoft.com/office/drawing/2014/main" id="{EA222722-B008-63EA-0F57-0D598BE96989}"/>
              </a:ext>
            </a:extLst>
          </p:cNvPr>
          <p:cNvSpPr/>
          <p:nvPr/>
        </p:nvSpPr>
        <p:spPr>
          <a:xfrm>
            <a:off x="6714880" y="12791041"/>
            <a:ext cx="943329" cy="117893"/>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[Nama]</a:t>
            </a:r>
            <a:endParaRPr lang="en-US" sz="1100" dirty="0">
              <a:latin typeface="Leelawadee UI" panose="020B0502040204020203" pitchFamily="34" charset="-34"/>
              <a:cs typeface="Leelawadee UI" panose="020B0502040204020203" pitchFamily="34" charset="-34"/>
            </a:endParaRPr>
          </a:p>
        </p:txBody>
      </p:sp>
      <p:sp>
        <p:nvSpPr>
          <p:cNvPr id="45" name="Text 19">
            <a:extLst>
              <a:ext uri="{FF2B5EF4-FFF2-40B4-BE49-F238E27FC236}">
                <a16:creationId xmlns:a16="http://schemas.microsoft.com/office/drawing/2014/main" id="{AA443711-A201-9962-8A08-4D7B493ECCBE}"/>
              </a:ext>
            </a:extLst>
          </p:cNvPr>
          <p:cNvSpPr/>
          <p:nvPr/>
        </p:nvSpPr>
        <p:spPr>
          <a:xfrm>
            <a:off x="6714880" y="13046136"/>
            <a:ext cx="1933495" cy="746296"/>
          </a:xfrm>
          <a:prstGeom prst="rect">
            <a:avLst/>
          </a:prstGeom>
          <a:noFill/>
          <a:ln/>
        </p:spPr>
        <p:txBody>
          <a:bodyPr wrap="square" lIns="0" tIns="0" rIns="0" bIns="0" rtlCol="0" anchor="t"/>
          <a:lstStyle/>
          <a:p>
            <a:pPr>
              <a:lnSpc>
                <a:spcPct val="120000"/>
              </a:lnSpc>
              <a:spcAft>
                <a:spcPts val="122"/>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Knowledge Management Manager</a:t>
            </a:r>
            <a:endParaRPr lang="en-US" sz="1050" dirty="0">
              <a:latin typeface="Leelawadee UI" panose="020B0502040204020203" pitchFamily="34" charset="-34"/>
              <a:cs typeface="Leelawadee UI" panose="020B0502040204020203" pitchFamily="34" charset="-34"/>
            </a:endParaRPr>
          </a:p>
          <a:p>
            <a:pPr>
              <a:lnSpc>
                <a:spcPct val="120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Mengelola sistem pengetahuan organisasi, mendokumentasikan pembelajaran dari lapangan, dan memastikan pengetahuan institusional YNKI terdistribusi secara efektif untuk mendukung inovasi program dan pengambilan keputusan berbasis bukti.</a:t>
            </a:r>
            <a:endParaRPr lang="en-US" sz="1000" dirty="0">
              <a:latin typeface="Leelawadee UI" panose="020B0502040204020203" pitchFamily="34" charset="-34"/>
              <a:cs typeface="Leelawadee UI" panose="020B0502040204020203" pitchFamily="34" charset="-34"/>
            </a:endParaRPr>
          </a:p>
        </p:txBody>
      </p:sp>
      <p:sp>
        <p:nvSpPr>
          <p:cNvPr id="46" name="Shape 0">
            <a:extLst>
              <a:ext uri="{FF2B5EF4-FFF2-40B4-BE49-F238E27FC236}">
                <a16:creationId xmlns:a16="http://schemas.microsoft.com/office/drawing/2014/main" id="{734DCAC8-6E11-6800-E3D6-AB64E23BC5FE}"/>
              </a:ext>
            </a:extLst>
          </p:cNvPr>
          <p:cNvSpPr/>
          <p:nvPr/>
        </p:nvSpPr>
        <p:spPr>
          <a:xfrm>
            <a:off x="516620" y="15529429"/>
            <a:ext cx="688789" cy="248011"/>
          </a:xfrm>
          <a:prstGeom prst="roundRect">
            <a:avLst>
              <a:gd name="adj" fmla="val 7104"/>
            </a:avLst>
          </a:prstGeom>
          <a:solidFill>
            <a:srgbClr val="E3E3E8"/>
          </a:solidFill>
          <a:ln/>
        </p:spPr>
      </p:sp>
      <p:sp>
        <p:nvSpPr>
          <p:cNvPr id="47" name="Text 1">
            <a:extLst>
              <a:ext uri="{FF2B5EF4-FFF2-40B4-BE49-F238E27FC236}">
                <a16:creationId xmlns:a16="http://schemas.microsoft.com/office/drawing/2014/main" id="{298019A7-F975-CCEA-E786-DF34AAA9BB89}"/>
              </a:ext>
            </a:extLst>
          </p:cNvPr>
          <p:cNvSpPr/>
          <p:nvPr/>
        </p:nvSpPr>
        <p:spPr>
          <a:xfrm>
            <a:off x="580277" y="15561217"/>
            <a:ext cx="926757" cy="115720"/>
          </a:xfrm>
          <a:prstGeom prst="rect">
            <a:avLst/>
          </a:prstGeom>
          <a:noFill/>
          <a:ln/>
        </p:spPr>
        <p:txBody>
          <a:bodyPr wrap="none" lIns="0" tIns="0" rIns="0" bIns="0" rtlCol="0" anchor="t"/>
          <a:lstStyle/>
          <a:p>
            <a:pPr>
              <a:lnSpc>
                <a:spcPct val="114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TIM AHLI</a:t>
            </a:r>
            <a:endParaRPr lang="en-US" sz="1000" dirty="0">
              <a:latin typeface="Leelawadee UI" panose="020B0502040204020203" pitchFamily="34" charset="-34"/>
              <a:cs typeface="Leelawadee UI" panose="020B0502040204020203" pitchFamily="34" charset="-34"/>
            </a:endParaRPr>
          </a:p>
        </p:txBody>
      </p:sp>
      <p:sp>
        <p:nvSpPr>
          <p:cNvPr id="48" name="Text 2">
            <a:extLst>
              <a:ext uri="{FF2B5EF4-FFF2-40B4-BE49-F238E27FC236}">
                <a16:creationId xmlns:a16="http://schemas.microsoft.com/office/drawing/2014/main" id="{2C7999F5-FB62-1551-3FD4-652069642580}"/>
              </a:ext>
            </a:extLst>
          </p:cNvPr>
          <p:cNvSpPr/>
          <p:nvPr/>
        </p:nvSpPr>
        <p:spPr>
          <a:xfrm>
            <a:off x="531145" y="15832500"/>
            <a:ext cx="3297936" cy="331585"/>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Tim Ahli dan Staf YNKI</a:t>
            </a:r>
            <a:endParaRPr lang="en-US" sz="2400" dirty="0">
              <a:latin typeface="Leelawadee UI" panose="020B0502040204020203" pitchFamily="34" charset="-34"/>
              <a:cs typeface="Leelawadee UI" panose="020B0502040204020203" pitchFamily="34" charset="-34"/>
            </a:endParaRPr>
          </a:p>
        </p:txBody>
      </p:sp>
      <p:sp>
        <p:nvSpPr>
          <p:cNvPr id="49" name="Text 3">
            <a:extLst>
              <a:ext uri="{FF2B5EF4-FFF2-40B4-BE49-F238E27FC236}">
                <a16:creationId xmlns:a16="http://schemas.microsoft.com/office/drawing/2014/main" id="{174EB228-DDAB-67CE-34D0-F772362AED51}"/>
              </a:ext>
            </a:extLst>
          </p:cNvPr>
          <p:cNvSpPr/>
          <p:nvPr/>
        </p:nvSpPr>
        <p:spPr>
          <a:xfrm>
            <a:off x="580277" y="16389580"/>
            <a:ext cx="4357962" cy="1453781"/>
          </a:xfrm>
          <a:prstGeom prst="rect">
            <a:avLst/>
          </a:prstGeom>
          <a:noFill/>
          <a:ln/>
        </p:spPr>
        <p:txBody>
          <a:bodyPr wrap="square" lIns="0" tIns="0" rIns="0" bIns="0" rtlCol="0" anchor="t">
            <a:no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YNKI didukung oleh tim multidisiplin yang terdiri dari para ahli ekologi, botani, sistem informasi geografis, manajer kebijakan publik, dan antropologi sosial. Tim ini bekerja dari kantor pusat di </a:t>
            </a:r>
            <a:r>
              <a:rPr lang="en-US" sz="1100" b="1" dirty="0">
                <a:solidFill>
                  <a:srgbClr val="161613"/>
                </a:solidFill>
                <a:latin typeface="Leelawadee UI" panose="020B0502040204020203" pitchFamily="34" charset="-34"/>
                <a:ea typeface="Inter" pitchFamily="34" charset="-122"/>
                <a:cs typeface="Leelawadee UI" panose="020B0502040204020203" pitchFamily="34" charset="-34"/>
              </a:rPr>
              <a:t>Pontianak, Kalimantan Barat</a:t>
            </a: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 serta di berbagai lanskap prioritas di seluruh Kalimantan Barat.</a:t>
            </a:r>
            <a:endParaRPr lang="en-US" sz="1100" dirty="0">
              <a:latin typeface="Leelawadee UI" panose="020B0502040204020203" pitchFamily="34" charset="-34"/>
              <a:cs typeface="Leelawadee UI" panose="020B0502040204020203" pitchFamily="34" charset="-34"/>
            </a:endParaRPr>
          </a:p>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Keberagaman latar belakang akademik dan lapangan inilah yang menjadi kekuatan utama YNKI dalam merancang intervensi yang holistik, kontekstual, dan berdampak nyata bagi masyarakat dan ekosistem.</a:t>
            </a:r>
            <a:endParaRPr lang="en-US" sz="1100" dirty="0">
              <a:latin typeface="Leelawadee UI" panose="020B0502040204020203" pitchFamily="34" charset="-34"/>
              <a:cs typeface="Leelawadee UI" panose="020B0502040204020203" pitchFamily="34" charset="-34"/>
            </a:endParaRPr>
          </a:p>
        </p:txBody>
      </p:sp>
      <p:sp>
        <p:nvSpPr>
          <p:cNvPr id="50" name="Shape 4">
            <a:extLst>
              <a:ext uri="{FF2B5EF4-FFF2-40B4-BE49-F238E27FC236}">
                <a16:creationId xmlns:a16="http://schemas.microsoft.com/office/drawing/2014/main" id="{742414D0-447F-CA73-C113-A0A5CF4C5FF3}"/>
              </a:ext>
            </a:extLst>
          </p:cNvPr>
          <p:cNvSpPr/>
          <p:nvPr/>
        </p:nvSpPr>
        <p:spPr>
          <a:xfrm>
            <a:off x="4986184" y="16339529"/>
            <a:ext cx="3630608" cy="1362740"/>
          </a:xfrm>
          <a:prstGeom prst="roundRect">
            <a:avLst>
              <a:gd name="adj" fmla="val 1502"/>
            </a:avLst>
          </a:prstGeom>
          <a:solidFill>
            <a:srgbClr val="B6D6FC"/>
          </a:solidFill>
          <a:ln/>
        </p:spPr>
      </p:sp>
      <p:pic>
        <p:nvPicPr>
          <p:cNvPr id="51" name="Image 0" descr="preencoded.png">
            <a:extLst>
              <a:ext uri="{FF2B5EF4-FFF2-40B4-BE49-F238E27FC236}">
                <a16:creationId xmlns:a16="http://schemas.microsoft.com/office/drawing/2014/main" id="{2C5ECB14-BDB2-C6C5-D5FC-B2A9B8C6C82E}"/>
              </a:ext>
            </a:extLst>
          </p:cNvPr>
          <p:cNvPicPr>
            <a:picLocks noChangeAspect="1"/>
          </p:cNvPicPr>
          <p:nvPr/>
        </p:nvPicPr>
        <p:blipFill>
          <a:blip r:embed="rId13"/>
          <a:stretch>
            <a:fillRect/>
          </a:stretch>
        </p:blipFill>
        <p:spPr>
          <a:xfrm>
            <a:off x="6186299" y="16565710"/>
            <a:ext cx="132653" cy="106122"/>
          </a:xfrm>
          <a:prstGeom prst="rect">
            <a:avLst/>
          </a:prstGeom>
        </p:spPr>
      </p:pic>
      <p:sp>
        <p:nvSpPr>
          <p:cNvPr id="52" name="Text 5">
            <a:extLst>
              <a:ext uri="{FF2B5EF4-FFF2-40B4-BE49-F238E27FC236}">
                <a16:creationId xmlns:a16="http://schemas.microsoft.com/office/drawing/2014/main" id="{E0469F2B-B6C8-4902-9625-6F3F49163189}"/>
              </a:ext>
            </a:extLst>
          </p:cNvPr>
          <p:cNvSpPr/>
          <p:nvPr/>
        </p:nvSpPr>
        <p:spPr>
          <a:xfrm>
            <a:off x="5180915" y="16542118"/>
            <a:ext cx="3067930" cy="872882"/>
          </a:xfrm>
          <a:prstGeom prst="rect">
            <a:avLst/>
          </a:prstGeom>
          <a:noFill/>
          <a:ln/>
        </p:spPr>
        <p:txBody>
          <a:bodyPr wrap="square" lIns="0" tIns="0" rIns="0" bIns="0" rtlCol="0" anchor="t">
            <a:noAutofit/>
          </a:bodyPr>
          <a:lstStyle/>
          <a:p>
            <a:pPr>
              <a:lnSpc>
                <a:spcPct val="114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Kantor Pusat</a:t>
            </a:r>
            <a:endParaRPr lang="en-US" sz="1000" dirty="0">
              <a:latin typeface="Leelawadee UI" panose="020B0502040204020203" pitchFamily="34" charset="-34"/>
              <a:cs typeface="Leelawadee UI" panose="020B0502040204020203" pitchFamily="34" charset="-34"/>
            </a:endParaRPr>
          </a:p>
          <a:p>
            <a:pPr>
              <a:lnSpc>
                <a:spcPct val="114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Jalan Sejarah Gang Gunung Malabar, Pontianak, Kalimantan Barat 78116</a:t>
            </a:r>
            <a:endParaRPr lang="en-US" sz="1000" dirty="0">
              <a:latin typeface="Leelawadee UI" panose="020B0502040204020203" pitchFamily="34" charset="-34"/>
              <a:cs typeface="Leelawadee UI" panose="020B0502040204020203" pitchFamily="34" charset="-34"/>
            </a:endParaRPr>
          </a:p>
          <a:p>
            <a:pPr>
              <a:lnSpc>
                <a:spcPct val="114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Tim YNKI aktif di lapangan di lanskap-lanskap prioritas Kalimantan Barat, bekerja bersama komunitas lokal dan pemangku kepentingan lintas sektor.</a:t>
            </a:r>
            <a:endParaRPr lang="en-US" sz="1000" dirty="0">
              <a:latin typeface="Leelawadee UI" panose="020B0502040204020203" pitchFamily="34" charset="-34"/>
              <a:cs typeface="Leelawadee UI" panose="020B0502040204020203" pitchFamily="34" charset="-34"/>
            </a:endParaRPr>
          </a:p>
        </p:txBody>
      </p:sp>
      <p:pic>
        <p:nvPicPr>
          <p:cNvPr id="53" name="Image 1" descr="preencoded.png">
            <a:extLst>
              <a:ext uri="{FF2B5EF4-FFF2-40B4-BE49-F238E27FC236}">
                <a16:creationId xmlns:a16="http://schemas.microsoft.com/office/drawing/2014/main" id="{BC2EDC40-B8DA-F09F-B279-CB49F1D832F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9341" y="18278666"/>
            <a:ext cx="212244" cy="212244"/>
          </a:xfrm>
          <a:prstGeom prst="rect">
            <a:avLst/>
          </a:prstGeom>
        </p:spPr>
      </p:pic>
      <p:sp>
        <p:nvSpPr>
          <p:cNvPr id="54" name="Text 6">
            <a:extLst>
              <a:ext uri="{FF2B5EF4-FFF2-40B4-BE49-F238E27FC236}">
                <a16:creationId xmlns:a16="http://schemas.microsoft.com/office/drawing/2014/main" id="{CC88C02D-7B03-9BCE-1CB0-AF97A476EA17}"/>
              </a:ext>
            </a:extLst>
          </p:cNvPr>
          <p:cNvSpPr/>
          <p:nvPr/>
        </p:nvSpPr>
        <p:spPr>
          <a:xfrm>
            <a:off x="619341" y="18584176"/>
            <a:ext cx="2087491"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Ekologi Lanskap &amp; Natural Capital</a:t>
            </a:r>
            <a:endParaRPr lang="en-US" sz="1100" dirty="0">
              <a:latin typeface="Leelawadee UI" panose="020B0502040204020203" pitchFamily="34" charset="-34"/>
              <a:cs typeface="Leelawadee UI" panose="020B0502040204020203" pitchFamily="34" charset="-34"/>
            </a:endParaRPr>
          </a:p>
        </p:txBody>
      </p:sp>
      <p:sp>
        <p:nvSpPr>
          <p:cNvPr id="55" name="Text 7">
            <a:extLst>
              <a:ext uri="{FF2B5EF4-FFF2-40B4-BE49-F238E27FC236}">
                <a16:creationId xmlns:a16="http://schemas.microsoft.com/office/drawing/2014/main" id="{64089948-CCD3-A44F-8E35-BF1E78CA2020}"/>
              </a:ext>
            </a:extLst>
          </p:cNvPr>
          <p:cNvSpPr/>
          <p:nvPr/>
        </p:nvSpPr>
        <p:spPr>
          <a:xfrm>
            <a:off x="619342" y="18881556"/>
            <a:ext cx="2581499" cy="783787"/>
          </a:xfrm>
          <a:prstGeom prst="rect">
            <a:avLst/>
          </a:prstGeom>
          <a:noFill/>
          <a:ln/>
        </p:spPr>
        <p:txBody>
          <a:bodyPr wrap="square" lIns="0" tIns="0" rIns="0" bIns="0" rtlCol="0" anchor="t">
            <a:no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Penilaian dan pemulihan ekosistem, valuasi jasa ekosistem, dan pengelolaan sumber daya alam berbasis sains.</a:t>
            </a:r>
            <a:endParaRPr lang="en-US" sz="1100" dirty="0">
              <a:latin typeface="Leelawadee UI" panose="020B0502040204020203" pitchFamily="34" charset="-34"/>
              <a:cs typeface="Leelawadee UI" panose="020B0502040204020203" pitchFamily="34" charset="-34"/>
            </a:endParaRPr>
          </a:p>
        </p:txBody>
      </p:sp>
      <p:pic>
        <p:nvPicPr>
          <p:cNvPr id="56" name="Image 2" descr="preencoded.png">
            <a:extLst>
              <a:ext uri="{FF2B5EF4-FFF2-40B4-BE49-F238E27FC236}">
                <a16:creationId xmlns:a16="http://schemas.microsoft.com/office/drawing/2014/main" id="{79A79BA4-E497-5E6D-EAE6-73A3F56107C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617850" y="18306044"/>
            <a:ext cx="212244" cy="212244"/>
          </a:xfrm>
          <a:prstGeom prst="rect">
            <a:avLst/>
          </a:prstGeom>
        </p:spPr>
      </p:pic>
      <p:sp>
        <p:nvSpPr>
          <p:cNvPr id="57" name="Text 8">
            <a:extLst>
              <a:ext uri="{FF2B5EF4-FFF2-40B4-BE49-F238E27FC236}">
                <a16:creationId xmlns:a16="http://schemas.microsoft.com/office/drawing/2014/main" id="{AE744618-8136-C6EE-A43E-BBBB7D4A9F09}"/>
              </a:ext>
            </a:extLst>
          </p:cNvPr>
          <p:cNvSpPr/>
          <p:nvPr/>
        </p:nvSpPr>
        <p:spPr>
          <a:xfrm>
            <a:off x="3617852" y="18611555"/>
            <a:ext cx="1432015"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Tata Kelola &amp; Kebijakan</a:t>
            </a:r>
            <a:endParaRPr lang="en-US" sz="1100" dirty="0">
              <a:latin typeface="Leelawadee UI" panose="020B0502040204020203" pitchFamily="34" charset="-34"/>
              <a:cs typeface="Leelawadee UI" panose="020B0502040204020203" pitchFamily="34" charset="-34"/>
            </a:endParaRPr>
          </a:p>
        </p:txBody>
      </p:sp>
      <p:sp>
        <p:nvSpPr>
          <p:cNvPr id="58" name="Text 9">
            <a:extLst>
              <a:ext uri="{FF2B5EF4-FFF2-40B4-BE49-F238E27FC236}">
                <a16:creationId xmlns:a16="http://schemas.microsoft.com/office/drawing/2014/main" id="{521E6042-C160-95F3-F3DF-C48611250698}"/>
              </a:ext>
            </a:extLst>
          </p:cNvPr>
          <p:cNvSpPr/>
          <p:nvPr/>
        </p:nvSpPr>
        <p:spPr>
          <a:xfrm>
            <a:off x="3617847" y="18907033"/>
            <a:ext cx="2433475" cy="877050"/>
          </a:xfrm>
          <a:prstGeom prst="rect">
            <a:avLst/>
          </a:prstGeom>
          <a:noFill/>
          <a:ln/>
        </p:spPr>
        <p:txBody>
          <a:bodyPr wrap="square" lIns="0" tIns="0" rIns="0" bIns="0" rtlCol="0" anchor="t">
            <a:no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Analisis regulasi, advokasi kebijakan, dan penguatan kapasitas institusi pemerintah daerah dan nasional.</a:t>
            </a:r>
            <a:endParaRPr lang="en-US" sz="1100" dirty="0">
              <a:latin typeface="Leelawadee UI" panose="020B0502040204020203" pitchFamily="34" charset="-34"/>
              <a:cs typeface="Leelawadee UI" panose="020B0502040204020203" pitchFamily="34" charset="-34"/>
            </a:endParaRPr>
          </a:p>
        </p:txBody>
      </p:sp>
      <p:pic>
        <p:nvPicPr>
          <p:cNvPr id="59" name="Image 3" descr="preencoded.png">
            <a:extLst>
              <a:ext uri="{FF2B5EF4-FFF2-40B4-BE49-F238E27FC236}">
                <a16:creationId xmlns:a16="http://schemas.microsoft.com/office/drawing/2014/main" id="{9CD1ED74-0647-C827-A918-61081CBE048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422610" y="18286994"/>
            <a:ext cx="212244" cy="212244"/>
          </a:xfrm>
          <a:prstGeom prst="rect">
            <a:avLst/>
          </a:prstGeom>
        </p:spPr>
      </p:pic>
      <p:sp>
        <p:nvSpPr>
          <p:cNvPr id="60" name="Text 10">
            <a:extLst>
              <a:ext uri="{FF2B5EF4-FFF2-40B4-BE49-F238E27FC236}">
                <a16:creationId xmlns:a16="http://schemas.microsoft.com/office/drawing/2014/main" id="{AFD93517-9E81-0E69-EB2C-527D61064A31}"/>
              </a:ext>
            </a:extLst>
          </p:cNvPr>
          <p:cNvSpPr/>
          <p:nvPr/>
        </p:nvSpPr>
        <p:spPr>
          <a:xfrm>
            <a:off x="6446598" y="18544501"/>
            <a:ext cx="2098228" cy="388061"/>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Keterlacakan Komoditas &amp; </a:t>
            </a:r>
          </a:p>
          <a:p>
            <a:pPr>
              <a:lnSpc>
                <a:spcPct val="104000"/>
              </a:lnSpc>
            </a:pPr>
            <a:r>
              <a:rPr lang="en-US" sz="1100" dirty="0" err="1">
                <a:solidFill>
                  <a:srgbClr val="161613"/>
                </a:solidFill>
                <a:latin typeface="Leelawadee UI" panose="020B0502040204020203" pitchFamily="34" charset="-34"/>
                <a:ea typeface="DM Sans Medium" pitchFamily="34" charset="-122"/>
                <a:cs typeface="Leelawadee UI" panose="020B0502040204020203" pitchFamily="34" charset="-34"/>
              </a:rPr>
              <a:t>Rantai</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Pasok</a:t>
            </a:r>
            <a:endParaRPr lang="en-US" sz="1100" dirty="0">
              <a:latin typeface="Leelawadee UI" panose="020B0502040204020203" pitchFamily="34" charset="-34"/>
              <a:cs typeface="Leelawadee UI" panose="020B0502040204020203" pitchFamily="34" charset="-34"/>
            </a:endParaRPr>
          </a:p>
        </p:txBody>
      </p:sp>
      <p:sp>
        <p:nvSpPr>
          <p:cNvPr id="61" name="Text 11">
            <a:extLst>
              <a:ext uri="{FF2B5EF4-FFF2-40B4-BE49-F238E27FC236}">
                <a16:creationId xmlns:a16="http://schemas.microsoft.com/office/drawing/2014/main" id="{76D763C6-CEB0-F98B-A390-B00B71B6AC2C}"/>
              </a:ext>
            </a:extLst>
          </p:cNvPr>
          <p:cNvSpPr/>
          <p:nvPr/>
        </p:nvSpPr>
        <p:spPr>
          <a:xfrm>
            <a:off x="6420351" y="19049067"/>
            <a:ext cx="2148464" cy="783787"/>
          </a:xfrm>
          <a:prstGeom prst="rect">
            <a:avLst/>
          </a:prstGeom>
          <a:noFill/>
          <a:ln/>
        </p:spPr>
        <p:txBody>
          <a:bodyPr wrap="square" lIns="0" tIns="0" rIns="0" bIns="0" rtlCol="0" anchor="t">
            <a:no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Sistem verifikasi dan sertifikasi komoditas ramah lingkungan untuk pasar domestik dan ekspor internasional.</a:t>
            </a:r>
            <a:endParaRPr lang="en-US" sz="1100" dirty="0">
              <a:latin typeface="Leelawadee UI" panose="020B0502040204020203" pitchFamily="34" charset="-34"/>
              <a:cs typeface="Leelawadee UI" panose="020B0502040204020203" pitchFamily="34" charset="-34"/>
            </a:endParaRPr>
          </a:p>
        </p:txBody>
      </p:sp>
      <p:pic>
        <p:nvPicPr>
          <p:cNvPr id="62" name="Image 4" descr="preencoded.png">
            <a:extLst>
              <a:ext uri="{FF2B5EF4-FFF2-40B4-BE49-F238E27FC236}">
                <a16:creationId xmlns:a16="http://schemas.microsoft.com/office/drawing/2014/main" id="{39060DD9-8002-4F4C-49D3-685664B6F97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01955" y="19896993"/>
            <a:ext cx="212244" cy="212244"/>
          </a:xfrm>
          <a:prstGeom prst="rect">
            <a:avLst/>
          </a:prstGeom>
        </p:spPr>
      </p:pic>
      <p:sp>
        <p:nvSpPr>
          <p:cNvPr id="63" name="Text 12">
            <a:extLst>
              <a:ext uri="{FF2B5EF4-FFF2-40B4-BE49-F238E27FC236}">
                <a16:creationId xmlns:a16="http://schemas.microsoft.com/office/drawing/2014/main" id="{8DF24C10-2C36-CA71-6CF5-886238FF3C1E}"/>
              </a:ext>
            </a:extLst>
          </p:cNvPr>
          <p:cNvSpPr/>
          <p:nvPr/>
        </p:nvSpPr>
        <p:spPr>
          <a:xfrm>
            <a:off x="601954" y="20202503"/>
            <a:ext cx="2638566"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Pemberdayaan Masyarakat &amp; Inklusi Sosial</a:t>
            </a:r>
            <a:endParaRPr lang="en-US" sz="1100" dirty="0">
              <a:latin typeface="Leelawadee UI" panose="020B0502040204020203" pitchFamily="34" charset="-34"/>
              <a:cs typeface="Leelawadee UI" panose="020B0502040204020203" pitchFamily="34" charset="-34"/>
            </a:endParaRPr>
          </a:p>
        </p:txBody>
      </p:sp>
      <p:sp>
        <p:nvSpPr>
          <p:cNvPr id="64" name="Text 13">
            <a:extLst>
              <a:ext uri="{FF2B5EF4-FFF2-40B4-BE49-F238E27FC236}">
                <a16:creationId xmlns:a16="http://schemas.microsoft.com/office/drawing/2014/main" id="{245042F9-26D3-2A62-89BA-F430495B3760}"/>
              </a:ext>
            </a:extLst>
          </p:cNvPr>
          <p:cNvSpPr/>
          <p:nvPr/>
        </p:nvSpPr>
        <p:spPr>
          <a:xfrm>
            <a:off x="619340" y="20532825"/>
            <a:ext cx="2422727" cy="592907"/>
          </a:xfrm>
          <a:prstGeom prst="rect">
            <a:avLst/>
          </a:prstGeom>
          <a:noFill/>
          <a:ln/>
        </p:spPr>
        <p:txBody>
          <a:bodyPr wrap="square" lIns="0" tIns="0" rIns="0" bIns="0" rtlCol="0" anchor="t">
            <a:norm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Fasilitasi partisipasi komunitas adat dan lokal, kesetaraan gender, dan penguatan hak-hak sosial ekonomi.</a:t>
            </a:r>
            <a:endParaRPr lang="en-US" sz="1100" dirty="0">
              <a:latin typeface="Leelawadee UI" panose="020B0502040204020203" pitchFamily="34" charset="-34"/>
              <a:cs typeface="Leelawadee UI" panose="020B0502040204020203" pitchFamily="34" charset="-34"/>
            </a:endParaRPr>
          </a:p>
        </p:txBody>
      </p:sp>
      <p:pic>
        <p:nvPicPr>
          <p:cNvPr id="65" name="Image 5" descr="preencoded.png">
            <a:extLst>
              <a:ext uri="{FF2B5EF4-FFF2-40B4-BE49-F238E27FC236}">
                <a16:creationId xmlns:a16="http://schemas.microsoft.com/office/drawing/2014/main" id="{14939193-173F-5CB9-49C2-07C71B4B2D0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600464" y="19886271"/>
            <a:ext cx="212244" cy="212244"/>
          </a:xfrm>
          <a:prstGeom prst="rect">
            <a:avLst/>
          </a:prstGeom>
        </p:spPr>
      </p:pic>
      <p:sp>
        <p:nvSpPr>
          <p:cNvPr id="66" name="Text 14">
            <a:extLst>
              <a:ext uri="{FF2B5EF4-FFF2-40B4-BE49-F238E27FC236}">
                <a16:creationId xmlns:a16="http://schemas.microsoft.com/office/drawing/2014/main" id="{19DFF28E-CF7C-2A66-B145-C68D48FE5B30}"/>
              </a:ext>
            </a:extLst>
          </p:cNvPr>
          <p:cNvSpPr/>
          <p:nvPr/>
        </p:nvSpPr>
        <p:spPr>
          <a:xfrm>
            <a:off x="3600467" y="20191782"/>
            <a:ext cx="2433475"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Ketahanan Iklim &amp; Solusi Berbasis Alam</a:t>
            </a:r>
            <a:endParaRPr lang="en-US" sz="1100" dirty="0">
              <a:latin typeface="Leelawadee UI" panose="020B0502040204020203" pitchFamily="34" charset="-34"/>
              <a:cs typeface="Leelawadee UI" panose="020B0502040204020203" pitchFamily="34" charset="-34"/>
            </a:endParaRPr>
          </a:p>
        </p:txBody>
      </p:sp>
      <p:sp>
        <p:nvSpPr>
          <p:cNvPr id="67" name="Text 15">
            <a:extLst>
              <a:ext uri="{FF2B5EF4-FFF2-40B4-BE49-F238E27FC236}">
                <a16:creationId xmlns:a16="http://schemas.microsoft.com/office/drawing/2014/main" id="{7D96ECEB-51B8-1AA1-A5BC-606407002C29}"/>
              </a:ext>
            </a:extLst>
          </p:cNvPr>
          <p:cNvSpPr/>
          <p:nvPr/>
        </p:nvSpPr>
        <p:spPr>
          <a:xfrm>
            <a:off x="3617847" y="20554573"/>
            <a:ext cx="2150427" cy="827275"/>
          </a:xfrm>
          <a:prstGeom prst="rect">
            <a:avLst/>
          </a:prstGeom>
          <a:noFill/>
          <a:ln/>
        </p:spPr>
        <p:txBody>
          <a:bodyPr wrap="square" lIns="0" tIns="0" rIns="0" bIns="0" rtlCol="0" anchor="t">
            <a:norm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Perencanaan adaptasi iklim, restorasi gambut, dan implementasi solusi berbasis alam di lanskap prioritas.</a:t>
            </a:r>
            <a:endParaRPr lang="en-US" sz="1100" dirty="0">
              <a:latin typeface="Leelawadee UI" panose="020B0502040204020203" pitchFamily="34" charset="-34"/>
              <a:cs typeface="Leelawadee UI" panose="020B0502040204020203" pitchFamily="34" charset="-34"/>
            </a:endParaRPr>
          </a:p>
        </p:txBody>
      </p:sp>
      <p:pic>
        <p:nvPicPr>
          <p:cNvPr id="68" name="Image 6" descr="preencoded.png">
            <a:extLst>
              <a:ext uri="{FF2B5EF4-FFF2-40B4-BE49-F238E27FC236}">
                <a16:creationId xmlns:a16="http://schemas.microsoft.com/office/drawing/2014/main" id="{E5F98E10-35FA-B5B2-8C02-6F45866CDEB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397129" y="20032917"/>
            <a:ext cx="212244" cy="212244"/>
          </a:xfrm>
          <a:prstGeom prst="rect">
            <a:avLst/>
          </a:prstGeom>
        </p:spPr>
      </p:pic>
      <p:sp>
        <p:nvSpPr>
          <p:cNvPr id="69" name="Text 16">
            <a:extLst>
              <a:ext uri="{FF2B5EF4-FFF2-40B4-BE49-F238E27FC236}">
                <a16:creationId xmlns:a16="http://schemas.microsoft.com/office/drawing/2014/main" id="{06EEF847-C0FC-F706-380F-F54A12C85EDC}"/>
              </a:ext>
            </a:extLst>
          </p:cNvPr>
          <p:cNvSpPr/>
          <p:nvPr/>
        </p:nvSpPr>
        <p:spPr>
          <a:xfrm>
            <a:off x="6429217" y="20338428"/>
            <a:ext cx="2480017"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GIS, Penginderaan Jauh &amp;</a:t>
            </a:r>
          </a:p>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Inovasi Digital</a:t>
            </a:r>
            <a:endParaRPr lang="en-US" sz="1100" dirty="0">
              <a:latin typeface="Leelawadee UI" panose="020B0502040204020203" pitchFamily="34" charset="-34"/>
              <a:cs typeface="Leelawadee UI" panose="020B0502040204020203" pitchFamily="34" charset="-34"/>
            </a:endParaRPr>
          </a:p>
        </p:txBody>
      </p:sp>
      <p:sp>
        <p:nvSpPr>
          <p:cNvPr id="70" name="Text 17">
            <a:extLst>
              <a:ext uri="{FF2B5EF4-FFF2-40B4-BE49-F238E27FC236}">
                <a16:creationId xmlns:a16="http://schemas.microsoft.com/office/drawing/2014/main" id="{7E99228B-3A8B-5233-FA77-AF6BDE165D75}"/>
              </a:ext>
            </a:extLst>
          </p:cNvPr>
          <p:cNvSpPr/>
          <p:nvPr/>
        </p:nvSpPr>
        <p:spPr>
          <a:xfrm>
            <a:off x="6446599" y="20733287"/>
            <a:ext cx="1869854" cy="633289"/>
          </a:xfrm>
          <a:prstGeom prst="rect">
            <a:avLst/>
          </a:prstGeom>
          <a:noFill/>
          <a:ln/>
        </p:spPr>
        <p:txBody>
          <a:bodyPr wrap="square" lIns="0" tIns="0" rIns="0" bIns="0" rtlCol="0" anchor="t">
            <a:no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Pemetaan spasial, analisis citra satelit, dan pengembangan platform data untuk pemantauan lanskap.</a:t>
            </a:r>
            <a:endParaRPr lang="en-US" sz="1100" dirty="0">
              <a:latin typeface="Leelawadee UI" panose="020B0502040204020203" pitchFamily="34" charset="-34"/>
              <a:cs typeface="Leelawadee UI" panose="020B0502040204020203" pitchFamily="34" charset="-34"/>
            </a:endParaRPr>
          </a:p>
        </p:txBody>
      </p:sp>
      <p:pic>
        <p:nvPicPr>
          <p:cNvPr id="71" name="Image 7" descr="preencoded.png">
            <a:extLst>
              <a:ext uri="{FF2B5EF4-FFF2-40B4-BE49-F238E27FC236}">
                <a16:creationId xmlns:a16="http://schemas.microsoft.com/office/drawing/2014/main" id="{C56E37B1-3A3F-0BA4-EDD7-0D3DC5E5FB4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31338" y="21689953"/>
            <a:ext cx="212244" cy="212244"/>
          </a:xfrm>
          <a:prstGeom prst="rect">
            <a:avLst/>
          </a:prstGeom>
        </p:spPr>
      </p:pic>
      <p:sp>
        <p:nvSpPr>
          <p:cNvPr id="72" name="Text 18">
            <a:extLst>
              <a:ext uri="{FF2B5EF4-FFF2-40B4-BE49-F238E27FC236}">
                <a16:creationId xmlns:a16="http://schemas.microsoft.com/office/drawing/2014/main" id="{F745087B-1C04-2A88-D1AB-9244C1D0F554}"/>
              </a:ext>
            </a:extLst>
          </p:cNvPr>
          <p:cNvSpPr/>
          <p:nvPr/>
        </p:nvSpPr>
        <p:spPr>
          <a:xfrm>
            <a:off x="631337" y="21995463"/>
            <a:ext cx="2248575"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Monitoring, Evaluasi &amp; Pembelajaran</a:t>
            </a:r>
            <a:endParaRPr lang="en-US" sz="1100" dirty="0">
              <a:latin typeface="Leelawadee UI" panose="020B0502040204020203" pitchFamily="34" charset="-34"/>
              <a:cs typeface="Leelawadee UI" panose="020B0502040204020203" pitchFamily="34" charset="-34"/>
            </a:endParaRPr>
          </a:p>
        </p:txBody>
      </p:sp>
      <p:sp>
        <p:nvSpPr>
          <p:cNvPr id="73" name="Text 19">
            <a:extLst>
              <a:ext uri="{FF2B5EF4-FFF2-40B4-BE49-F238E27FC236}">
                <a16:creationId xmlns:a16="http://schemas.microsoft.com/office/drawing/2014/main" id="{B48E272A-5321-DB4B-3C02-3A049C0D18BC}"/>
              </a:ext>
            </a:extLst>
          </p:cNvPr>
          <p:cNvSpPr/>
          <p:nvPr/>
        </p:nvSpPr>
        <p:spPr>
          <a:xfrm>
            <a:off x="631338" y="22458676"/>
            <a:ext cx="2788874" cy="947205"/>
          </a:xfrm>
          <a:prstGeom prst="rect">
            <a:avLst/>
          </a:prstGeom>
          <a:noFill/>
          <a:ln/>
        </p:spPr>
        <p:txBody>
          <a:bodyPr wrap="square" lIns="0" tIns="0" rIns="0" bIns="0" rtlCol="0" anchor="t">
            <a:no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Pengembangan kerangka MEL, pengumpulan data lapangan, dan pengelolaan pengetahuan organisasi.</a:t>
            </a:r>
            <a:endParaRPr lang="en-US" sz="1100" dirty="0">
              <a:latin typeface="Leelawadee UI" panose="020B0502040204020203" pitchFamily="34" charset="-34"/>
              <a:cs typeface="Leelawadee UI" panose="020B0502040204020203" pitchFamily="34" charset="-34"/>
            </a:endParaRPr>
          </a:p>
        </p:txBody>
      </p:sp>
      <p:pic>
        <p:nvPicPr>
          <p:cNvPr id="74" name="Image 8" descr="preencoded.png">
            <a:extLst>
              <a:ext uri="{FF2B5EF4-FFF2-40B4-BE49-F238E27FC236}">
                <a16:creationId xmlns:a16="http://schemas.microsoft.com/office/drawing/2014/main" id="{0F375061-EF30-4AA6-8787-D1A614589BE7}"/>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3617850" y="21680191"/>
            <a:ext cx="212244" cy="212244"/>
          </a:xfrm>
          <a:prstGeom prst="rect">
            <a:avLst/>
          </a:prstGeom>
        </p:spPr>
      </p:pic>
      <p:sp>
        <p:nvSpPr>
          <p:cNvPr id="75" name="Text 20">
            <a:extLst>
              <a:ext uri="{FF2B5EF4-FFF2-40B4-BE49-F238E27FC236}">
                <a16:creationId xmlns:a16="http://schemas.microsoft.com/office/drawing/2014/main" id="{C3B20DE6-390F-8AC0-BFAE-817228DD9FEA}"/>
              </a:ext>
            </a:extLst>
          </p:cNvPr>
          <p:cNvSpPr/>
          <p:nvPr/>
        </p:nvSpPr>
        <p:spPr>
          <a:xfrm>
            <a:off x="3617852" y="21966650"/>
            <a:ext cx="2727483" cy="331585"/>
          </a:xfrm>
          <a:prstGeom prst="rect">
            <a:avLst/>
          </a:prstGeom>
          <a:noFill/>
          <a:ln/>
        </p:spPr>
        <p:txBody>
          <a:bodyPr wrap="square" lIns="0" tIns="0" rIns="0" bIns="0" rtlCol="0" anchor="t">
            <a:noAutofit/>
          </a:bodyPr>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Pembiayaan Berkelanjutan &amp; Mobilisasi Sumber Daya</a:t>
            </a:r>
            <a:endParaRPr lang="en-US" sz="1100" dirty="0">
              <a:latin typeface="Leelawadee UI" panose="020B0502040204020203" pitchFamily="34" charset="-34"/>
              <a:cs typeface="Leelawadee UI" panose="020B0502040204020203" pitchFamily="34" charset="-34"/>
            </a:endParaRPr>
          </a:p>
        </p:txBody>
      </p:sp>
      <p:sp>
        <p:nvSpPr>
          <p:cNvPr id="76" name="Text 21">
            <a:extLst>
              <a:ext uri="{FF2B5EF4-FFF2-40B4-BE49-F238E27FC236}">
                <a16:creationId xmlns:a16="http://schemas.microsoft.com/office/drawing/2014/main" id="{C8A3E7E6-99EA-BC15-7A6B-5F2AF0B374A0}"/>
              </a:ext>
            </a:extLst>
          </p:cNvPr>
          <p:cNvSpPr/>
          <p:nvPr/>
        </p:nvSpPr>
        <p:spPr>
          <a:xfrm>
            <a:off x="3617853" y="22503418"/>
            <a:ext cx="2433469" cy="963142"/>
          </a:xfrm>
          <a:prstGeom prst="rect">
            <a:avLst/>
          </a:prstGeom>
          <a:noFill/>
          <a:ln/>
        </p:spPr>
        <p:txBody>
          <a:bodyPr wrap="square" lIns="0" tIns="0" rIns="0" bIns="0" rtlCol="0" anchor="t">
            <a:noAutofit/>
          </a:bodyPr>
          <a:lstStyle/>
          <a:p>
            <a:pPr>
              <a:lnSpc>
                <a:spcPct val="114000"/>
              </a:lnSpc>
            </a:pPr>
            <a:r>
              <a:rPr lang="en-US" sz="1217" dirty="0">
                <a:solidFill>
                  <a:srgbClr val="161613"/>
                </a:solidFill>
                <a:latin typeface="Leelawadee UI" panose="020B0502040204020203" pitchFamily="34" charset="-34"/>
                <a:ea typeface="Inter" pitchFamily="34" charset="-122"/>
                <a:cs typeface="Leelawadee UI" panose="020B0502040204020203" pitchFamily="34" charset="-34"/>
              </a:rPr>
              <a:t>Pengembangan mekanisme keuangan hijau, penggalangan dana, dan kemitraan strategis dengan donor internasional.</a:t>
            </a:r>
            <a:endParaRPr lang="en-US" sz="1217" dirty="0">
              <a:latin typeface="Leelawadee UI" panose="020B0502040204020203" pitchFamily="34" charset="-34"/>
              <a:cs typeface="Leelawadee UI" panose="020B0502040204020203" pitchFamily="34" charset="-34"/>
            </a:endParaRPr>
          </a:p>
        </p:txBody>
      </p:sp>
      <p:pic>
        <p:nvPicPr>
          <p:cNvPr id="77" name="Image 9" descr="preencoded.png">
            <a:extLst>
              <a:ext uri="{FF2B5EF4-FFF2-40B4-BE49-F238E27FC236}">
                <a16:creationId xmlns:a16="http://schemas.microsoft.com/office/drawing/2014/main" id="{30501D40-1C35-D739-B42C-F80159F0F30F}"/>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446599" y="21684987"/>
            <a:ext cx="212244" cy="212244"/>
          </a:xfrm>
          <a:prstGeom prst="rect">
            <a:avLst/>
          </a:prstGeom>
        </p:spPr>
      </p:pic>
      <p:sp>
        <p:nvSpPr>
          <p:cNvPr id="78" name="Text 22">
            <a:extLst>
              <a:ext uri="{FF2B5EF4-FFF2-40B4-BE49-F238E27FC236}">
                <a16:creationId xmlns:a16="http://schemas.microsoft.com/office/drawing/2014/main" id="{CBB40151-BDD2-CC00-4406-C2CBE705AB99}"/>
              </a:ext>
            </a:extLst>
          </p:cNvPr>
          <p:cNvSpPr/>
          <p:nvPr/>
        </p:nvSpPr>
        <p:spPr>
          <a:xfrm>
            <a:off x="6446600" y="21990497"/>
            <a:ext cx="2341931" cy="165794"/>
          </a:xfrm>
          <a:prstGeom prst="rect">
            <a:avLst/>
          </a:prstGeom>
          <a:noFill/>
          <a:ln/>
        </p:spPr>
        <p:txBody>
          <a:bodyPr wrap="none" lIns="0" tIns="0" rIns="0" bIns="0" rtlCol="0" anchor="t"/>
          <a:lstStyle/>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Fasilitasi </a:t>
            </a:r>
            <a:r>
              <a:rPr lang="en-US" sz="1100" dirty="0" err="1">
                <a:solidFill>
                  <a:srgbClr val="161613"/>
                </a:solidFill>
                <a:latin typeface="Leelawadee UI" panose="020B0502040204020203" pitchFamily="34" charset="-34"/>
                <a:ea typeface="DM Sans Medium" pitchFamily="34" charset="-122"/>
                <a:cs typeface="Leelawadee UI" panose="020B0502040204020203" pitchFamily="34" charset="-34"/>
              </a:rPr>
              <a:t>Multipihak</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&amp;</a:t>
            </a:r>
          </a:p>
          <a:p>
            <a:pPr>
              <a:lnSpc>
                <a:spcPct val="104000"/>
              </a:lnSpc>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Resolusi Konflik</a:t>
            </a:r>
            <a:endParaRPr lang="en-US" sz="1100" dirty="0">
              <a:latin typeface="Leelawadee UI" panose="020B0502040204020203" pitchFamily="34" charset="-34"/>
              <a:cs typeface="Leelawadee UI" panose="020B0502040204020203" pitchFamily="34" charset="-34"/>
            </a:endParaRPr>
          </a:p>
        </p:txBody>
      </p:sp>
      <p:sp>
        <p:nvSpPr>
          <p:cNvPr id="79" name="Text 23">
            <a:extLst>
              <a:ext uri="{FF2B5EF4-FFF2-40B4-BE49-F238E27FC236}">
                <a16:creationId xmlns:a16="http://schemas.microsoft.com/office/drawing/2014/main" id="{EE7C7E24-9A33-29EB-110C-783F850A2D10}"/>
              </a:ext>
            </a:extLst>
          </p:cNvPr>
          <p:cNvSpPr/>
          <p:nvPr/>
        </p:nvSpPr>
        <p:spPr>
          <a:xfrm>
            <a:off x="6446598" y="22435857"/>
            <a:ext cx="2146206" cy="947205"/>
          </a:xfrm>
          <a:prstGeom prst="rect">
            <a:avLst/>
          </a:prstGeom>
          <a:noFill/>
          <a:ln/>
        </p:spPr>
        <p:txBody>
          <a:bodyPr wrap="square" lIns="0" tIns="0" rIns="0" bIns="0" rtlCol="0" anchor="t">
            <a:normAutofit/>
          </a:bodyPr>
          <a:lstStyle/>
          <a:p>
            <a:pPr>
              <a:lnSpc>
                <a:spcPct val="114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Desain proses dialog, mediasi konflik lahan, dan penguatan platform kolaborasi antarpemangku kepentingan.</a:t>
            </a:r>
            <a:endParaRPr lang="en-US" sz="1100" dirty="0">
              <a:latin typeface="Leelawadee UI" panose="020B0502040204020203" pitchFamily="34" charset="-34"/>
              <a:cs typeface="Leelawadee UI" panose="020B0502040204020203" pitchFamily="34" charset="-34"/>
            </a:endParaRPr>
          </a:p>
        </p:txBody>
      </p:sp>
      <p:sp>
        <p:nvSpPr>
          <p:cNvPr id="80" name="Shape 0">
            <a:extLst>
              <a:ext uri="{FF2B5EF4-FFF2-40B4-BE49-F238E27FC236}">
                <a16:creationId xmlns:a16="http://schemas.microsoft.com/office/drawing/2014/main" id="{3F55D862-5CEF-CB55-DBBF-2C917FB220B1}"/>
              </a:ext>
            </a:extLst>
          </p:cNvPr>
          <p:cNvSpPr/>
          <p:nvPr/>
        </p:nvSpPr>
        <p:spPr>
          <a:xfrm>
            <a:off x="597517" y="23366279"/>
            <a:ext cx="815112" cy="277801"/>
          </a:xfrm>
          <a:prstGeom prst="roundRect">
            <a:avLst>
              <a:gd name="adj" fmla="val 6418"/>
            </a:avLst>
          </a:prstGeom>
          <a:solidFill>
            <a:srgbClr val="E3E3E8"/>
          </a:solidFill>
          <a:ln/>
        </p:spPr>
      </p:sp>
      <p:sp>
        <p:nvSpPr>
          <p:cNvPr id="81" name="Text 1">
            <a:extLst>
              <a:ext uri="{FF2B5EF4-FFF2-40B4-BE49-F238E27FC236}">
                <a16:creationId xmlns:a16="http://schemas.microsoft.com/office/drawing/2014/main" id="{5523C2B4-3D09-46FA-5FAA-611119D14F5A}"/>
              </a:ext>
            </a:extLst>
          </p:cNvPr>
          <p:cNvSpPr/>
          <p:nvPr/>
        </p:nvSpPr>
        <p:spPr>
          <a:xfrm>
            <a:off x="691784" y="23410828"/>
            <a:ext cx="1193241" cy="188702"/>
          </a:xfrm>
          <a:prstGeom prst="rect">
            <a:avLst/>
          </a:prstGeom>
          <a:noFill/>
          <a:ln/>
        </p:spPr>
        <p:txBody>
          <a:bodyPr wrap="none" lIns="0" tIns="0" rIns="0" bIns="0" rtlCol="0" anchor="t"/>
          <a:lstStyle/>
          <a:p>
            <a:pPr>
              <a:lnSpc>
                <a:spcPct val="132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NILAI KAMI</a:t>
            </a:r>
            <a:endParaRPr lang="en-US" sz="1000" dirty="0">
              <a:latin typeface="Leelawadee UI" panose="020B0502040204020203" pitchFamily="34" charset="-34"/>
              <a:cs typeface="Leelawadee UI" panose="020B0502040204020203" pitchFamily="34" charset="-34"/>
            </a:endParaRPr>
          </a:p>
        </p:txBody>
      </p:sp>
      <p:sp>
        <p:nvSpPr>
          <p:cNvPr id="82" name="Text 2">
            <a:extLst>
              <a:ext uri="{FF2B5EF4-FFF2-40B4-BE49-F238E27FC236}">
                <a16:creationId xmlns:a16="http://schemas.microsoft.com/office/drawing/2014/main" id="{2FCA27A4-718C-1DA4-0A5D-C7D4468F7B12}"/>
              </a:ext>
            </a:extLst>
          </p:cNvPr>
          <p:cNvSpPr/>
          <p:nvPr/>
        </p:nvSpPr>
        <p:spPr>
          <a:xfrm>
            <a:off x="591596" y="23844254"/>
            <a:ext cx="4540795" cy="464239"/>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Nilai yang Kami Pegang</a:t>
            </a:r>
            <a:endParaRPr lang="en-US" sz="2400" dirty="0">
              <a:latin typeface="Leelawadee UI" panose="020B0502040204020203" pitchFamily="34" charset="-34"/>
              <a:cs typeface="Leelawadee UI" panose="020B0502040204020203" pitchFamily="34" charset="-34"/>
            </a:endParaRPr>
          </a:p>
        </p:txBody>
      </p:sp>
      <p:sp>
        <p:nvSpPr>
          <p:cNvPr id="83" name="Text 3">
            <a:extLst>
              <a:ext uri="{FF2B5EF4-FFF2-40B4-BE49-F238E27FC236}">
                <a16:creationId xmlns:a16="http://schemas.microsoft.com/office/drawing/2014/main" id="{F1C3FFD5-1468-28E6-2C78-F9AFACE923F9}"/>
              </a:ext>
            </a:extLst>
          </p:cNvPr>
          <p:cNvSpPr/>
          <p:nvPr/>
        </p:nvSpPr>
        <p:spPr>
          <a:xfrm>
            <a:off x="591597" y="24313440"/>
            <a:ext cx="7942046" cy="864264"/>
          </a:xfrm>
          <a:prstGeom prst="rect">
            <a:avLst/>
          </a:prstGeom>
          <a:noFill/>
          <a:ln/>
        </p:spPr>
        <p:txBody>
          <a:bodyPr wrap="square" lIns="0" tIns="0" rIns="0" bIns="0" rtlCol="0" anchor="t">
            <a:normAutofit/>
          </a:bodyPr>
          <a:lstStyle/>
          <a:p>
            <a:pPr>
              <a:lnSpc>
                <a:spcPct val="132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Setiap langkah kerja YNKI berpijak pada empat nilai inti yang menjadi fondasi budaya organisasi kami. Nilai-nilai ini bukan sekadar dokumen, melainkan panduan nyata dalam setiap keputusan, program, dan interaksi kami dengan masyarakat dan mitra.</a:t>
            </a:r>
            <a:endParaRPr lang="en-US" sz="1100" dirty="0">
              <a:latin typeface="Leelawadee UI" panose="020B0502040204020203" pitchFamily="34" charset="-34"/>
              <a:cs typeface="Leelawadee UI" panose="020B0502040204020203" pitchFamily="34" charset="-34"/>
            </a:endParaRPr>
          </a:p>
        </p:txBody>
      </p:sp>
      <p:sp>
        <p:nvSpPr>
          <p:cNvPr id="84" name="Shape 4">
            <a:extLst>
              <a:ext uri="{FF2B5EF4-FFF2-40B4-BE49-F238E27FC236}">
                <a16:creationId xmlns:a16="http://schemas.microsoft.com/office/drawing/2014/main" id="{F69FF15D-C70E-78EE-BFD8-1F7B7097509D}"/>
              </a:ext>
            </a:extLst>
          </p:cNvPr>
          <p:cNvSpPr/>
          <p:nvPr/>
        </p:nvSpPr>
        <p:spPr>
          <a:xfrm>
            <a:off x="591596" y="25065987"/>
            <a:ext cx="3926307" cy="1796199"/>
          </a:xfrm>
          <a:prstGeom prst="roundRect">
            <a:avLst>
              <a:gd name="adj" fmla="val 1241"/>
            </a:avLst>
          </a:prstGeom>
          <a:solidFill>
            <a:srgbClr val="EDEBE3"/>
          </a:solidFill>
          <a:ln/>
        </p:spPr>
      </p:sp>
      <p:sp>
        <p:nvSpPr>
          <p:cNvPr id="85" name="Text 5">
            <a:extLst>
              <a:ext uri="{FF2B5EF4-FFF2-40B4-BE49-F238E27FC236}">
                <a16:creationId xmlns:a16="http://schemas.microsoft.com/office/drawing/2014/main" id="{46B37ECC-7D4B-E141-B5A0-1A3DDFC1DCC3}"/>
              </a:ext>
            </a:extLst>
          </p:cNvPr>
          <p:cNvSpPr/>
          <p:nvPr/>
        </p:nvSpPr>
        <p:spPr>
          <a:xfrm>
            <a:off x="600491" y="25164739"/>
            <a:ext cx="2630237" cy="232075"/>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Participatory Development</a:t>
            </a:r>
            <a:endParaRPr lang="en-US" sz="1400" dirty="0">
              <a:latin typeface="Leelawadee UI" panose="020B0502040204020203" pitchFamily="34" charset="-34"/>
              <a:cs typeface="Leelawadee UI" panose="020B0502040204020203" pitchFamily="34" charset="-34"/>
            </a:endParaRPr>
          </a:p>
        </p:txBody>
      </p:sp>
      <p:sp>
        <p:nvSpPr>
          <p:cNvPr id="86" name="Text 6">
            <a:extLst>
              <a:ext uri="{FF2B5EF4-FFF2-40B4-BE49-F238E27FC236}">
                <a16:creationId xmlns:a16="http://schemas.microsoft.com/office/drawing/2014/main" id="{1ABEF074-EF36-0886-CFF5-C1256102E1F1}"/>
              </a:ext>
            </a:extLst>
          </p:cNvPr>
          <p:cNvSpPr/>
          <p:nvPr/>
        </p:nvSpPr>
        <p:spPr>
          <a:xfrm>
            <a:off x="874650" y="25534300"/>
            <a:ext cx="3494755" cy="943510"/>
          </a:xfrm>
          <a:prstGeom prst="rect">
            <a:avLst/>
          </a:prstGeom>
          <a:noFill/>
          <a:ln/>
        </p:spPr>
        <p:txBody>
          <a:bodyPr wrap="square" lIns="0" tIns="0" rIns="0" bIns="0" rtlCol="0" anchor="t">
            <a:noAutofit/>
          </a:bodyPr>
          <a:lstStyle/>
          <a:p>
            <a:pPr>
              <a:lnSpc>
                <a:spcPct val="132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Kami meyakini bahwa perubahan yang berkelanjutan lahir dari partisipasi aktif seluruh pemangku kepentingan—termasuk masyarakat adat, petani lokal, perempuan, dan kelompok rentan yang sering terpinggirkan dari proses pengambilan keputusan.</a:t>
            </a:r>
            <a:endParaRPr lang="en-US" sz="1100" dirty="0">
              <a:latin typeface="Leelawadee UI" panose="020B0502040204020203" pitchFamily="34" charset="-34"/>
              <a:cs typeface="Leelawadee UI" panose="020B0502040204020203" pitchFamily="34" charset="-34"/>
            </a:endParaRPr>
          </a:p>
        </p:txBody>
      </p:sp>
      <p:sp>
        <p:nvSpPr>
          <p:cNvPr id="87" name="Shape 7">
            <a:extLst>
              <a:ext uri="{FF2B5EF4-FFF2-40B4-BE49-F238E27FC236}">
                <a16:creationId xmlns:a16="http://schemas.microsoft.com/office/drawing/2014/main" id="{1657F40B-883B-9748-B788-9A25AFA76679}"/>
              </a:ext>
            </a:extLst>
          </p:cNvPr>
          <p:cNvSpPr/>
          <p:nvPr/>
        </p:nvSpPr>
        <p:spPr>
          <a:xfrm>
            <a:off x="4664141" y="25065987"/>
            <a:ext cx="3989113" cy="1902760"/>
          </a:xfrm>
          <a:prstGeom prst="roundRect">
            <a:avLst>
              <a:gd name="adj" fmla="val 1241"/>
            </a:avLst>
          </a:prstGeom>
          <a:solidFill>
            <a:srgbClr val="EDEBE3"/>
          </a:solidFill>
          <a:ln/>
        </p:spPr>
      </p:sp>
      <p:sp>
        <p:nvSpPr>
          <p:cNvPr id="88" name="Text 8">
            <a:extLst>
              <a:ext uri="{FF2B5EF4-FFF2-40B4-BE49-F238E27FC236}">
                <a16:creationId xmlns:a16="http://schemas.microsoft.com/office/drawing/2014/main" id="{F4EDECE6-183D-0B46-FFA3-ACF178915C8E}"/>
              </a:ext>
            </a:extLst>
          </p:cNvPr>
          <p:cNvSpPr/>
          <p:nvPr/>
        </p:nvSpPr>
        <p:spPr>
          <a:xfrm>
            <a:off x="4812639" y="25214484"/>
            <a:ext cx="3421351" cy="232075"/>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Democratic Landscape Governance</a:t>
            </a:r>
            <a:endParaRPr lang="en-US" sz="1400" dirty="0">
              <a:latin typeface="Leelawadee UI" panose="020B0502040204020203" pitchFamily="34" charset="-34"/>
              <a:cs typeface="Leelawadee UI" panose="020B0502040204020203" pitchFamily="34" charset="-34"/>
            </a:endParaRPr>
          </a:p>
        </p:txBody>
      </p:sp>
      <p:sp>
        <p:nvSpPr>
          <p:cNvPr id="89" name="Text 9">
            <a:extLst>
              <a:ext uri="{FF2B5EF4-FFF2-40B4-BE49-F238E27FC236}">
                <a16:creationId xmlns:a16="http://schemas.microsoft.com/office/drawing/2014/main" id="{EC3F2AD8-CE1E-22E8-7A8F-EE4F76477818}"/>
              </a:ext>
            </a:extLst>
          </p:cNvPr>
          <p:cNvSpPr/>
          <p:nvPr/>
        </p:nvSpPr>
        <p:spPr>
          <a:xfrm>
            <a:off x="4986184" y="25523667"/>
            <a:ext cx="3350910" cy="1179386"/>
          </a:xfrm>
          <a:prstGeom prst="rect">
            <a:avLst/>
          </a:prstGeom>
          <a:noFill/>
          <a:ln/>
        </p:spPr>
        <p:txBody>
          <a:bodyPr wrap="square" lIns="0" tIns="0" rIns="0" bIns="0" rtlCol="0" anchor="t">
            <a:noAutofit/>
          </a:bodyPr>
          <a:lstStyle/>
          <a:p>
            <a:pPr>
              <a:lnSpc>
                <a:spcPct val="132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Kami menekankan prinsip-prinsip demokratis dalam tata kelola lanskap melalui pengambilan keputusan yang inklusif, representasi seluruh pemangku kepentingan dalam perencanaan lanskap, serta proses demokratis yang menjamin akses yang adil terhadap lahan dan sumber daya alam.</a:t>
            </a:r>
            <a:endParaRPr lang="en-US" sz="1100" dirty="0">
              <a:latin typeface="Leelawadee UI" panose="020B0502040204020203" pitchFamily="34" charset="-34"/>
              <a:cs typeface="Leelawadee UI" panose="020B0502040204020203" pitchFamily="34" charset="-34"/>
            </a:endParaRPr>
          </a:p>
        </p:txBody>
      </p:sp>
      <p:sp>
        <p:nvSpPr>
          <p:cNvPr id="90" name="Shape 10">
            <a:extLst>
              <a:ext uri="{FF2B5EF4-FFF2-40B4-BE49-F238E27FC236}">
                <a16:creationId xmlns:a16="http://schemas.microsoft.com/office/drawing/2014/main" id="{010B6608-2FE6-8303-19EC-5ED0B1BD9B8B}"/>
              </a:ext>
            </a:extLst>
          </p:cNvPr>
          <p:cNvSpPr/>
          <p:nvPr/>
        </p:nvSpPr>
        <p:spPr>
          <a:xfrm>
            <a:off x="572487" y="27166013"/>
            <a:ext cx="3945416" cy="1796199"/>
          </a:xfrm>
          <a:prstGeom prst="roundRect">
            <a:avLst>
              <a:gd name="adj" fmla="val 1241"/>
            </a:avLst>
          </a:prstGeom>
          <a:solidFill>
            <a:srgbClr val="EDEBE3"/>
          </a:solidFill>
          <a:ln/>
        </p:spPr>
      </p:sp>
      <p:sp>
        <p:nvSpPr>
          <p:cNvPr id="91" name="Text 11">
            <a:extLst>
              <a:ext uri="{FF2B5EF4-FFF2-40B4-BE49-F238E27FC236}">
                <a16:creationId xmlns:a16="http://schemas.microsoft.com/office/drawing/2014/main" id="{E962E284-B01A-D36D-D008-F8A1953695E5}"/>
              </a:ext>
            </a:extLst>
          </p:cNvPr>
          <p:cNvSpPr/>
          <p:nvPr/>
        </p:nvSpPr>
        <p:spPr>
          <a:xfrm>
            <a:off x="642592" y="27317123"/>
            <a:ext cx="3590586" cy="232075"/>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Adaptive Learning &amp; Co-management</a:t>
            </a:r>
            <a:endParaRPr lang="en-US" sz="1400" dirty="0">
              <a:latin typeface="Leelawadee UI" panose="020B0502040204020203" pitchFamily="34" charset="-34"/>
              <a:cs typeface="Leelawadee UI" panose="020B0502040204020203" pitchFamily="34" charset="-34"/>
            </a:endParaRPr>
          </a:p>
        </p:txBody>
      </p:sp>
      <p:sp>
        <p:nvSpPr>
          <p:cNvPr id="92" name="Text 12">
            <a:extLst>
              <a:ext uri="{FF2B5EF4-FFF2-40B4-BE49-F238E27FC236}">
                <a16:creationId xmlns:a16="http://schemas.microsoft.com/office/drawing/2014/main" id="{2DFEDE24-2A47-F6F9-34E6-1378977D3E2A}"/>
              </a:ext>
            </a:extLst>
          </p:cNvPr>
          <p:cNvSpPr/>
          <p:nvPr/>
        </p:nvSpPr>
        <p:spPr>
          <a:xfrm>
            <a:off x="874650" y="27634327"/>
            <a:ext cx="3494755" cy="1179386"/>
          </a:xfrm>
          <a:prstGeom prst="rect">
            <a:avLst/>
          </a:prstGeom>
          <a:noFill/>
          <a:ln/>
        </p:spPr>
        <p:txBody>
          <a:bodyPr wrap="square" lIns="0" tIns="0" rIns="0" bIns="0" rtlCol="0" anchor="t">
            <a:noAutofit/>
          </a:bodyPr>
          <a:lstStyle/>
          <a:p>
            <a:pPr>
              <a:lnSpc>
                <a:spcPct val="132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Kami mendorong pembelajaran berkelanjutan dari pengalaman lapangan melalui siklus manajemen adaptif, tata kelola kolaboratif antara komunitas, pemerintah, dan aktor lainnya, serta berbagi pengetahuan lintas lanskap untuk memperkuat efektivitas intervensi.</a:t>
            </a:r>
            <a:endParaRPr lang="en-US" sz="1100" dirty="0">
              <a:latin typeface="Leelawadee UI" panose="020B0502040204020203" pitchFamily="34" charset="-34"/>
              <a:cs typeface="Leelawadee UI" panose="020B0502040204020203" pitchFamily="34" charset="-34"/>
            </a:endParaRPr>
          </a:p>
        </p:txBody>
      </p:sp>
      <p:sp>
        <p:nvSpPr>
          <p:cNvPr id="93" name="Shape 13">
            <a:extLst>
              <a:ext uri="{FF2B5EF4-FFF2-40B4-BE49-F238E27FC236}">
                <a16:creationId xmlns:a16="http://schemas.microsoft.com/office/drawing/2014/main" id="{BAFECBA3-239F-9BFE-1B32-F6E57A2D55F7}"/>
              </a:ext>
            </a:extLst>
          </p:cNvPr>
          <p:cNvSpPr/>
          <p:nvPr/>
        </p:nvSpPr>
        <p:spPr>
          <a:xfrm>
            <a:off x="4664141" y="27166013"/>
            <a:ext cx="3965125" cy="1796199"/>
          </a:xfrm>
          <a:prstGeom prst="roundRect">
            <a:avLst>
              <a:gd name="adj" fmla="val 1241"/>
            </a:avLst>
          </a:prstGeom>
          <a:solidFill>
            <a:srgbClr val="EDEBE3"/>
          </a:solidFill>
          <a:ln/>
        </p:spPr>
      </p:sp>
      <p:sp>
        <p:nvSpPr>
          <p:cNvPr id="94" name="Text 14">
            <a:extLst>
              <a:ext uri="{FF2B5EF4-FFF2-40B4-BE49-F238E27FC236}">
                <a16:creationId xmlns:a16="http://schemas.microsoft.com/office/drawing/2014/main" id="{E95D1A95-0D44-6F8A-9440-29EB345EB6FE}"/>
              </a:ext>
            </a:extLst>
          </p:cNvPr>
          <p:cNvSpPr/>
          <p:nvPr/>
        </p:nvSpPr>
        <p:spPr>
          <a:xfrm>
            <a:off x="4908331" y="27314511"/>
            <a:ext cx="2442710" cy="232075"/>
          </a:xfrm>
          <a:prstGeom prst="rect">
            <a:avLst/>
          </a:prstGeom>
          <a:noFill/>
          <a:ln/>
        </p:spPr>
        <p:txBody>
          <a:bodyPr wrap="none" lIns="0" tIns="0" rIns="0" bIns="0" rtlCol="0" anchor="t"/>
          <a:lstStyle/>
          <a:p>
            <a:pPr>
              <a:lnSpc>
                <a:spcPct val="104000"/>
              </a:lnSpc>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Biodiversity Stewardship</a:t>
            </a:r>
            <a:endParaRPr lang="en-US" sz="1400" dirty="0">
              <a:latin typeface="Leelawadee UI" panose="020B0502040204020203" pitchFamily="34" charset="-34"/>
              <a:cs typeface="Leelawadee UI" panose="020B0502040204020203" pitchFamily="34" charset="-34"/>
            </a:endParaRPr>
          </a:p>
        </p:txBody>
      </p:sp>
      <p:sp>
        <p:nvSpPr>
          <p:cNvPr id="95" name="Text 15">
            <a:extLst>
              <a:ext uri="{FF2B5EF4-FFF2-40B4-BE49-F238E27FC236}">
                <a16:creationId xmlns:a16="http://schemas.microsoft.com/office/drawing/2014/main" id="{02234DF3-51F1-03A2-C858-C588CFAE304D}"/>
              </a:ext>
            </a:extLst>
          </p:cNvPr>
          <p:cNvSpPr/>
          <p:nvPr/>
        </p:nvSpPr>
        <p:spPr>
          <a:xfrm>
            <a:off x="4986184" y="27634327"/>
            <a:ext cx="3510403" cy="1179386"/>
          </a:xfrm>
          <a:prstGeom prst="rect">
            <a:avLst/>
          </a:prstGeom>
          <a:noFill/>
          <a:ln/>
        </p:spPr>
        <p:txBody>
          <a:bodyPr wrap="square" lIns="0" tIns="0" rIns="0" bIns="0" rtlCol="0" anchor="t">
            <a:normAutofit/>
          </a:bodyPr>
          <a:lstStyle/>
          <a:p>
            <a:pPr>
              <a:lnSpc>
                <a:spcPct val="132000"/>
              </a:lnSpc>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Kami memandang perlindungan dan pengelolaan keanekaragaman hayati sebagai tanggung jawab bersama. Pendekatan kami mengintegrasikan sains ekologi dengan kearifan lokal untuk menjaga keseimbangan ekosistem dalam jangka panjang.</a:t>
            </a:r>
            <a:endParaRPr lang="en-US" sz="1100" dirty="0">
              <a:latin typeface="Leelawadee UI" panose="020B0502040204020203" pitchFamily="34" charset="-34"/>
              <a:cs typeface="Leelawadee UI" panose="020B0502040204020203" pitchFamily="34" charset="-34"/>
            </a:endParaRPr>
          </a:p>
        </p:txBody>
      </p:sp>
      <p:sp>
        <p:nvSpPr>
          <p:cNvPr id="96" name="Shape 0">
            <a:extLst>
              <a:ext uri="{FF2B5EF4-FFF2-40B4-BE49-F238E27FC236}">
                <a16:creationId xmlns:a16="http://schemas.microsoft.com/office/drawing/2014/main" id="{DC2E8F4D-185A-7ACE-A466-BE33B0FCED12}"/>
              </a:ext>
            </a:extLst>
          </p:cNvPr>
          <p:cNvSpPr/>
          <p:nvPr/>
        </p:nvSpPr>
        <p:spPr>
          <a:xfrm>
            <a:off x="605754" y="29166998"/>
            <a:ext cx="930741" cy="283777"/>
          </a:xfrm>
          <a:prstGeom prst="roundRect">
            <a:avLst>
              <a:gd name="adj" fmla="val 6383"/>
            </a:avLst>
          </a:prstGeom>
          <a:solidFill>
            <a:srgbClr val="E3E3E8"/>
          </a:solidFill>
          <a:ln/>
        </p:spPr>
      </p:sp>
      <p:sp>
        <p:nvSpPr>
          <p:cNvPr id="97" name="Text 1">
            <a:extLst>
              <a:ext uri="{FF2B5EF4-FFF2-40B4-BE49-F238E27FC236}">
                <a16:creationId xmlns:a16="http://schemas.microsoft.com/office/drawing/2014/main" id="{7B280F50-8D9B-AF06-4615-00E48AA18F32}"/>
              </a:ext>
            </a:extLst>
          </p:cNvPr>
          <p:cNvSpPr/>
          <p:nvPr/>
        </p:nvSpPr>
        <p:spPr>
          <a:xfrm>
            <a:off x="696303" y="29212273"/>
            <a:ext cx="1305972" cy="193229"/>
          </a:xfrm>
          <a:prstGeom prst="rect">
            <a:avLst/>
          </a:prstGeom>
          <a:noFill/>
          <a:ln/>
        </p:spPr>
        <p:txBody>
          <a:bodyPr wrap="none" lIns="0" tIns="0" rIns="0" bIns="0" rtlCol="0" anchor="t"/>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BERGABUNG</a:t>
            </a:r>
            <a:endParaRPr lang="en-US" sz="1000" dirty="0">
              <a:latin typeface="Leelawadee UI" panose="020B0502040204020203" pitchFamily="34" charset="-34"/>
              <a:cs typeface="Leelawadee UI" panose="020B0502040204020203" pitchFamily="34" charset="-34"/>
            </a:endParaRPr>
          </a:p>
        </p:txBody>
      </p:sp>
      <p:sp>
        <p:nvSpPr>
          <p:cNvPr id="98" name="Text 2">
            <a:extLst>
              <a:ext uri="{FF2B5EF4-FFF2-40B4-BE49-F238E27FC236}">
                <a16:creationId xmlns:a16="http://schemas.microsoft.com/office/drawing/2014/main" id="{10000406-E585-3D8E-345A-B2BCD4415ECC}"/>
              </a:ext>
            </a:extLst>
          </p:cNvPr>
          <p:cNvSpPr/>
          <p:nvPr/>
        </p:nvSpPr>
        <p:spPr>
          <a:xfrm>
            <a:off x="580276" y="29456754"/>
            <a:ext cx="6690765" cy="471574"/>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Ingin Bergabung dengan Tim YNKI?</a:t>
            </a:r>
            <a:endParaRPr lang="en-US" sz="2400" dirty="0">
              <a:latin typeface="Leelawadee UI" panose="020B0502040204020203" pitchFamily="34" charset="-34"/>
              <a:cs typeface="Leelawadee UI" panose="020B0502040204020203" pitchFamily="34" charset="-34"/>
            </a:endParaRPr>
          </a:p>
        </p:txBody>
      </p:sp>
      <p:sp>
        <p:nvSpPr>
          <p:cNvPr id="99" name="Text 3">
            <a:extLst>
              <a:ext uri="{FF2B5EF4-FFF2-40B4-BE49-F238E27FC236}">
                <a16:creationId xmlns:a16="http://schemas.microsoft.com/office/drawing/2014/main" id="{4AF3311A-2B95-4174-B2A9-362466B808DD}"/>
              </a:ext>
            </a:extLst>
          </p:cNvPr>
          <p:cNvSpPr/>
          <p:nvPr/>
        </p:nvSpPr>
        <p:spPr>
          <a:xfrm>
            <a:off x="564355" y="29956133"/>
            <a:ext cx="7953366" cy="1377233"/>
          </a:xfrm>
          <a:prstGeom prst="rect">
            <a:avLst/>
          </a:prstGeom>
          <a:noFill/>
          <a:ln/>
        </p:spPr>
        <p:txBody>
          <a:bodyPr wrap="square" lIns="0" tIns="0" rIns="0" bIns="0" rtlCol="0" anchor="t">
            <a:normAutofit/>
          </a:bodyPr>
          <a:lstStyle/>
          <a:p>
            <a:pPr>
              <a:lnSpc>
                <a:spcPct val="133000"/>
              </a:lnSpc>
              <a:spcAft>
                <a:spcPts val="1278"/>
              </a:spcAft>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terbuka untuk kolaborasi dengan para profesional yang memiliki komitmen pada keberlanjutan lanskap dan kesejahteraan masyarakat. Kami percaya bahwa dampak terbesar dicapai ketika orang-orang yang tepat bekerja bersama dengan tujuan yang sama.</a:t>
            </a:r>
            <a:endParaRPr lang="en-US" sz="1050" dirty="0">
              <a:latin typeface="Leelawadee UI" panose="020B0502040204020203" pitchFamily="34" charset="-34"/>
              <a:cs typeface="Leelawadee UI" panose="020B0502040204020203" pitchFamily="34" charset="-34"/>
            </a:endParaRPr>
          </a:p>
          <a:p>
            <a:pPr>
              <a:lnSpc>
                <a:spcPct val="133000"/>
              </a:lnSpc>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Kami secara berkala membuka peluang bagi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staf tetap</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konsultan</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dan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mitra teknis</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di bidang ekologi, kebijakan, GIS, pemberdayaan masyarakat, dan bidang-bidang terkait lainnya. Jika Anda memiliki semangat untuk kerja konservasi berbasis lanskap dan ingin berkontribusi bagi masyarakat Kalimantan, kami mengundang Anda untuk terhubung dengan kami.</a:t>
            </a:r>
            <a:endParaRPr lang="en-US" sz="1050" dirty="0">
              <a:latin typeface="Leelawadee UI" panose="020B0502040204020203" pitchFamily="34" charset="-34"/>
              <a:cs typeface="Leelawadee UI" panose="020B0502040204020203" pitchFamily="34" charset="-34"/>
            </a:endParaRPr>
          </a:p>
        </p:txBody>
      </p:sp>
      <p:sp>
        <p:nvSpPr>
          <p:cNvPr id="100" name="Shape 4">
            <a:extLst>
              <a:ext uri="{FF2B5EF4-FFF2-40B4-BE49-F238E27FC236}">
                <a16:creationId xmlns:a16="http://schemas.microsoft.com/office/drawing/2014/main" id="{38540A20-E88D-A3F5-5F12-83FED844745D}"/>
              </a:ext>
            </a:extLst>
          </p:cNvPr>
          <p:cNvSpPr/>
          <p:nvPr/>
        </p:nvSpPr>
        <p:spPr>
          <a:xfrm>
            <a:off x="580275" y="31454835"/>
            <a:ext cx="2963071" cy="1387374"/>
          </a:xfrm>
          <a:prstGeom prst="roundRect">
            <a:avLst>
              <a:gd name="adj" fmla="val 1632"/>
            </a:avLst>
          </a:prstGeom>
          <a:solidFill>
            <a:srgbClr val="F9F8F5"/>
          </a:solidFill>
          <a:ln w="14288">
            <a:solidFill>
              <a:srgbClr val="D3D1C9"/>
            </a:solidFill>
            <a:prstDash val="solid"/>
          </a:ln>
        </p:spPr>
      </p:sp>
      <p:sp>
        <p:nvSpPr>
          <p:cNvPr id="101" name="Text 5">
            <a:extLst>
              <a:ext uri="{FF2B5EF4-FFF2-40B4-BE49-F238E27FC236}">
                <a16:creationId xmlns:a16="http://schemas.microsoft.com/office/drawing/2014/main" id="{010BA9B6-1073-FEBE-6E58-3A32792732EE}"/>
              </a:ext>
            </a:extLst>
          </p:cNvPr>
          <p:cNvSpPr/>
          <p:nvPr/>
        </p:nvSpPr>
        <p:spPr>
          <a:xfrm>
            <a:off x="780352" y="31552997"/>
            <a:ext cx="1886746" cy="23587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Staf &amp; Peneliti</a:t>
            </a:r>
            <a:endParaRPr lang="en-US" sz="1200" dirty="0">
              <a:latin typeface="Leelawadee UI" panose="020B0502040204020203" pitchFamily="34" charset="-34"/>
              <a:cs typeface="Leelawadee UI" panose="020B0502040204020203" pitchFamily="34" charset="-34"/>
            </a:endParaRPr>
          </a:p>
        </p:txBody>
      </p:sp>
      <p:sp>
        <p:nvSpPr>
          <p:cNvPr id="102" name="Text 6">
            <a:extLst>
              <a:ext uri="{FF2B5EF4-FFF2-40B4-BE49-F238E27FC236}">
                <a16:creationId xmlns:a16="http://schemas.microsoft.com/office/drawing/2014/main" id="{D03489AC-A81D-FFE7-5FB1-F5201BD618E8}"/>
              </a:ext>
            </a:extLst>
          </p:cNvPr>
          <p:cNvSpPr/>
          <p:nvPr/>
        </p:nvSpPr>
        <p:spPr>
          <a:xfrm>
            <a:off x="768267" y="31835199"/>
            <a:ext cx="2869282" cy="724475"/>
          </a:xfrm>
          <a:prstGeom prst="rect">
            <a:avLst/>
          </a:prstGeom>
          <a:noFill/>
          <a:ln/>
        </p:spPr>
        <p:txBody>
          <a:bodyPr wrap="square" lIns="0" tIns="0" rIns="0" bIns="0" rtlCol="0" anchor="t">
            <a:normAutofit/>
          </a:bodyPr>
          <a:lstStyle/>
          <a:p>
            <a:pPr>
              <a:lnSpc>
                <a:spcPct val="133000"/>
              </a:lnSpc>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Posisi penuh waktu di kantor pusat Pontianak dan di lapangan lanskap prioritas Kalimantan Barat.</a:t>
            </a:r>
            <a:endParaRPr lang="en-US" sz="1050" dirty="0">
              <a:latin typeface="Leelawadee UI" panose="020B0502040204020203" pitchFamily="34" charset="-34"/>
              <a:cs typeface="Leelawadee UI" panose="020B0502040204020203" pitchFamily="34" charset="-34"/>
            </a:endParaRPr>
          </a:p>
        </p:txBody>
      </p:sp>
      <p:sp>
        <p:nvSpPr>
          <p:cNvPr id="103" name="Shape 7">
            <a:extLst>
              <a:ext uri="{FF2B5EF4-FFF2-40B4-BE49-F238E27FC236}">
                <a16:creationId xmlns:a16="http://schemas.microsoft.com/office/drawing/2014/main" id="{DF237732-9B45-0385-1736-2BD66218E23F}"/>
              </a:ext>
            </a:extLst>
          </p:cNvPr>
          <p:cNvSpPr/>
          <p:nvPr/>
        </p:nvSpPr>
        <p:spPr>
          <a:xfrm>
            <a:off x="3643254" y="31454835"/>
            <a:ext cx="2650018" cy="1387374"/>
          </a:xfrm>
          <a:prstGeom prst="roundRect">
            <a:avLst>
              <a:gd name="adj" fmla="val 1632"/>
            </a:avLst>
          </a:prstGeom>
          <a:solidFill>
            <a:srgbClr val="F9F8F5"/>
          </a:solidFill>
          <a:ln w="14288">
            <a:solidFill>
              <a:srgbClr val="D3D1C9"/>
            </a:solidFill>
            <a:prstDash val="solid"/>
          </a:ln>
        </p:spPr>
      </p:sp>
      <p:sp>
        <p:nvSpPr>
          <p:cNvPr id="104" name="Text 8">
            <a:extLst>
              <a:ext uri="{FF2B5EF4-FFF2-40B4-BE49-F238E27FC236}">
                <a16:creationId xmlns:a16="http://schemas.microsoft.com/office/drawing/2014/main" id="{31603A57-70A8-F186-6F17-D2D7D62E69F9}"/>
              </a:ext>
            </a:extLst>
          </p:cNvPr>
          <p:cNvSpPr/>
          <p:nvPr/>
        </p:nvSpPr>
        <p:spPr>
          <a:xfrm>
            <a:off x="3829117" y="31586298"/>
            <a:ext cx="1886746" cy="23587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Konsultan Teknis</a:t>
            </a:r>
            <a:endParaRPr lang="en-US" sz="1200" dirty="0">
              <a:latin typeface="Leelawadee UI" panose="020B0502040204020203" pitchFamily="34" charset="-34"/>
              <a:cs typeface="Leelawadee UI" panose="020B0502040204020203" pitchFamily="34" charset="-34"/>
            </a:endParaRPr>
          </a:p>
        </p:txBody>
      </p:sp>
      <p:sp>
        <p:nvSpPr>
          <p:cNvPr id="105" name="Text 9">
            <a:extLst>
              <a:ext uri="{FF2B5EF4-FFF2-40B4-BE49-F238E27FC236}">
                <a16:creationId xmlns:a16="http://schemas.microsoft.com/office/drawing/2014/main" id="{650548D9-2E4E-EBDC-2912-9F2DBD8CCA7E}"/>
              </a:ext>
            </a:extLst>
          </p:cNvPr>
          <p:cNvSpPr/>
          <p:nvPr/>
        </p:nvSpPr>
        <p:spPr>
          <a:xfrm>
            <a:off x="3812708" y="31854249"/>
            <a:ext cx="2394012" cy="724475"/>
          </a:xfrm>
          <a:prstGeom prst="rect">
            <a:avLst/>
          </a:prstGeom>
          <a:noFill/>
          <a:ln/>
        </p:spPr>
        <p:txBody>
          <a:bodyPr wrap="square" lIns="0" tIns="0" rIns="0" bIns="0" rtlCol="0" anchor="t">
            <a:normAutofit/>
          </a:bodyPr>
          <a:lstStyle/>
          <a:p>
            <a:pPr>
              <a:lnSpc>
                <a:spcPct val="133000"/>
              </a:lnSpc>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Keterlibatan berbasis proyek untuk ahli ekologi, GIS, kebijakan, sosial, dan bidang spesialis lainnya.</a:t>
            </a:r>
            <a:endParaRPr lang="en-US" sz="1050" dirty="0">
              <a:latin typeface="Leelawadee UI" panose="020B0502040204020203" pitchFamily="34" charset="-34"/>
              <a:cs typeface="Leelawadee UI" panose="020B0502040204020203" pitchFamily="34" charset="-34"/>
            </a:endParaRPr>
          </a:p>
        </p:txBody>
      </p:sp>
      <p:sp>
        <p:nvSpPr>
          <p:cNvPr id="106" name="Shape 10">
            <a:extLst>
              <a:ext uri="{FF2B5EF4-FFF2-40B4-BE49-F238E27FC236}">
                <a16:creationId xmlns:a16="http://schemas.microsoft.com/office/drawing/2014/main" id="{CDDF3B37-AB9F-0FDA-52A4-090EA7BFEF07}"/>
              </a:ext>
            </a:extLst>
          </p:cNvPr>
          <p:cNvSpPr/>
          <p:nvPr/>
        </p:nvSpPr>
        <p:spPr>
          <a:xfrm>
            <a:off x="6446598" y="31442315"/>
            <a:ext cx="2201777" cy="1387374"/>
          </a:xfrm>
          <a:prstGeom prst="roundRect">
            <a:avLst>
              <a:gd name="adj" fmla="val 1632"/>
            </a:avLst>
          </a:prstGeom>
          <a:solidFill>
            <a:srgbClr val="F9F8F5"/>
          </a:solidFill>
          <a:ln w="14288">
            <a:solidFill>
              <a:srgbClr val="D3D1C9"/>
            </a:solidFill>
            <a:prstDash val="solid"/>
          </a:ln>
        </p:spPr>
      </p:sp>
      <p:sp>
        <p:nvSpPr>
          <p:cNvPr id="107" name="Text 11">
            <a:extLst>
              <a:ext uri="{FF2B5EF4-FFF2-40B4-BE49-F238E27FC236}">
                <a16:creationId xmlns:a16="http://schemas.microsoft.com/office/drawing/2014/main" id="{818709A7-7216-A2EB-DC1C-21A23ECC7D93}"/>
              </a:ext>
            </a:extLst>
          </p:cNvPr>
          <p:cNvSpPr/>
          <p:nvPr/>
        </p:nvSpPr>
        <p:spPr>
          <a:xfrm>
            <a:off x="6582639" y="31586298"/>
            <a:ext cx="1886746" cy="23587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Mitra Kolaborasi</a:t>
            </a:r>
            <a:endParaRPr lang="en-US" sz="1200" dirty="0">
              <a:latin typeface="Leelawadee UI" panose="020B0502040204020203" pitchFamily="34" charset="-34"/>
              <a:cs typeface="Leelawadee UI" panose="020B0502040204020203" pitchFamily="34" charset="-34"/>
            </a:endParaRPr>
          </a:p>
        </p:txBody>
      </p:sp>
      <p:sp>
        <p:nvSpPr>
          <p:cNvPr id="108" name="Text 12">
            <a:extLst>
              <a:ext uri="{FF2B5EF4-FFF2-40B4-BE49-F238E27FC236}">
                <a16:creationId xmlns:a16="http://schemas.microsoft.com/office/drawing/2014/main" id="{95C5C861-E160-CAD5-F21D-E3D3F21C3794}"/>
              </a:ext>
            </a:extLst>
          </p:cNvPr>
          <p:cNvSpPr/>
          <p:nvPr/>
        </p:nvSpPr>
        <p:spPr>
          <a:xfrm>
            <a:off x="6582643" y="31848929"/>
            <a:ext cx="1951000" cy="724475"/>
          </a:xfrm>
          <a:prstGeom prst="rect">
            <a:avLst/>
          </a:prstGeom>
          <a:noFill/>
          <a:ln/>
        </p:spPr>
        <p:txBody>
          <a:bodyPr wrap="square" lIns="0" tIns="0" rIns="0" bIns="0" rtlCol="0" anchor="t">
            <a:normAutofit/>
          </a:bodyPr>
          <a:lstStyle/>
          <a:p>
            <a:pPr>
              <a:lnSpc>
                <a:spcPct val="133000"/>
              </a:lnSpc>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Kemitraan strategis dengan lembaga riset, LSM, pemerintah daerah, dan sektor swasta.</a:t>
            </a:r>
            <a:endParaRPr lang="en-US" sz="1050" dirty="0">
              <a:latin typeface="Leelawadee UI" panose="020B0502040204020203" pitchFamily="34" charset="-34"/>
              <a:cs typeface="Leelawadee UI" panose="020B0502040204020203" pitchFamily="34" charset="-34"/>
            </a:endParaRPr>
          </a:p>
        </p:txBody>
      </p:sp>
      <p:pic>
        <p:nvPicPr>
          <p:cNvPr id="109" name="Image 0" descr="preencoded.png">
            <a:hlinkClick r:id="" action="ppaction://noaction"/>
            <a:extLst>
              <a:ext uri="{FF2B5EF4-FFF2-40B4-BE49-F238E27FC236}">
                <a16:creationId xmlns:a16="http://schemas.microsoft.com/office/drawing/2014/main" id="{7BABF74B-ADBA-C0B0-444A-B6C2DA832787}"/>
              </a:ext>
            </a:extLst>
          </p:cNvPr>
          <p:cNvPicPr>
            <a:picLocks noChangeAspect="1"/>
          </p:cNvPicPr>
          <p:nvPr/>
        </p:nvPicPr>
        <p:blipFill>
          <a:blip r:embed="rId3"/>
          <a:stretch>
            <a:fillRect/>
          </a:stretch>
        </p:blipFill>
        <p:spPr>
          <a:xfrm>
            <a:off x="595650" y="33068326"/>
            <a:ext cx="1467533" cy="362963"/>
          </a:xfrm>
          <a:prstGeom prst="rect">
            <a:avLst/>
          </a:prstGeom>
        </p:spPr>
      </p:pic>
      <p:pic>
        <p:nvPicPr>
          <p:cNvPr id="110" name="Image 1" descr="preencoded.png">
            <a:hlinkClick r:id="" action="ppaction://noaction"/>
            <a:extLst>
              <a:ext uri="{FF2B5EF4-FFF2-40B4-BE49-F238E27FC236}">
                <a16:creationId xmlns:a16="http://schemas.microsoft.com/office/drawing/2014/main" id="{95C97598-34B1-D56A-E026-A9F063E2AAA8}"/>
              </a:ext>
            </a:extLst>
          </p:cNvPr>
          <p:cNvPicPr>
            <a:picLocks noChangeAspect="1"/>
          </p:cNvPicPr>
          <p:nvPr/>
        </p:nvPicPr>
        <p:blipFill>
          <a:blip r:embed="rId23"/>
          <a:stretch>
            <a:fillRect/>
          </a:stretch>
        </p:blipFill>
        <p:spPr>
          <a:xfrm>
            <a:off x="2147272" y="33068327"/>
            <a:ext cx="2150476" cy="344774"/>
          </a:xfrm>
          <a:prstGeom prst="rect">
            <a:avLst/>
          </a:prstGeom>
        </p:spPr>
      </p:pic>
      <p:sp>
        <p:nvSpPr>
          <p:cNvPr id="111" name="Shape 0">
            <a:extLst>
              <a:ext uri="{FF2B5EF4-FFF2-40B4-BE49-F238E27FC236}">
                <a16:creationId xmlns:a16="http://schemas.microsoft.com/office/drawing/2014/main" id="{726C5948-4840-882F-ECCF-4028D9B3C87D}"/>
              </a:ext>
            </a:extLst>
          </p:cNvPr>
          <p:cNvSpPr/>
          <p:nvPr/>
        </p:nvSpPr>
        <p:spPr>
          <a:xfrm>
            <a:off x="579359" y="33522976"/>
            <a:ext cx="3715314" cy="2081440"/>
          </a:xfrm>
          <a:prstGeom prst="roundRect">
            <a:avLst>
              <a:gd name="adj" fmla="val 859"/>
            </a:avLst>
          </a:prstGeom>
          <a:solidFill>
            <a:srgbClr val="28282F"/>
          </a:solidFill>
          <a:ln/>
        </p:spPr>
      </p:sp>
      <p:sp>
        <p:nvSpPr>
          <p:cNvPr id="112" name="Text 1">
            <a:extLst>
              <a:ext uri="{FF2B5EF4-FFF2-40B4-BE49-F238E27FC236}">
                <a16:creationId xmlns:a16="http://schemas.microsoft.com/office/drawing/2014/main" id="{FEF7C024-B799-DBFD-729C-00F2242A4477}"/>
              </a:ext>
            </a:extLst>
          </p:cNvPr>
          <p:cNvSpPr/>
          <p:nvPr/>
        </p:nvSpPr>
        <p:spPr>
          <a:xfrm>
            <a:off x="730212" y="33673824"/>
            <a:ext cx="2976128" cy="471754"/>
          </a:xfrm>
          <a:prstGeom prst="rect">
            <a:avLst/>
          </a:prstGeom>
          <a:noFill/>
          <a:ln/>
        </p:spPr>
        <p:txBody>
          <a:bodyPr wrap="square" lIns="0" tIns="0" rIns="0" bIns="0" rtlCol="0" anchor="t">
            <a:normAutofit/>
          </a:bodyPr>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 Yayasan Natural Kapital Indonesia</a:t>
            </a:r>
            <a:endParaRPr lang="en-US" sz="1200" dirty="0">
              <a:latin typeface="Leelawadee UI" panose="020B0502040204020203" pitchFamily="34" charset="-34"/>
              <a:cs typeface="Leelawadee UI" panose="020B0502040204020203" pitchFamily="34" charset="-34"/>
            </a:endParaRPr>
          </a:p>
        </p:txBody>
      </p:sp>
      <p:sp>
        <p:nvSpPr>
          <p:cNvPr id="113" name="Text 2">
            <a:extLst>
              <a:ext uri="{FF2B5EF4-FFF2-40B4-BE49-F238E27FC236}">
                <a16:creationId xmlns:a16="http://schemas.microsoft.com/office/drawing/2014/main" id="{CD6D551A-69EF-ED54-A2D8-0CF054CBDA0B}"/>
              </a:ext>
            </a:extLst>
          </p:cNvPr>
          <p:cNvSpPr/>
          <p:nvPr/>
        </p:nvSpPr>
        <p:spPr>
          <a:xfrm>
            <a:off x="769879" y="34082817"/>
            <a:ext cx="3614899" cy="1726386"/>
          </a:xfrm>
          <a:prstGeom prst="rect">
            <a:avLst/>
          </a:prstGeom>
          <a:noFill/>
          <a:ln/>
        </p:spPr>
        <p:txBody>
          <a:bodyPr wrap="square" lIns="0" tIns="0" rIns="0" bIns="0" rtlCol="0" anchor="t"/>
          <a:lstStyle/>
          <a:p>
            <a:pPr>
              <a:lnSpc>
                <a:spcPct val="133000"/>
              </a:lnSpc>
              <a:spcAft>
                <a:spcPts val="1035"/>
              </a:spcAft>
            </a:pPr>
            <a:r>
              <a:rPr lang="en-US" sz="10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1050" dirty="0">
              <a:latin typeface="Leelawadee UI" panose="020B0502040204020203" pitchFamily="34" charset="-34"/>
              <a:cs typeface="Leelawadee UI" panose="020B0502040204020203" pitchFamily="34" charset="-34"/>
            </a:endParaRPr>
          </a:p>
          <a:p>
            <a:pPr>
              <a:lnSpc>
                <a:spcPct val="133000"/>
              </a:lnSpc>
              <a:spcAft>
                <a:spcPts val="1035"/>
              </a:spcAft>
            </a:pPr>
            <a:r>
              <a:rPr lang="en-US" sz="10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1050" dirty="0">
              <a:latin typeface="Leelawadee UI" panose="020B0502040204020203" pitchFamily="34" charset="-34"/>
              <a:cs typeface="Leelawadee UI" panose="020B0502040204020203" pitchFamily="34" charset="-34"/>
            </a:endParaRPr>
          </a:p>
          <a:p>
            <a:pPr>
              <a:lnSpc>
                <a:spcPct val="133000"/>
              </a:lnSpc>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dirty="0">
                <a:solidFill>
                  <a:srgbClr val="FFFFFF"/>
                </a:solidFill>
                <a:latin typeface="Leelawadee UI" panose="020B0502040204020203" pitchFamily="34" charset="-34"/>
                <a:ea typeface="Inter" pitchFamily="34" charset="-122"/>
                <a:cs typeface="Leelawadee UI" panose="020B0502040204020203" pitchFamily="34" charset="-34"/>
              </a:rPr>
              <a:t> Jalan Karna Sosial, Pontianak, Kalimantan Barat 78121</a:t>
            </a:r>
            <a:endParaRPr lang="en-US" sz="1050" dirty="0">
              <a:latin typeface="Leelawadee UI" panose="020B0502040204020203" pitchFamily="34" charset="-34"/>
              <a:cs typeface="Leelawadee UI" panose="020B0502040204020203" pitchFamily="34" charset="-34"/>
            </a:endParaRPr>
          </a:p>
        </p:txBody>
      </p:sp>
      <p:sp>
        <p:nvSpPr>
          <p:cNvPr id="114" name="Text 3">
            <a:extLst>
              <a:ext uri="{FF2B5EF4-FFF2-40B4-BE49-F238E27FC236}">
                <a16:creationId xmlns:a16="http://schemas.microsoft.com/office/drawing/2014/main" id="{B9B29EBC-465D-D8F9-479A-D652AA1E1842}"/>
              </a:ext>
            </a:extLst>
          </p:cNvPr>
          <p:cNvSpPr/>
          <p:nvPr/>
        </p:nvSpPr>
        <p:spPr>
          <a:xfrm>
            <a:off x="4870438" y="33632855"/>
            <a:ext cx="2443073" cy="23587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115" name="Text 4">
            <a:extLst>
              <a:ext uri="{FF2B5EF4-FFF2-40B4-BE49-F238E27FC236}">
                <a16:creationId xmlns:a16="http://schemas.microsoft.com/office/drawing/2014/main" id="{0B864DD7-072B-59F2-E3B6-5DF720D0DB14}"/>
              </a:ext>
            </a:extLst>
          </p:cNvPr>
          <p:cNvSpPr/>
          <p:nvPr/>
        </p:nvSpPr>
        <p:spPr>
          <a:xfrm>
            <a:off x="4865948" y="33968100"/>
            <a:ext cx="3060519" cy="1418613"/>
          </a:xfrm>
          <a:prstGeom prst="rect">
            <a:avLst/>
          </a:prstGeom>
          <a:noFill/>
          <a:ln/>
        </p:spPr>
        <p:txBody>
          <a:bodyPr wrap="square" lIns="0" tIns="0" rIns="0" bIns="0" rtlCol="0" anchor="t">
            <a:normAutofit/>
          </a:bodyPr>
          <a:lstStyle/>
          <a:p>
            <a:pPr marL="417246" indent="-417246">
              <a:lnSpc>
                <a:spcPct val="133000"/>
              </a:lnSpc>
              <a:buSzPct val="100000"/>
              <a:buChar char="•"/>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1050" dirty="0">
              <a:latin typeface="Leelawadee UI" panose="020B0502040204020203" pitchFamily="34" charset="-34"/>
              <a:cs typeface="Leelawadee UI" panose="020B0502040204020203" pitchFamily="34" charset="-34"/>
            </a:endParaRPr>
          </a:p>
          <a:p>
            <a:pPr marL="417246" indent="-417246">
              <a:lnSpc>
                <a:spcPct val="133000"/>
              </a:lnSpc>
              <a:buSzPct val="100000"/>
              <a:buChar char="•"/>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1050" dirty="0">
              <a:latin typeface="Leelawadee UI" panose="020B0502040204020203" pitchFamily="34" charset="-34"/>
              <a:cs typeface="Leelawadee UI" panose="020B0502040204020203" pitchFamily="34" charset="-34"/>
            </a:endParaRPr>
          </a:p>
          <a:p>
            <a:pPr marL="417246" indent="-417246">
              <a:lnSpc>
                <a:spcPct val="133000"/>
              </a:lnSpc>
              <a:buSzPct val="100000"/>
              <a:buChar char="•"/>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Tim &amp; Pengurus</a:t>
            </a:r>
            <a:endParaRPr lang="en-US" sz="1050" dirty="0">
              <a:latin typeface="Leelawadee UI" panose="020B0502040204020203" pitchFamily="34" charset="-34"/>
              <a:cs typeface="Leelawadee UI" panose="020B0502040204020203" pitchFamily="34" charset="-34"/>
            </a:endParaRPr>
          </a:p>
          <a:p>
            <a:pPr marL="417246" indent="-417246">
              <a:lnSpc>
                <a:spcPct val="133000"/>
              </a:lnSpc>
              <a:buSzPct val="100000"/>
              <a:buChar char="•"/>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1050" dirty="0">
              <a:latin typeface="Leelawadee UI" panose="020B0502040204020203" pitchFamily="34" charset="-34"/>
              <a:cs typeface="Leelawadee UI" panose="020B0502040204020203" pitchFamily="34" charset="-34"/>
            </a:endParaRPr>
          </a:p>
          <a:p>
            <a:pPr marL="417246" indent="-417246">
              <a:lnSpc>
                <a:spcPct val="133000"/>
              </a:lnSpc>
              <a:buSzPct val="100000"/>
              <a:buChar char="•"/>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Karir</a:t>
            </a:r>
            <a:endParaRPr lang="en-US" sz="1050" dirty="0">
              <a:latin typeface="Leelawadee UI" panose="020B0502040204020203" pitchFamily="34" charset="-34"/>
              <a:cs typeface="Leelawadee UI" panose="020B0502040204020203" pitchFamily="34" charset="-34"/>
            </a:endParaRPr>
          </a:p>
        </p:txBody>
      </p:sp>
      <p:sp>
        <p:nvSpPr>
          <p:cNvPr id="116" name="Text 5">
            <a:extLst>
              <a:ext uri="{FF2B5EF4-FFF2-40B4-BE49-F238E27FC236}">
                <a16:creationId xmlns:a16="http://schemas.microsoft.com/office/drawing/2014/main" id="{CC9A0FEB-0B3D-43FD-DF9A-3D061940A930}"/>
              </a:ext>
            </a:extLst>
          </p:cNvPr>
          <p:cNvSpPr/>
          <p:nvPr/>
        </p:nvSpPr>
        <p:spPr>
          <a:xfrm>
            <a:off x="6530171" y="33670955"/>
            <a:ext cx="2443073" cy="23587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Kontak Kami</a:t>
            </a:r>
            <a:endParaRPr lang="en-US" sz="1200" dirty="0">
              <a:latin typeface="Leelawadee UI" panose="020B0502040204020203" pitchFamily="34" charset="-34"/>
              <a:cs typeface="Leelawadee UI" panose="020B0502040204020203" pitchFamily="34" charset="-34"/>
            </a:endParaRPr>
          </a:p>
        </p:txBody>
      </p:sp>
      <p:sp>
        <p:nvSpPr>
          <p:cNvPr id="117" name="Text 6">
            <a:extLst>
              <a:ext uri="{FF2B5EF4-FFF2-40B4-BE49-F238E27FC236}">
                <a16:creationId xmlns:a16="http://schemas.microsoft.com/office/drawing/2014/main" id="{DD791D21-CB4F-590A-B4DF-16E5DEC9A7FF}"/>
              </a:ext>
            </a:extLst>
          </p:cNvPr>
          <p:cNvSpPr/>
          <p:nvPr/>
        </p:nvSpPr>
        <p:spPr>
          <a:xfrm>
            <a:off x="6461972" y="34018311"/>
            <a:ext cx="3060519" cy="1013503"/>
          </a:xfrm>
          <a:prstGeom prst="rect">
            <a:avLst/>
          </a:prstGeom>
          <a:noFill/>
          <a:ln/>
        </p:spPr>
        <p:txBody>
          <a:bodyPr wrap="square" lIns="0" tIns="0" rIns="0" bIns="0" rtlCol="0" anchor="t"/>
          <a:lstStyle/>
          <a:p>
            <a:pPr>
              <a:lnSpc>
                <a:spcPct val="133000"/>
              </a:lnSpc>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1050" dirty="0">
              <a:latin typeface="Leelawadee UI" panose="020B0502040204020203" pitchFamily="34" charset="-34"/>
              <a:cs typeface="Leelawadee UI" panose="020B0502040204020203" pitchFamily="34" charset="-34"/>
            </a:endParaRPr>
          </a:p>
          <a:p>
            <a:pPr>
              <a:lnSpc>
                <a:spcPct val="133000"/>
              </a:lnSpc>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(Nomor telepon)</a:t>
            </a:r>
            <a:endParaRPr lang="en-US" sz="1050" dirty="0">
              <a:latin typeface="Leelawadee UI" panose="020B0502040204020203" pitchFamily="34" charset="-34"/>
              <a:cs typeface="Leelawadee UI" panose="020B0502040204020203" pitchFamily="34" charset="-34"/>
            </a:endParaRPr>
          </a:p>
          <a:p>
            <a:pPr>
              <a:lnSpc>
                <a:spcPct val="133000"/>
              </a:lnSpc>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LinkedIn · YouTube · Instagram</a:t>
            </a:r>
            <a:endParaRPr lang="en-US" sz="1050" dirty="0">
              <a:latin typeface="Leelawadee UI" panose="020B0502040204020203" pitchFamily="34" charset="-34"/>
              <a:cs typeface="Leelawadee UI" panose="020B0502040204020203" pitchFamily="34" charset="-34"/>
            </a:endParaRPr>
          </a:p>
        </p:txBody>
      </p:sp>
      <p:sp>
        <p:nvSpPr>
          <p:cNvPr id="118" name="Shape 7">
            <a:extLst>
              <a:ext uri="{FF2B5EF4-FFF2-40B4-BE49-F238E27FC236}">
                <a16:creationId xmlns:a16="http://schemas.microsoft.com/office/drawing/2014/main" id="{7F0DCE34-3DA2-7BCC-F7C1-438B0A2F7F48}"/>
              </a:ext>
            </a:extLst>
          </p:cNvPr>
          <p:cNvSpPr/>
          <p:nvPr/>
        </p:nvSpPr>
        <p:spPr>
          <a:xfrm>
            <a:off x="5306496" y="35538827"/>
            <a:ext cx="3060519" cy="18834"/>
          </a:xfrm>
          <a:prstGeom prst="roundRect">
            <a:avLst>
              <a:gd name="adj" fmla="val 120215"/>
            </a:avLst>
          </a:prstGeom>
          <a:solidFill>
            <a:srgbClr val="161613">
              <a:alpha val="50000"/>
            </a:srgbClr>
          </a:solidFill>
          <a:ln/>
        </p:spPr>
      </p:sp>
      <p:sp>
        <p:nvSpPr>
          <p:cNvPr id="119" name="Text 8">
            <a:extLst>
              <a:ext uri="{FF2B5EF4-FFF2-40B4-BE49-F238E27FC236}">
                <a16:creationId xmlns:a16="http://schemas.microsoft.com/office/drawing/2014/main" id="{7458BA44-0283-E662-CB60-578991625933}"/>
              </a:ext>
            </a:extLst>
          </p:cNvPr>
          <p:cNvSpPr/>
          <p:nvPr/>
        </p:nvSpPr>
        <p:spPr>
          <a:xfrm>
            <a:off x="4804871" y="35289460"/>
            <a:ext cx="3850292" cy="329208"/>
          </a:xfrm>
          <a:prstGeom prst="rect">
            <a:avLst/>
          </a:prstGeom>
          <a:noFill/>
          <a:ln/>
        </p:spPr>
        <p:txBody>
          <a:bodyPr wrap="square" lIns="0" tIns="0" rIns="0" bIns="0" rtlCol="0" anchor="t">
            <a:normAutofit/>
          </a:bodyPr>
          <a:lstStyle/>
          <a:p>
            <a:pPr>
              <a:lnSpc>
                <a:spcPct val="133000"/>
              </a:lnSpc>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i="1"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10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6466205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246</TotalTime>
  <Words>1101</Words>
  <Application>Microsoft Office PowerPoint</Application>
  <PresentationFormat>Custom</PresentationFormat>
  <Paragraphs>94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7</cp:revision>
  <dcterms:created xsi:type="dcterms:W3CDTF">2026-06-19T10:39:35Z</dcterms:created>
  <dcterms:modified xsi:type="dcterms:W3CDTF">2026-06-19T14:46:32Z</dcterms:modified>
</cp:coreProperties>
</file>