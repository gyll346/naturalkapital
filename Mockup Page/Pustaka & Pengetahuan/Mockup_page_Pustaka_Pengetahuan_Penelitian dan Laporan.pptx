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8999538" cy="359997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p:scale>
          <a:sx n="70" d="100"/>
          <a:sy n="70" d="100"/>
        </p:scale>
        <p:origin x="31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4966" y="5891626"/>
            <a:ext cx="7649607" cy="12533242"/>
          </a:xfrm>
        </p:spPr>
        <p:txBody>
          <a:bodyPr anchor="b"/>
          <a:lstStyle>
            <a:lvl1pPr algn="ctr">
              <a:defRPr sz="5905"/>
            </a:lvl1pPr>
          </a:lstStyle>
          <a:p>
            <a:r>
              <a:rPr lang="en-US"/>
              <a:t>Click to edit Master title style</a:t>
            </a:r>
            <a:endParaRPr lang="en-US" dirty="0"/>
          </a:p>
        </p:txBody>
      </p:sp>
      <p:sp>
        <p:nvSpPr>
          <p:cNvPr id="3" name="Subtitle 2"/>
          <p:cNvSpPr>
            <a:spLocks noGrp="1"/>
          </p:cNvSpPr>
          <p:nvPr>
            <p:ph type="subTitle" idx="1"/>
          </p:nvPr>
        </p:nvSpPr>
        <p:spPr>
          <a:xfrm>
            <a:off x="1124942" y="18908198"/>
            <a:ext cx="6749654" cy="8691601"/>
          </a:xfrm>
        </p:spPr>
        <p:txBody>
          <a:bodyPr/>
          <a:lstStyle>
            <a:lvl1pPr marL="0" indent="0" algn="ctr">
              <a:buNone/>
              <a:defRPr sz="2362"/>
            </a:lvl1pPr>
            <a:lvl2pPr marL="449976" indent="0" algn="ctr">
              <a:buNone/>
              <a:defRPr sz="1968"/>
            </a:lvl2pPr>
            <a:lvl3pPr marL="899952" indent="0" algn="ctr">
              <a:buNone/>
              <a:defRPr sz="1772"/>
            </a:lvl3pPr>
            <a:lvl4pPr marL="1349929" indent="0" algn="ctr">
              <a:buNone/>
              <a:defRPr sz="1575"/>
            </a:lvl4pPr>
            <a:lvl5pPr marL="1799905" indent="0" algn="ctr">
              <a:buNone/>
              <a:defRPr sz="1575"/>
            </a:lvl5pPr>
            <a:lvl6pPr marL="2249881" indent="0" algn="ctr">
              <a:buNone/>
              <a:defRPr sz="1575"/>
            </a:lvl6pPr>
            <a:lvl7pPr marL="2699857" indent="0" algn="ctr">
              <a:buNone/>
              <a:defRPr sz="1575"/>
            </a:lvl7pPr>
            <a:lvl8pPr marL="3149834" indent="0" algn="ctr">
              <a:buNone/>
              <a:defRPr sz="1575"/>
            </a:lvl8pPr>
            <a:lvl9pPr marL="3599810" indent="0" algn="ctr">
              <a:buNone/>
              <a:defRPr sz="157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8EC9AD5-AF6E-4F50-A14B-285CAE771FD2}"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BAA72CE8-3378-4B59-B53C-79A960C4B391}" type="slidenum">
              <a:rPr lang="en-ID" smtClean="0"/>
              <a:t>‹#›</a:t>
            </a:fld>
            <a:endParaRPr lang="en-ID"/>
          </a:p>
        </p:txBody>
      </p:sp>
    </p:spTree>
    <p:extLst>
      <p:ext uri="{BB962C8B-B14F-4D97-AF65-F5344CB8AC3E}">
        <p14:creationId xmlns:p14="http://schemas.microsoft.com/office/powerpoint/2010/main" val="614198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EC9AD5-AF6E-4F50-A14B-285CAE771FD2}"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BAA72CE8-3378-4B59-B53C-79A960C4B391}" type="slidenum">
              <a:rPr lang="en-ID" smtClean="0"/>
              <a:t>‹#›</a:t>
            </a:fld>
            <a:endParaRPr lang="en-ID"/>
          </a:p>
        </p:txBody>
      </p:sp>
    </p:spTree>
    <p:extLst>
      <p:ext uri="{BB962C8B-B14F-4D97-AF65-F5344CB8AC3E}">
        <p14:creationId xmlns:p14="http://schemas.microsoft.com/office/powerpoint/2010/main" val="3190770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4031" y="8974945"/>
            <a:ext cx="7762102" cy="14974888"/>
          </a:xfrm>
        </p:spPr>
        <p:txBody>
          <a:bodyPr anchor="b"/>
          <a:lstStyle>
            <a:lvl1pPr>
              <a:defRPr sz="5905"/>
            </a:lvl1pPr>
          </a:lstStyle>
          <a:p>
            <a:r>
              <a:rPr lang="en-US"/>
              <a:t>Click to edit Master title style</a:t>
            </a:r>
            <a:endParaRPr lang="en-US" dirty="0"/>
          </a:p>
        </p:txBody>
      </p:sp>
      <p:sp>
        <p:nvSpPr>
          <p:cNvPr id="3" name="Text Placeholder 2"/>
          <p:cNvSpPr>
            <a:spLocks noGrp="1"/>
          </p:cNvSpPr>
          <p:nvPr>
            <p:ph type="body" idx="1"/>
          </p:nvPr>
        </p:nvSpPr>
        <p:spPr>
          <a:xfrm>
            <a:off x="614031" y="24091502"/>
            <a:ext cx="7762102" cy="7874940"/>
          </a:xfrm>
        </p:spPr>
        <p:txBody>
          <a:bodyPr/>
          <a:lstStyle>
            <a:lvl1pPr marL="0" indent="0">
              <a:buNone/>
              <a:defRPr sz="2362">
                <a:solidFill>
                  <a:schemeClr val="tx1"/>
                </a:solidFill>
              </a:defRPr>
            </a:lvl1pPr>
            <a:lvl2pPr marL="449976" indent="0">
              <a:buNone/>
              <a:defRPr sz="1968">
                <a:solidFill>
                  <a:schemeClr val="tx1">
                    <a:tint val="75000"/>
                  </a:schemeClr>
                </a:solidFill>
              </a:defRPr>
            </a:lvl2pPr>
            <a:lvl3pPr marL="899952" indent="0">
              <a:buNone/>
              <a:defRPr sz="1772">
                <a:solidFill>
                  <a:schemeClr val="tx1">
                    <a:tint val="75000"/>
                  </a:schemeClr>
                </a:solidFill>
              </a:defRPr>
            </a:lvl3pPr>
            <a:lvl4pPr marL="1349929" indent="0">
              <a:buNone/>
              <a:defRPr sz="1575">
                <a:solidFill>
                  <a:schemeClr val="tx1">
                    <a:tint val="75000"/>
                  </a:schemeClr>
                </a:solidFill>
              </a:defRPr>
            </a:lvl4pPr>
            <a:lvl5pPr marL="1799905" indent="0">
              <a:buNone/>
              <a:defRPr sz="1575">
                <a:solidFill>
                  <a:schemeClr val="tx1">
                    <a:tint val="75000"/>
                  </a:schemeClr>
                </a:solidFill>
              </a:defRPr>
            </a:lvl5pPr>
            <a:lvl6pPr marL="2249881" indent="0">
              <a:buNone/>
              <a:defRPr sz="1575">
                <a:solidFill>
                  <a:schemeClr val="tx1">
                    <a:tint val="75000"/>
                  </a:schemeClr>
                </a:solidFill>
              </a:defRPr>
            </a:lvl6pPr>
            <a:lvl7pPr marL="2699857" indent="0">
              <a:buNone/>
              <a:defRPr sz="1575">
                <a:solidFill>
                  <a:schemeClr val="tx1">
                    <a:tint val="75000"/>
                  </a:schemeClr>
                </a:solidFill>
              </a:defRPr>
            </a:lvl7pPr>
            <a:lvl8pPr marL="3149834" indent="0">
              <a:buNone/>
              <a:defRPr sz="1575">
                <a:solidFill>
                  <a:schemeClr val="tx1">
                    <a:tint val="75000"/>
                  </a:schemeClr>
                </a:solidFill>
              </a:defRPr>
            </a:lvl8pPr>
            <a:lvl9pPr marL="3599810" indent="0">
              <a:buNone/>
              <a:defRPr sz="157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EC9AD5-AF6E-4F50-A14B-285CAE771FD2}"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BAA72CE8-3378-4B59-B53C-79A960C4B391}" type="slidenum">
              <a:rPr lang="en-ID" smtClean="0"/>
              <a:t>‹#›</a:t>
            </a:fld>
            <a:endParaRPr lang="en-ID"/>
          </a:p>
        </p:txBody>
      </p:sp>
    </p:spTree>
    <p:extLst>
      <p:ext uri="{BB962C8B-B14F-4D97-AF65-F5344CB8AC3E}">
        <p14:creationId xmlns:p14="http://schemas.microsoft.com/office/powerpoint/2010/main" val="3232921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8718" y="9583264"/>
            <a:ext cx="3824804" cy="228415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56016" y="9583264"/>
            <a:ext cx="3824804" cy="228415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8EC9AD5-AF6E-4F50-A14B-285CAE771FD2}"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BAA72CE8-3378-4B59-B53C-79A960C4B391}" type="slidenum">
              <a:rPr lang="en-ID" smtClean="0"/>
              <a:t>‹#›</a:t>
            </a:fld>
            <a:endParaRPr lang="en-ID"/>
          </a:p>
        </p:txBody>
      </p:sp>
    </p:spTree>
    <p:extLst>
      <p:ext uri="{BB962C8B-B14F-4D97-AF65-F5344CB8AC3E}">
        <p14:creationId xmlns:p14="http://schemas.microsoft.com/office/powerpoint/2010/main" val="3979369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9890" y="1916661"/>
            <a:ext cx="7762102" cy="695828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19891" y="8824938"/>
            <a:ext cx="3807226" cy="4324966"/>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4" name="Content Placeholder 3"/>
          <p:cNvSpPr>
            <a:spLocks noGrp="1"/>
          </p:cNvSpPr>
          <p:nvPr>
            <p:ph sz="half" idx="2"/>
          </p:nvPr>
        </p:nvSpPr>
        <p:spPr>
          <a:xfrm>
            <a:off x="619891" y="13149904"/>
            <a:ext cx="3807226" cy="19341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6017" y="8824938"/>
            <a:ext cx="3825976" cy="4324966"/>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6" name="Content Placeholder 5"/>
          <p:cNvSpPr>
            <a:spLocks noGrp="1"/>
          </p:cNvSpPr>
          <p:nvPr>
            <p:ph sz="quarter" idx="4"/>
          </p:nvPr>
        </p:nvSpPr>
        <p:spPr>
          <a:xfrm>
            <a:off x="4556017" y="13149904"/>
            <a:ext cx="3825976" cy="19341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8EC9AD5-AF6E-4F50-A14B-285CAE771FD2}" type="datetimeFigureOut">
              <a:rPr lang="en-ID" smtClean="0"/>
              <a:t>22/06/2026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BAA72CE8-3378-4B59-B53C-79A960C4B391}" type="slidenum">
              <a:rPr lang="en-ID" smtClean="0"/>
              <a:t>‹#›</a:t>
            </a:fld>
            <a:endParaRPr lang="en-ID"/>
          </a:p>
        </p:txBody>
      </p:sp>
    </p:spTree>
    <p:extLst>
      <p:ext uri="{BB962C8B-B14F-4D97-AF65-F5344CB8AC3E}">
        <p14:creationId xmlns:p14="http://schemas.microsoft.com/office/powerpoint/2010/main" val="3834948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EC9AD5-AF6E-4F50-A14B-285CAE771FD2}" type="datetimeFigureOut">
              <a:rPr lang="en-ID" smtClean="0"/>
              <a:t>22/06/2026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BAA72CE8-3378-4B59-B53C-79A960C4B391}" type="slidenum">
              <a:rPr lang="en-ID" smtClean="0"/>
              <a:t>‹#›</a:t>
            </a:fld>
            <a:endParaRPr lang="en-ID"/>
          </a:p>
        </p:txBody>
      </p:sp>
    </p:spTree>
    <p:extLst>
      <p:ext uri="{BB962C8B-B14F-4D97-AF65-F5344CB8AC3E}">
        <p14:creationId xmlns:p14="http://schemas.microsoft.com/office/powerpoint/2010/main" val="708161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EC9AD5-AF6E-4F50-A14B-285CAE771FD2}" type="datetimeFigureOut">
              <a:rPr lang="en-ID" smtClean="0"/>
              <a:t>22/06/2026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BAA72CE8-3378-4B59-B53C-79A960C4B391}" type="slidenum">
              <a:rPr lang="en-ID" smtClean="0"/>
              <a:t>‹#›</a:t>
            </a:fld>
            <a:endParaRPr lang="en-ID"/>
          </a:p>
        </p:txBody>
      </p:sp>
    </p:spTree>
    <p:extLst>
      <p:ext uri="{BB962C8B-B14F-4D97-AF65-F5344CB8AC3E}">
        <p14:creationId xmlns:p14="http://schemas.microsoft.com/office/powerpoint/2010/main" val="1376970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399982"/>
            <a:ext cx="2902585" cy="8399939"/>
          </a:xfrm>
        </p:spPr>
        <p:txBody>
          <a:bodyPr anchor="b"/>
          <a:lstStyle>
            <a:lvl1pPr>
              <a:defRPr sz="3149"/>
            </a:lvl1pPr>
          </a:lstStyle>
          <a:p>
            <a:r>
              <a:rPr lang="en-US"/>
              <a:t>Click to edit Master title style</a:t>
            </a:r>
            <a:endParaRPr lang="en-US" dirty="0"/>
          </a:p>
        </p:txBody>
      </p:sp>
      <p:sp>
        <p:nvSpPr>
          <p:cNvPr id="3" name="Content Placeholder 2"/>
          <p:cNvSpPr>
            <a:spLocks noGrp="1"/>
          </p:cNvSpPr>
          <p:nvPr>
            <p:ph idx="1"/>
          </p:nvPr>
        </p:nvSpPr>
        <p:spPr>
          <a:xfrm>
            <a:off x="3825976" y="5183304"/>
            <a:ext cx="4556016" cy="25583147"/>
          </a:xfrm>
        </p:spPr>
        <p:txBody>
          <a:bodyPr/>
          <a:lstStyle>
            <a:lvl1pPr>
              <a:defRPr sz="3149"/>
            </a:lvl1pPr>
            <a:lvl2pPr>
              <a:defRPr sz="2756"/>
            </a:lvl2pPr>
            <a:lvl3pPr>
              <a:defRPr sz="2362"/>
            </a:lvl3pPr>
            <a:lvl4pPr>
              <a:defRPr sz="1968"/>
            </a:lvl4pPr>
            <a:lvl5pPr>
              <a:defRPr sz="1968"/>
            </a:lvl5pPr>
            <a:lvl6pPr>
              <a:defRPr sz="1968"/>
            </a:lvl6pPr>
            <a:lvl7pPr>
              <a:defRPr sz="1968"/>
            </a:lvl7pPr>
            <a:lvl8pPr>
              <a:defRPr sz="1968"/>
            </a:lvl8pPr>
            <a:lvl9pPr>
              <a:defRPr sz="196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9891" y="10799922"/>
            <a:ext cx="2902585" cy="20008190"/>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28EC9AD5-AF6E-4F50-A14B-285CAE771FD2}"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BAA72CE8-3378-4B59-B53C-79A960C4B391}" type="slidenum">
              <a:rPr lang="en-ID" smtClean="0"/>
              <a:t>‹#›</a:t>
            </a:fld>
            <a:endParaRPr lang="en-ID"/>
          </a:p>
        </p:txBody>
      </p:sp>
    </p:spTree>
    <p:extLst>
      <p:ext uri="{BB962C8B-B14F-4D97-AF65-F5344CB8AC3E}">
        <p14:creationId xmlns:p14="http://schemas.microsoft.com/office/powerpoint/2010/main" val="2066127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399982"/>
            <a:ext cx="2902585" cy="8399939"/>
          </a:xfrm>
        </p:spPr>
        <p:txBody>
          <a:bodyPr anchor="b"/>
          <a:lstStyle>
            <a:lvl1pPr>
              <a:defRPr sz="3149"/>
            </a:lvl1pPr>
          </a:lstStyle>
          <a:p>
            <a:r>
              <a:rPr lang="en-US"/>
              <a:t>Click to edit Master title style</a:t>
            </a:r>
            <a:endParaRPr lang="en-US" dirty="0"/>
          </a:p>
        </p:txBody>
      </p:sp>
      <p:sp>
        <p:nvSpPr>
          <p:cNvPr id="3" name="Picture Placeholder 2"/>
          <p:cNvSpPr>
            <a:spLocks noGrp="1" noChangeAspect="1"/>
          </p:cNvSpPr>
          <p:nvPr>
            <p:ph type="pic" idx="1"/>
          </p:nvPr>
        </p:nvSpPr>
        <p:spPr>
          <a:xfrm>
            <a:off x="3825976" y="5183304"/>
            <a:ext cx="4556016" cy="25583147"/>
          </a:xfrm>
        </p:spPr>
        <p:txBody>
          <a:bodyPr anchor="t"/>
          <a:lstStyle>
            <a:lvl1pPr marL="0" indent="0">
              <a:buNone/>
              <a:defRPr sz="3149"/>
            </a:lvl1pPr>
            <a:lvl2pPr marL="449976" indent="0">
              <a:buNone/>
              <a:defRPr sz="2756"/>
            </a:lvl2pPr>
            <a:lvl3pPr marL="899952" indent="0">
              <a:buNone/>
              <a:defRPr sz="2362"/>
            </a:lvl3pPr>
            <a:lvl4pPr marL="1349929" indent="0">
              <a:buNone/>
              <a:defRPr sz="1968"/>
            </a:lvl4pPr>
            <a:lvl5pPr marL="1799905" indent="0">
              <a:buNone/>
              <a:defRPr sz="1968"/>
            </a:lvl5pPr>
            <a:lvl6pPr marL="2249881" indent="0">
              <a:buNone/>
              <a:defRPr sz="1968"/>
            </a:lvl6pPr>
            <a:lvl7pPr marL="2699857" indent="0">
              <a:buNone/>
              <a:defRPr sz="1968"/>
            </a:lvl7pPr>
            <a:lvl8pPr marL="3149834" indent="0">
              <a:buNone/>
              <a:defRPr sz="1968"/>
            </a:lvl8pPr>
            <a:lvl9pPr marL="3599810" indent="0">
              <a:buNone/>
              <a:defRPr sz="1968"/>
            </a:lvl9pPr>
          </a:lstStyle>
          <a:p>
            <a:r>
              <a:rPr lang="en-US"/>
              <a:t>Click icon to add picture</a:t>
            </a:r>
            <a:endParaRPr lang="en-US" dirty="0"/>
          </a:p>
        </p:txBody>
      </p:sp>
      <p:sp>
        <p:nvSpPr>
          <p:cNvPr id="4" name="Text Placeholder 3"/>
          <p:cNvSpPr>
            <a:spLocks noGrp="1"/>
          </p:cNvSpPr>
          <p:nvPr>
            <p:ph type="body" sz="half" idx="2"/>
          </p:nvPr>
        </p:nvSpPr>
        <p:spPr>
          <a:xfrm>
            <a:off x="619891" y="10799922"/>
            <a:ext cx="2902585" cy="20008190"/>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28EC9AD5-AF6E-4F50-A14B-285CAE771FD2}"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BAA72CE8-3378-4B59-B53C-79A960C4B391}" type="slidenum">
              <a:rPr lang="en-ID" smtClean="0"/>
              <a:t>‹#›</a:t>
            </a:fld>
            <a:endParaRPr lang="en-ID"/>
          </a:p>
        </p:txBody>
      </p:sp>
    </p:spTree>
    <p:extLst>
      <p:ext uri="{BB962C8B-B14F-4D97-AF65-F5344CB8AC3E}">
        <p14:creationId xmlns:p14="http://schemas.microsoft.com/office/powerpoint/2010/main" val="2104301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EC9AD5-AF6E-4F50-A14B-285CAE771FD2}"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BAA72CE8-3378-4B59-B53C-79A960C4B391}" type="slidenum">
              <a:rPr lang="en-ID" smtClean="0"/>
              <a:t>‹#›</a:t>
            </a:fld>
            <a:endParaRPr lang="en-ID"/>
          </a:p>
        </p:txBody>
      </p:sp>
    </p:spTree>
    <p:extLst>
      <p:ext uri="{BB962C8B-B14F-4D97-AF65-F5344CB8AC3E}">
        <p14:creationId xmlns:p14="http://schemas.microsoft.com/office/powerpoint/2010/main" val="3654053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0295" y="1916653"/>
            <a:ext cx="1940525" cy="3050811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18719" y="1916653"/>
            <a:ext cx="5709082" cy="3050811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EC9AD5-AF6E-4F50-A14B-285CAE771FD2}"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BAA72CE8-3378-4B59-B53C-79A960C4B391}" type="slidenum">
              <a:rPr lang="en-ID" smtClean="0"/>
              <a:t>‹#›</a:t>
            </a:fld>
            <a:endParaRPr lang="en-ID"/>
          </a:p>
        </p:txBody>
      </p:sp>
    </p:spTree>
    <p:extLst>
      <p:ext uri="{BB962C8B-B14F-4D97-AF65-F5344CB8AC3E}">
        <p14:creationId xmlns:p14="http://schemas.microsoft.com/office/powerpoint/2010/main" val="2715850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718" y="1916661"/>
            <a:ext cx="7762102" cy="695828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18718" y="9583264"/>
            <a:ext cx="7762102" cy="228415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8718" y="33366432"/>
            <a:ext cx="2024896" cy="1916653"/>
          </a:xfrm>
          <a:prstGeom prst="rect">
            <a:avLst/>
          </a:prstGeom>
        </p:spPr>
        <p:txBody>
          <a:bodyPr vert="horz" lIns="91440" tIns="45720" rIns="91440" bIns="45720" rtlCol="0" anchor="ctr"/>
          <a:lstStyle>
            <a:lvl1pPr algn="l">
              <a:defRPr sz="1181">
                <a:solidFill>
                  <a:schemeClr val="tx1">
                    <a:tint val="75000"/>
                  </a:schemeClr>
                </a:solidFill>
              </a:defRPr>
            </a:lvl1pPr>
          </a:lstStyle>
          <a:p>
            <a:fld id="{28EC9AD5-AF6E-4F50-A14B-285CAE771FD2}" type="datetimeFigureOut">
              <a:rPr lang="en-ID" smtClean="0"/>
              <a:t>22/06/2026</a:t>
            </a:fld>
            <a:endParaRPr lang="en-ID"/>
          </a:p>
        </p:txBody>
      </p:sp>
      <p:sp>
        <p:nvSpPr>
          <p:cNvPr id="5" name="Footer Placeholder 4"/>
          <p:cNvSpPr>
            <a:spLocks noGrp="1"/>
          </p:cNvSpPr>
          <p:nvPr>
            <p:ph type="ftr" sz="quarter" idx="3"/>
          </p:nvPr>
        </p:nvSpPr>
        <p:spPr>
          <a:xfrm>
            <a:off x="2981097" y="33366432"/>
            <a:ext cx="3037344" cy="1916653"/>
          </a:xfrm>
          <a:prstGeom prst="rect">
            <a:avLst/>
          </a:prstGeom>
        </p:spPr>
        <p:txBody>
          <a:bodyPr vert="horz" lIns="91440" tIns="45720" rIns="91440" bIns="45720" rtlCol="0" anchor="ctr"/>
          <a:lstStyle>
            <a:lvl1pPr algn="ctr">
              <a:defRPr sz="1181">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6355924" y="33366432"/>
            <a:ext cx="2024896" cy="1916653"/>
          </a:xfrm>
          <a:prstGeom prst="rect">
            <a:avLst/>
          </a:prstGeom>
        </p:spPr>
        <p:txBody>
          <a:bodyPr vert="horz" lIns="91440" tIns="45720" rIns="91440" bIns="45720" rtlCol="0" anchor="ctr"/>
          <a:lstStyle>
            <a:lvl1pPr algn="r">
              <a:defRPr sz="1181">
                <a:solidFill>
                  <a:schemeClr val="tx1">
                    <a:tint val="75000"/>
                  </a:schemeClr>
                </a:solidFill>
              </a:defRPr>
            </a:lvl1pPr>
          </a:lstStyle>
          <a:p>
            <a:fld id="{BAA72CE8-3378-4B59-B53C-79A960C4B391}" type="slidenum">
              <a:rPr lang="en-ID" smtClean="0"/>
              <a:t>‹#›</a:t>
            </a:fld>
            <a:endParaRPr lang="en-ID"/>
          </a:p>
        </p:txBody>
      </p:sp>
    </p:spTree>
    <p:extLst>
      <p:ext uri="{BB962C8B-B14F-4D97-AF65-F5344CB8AC3E}">
        <p14:creationId xmlns:p14="http://schemas.microsoft.com/office/powerpoint/2010/main" val="8677347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899952" rtl="0" eaLnBrk="1" latinLnBrk="0" hangingPunct="1">
        <a:lnSpc>
          <a:spcPct val="90000"/>
        </a:lnSpc>
        <a:spcBef>
          <a:spcPct val="0"/>
        </a:spcBef>
        <a:buNone/>
        <a:defRPr sz="4330" kern="1200">
          <a:solidFill>
            <a:schemeClr val="tx1"/>
          </a:solidFill>
          <a:latin typeface="+mj-lt"/>
          <a:ea typeface="+mj-ea"/>
          <a:cs typeface="+mj-cs"/>
        </a:defRPr>
      </a:lvl1pPr>
    </p:titleStyle>
    <p:bodyStyle>
      <a:lvl1pPr marL="224988" indent="-224988" algn="l" defTabSz="899952" rtl="0" eaLnBrk="1" latinLnBrk="0" hangingPunct="1">
        <a:lnSpc>
          <a:spcPct val="90000"/>
        </a:lnSpc>
        <a:spcBef>
          <a:spcPts val="984"/>
        </a:spcBef>
        <a:buFont typeface="Arial" panose="020B0604020202020204" pitchFamily="34" charset="0"/>
        <a:buChar char="•"/>
        <a:defRPr sz="2756" kern="1200">
          <a:solidFill>
            <a:schemeClr val="tx1"/>
          </a:solidFill>
          <a:latin typeface="+mn-lt"/>
          <a:ea typeface="+mn-ea"/>
          <a:cs typeface="+mn-cs"/>
        </a:defRPr>
      </a:lvl1pPr>
      <a:lvl2pPr marL="674964" indent="-224988" algn="l" defTabSz="899952" rtl="0" eaLnBrk="1" latinLnBrk="0" hangingPunct="1">
        <a:lnSpc>
          <a:spcPct val="90000"/>
        </a:lnSpc>
        <a:spcBef>
          <a:spcPts val="492"/>
        </a:spcBef>
        <a:buFont typeface="Arial" panose="020B0604020202020204" pitchFamily="34" charset="0"/>
        <a:buChar char="•"/>
        <a:defRPr sz="2362" kern="1200">
          <a:solidFill>
            <a:schemeClr val="tx1"/>
          </a:solidFill>
          <a:latin typeface="+mn-lt"/>
          <a:ea typeface="+mn-ea"/>
          <a:cs typeface="+mn-cs"/>
        </a:defRPr>
      </a:lvl2pPr>
      <a:lvl3pPr marL="1124941" indent="-224988" algn="l" defTabSz="899952" rtl="0" eaLnBrk="1" latinLnBrk="0" hangingPunct="1">
        <a:lnSpc>
          <a:spcPct val="90000"/>
        </a:lnSpc>
        <a:spcBef>
          <a:spcPts val="492"/>
        </a:spcBef>
        <a:buFont typeface="Arial" panose="020B0604020202020204" pitchFamily="34" charset="0"/>
        <a:buChar char="•"/>
        <a:defRPr sz="1968" kern="1200">
          <a:solidFill>
            <a:schemeClr val="tx1"/>
          </a:solidFill>
          <a:latin typeface="+mn-lt"/>
          <a:ea typeface="+mn-ea"/>
          <a:cs typeface="+mn-cs"/>
        </a:defRPr>
      </a:lvl3pPr>
      <a:lvl4pPr marL="1574917"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4pPr>
      <a:lvl5pPr marL="2024893"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5pPr>
      <a:lvl6pPr marL="2474869"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6pPr>
      <a:lvl7pPr marL="2924846"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7pPr>
      <a:lvl8pPr marL="3374822"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8pPr>
      <a:lvl9pPr marL="3824798"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9pPr>
    </p:bodyStyle>
    <p:otherStyle>
      <a:defPPr>
        <a:defRPr lang="en-US"/>
      </a:defPPr>
      <a:lvl1pPr marL="0" algn="l" defTabSz="899952" rtl="0" eaLnBrk="1" latinLnBrk="0" hangingPunct="1">
        <a:defRPr sz="1772" kern="1200">
          <a:solidFill>
            <a:schemeClr val="tx1"/>
          </a:solidFill>
          <a:latin typeface="+mn-lt"/>
          <a:ea typeface="+mn-ea"/>
          <a:cs typeface="+mn-cs"/>
        </a:defRPr>
      </a:lvl1pPr>
      <a:lvl2pPr marL="449976" algn="l" defTabSz="899952" rtl="0" eaLnBrk="1" latinLnBrk="0" hangingPunct="1">
        <a:defRPr sz="1772" kern="1200">
          <a:solidFill>
            <a:schemeClr val="tx1"/>
          </a:solidFill>
          <a:latin typeface="+mn-lt"/>
          <a:ea typeface="+mn-ea"/>
          <a:cs typeface="+mn-cs"/>
        </a:defRPr>
      </a:lvl2pPr>
      <a:lvl3pPr marL="899952" algn="l" defTabSz="899952" rtl="0" eaLnBrk="1" latinLnBrk="0" hangingPunct="1">
        <a:defRPr sz="1772" kern="1200">
          <a:solidFill>
            <a:schemeClr val="tx1"/>
          </a:solidFill>
          <a:latin typeface="+mn-lt"/>
          <a:ea typeface="+mn-ea"/>
          <a:cs typeface="+mn-cs"/>
        </a:defRPr>
      </a:lvl3pPr>
      <a:lvl4pPr marL="1349929" algn="l" defTabSz="899952" rtl="0" eaLnBrk="1" latinLnBrk="0" hangingPunct="1">
        <a:defRPr sz="1772" kern="1200">
          <a:solidFill>
            <a:schemeClr val="tx1"/>
          </a:solidFill>
          <a:latin typeface="+mn-lt"/>
          <a:ea typeface="+mn-ea"/>
          <a:cs typeface="+mn-cs"/>
        </a:defRPr>
      </a:lvl4pPr>
      <a:lvl5pPr marL="1799905" algn="l" defTabSz="899952" rtl="0" eaLnBrk="1" latinLnBrk="0" hangingPunct="1">
        <a:defRPr sz="1772" kern="1200">
          <a:solidFill>
            <a:schemeClr val="tx1"/>
          </a:solidFill>
          <a:latin typeface="+mn-lt"/>
          <a:ea typeface="+mn-ea"/>
          <a:cs typeface="+mn-cs"/>
        </a:defRPr>
      </a:lvl5pPr>
      <a:lvl6pPr marL="2249881" algn="l" defTabSz="899952" rtl="0" eaLnBrk="1" latinLnBrk="0" hangingPunct="1">
        <a:defRPr sz="1772" kern="1200">
          <a:solidFill>
            <a:schemeClr val="tx1"/>
          </a:solidFill>
          <a:latin typeface="+mn-lt"/>
          <a:ea typeface="+mn-ea"/>
          <a:cs typeface="+mn-cs"/>
        </a:defRPr>
      </a:lvl6pPr>
      <a:lvl7pPr marL="2699857" algn="l" defTabSz="899952" rtl="0" eaLnBrk="1" latinLnBrk="0" hangingPunct="1">
        <a:defRPr sz="1772" kern="1200">
          <a:solidFill>
            <a:schemeClr val="tx1"/>
          </a:solidFill>
          <a:latin typeface="+mn-lt"/>
          <a:ea typeface="+mn-ea"/>
          <a:cs typeface="+mn-cs"/>
        </a:defRPr>
      </a:lvl7pPr>
      <a:lvl8pPr marL="3149834" algn="l" defTabSz="899952" rtl="0" eaLnBrk="1" latinLnBrk="0" hangingPunct="1">
        <a:defRPr sz="1772" kern="1200">
          <a:solidFill>
            <a:schemeClr val="tx1"/>
          </a:solidFill>
          <a:latin typeface="+mn-lt"/>
          <a:ea typeface="+mn-ea"/>
          <a:cs typeface="+mn-cs"/>
        </a:defRPr>
      </a:lvl8pPr>
      <a:lvl9pPr marL="3599810" algn="l" defTabSz="899952" rtl="0" eaLnBrk="1" latinLnBrk="0" hangingPunct="1">
        <a:defRPr sz="17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hyperlink" Target="#publikasi"/><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47A2B814-B05A-2CDE-FCC8-B350606B5501}"/>
              </a:ext>
            </a:extLst>
          </p:cNvPr>
          <p:cNvPicPr>
            <a:picLocks noChangeAspect="1"/>
          </p:cNvPicPr>
          <p:nvPr/>
        </p:nvPicPr>
        <p:blipFill>
          <a:blip r:embed="rId2"/>
          <a:stretch>
            <a:fillRect/>
          </a:stretch>
        </p:blipFill>
        <p:spPr>
          <a:xfrm>
            <a:off x="6350000" y="0"/>
            <a:ext cx="2649538" cy="3974307"/>
          </a:xfrm>
          <a:prstGeom prst="rect">
            <a:avLst/>
          </a:prstGeom>
        </p:spPr>
      </p:pic>
      <p:sp>
        <p:nvSpPr>
          <p:cNvPr id="5" name="Shape 0">
            <a:extLst>
              <a:ext uri="{FF2B5EF4-FFF2-40B4-BE49-F238E27FC236}">
                <a16:creationId xmlns:a16="http://schemas.microsoft.com/office/drawing/2014/main" id="{B8BDDA9E-9376-D045-7B73-5D1462810EC9}"/>
              </a:ext>
            </a:extLst>
          </p:cNvPr>
          <p:cNvSpPr/>
          <p:nvPr/>
        </p:nvSpPr>
        <p:spPr>
          <a:xfrm>
            <a:off x="458715" y="937907"/>
            <a:ext cx="4002284" cy="300907"/>
          </a:xfrm>
          <a:prstGeom prst="roundRect">
            <a:avLst>
              <a:gd name="adj" fmla="val 6132"/>
            </a:avLst>
          </a:prstGeom>
          <a:noFill/>
          <a:ln w="4763">
            <a:solidFill>
              <a:srgbClr val="28282F"/>
            </a:solidFill>
            <a:prstDash val="solid"/>
          </a:ln>
        </p:spPr>
      </p:sp>
      <p:sp>
        <p:nvSpPr>
          <p:cNvPr id="6" name="Text 1">
            <a:extLst>
              <a:ext uri="{FF2B5EF4-FFF2-40B4-BE49-F238E27FC236}">
                <a16:creationId xmlns:a16="http://schemas.microsoft.com/office/drawing/2014/main" id="{6D7CF7CD-E7B6-89A8-0206-5848B04A525E}"/>
              </a:ext>
            </a:extLst>
          </p:cNvPr>
          <p:cNvSpPr/>
          <p:nvPr/>
        </p:nvSpPr>
        <p:spPr>
          <a:xfrm>
            <a:off x="537891" y="979876"/>
            <a:ext cx="3596060" cy="158800"/>
          </a:xfrm>
          <a:prstGeom prst="rect">
            <a:avLst/>
          </a:prstGeom>
          <a:noFill/>
          <a:ln/>
        </p:spPr>
        <p:txBody>
          <a:bodyPr wrap="none" lIns="0" tIns="0" rIns="0" bIns="0" rtlCol="0" anchor="t"/>
          <a:lstStyle/>
          <a:p>
            <a:pPr marL="0" indent="0" algn="l">
              <a:lnSpc>
                <a:spcPct val="133000"/>
              </a:lnSpc>
              <a:buNone/>
            </a:pPr>
            <a:r>
              <a:rPr lang="en-US" sz="1000" dirty="0">
                <a:solidFill>
                  <a:srgbClr val="28282F"/>
                </a:solidFill>
                <a:latin typeface="Leelawadee UI" panose="020B0502040204020203" pitchFamily="34" charset="-34"/>
                <a:ea typeface="Inter" pitchFamily="34" charset="-122"/>
                <a:cs typeface="Leelawadee UI" panose="020B0502040204020203" pitchFamily="34" charset="-34"/>
              </a:rPr>
              <a:t>BERANDA / PUSTAKA &amp; PENGETAHUAN / PENELITIAN &amp; LAPORAN</a:t>
            </a:r>
            <a:endParaRPr lang="en-US" sz="1000" dirty="0">
              <a:latin typeface="Leelawadee UI" panose="020B0502040204020203" pitchFamily="34" charset="-34"/>
              <a:cs typeface="Leelawadee UI" panose="020B0502040204020203" pitchFamily="34" charset="-34"/>
            </a:endParaRPr>
          </a:p>
        </p:txBody>
      </p:sp>
      <p:sp>
        <p:nvSpPr>
          <p:cNvPr id="7" name="Text 2">
            <a:extLst>
              <a:ext uri="{FF2B5EF4-FFF2-40B4-BE49-F238E27FC236}">
                <a16:creationId xmlns:a16="http://schemas.microsoft.com/office/drawing/2014/main" id="{D9DCBBAB-9646-90BE-EBB6-70128AE19972}"/>
              </a:ext>
            </a:extLst>
          </p:cNvPr>
          <p:cNvSpPr/>
          <p:nvPr/>
        </p:nvSpPr>
        <p:spPr>
          <a:xfrm>
            <a:off x="460425" y="1351137"/>
            <a:ext cx="4722763" cy="1162645"/>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Penelitian &amp; Laporan: Pengetahuan untuk Tata Kelola Lanskap Berbasis Bukti</a:t>
            </a:r>
            <a:endParaRPr lang="en-US" sz="2400" dirty="0">
              <a:latin typeface="Leelawadee UI" panose="020B0502040204020203" pitchFamily="34" charset="-34"/>
              <a:cs typeface="Leelawadee UI" panose="020B0502040204020203" pitchFamily="34" charset="-34"/>
            </a:endParaRPr>
          </a:p>
        </p:txBody>
      </p:sp>
      <p:sp>
        <p:nvSpPr>
          <p:cNvPr id="8" name="Text 3">
            <a:extLst>
              <a:ext uri="{FF2B5EF4-FFF2-40B4-BE49-F238E27FC236}">
                <a16:creationId xmlns:a16="http://schemas.microsoft.com/office/drawing/2014/main" id="{059F8ABD-82DA-7D93-8835-B53603DA55B9}"/>
              </a:ext>
            </a:extLst>
          </p:cNvPr>
          <p:cNvSpPr/>
          <p:nvPr/>
        </p:nvSpPr>
        <p:spPr>
          <a:xfrm>
            <a:off x="461068" y="2603407"/>
            <a:ext cx="5635575" cy="793849"/>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Sebagai </a:t>
            </a:r>
            <a:r>
              <a:rPr lang="en-US" sz="1000" i="1" dirty="0">
                <a:solidFill>
                  <a:srgbClr val="161613"/>
                </a:solidFill>
                <a:latin typeface="Leelawadee UI" panose="020B0502040204020203" pitchFamily="34" charset="-34"/>
                <a:ea typeface="Inter" pitchFamily="34" charset="-122"/>
                <a:cs typeface="Leelawadee UI" panose="020B0502040204020203" pitchFamily="34" charset="-34"/>
              </a:rPr>
              <a:t>Landscape Governance Backbone Organization</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YNKI menghasilkan berbagai penelitian, laporan, dan kajian yang mendukung pengambilan keputusan berbasis bukti dalam tata kelola lanskap. Temukan analisis spasial, laporan program, policy brief, dan berbagai produk pengetahuan lainnya di sini.</a:t>
            </a:r>
            <a:endParaRPr lang="en-US" sz="1000" dirty="0">
              <a:latin typeface="Leelawadee UI" panose="020B0502040204020203" pitchFamily="34" charset="-34"/>
              <a:cs typeface="Leelawadee UI" panose="020B0502040204020203" pitchFamily="34" charset="-34"/>
            </a:endParaRPr>
          </a:p>
        </p:txBody>
      </p:sp>
      <p:pic>
        <p:nvPicPr>
          <p:cNvPr id="9" name="Image 1" descr="preencoded.png">
            <a:hlinkClick r:id="rId3"/>
            <a:extLst>
              <a:ext uri="{FF2B5EF4-FFF2-40B4-BE49-F238E27FC236}">
                <a16:creationId xmlns:a16="http://schemas.microsoft.com/office/drawing/2014/main" id="{40C65DCD-A050-3F22-1842-6BFA5A415C6C}"/>
              </a:ext>
            </a:extLst>
          </p:cNvPr>
          <p:cNvPicPr>
            <a:picLocks noChangeAspect="1"/>
          </p:cNvPicPr>
          <p:nvPr/>
        </p:nvPicPr>
        <p:blipFill>
          <a:blip r:embed="rId4"/>
          <a:stretch>
            <a:fillRect/>
          </a:stretch>
        </p:blipFill>
        <p:spPr>
          <a:xfrm>
            <a:off x="460425" y="3633193"/>
            <a:ext cx="1724323" cy="341114"/>
          </a:xfrm>
          <a:prstGeom prst="rect">
            <a:avLst/>
          </a:prstGeom>
        </p:spPr>
      </p:pic>
      <p:pic>
        <p:nvPicPr>
          <p:cNvPr id="10" name="Image 2" descr="preencoded.png">
            <a:hlinkClick r:id="" action="ppaction://noaction"/>
            <a:extLst>
              <a:ext uri="{FF2B5EF4-FFF2-40B4-BE49-F238E27FC236}">
                <a16:creationId xmlns:a16="http://schemas.microsoft.com/office/drawing/2014/main" id="{03D02495-DA98-AB69-136C-65972E737894}"/>
              </a:ext>
            </a:extLst>
          </p:cNvPr>
          <p:cNvPicPr>
            <a:picLocks noChangeAspect="1"/>
          </p:cNvPicPr>
          <p:nvPr/>
        </p:nvPicPr>
        <p:blipFill>
          <a:blip r:embed="rId5"/>
          <a:stretch>
            <a:fillRect/>
          </a:stretch>
        </p:blipFill>
        <p:spPr>
          <a:xfrm>
            <a:off x="2246734" y="3633193"/>
            <a:ext cx="1106239" cy="341114"/>
          </a:xfrm>
          <a:prstGeom prst="rect">
            <a:avLst/>
          </a:prstGeom>
        </p:spPr>
      </p:pic>
      <p:sp>
        <p:nvSpPr>
          <p:cNvPr id="11" name="Text 0">
            <a:extLst>
              <a:ext uri="{FF2B5EF4-FFF2-40B4-BE49-F238E27FC236}">
                <a16:creationId xmlns:a16="http://schemas.microsoft.com/office/drawing/2014/main" id="{63485387-5DFA-B5D9-3BAD-59231C4D5BB8}"/>
              </a:ext>
            </a:extLst>
          </p:cNvPr>
          <p:cNvSpPr/>
          <p:nvPr/>
        </p:nvSpPr>
        <p:spPr>
          <a:xfrm>
            <a:off x="2552725" y="4578027"/>
            <a:ext cx="3873608" cy="325095"/>
          </a:xfrm>
          <a:prstGeom prst="rect">
            <a:avLst/>
          </a:prstGeom>
          <a:noFill/>
          <a:ln/>
        </p:spPr>
        <p:txBody>
          <a:bodyPr wrap="none" lIns="0" tIns="0" rIns="0" bIns="0" rtlCol="0" anchor="t"/>
          <a:lstStyle/>
          <a:p>
            <a:pPr marL="0" indent="0" algn="ctr">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Koleksi Penelitian &amp; Laporan YNKI</a:t>
            </a:r>
            <a:endParaRPr lang="en-US" sz="2000" dirty="0">
              <a:latin typeface="Leelawadee UI" panose="020B0502040204020203" pitchFamily="34" charset="-34"/>
              <a:cs typeface="Leelawadee UI" panose="020B0502040204020203" pitchFamily="34" charset="-34"/>
            </a:endParaRPr>
          </a:p>
        </p:txBody>
      </p:sp>
      <p:sp>
        <p:nvSpPr>
          <p:cNvPr id="12" name="Text 1">
            <a:extLst>
              <a:ext uri="{FF2B5EF4-FFF2-40B4-BE49-F238E27FC236}">
                <a16:creationId xmlns:a16="http://schemas.microsoft.com/office/drawing/2014/main" id="{C3AE4C6A-F1B9-4F34-D92C-ABE39891A36A}"/>
              </a:ext>
            </a:extLst>
          </p:cNvPr>
          <p:cNvSpPr/>
          <p:nvPr/>
        </p:nvSpPr>
        <p:spPr>
          <a:xfrm>
            <a:off x="460425" y="5062760"/>
            <a:ext cx="7959675" cy="595089"/>
          </a:xfrm>
          <a:prstGeom prst="rect">
            <a:avLst/>
          </a:prstGeom>
          <a:noFill/>
          <a:ln/>
        </p:spPr>
        <p:txBody>
          <a:bodyPr wrap="square" lIns="0" tIns="0" rIns="0" bIns="0" rtlCol="0" anchor="t">
            <a:normAutofit/>
          </a:bodyPr>
          <a:lstStyle/>
          <a:p>
            <a:pPr marL="0" indent="0" algn="ctr">
              <a:lnSpc>
                <a:spcPct val="127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secara aktif menghasilkan pengetahuan melalui riset lapangan, analisis spasial, dan kajian kebijakan. Berikut adalah gambaran koleksi produk pengetahuan yang telah dihasilkan — mencerminkan komitmen YNKI terhadap pengelolaan lanskap berkelanjutan yang berbasis data dan fakta lapangan.</a:t>
            </a:r>
            <a:endParaRPr lang="en-US" sz="1000" dirty="0">
              <a:latin typeface="Leelawadee UI" panose="020B0502040204020203" pitchFamily="34" charset="-34"/>
              <a:cs typeface="Leelawadee UI" panose="020B0502040204020203" pitchFamily="34" charset="-34"/>
            </a:endParaRPr>
          </a:p>
        </p:txBody>
      </p:sp>
      <p:sp>
        <p:nvSpPr>
          <p:cNvPr id="13" name="Text 2">
            <a:extLst>
              <a:ext uri="{FF2B5EF4-FFF2-40B4-BE49-F238E27FC236}">
                <a16:creationId xmlns:a16="http://schemas.microsoft.com/office/drawing/2014/main" id="{D4AEF9C8-DA97-522B-5942-3F43C940B15C}"/>
              </a:ext>
            </a:extLst>
          </p:cNvPr>
          <p:cNvSpPr/>
          <p:nvPr/>
        </p:nvSpPr>
        <p:spPr>
          <a:xfrm>
            <a:off x="460426" y="5747891"/>
            <a:ext cx="3917640" cy="429184"/>
          </a:xfrm>
          <a:prstGeom prst="rect">
            <a:avLst/>
          </a:prstGeom>
          <a:noFill/>
          <a:ln/>
        </p:spPr>
        <p:txBody>
          <a:bodyPr wrap="none" lIns="0" tIns="0" rIns="0" bIns="0" rtlCol="0" anchor="t"/>
          <a:lstStyle/>
          <a:p>
            <a:pPr marL="0" indent="0" algn="ctr">
              <a:lnSpc>
                <a:spcPct val="83000"/>
              </a:lnSpc>
              <a:buNone/>
            </a:pPr>
            <a:r>
              <a:rPr lang="en-US" sz="2900" dirty="0">
                <a:solidFill>
                  <a:srgbClr val="161613"/>
                </a:solidFill>
                <a:latin typeface="Leelawadee UI" panose="020B0502040204020203" pitchFamily="34" charset="-34"/>
                <a:ea typeface="DM Sans Medium" pitchFamily="34" charset="-122"/>
                <a:cs typeface="Leelawadee UI" panose="020B0502040204020203" pitchFamily="34" charset="-34"/>
              </a:rPr>
              <a:t>25+</a:t>
            </a:r>
            <a:endParaRPr lang="en-US" sz="2900" dirty="0">
              <a:latin typeface="Leelawadee UI" panose="020B0502040204020203" pitchFamily="34" charset="-34"/>
              <a:cs typeface="Leelawadee UI" panose="020B0502040204020203" pitchFamily="34" charset="-34"/>
            </a:endParaRPr>
          </a:p>
        </p:txBody>
      </p:sp>
      <p:sp>
        <p:nvSpPr>
          <p:cNvPr id="14" name="Text 3">
            <a:extLst>
              <a:ext uri="{FF2B5EF4-FFF2-40B4-BE49-F238E27FC236}">
                <a16:creationId xmlns:a16="http://schemas.microsoft.com/office/drawing/2014/main" id="{65982695-3A11-5F02-125C-C68530F98B06}"/>
              </a:ext>
            </a:extLst>
          </p:cNvPr>
          <p:cNvSpPr/>
          <p:nvPr/>
        </p:nvSpPr>
        <p:spPr>
          <a:xfrm>
            <a:off x="1607815" y="6251377"/>
            <a:ext cx="1676933" cy="203184"/>
          </a:xfrm>
          <a:prstGeom prst="rect">
            <a:avLst/>
          </a:prstGeom>
          <a:noFill/>
          <a:ln/>
        </p:spPr>
        <p:txBody>
          <a:bodyPr wrap="none" lIns="0" tIns="0" rIns="0" bIns="0" rtlCol="0" anchor="t"/>
          <a:lstStyle/>
          <a:p>
            <a:pPr marL="0" indent="0" algn="ctr">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Total Laporan &amp; Penelitian</a:t>
            </a:r>
            <a:endParaRPr lang="en-US" sz="1100" dirty="0">
              <a:latin typeface="Leelawadee UI" panose="020B0502040204020203" pitchFamily="34" charset="-34"/>
              <a:cs typeface="Leelawadee UI" panose="020B0502040204020203" pitchFamily="34" charset="-34"/>
            </a:endParaRPr>
          </a:p>
        </p:txBody>
      </p:sp>
      <p:sp>
        <p:nvSpPr>
          <p:cNvPr id="15" name="Text 4">
            <a:extLst>
              <a:ext uri="{FF2B5EF4-FFF2-40B4-BE49-F238E27FC236}">
                <a16:creationId xmlns:a16="http://schemas.microsoft.com/office/drawing/2014/main" id="{6BBC59BF-C4A4-682C-AEF5-500D89CE48AD}"/>
              </a:ext>
            </a:extLst>
          </p:cNvPr>
          <p:cNvSpPr/>
          <p:nvPr/>
        </p:nvSpPr>
        <p:spPr>
          <a:xfrm>
            <a:off x="460426" y="6488088"/>
            <a:ext cx="3917640" cy="396726"/>
          </a:xfrm>
          <a:prstGeom prst="rect">
            <a:avLst/>
          </a:prstGeom>
          <a:noFill/>
          <a:ln/>
        </p:spPr>
        <p:txBody>
          <a:bodyPr wrap="square" lIns="0" tIns="0" rIns="0" bIns="0" rtlCol="0" anchor="t">
            <a:normAutofit/>
          </a:bodyPr>
          <a:lstStyle/>
          <a:p>
            <a:pPr marL="0" indent="0" algn="ctr">
              <a:lnSpc>
                <a:spcPct val="127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Dokumen riset, laporan program, dan kajian akademis yang telah dipublikasikan.</a:t>
            </a:r>
            <a:endParaRPr lang="en-US" sz="1000" dirty="0">
              <a:latin typeface="Leelawadee UI" panose="020B0502040204020203" pitchFamily="34" charset="-34"/>
              <a:cs typeface="Leelawadee UI" panose="020B0502040204020203" pitchFamily="34" charset="-34"/>
            </a:endParaRPr>
          </a:p>
        </p:txBody>
      </p:sp>
      <p:sp>
        <p:nvSpPr>
          <p:cNvPr id="16" name="Text 5">
            <a:extLst>
              <a:ext uri="{FF2B5EF4-FFF2-40B4-BE49-F238E27FC236}">
                <a16:creationId xmlns:a16="http://schemas.microsoft.com/office/drawing/2014/main" id="{46E0215E-3219-C6A6-EAC0-14D2A7A0B301}"/>
              </a:ext>
            </a:extLst>
          </p:cNvPr>
          <p:cNvSpPr/>
          <p:nvPr/>
        </p:nvSpPr>
        <p:spPr>
          <a:xfrm>
            <a:off x="4599931" y="5747891"/>
            <a:ext cx="3917712" cy="429184"/>
          </a:xfrm>
          <a:prstGeom prst="rect">
            <a:avLst/>
          </a:prstGeom>
          <a:noFill/>
          <a:ln/>
        </p:spPr>
        <p:txBody>
          <a:bodyPr wrap="none" lIns="0" tIns="0" rIns="0" bIns="0" rtlCol="0" anchor="t"/>
          <a:lstStyle/>
          <a:p>
            <a:pPr marL="0" indent="0" algn="ctr">
              <a:lnSpc>
                <a:spcPct val="83000"/>
              </a:lnSpc>
              <a:buNone/>
            </a:pPr>
            <a:r>
              <a:rPr lang="en-US" sz="2900" dirty="0">
                <a:solidFill>
                  <a:srgbClr val="161613"/>
                </a:solidFill>
                <a:latin typeface="Leelawadee UI" panose="020B0502040204020203" pitchFamily="34" charset="-34"/>
                <a:ea typeface="DM Sans Medium" pitchFamily="34" charset="-122"/>
                <a:cs typeface="Leelawadee UI" panose="020B0502040204020203" pitchFamily="34" charset="-34"/>
              </a:rPr>
              <a:t>8</a:t>
            </a:r>
            <a:endParaRPr lang="en-US" sz="2900" dirty="0">
              <a:latin typeface="Leelawadee UI" panose="020B0502040204020203" pitchFamily="34" charset="-34"/>
              <a:cs typeface="Leelawadee UI" panose="020B0502040204020203" pitchFamily="34" charset="-34"/>
            </a:endParaRPr>
          </a:p>
        </p:txBody>
      </p:sp>
      <p:sp>
        <p:nvSpPr>
          <p:cNvPr id="17" name="Text 6">
            <a:extLst>
              <a:ext uri="{FF2B5EF4-FFF2-40B4-BE49-F238E27FC236}">
                <a16:creationId xmlns:a16="http://schemas.microsoft.com/office/drawing/2014/main" id="{AEEE149C-AE6B-378A-7E94-DEC71B1717E5}"/>
              </a:ext>
            </a:extLst>
          </p:cNvPr>
          <p:cNvSpPr/>
          <p:nvPr/>
        </p:nvSpPr>
        <p:spPr>
          <a:xfrm>
            <a:off x="5901582" y="6251377"/>
            <a:ext cx="1375682" cy="203184"/>
          </a:xfrm>
          <a:prstGeom prst="rect">
            <a:avLst/>
          </a:prstGeom>
          <a:noFill/>
          <a:ln/>
        </p:spPr>
        <p:txBody>
          <a:bodyPr wrap="none" lIns="0" tIns="0" rIns="0" bIns="0" rtlCol="0" anchor="t"/>
          <a:lstStyle/>
          <a:p>
            <a:pPr marL="0" indent="0" algn="ctr">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Analisis Spasial &amp; GIS</a:t>
            </a:r>
            <a:endParaRPr lang="en-US" sz="1100" dirty="0">
              <a:latin typeface="Leelawadee UI" panose="020B0502040204020203" pitchFamily="34" charset="-34"/>
              <a:cs typeface="Leelawadee UI" panose="020B0502040204020203" pitchFamily="34" charset="-34"/>
            </a:endParaRPr>
          </a:p>
        </p:txBody>
      </p:sp>
      <p:sp>
        <p:nvSpPr>
          <p:cNvPr id="18" name="Text 7">
            <a:extLst>
              <a:ext uri="{FF2B5EF4-FFF2-40B4-BE49-F238E27FC236}">
                <a16:creationId xmlns:a16="http://schemas.microsoft.com/office/drawing/2014/main" id="{806E61F8-F0BF-65CE-4834-84A570355936}"/>
              </a:ext>
            </a:extLst>
          </p:cNvPr>
          <p:cNvSpPr/>
          <p:nvPr/>
        </p:nvSpPr>
        <p:spPr>
          <a:xfrm>
            <a:off x="4599931" y="6488087"/>
            <a:ext cx="3917712" cy="198363"/>
          </a:xfrm>
          <a:prstGeom prst="rect">
            <a:avLst/>
          </a:prstGeom>
          <a:noFill/>
          <a:ln/>
        </p:spPr>
        <p:txBody>
          <a:bodyPr wrap="none" lIns="0" tIns="0" rIns="0" bIns="0" rtlCol="0" anchor="t"/>
          <a:lstStyle/>
          <a:p>
            <a:pPr marL="0" indent="0" algn="ctr">
              <a:lnSpc>
                <a:spcPct val="127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Peta tematik dan analisis geospasial lanskap prioritas di Kalimantan Barat.</a:t>
            </a:r>
            <a:endParaRPr lang="en-US" sz="1000" dirty="0">
              <a:latin typeface="Leelawadee UI" panose="020B0502040204020203" pitchFamily="34" charset="-34"/>
              <a:cs typeface="Leelawadee UI" panose="020B0502040204020203" pitchFamily="34" charset="-34"/>
            </a:endParaRPr>
          </a:p>
        </p:txBody>
      </p:sp>
      <p:sp>
        <p:nvSpPr>
          <p:cNvPr id="19" name="Text 8">
            <a:extLst>
              <a:ext uri="{FF2B5EF4-FFF2-40B4-BE49-F238E27FC236}">
                <a16:creationId xmlns:a16="http://schemas.microsoft.com/office/drawing/2014/main" id="{DC18CA08-C02C-0B5C-8037-10A0C2BBD687}"/>
              </a:ext>
            </a:extLst>
          </p:cNvPr>
          <p:cNvSpPr/>
          <p:nvPr/>
        </p:nvSpPr>
        <p:spPr>
          <a:xfrm>
            <a:off x="460426" y="7090916"/>
            <a:ext cx="3917640" cy="429184"/>
          </a:xfrm>
          <a:prstGeom prst="rect">
            <a:avLst/>
          </a:prstGeom>
          <a:noFill/>
          <a:ln/>
        </p:spPr>
        <p:txBody>
          <a:bodyPr wrap="none" lIns="0" tIns="0" rIns="0" bIns="0" rtlCol="0" anchor="t"/>
          <a:lstStyle/>
          <a:p>
            <a:pPr marL="0" indent="0" algn="ctr">
              <a:lnSpc>
                <a:spcPct val="83000"/>
              </a:lnSpc>
              <a:buNone/>
            </a:pPr>
            <a:r>
              <a:rPr lang="en-US" sz="2900" dirty="0">
                <a:solidFill>
                  <a:srgbClr val="161613"/>
                </a:solidFill>
                <a:latin typeface="Leelawadee UI" panose="020B0502040204020203" pitchFamily="34" charset="-34"/>
                <a:ea typeface="DM Sans Medium" pitchFamily="34" charset="-122"/>
                <a:cs typeface="Leelawadee UI" panose="020B0502040204020203" pitchFamily="34" charset="-34"/>
              </a:rPr>
              <a:t>6</a:t>
            </a:r>
            <a:endParaRPr lang="en-US" sz="2900" dirty="0">
              <a:latin typeface="Leelawadee UI" panose="020B0502040204020203" pitchFamily="34" charset="-34"/>
              <a:cs typeface="Leelawadee UI" panose="020B0502040204020203" pitchFamily="34" charset="-34"/>
            </a:endParaRPr>
          </a:p>
        </p:txBody>
      </p:sp>
      <p:sp>
        <p:nvSpPr>
          <p:cNvPr id="20" name="Text 9">
            <a:extLst>
              <a:ext uri="{FF2B5EF4-FFF2-40B4-BE49-F238E27FC236}">
                <a16:creationId xmlns:a16="http://schemas.microsoft.com/office/drawing/2014/main" id="{16424C4F-5009-A184-DE51-79B95432B914}"/>
              </a:ext>
            </a:extLst>
          </p:cNvPr>
          <p:cNvSpPr/>
          <p:nvPr/>
        </p:nvSpPr>
        <p:spPr>
          <a:xfrm>
            <a:off x="1480344" y="7594402"/>
            <a:ext cx="1925795" cy="203184"/>
          </a:xfrm>
          <a:prstGeom prst="rect">
            <a:avLst/>
          </a:prstGeom>
          <a:noFill/>
          <a:ln/>
        </p:spPr>
        <p:txBody>
          <a:bodyPr wrap="none" lIns="0" tIns="0" rIns="0" bIns="0" rtlCol="0" anchor="t"/>
          <a:lstStyle/>
          <a:p>
            <a:pPr marL="0" indent="0" algn="ctr">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Policy Brief &amp; Kajian Kebijakan</a:t>
            </a:r>
            <a:endParaRPr lang="en-US" sz="1100" dirty="0">
              <a:latin typeface="Leelawadee UI" panose="020B0502040204020203" pitchFamily="34" charset="-34"/>
              <a:cs typeface="Leelawadee UI" panose="020B0502040204020203" pitchFamily="34" charset="-34"/>
            </a:endParaRPr>
          </a:p>
        </p:txBody>
      </p:sp>
      <p:sp>
        <p:nvSpPr>
          <p:cNvPr id="21" name="Text 10">
            <a:extLst>
              <a:ext uri="{FF2B5EF4-FFF2-40B4-BE49-F238E27FC236}">
                <a16:creationId xmlns:a16="http://schemas.microsoft.com/office/drawing/2014/main" id="{BD24FDBC-FE34-B48B-4E1A-84C0024557C9}"/>
              </a:ext>
            </a:extLst>
          </p:cNvPr>
          <p:cNvSpPr/>
          <p:nvPr/>
        </p:nvSpPr>
        <p:spPr>
          <a:xfrm>
            <a:off x="460426" y="7831112"/>
            <a:ext cx="3917640" cy="198363"/>
          </a:xfrm>
          <a:prstGeom prst="rect">
            <a:avLst/>
          </a:prstGeom>
          <a:noFill/>
          <a:ln/>
        </p:spPr>
        <p:txBody>
          <a:bodyPr wrap="none" lIns="0" tIns="0" rIns="0" bIns="0" rtlCol="0" anchor="t"/>
          <a:lstStyle/>
          <a:p>
            <a:pPr marL="0" indent="0" algn="ctr">
              <a:lnSpc>
                <a:spcPct val="127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Rekomendasi kebijakan berbasis bukti untuk tata kelola lanskap inklusif.</a:t>
            </a:r>
            <a:endParaRPr lang="en-US" sz="1000" dirty="0">
              <a:latin typeface="Leelawadee UI" panose="020B0502040204020203" pitchFamily="34" charset="-34"/>
              <a:cs typeface="Leelawadee UI" panose="020B0502040204020203" pitchFamily="34" charset="-34"/>
            </a:endParaRPr>
          </a:p>
        </p:txBody>
      </p:sp>
      <p:sp>
        <p:nvSpPr>
          <p:cNvPr id="22" name="Text 11">
            <a:extLst>
              <a:ext uri="{FF2B5EF4-FFF2-40B4-BE49-F238E27FC236}">
                <a16:creationId xmlns:a16="http://schemas.microsoft.com/office/drawing/2014/main" id="{CE9E4B76-2851-7783-9332-7AAD8D03CD67}"/>
              </a:ext>
            </a:extLst>
          </p:cNvPr>
          <p:cNvSpPr/>
          <p:nvPr/>
        </p:nvSpPr>
        <p:spPr>
          <a:xfrm>
            <a:off x="4599931" y="7090916"/>
            <a:ext cx="3917712" cy="429184"/>
          </a:xfrm>
          <a:prstGeom prst="rect">
            <a:avLst/>
          </a:prstGeom>
          <a:noFill/>
          <a:ln/>
        </p:spPr>
        <p:txBody>
          <a:bodyPr wrap="none" lIns="0" tIns="0" rIns="0" bIns="0" rtlCol="0" anchor="t"/>
          <a:lstStyle/>
          <a:p>
            <a:pPr marL="0" indent="0" algn="ctr">
              <a:lnSpc>
                <a:spcPct val="83000"/>
              </a:lnSpc>
              <a:buNone/>
            </a:pPr>
            <a:r>
              <a:rPr lang="en-US" sz="2900" dirty="0">
                <a:solidFill>
                  <a:srgbClr val="161613"/>
                </a:solidFill>
                <a:latin typeface="Leelawadee UI" panose="020B0502040204020203" pitchFamily="34" charset="-34"/>
                <a:ea typeface="DM Sans Medium" pitchFamily="34" charset="-122"/>
                <a:cs typeface="Leelawadee UI" panose="020B0502040204020203" pitchFamily="34" charset="-34"/>
              </a:rPr>
              <a:t>11</a:t>
            </a:r>
            <a:endParaRPr lang="en-US" sz="2900" dirty="0">
              <a:latin typeface="Leelawadee UI" panose="020B0502040204020203" pitchFamily="34" charset="-34"/>
              <a:cs typeface="Leelawadee UI" panose="020B0502040204020203" pitchFamily="34" charset="-34"/>
            </a:endParaRPr>
          </a:p>
        </p:txBody>
      </p:sp>
      <p:sp>
        <p:nvSpPr>
          <p:cNvPr id="23" name="Text 12">
            <a:extLst>
              <a:ext uri="{FF2B5EF4-FFF2-40B4-BE49-F238E27FC236}">
                <a16:creationId xmlns:a16="http://schemas.microsoft.com/office/drawing/2014/main" id="{8628E7FC-1F7D-D250-9D01-BBF21FCBFF2D}"/>
              </a:ext>
            </a:extLst>
          </p:cNvPr>
          <p:cNvSpPr/>
          <p:nvPr/>
        </p:nvSpPr>
        <p:spPr>
          <a:xfrm>
            <a:off x="5730504" y="7594402"/>
            <a:ext cx="1709776" cy="203184"/>
          </a:xfrm>
          <a:prstGeom prst="rect">
            <a:avLst/>
          </a:prstGeom>
          <a:noFill/>
          <a:ln/>
        </p:spPr>
        <p:txBody>
          <a:bodyPr wrap="none" lIns="0" tIns="0" rIns="0" bIns="0" rtlCol="0" anchor="t"/>
          <a:lstStyle/>
          <a:p>
            <a:pPr marL="0" indent="0" algn="ctr">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Laporan Program &amp; Proyek</a:t>
            </a:r>
            <a:endParaRPr lang="en-US" sz="1100" dirty="0">
              <a:latin typeface="Leelawadee UI" panose="020B0502040204020203" pitchFamily="34" charset="-34"/>
              <a:cs typeface="Leelawadee UI" panose="020B0502040204020203" pitchFamily="34" charset="-34"/>
            </a:endParaRPr>
          </a:p>
        </p:txBody>
      </p:sp>
      <p:sp>
        <p:nvSpPr>
          <p:cNvPr id="24" name="Text 13">
            <a:extLst>
              <a:ext uri="{FF2B5EF4-FFF2-40B4-BE49-F238E27FC236}">
                <a16:creationId xmlns:a16="http://schemas.microsoft.com/office/drawing/2014/main" id="{2D598B4F-29FC-ECDC-6292-20507B61F969}"/>
              </a:ext>
            </a:extLst>
          </p:cNvPr>
          <p:cNvSpPr/>
          <p:nvPr/>
        </p:nvSpPr>
        <p:spPr>
          <a:xfrm>
            <a:off x="4599931" y="7831113"/>
            <a:ext cx="3917712" cy="396726"/>
          </a:xfrm>
          <a:prstGeom prst="rect">
            <a:avLst/>
          </a:prstGeom>
          <a:noFill/>
          <a:ln/>
        </p:spPr>
        <p:txBody>
          <a:bodyPr wrap="square" lIns="0" tIns="0" rIns="0" bIns="0" rtlCol="0" anchor="t">
            <a:normAutofit/>
          </a:bodyPr>
          <a:lstStyle/>
          <a:p>
            <a:pPr marL="0" indent="0" algn="ctr">
              <a:lnSpc>
                <a:spcPct val="127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Dokumentasi pelaksanaan program restorasi, pendampingan desa, dan kolaborasi mitra.</a:t>
            </a:r>
            <a:endParaRPr lang="en-US" sz="1000" dirty="0">
              <a:latin typeface="Leelawadee UI" panose="020B0502040204020203" pitchFamily="34" charset="-34"/>
              <a:cs typeface="Leelawadee UI" panose="020B0502040204020203" pitchFamily="34" charset="-34"/>
            </a:endParaRPr>
          </a:p>
        </p:txBody>
      </p:sp>
      <p:sp>
        <p:nvSpPr>
          <p:cNvPr id="25" name="Shape 14">
            <a:extLst>
              <a:ext uri="{FF2B5EF4-FFF2-40B4-BE49-F238E27FC236}">
                <a16:creationId xmlns:a16="http://schemas.microsoft.com/office/drawing/2014/main" id="{64A4D6B2-6BEF-9DE8-B267-05EEFC0A3A93}"/>
              </a:ext>
            </a:extLst>
          </p:cNvPr>
          <p:cNvSpPr/>
          <p:nvPr/>
        </p:nvSpPr>
        <p:spPr>
          <a:xfrm>
            <a:off x="460425" y="8288609"/>
            <a:ext cx="7959675" cy="673779"/>
          </a:xfrm>
          <a:prstGeom prst="roundRect">
            <a:avLst>
              <a:gd name="adj" fmla="val 2896"/>
            </a:avLst>
          </a:prstGeom>
          <a:solidFill>
            <a:srgbClr val="B6D6FC"/>
          </a:solidFill>
          <a:ln/>
        </p:spPr>
      </p:sp>
      <p:pic>
        <p:nvPicPr>
          <p:cNvPr id="26" name="Image 0" descr="preencoded.png">
            <a:extLst>
              <a:ext uri="{FF2B5EF4-FFF2-40B4-BE49-F238E27FC236}">
                <a16:creationId xmlns:a16="http://schemas.microsoft.com/office/drawing/2014/main" id="{D448A901-3E1D-5F94-4871-7B553D2F7AD0}"/>
              </a:ext>
            </a:extLst>
          </p:cNvPr>
          <p:cNvPicPr>
            <a:picLocks noChangeAspect="1"/>
          </p:cNvPicPr>
          <p:nvPr/>
        </p:nvPicPr>
        <p:blipFill>
          <a:blip r:embed="rId6"/>
          <a:stretch>
            <a:fillRect/>
          </a:stretch>
        </p:blipFill>
        <p:spPr>
          <a:xfrm>
            <a:off x="572789" y="8444954"/>
            <a:ext cx="162547" cy="130003"/>
          </a:xfrm>
          <a:prstGeom prst="rect">
            <a:avLst/>
          </a:prstGeom>
        </p:spPr>
      </p:pic>
      <p:sp>
        <p:nvSpPr>
          <p:cNvPr id="27" name="Text 15">
            <a:extLst>
              <a:ext uri="{FF2B5EF4-FFF2-40B4-BE49-F238E27FC236}">
                <a16:creationId xmlns:a16="http://schemas.microsoft.com/office/drawing/2014/main" id="{9C4CB143-2B8A-24E0-7A62-54A386A47918}"/>
              </a:ext>
            </a:extLst>
          </p:cNvPr>
          <p:cNvSpPr/>
          <p:nvPr/>
        </p:nvSpPr>
        <p:spPr>
          <a:xfrm>
            <a:off x="825649" y="8408343"/>
            <a:ext cx="7493339" cy="396726"/>
          </a:xfrm>
          <a:prstGeom prst="rect">
            <a:avLst/>
          </a:prstGeom>
          <a:noFill/>
          <a:ln/>
        </p:spPr>
        <p:txBody>
          <a:bodyPr wrap="square" lIns="0" tIns="0" rIns="0" bIns="0" rtlCol="0" anchor="t">
            <a:normAutofit/>
          </a:bodyPr>
          <a:lstStyle/>
          <a:p>
            <a:pPr marL="0" indent="0" algn="l">
              <a:lnSpc>
                <a:spcPct val="127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 </a:t>
            </a:r>
            <a:r>
              <a:rPr lang="en-US" sz="1000" b="1" dirty="0">
                <a:solidFill>
                  <a:srgbClr val="000000"/>
                </a:solidFill>
                <a:latin typeface="Leelawadee UI" panose="020B0502040204020203" pitchFamily="34" charset="-34"/>
                <a:ea typeface="Inter" pitchFamily="34" charset="-122"/>
                <a:cs typeface="Leelawadee UI" panose="020B0502040204020203" pitchFamily="34" charset="-34"/>
              </a:rPr>
              <a:t>Catatan:</a:t>
            </a: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 Data di atas bersifat placeholder. Tim YNKI diharapkan mengisi dengan data riil dari produk pengetahuan yang telah dihasilkan sebelum halaman ini dipublikasikan.</a:t>
            </a:r>
            <a:endParaRPr lang="en-US" sz="1000" dirty="0">
              <a:latin typeface="Leelawadee UI" panose="020B0502040204020203" pitchFamily="34" charset="-34"/>
              <a:cs typeface="Leelawadee UI" panose="020B0502040204020203" pitchFamily="34" charset="-34"/>
            </a:endParaRPr>
          </a:p>
        </p:txBody>
      </p:sp>
      <p:sp>
        <p:nvSpPr>
          <p:cNvPr id="28" name="Text 0">
            <a:extLst>
              <a:ext uri="{FF2B5EF4-FFF2-40B4-BE49-F238E27FC236}">
                <a16:creationId xmlns:a16="http://schemas.microsoft.com/office/drawing/2014/main" id="{6AD23A4E-0887-31F6-ADF0-76E04C86B6B5}"/>
              </a:ext>
            </a:extLst>
          </p:cNvPr>
          <p:cNvSpPr/>
          <p:nvPr/>
        </p:nvSpPr>
        <p:spPr>
          <a:xfrm>
            <a:off x="460425" y="9184644"/>
            <a:ext cx="2994422" cy="203522"/>
          </a:xfrm>
          <a:prstGeom prst="rect">
            <a:avLst/>
          </a:prstGeom>
          <a:noFill/>
          <a:ln/>
        </p:spPr>
        <p:txBody>
          <a:bodyPr wrap="none" lIns="0" tIns="0" rIns="0" bIns="0" rtlCol="0" anchor="t"/>
          <a:lstStyle/>
          <a:p>
            <a:pPr marL="0" indent="0" algn="l">
              <a:lnSpc>
                <a:spcPct val="104000"/>
              </a:lnSpc>
              <a:buNone/>
            </a:pPr>
            <a:r>
              <a:rPr lang="en-US" sz="2200" dirty="0">
                <a:solidFill>
                  <a:srgbClr val="161613"/>
                </a:solidFill>
                <a:latin typeface="Leelawadee UI" panose="020B0502040204020203" pitchFamily="34" charset="-34"/>
                <a:ea typeface="DM Sans Medium" pitchFamily="34" charset="-122"/>
                <a:cs typeface="Leelawadee UI" panose="020B0502040204020203" pitchFamily="34" charset="-34"/>
              </a:rPr>
              <a:t>Filter Berdasarkan Jenis Publikasi</a:t>
            </a:r>
            <a:endParaRPr lang="en-US" sz="2200" dirty="0">
              <a:latin typeface="Leelawadee UI" panose="020B0502040204020203" pitchFamily="34" charset="-34"/>
              <a:cs typeface="Leelawadee UI" panose="020B0502040204020203" pitchFamily="34" charset="-34"/>
            </a:endParaRPr>
          </a:p>
        </p:txBody>
      </p:sp>
      <p:sp>
        <p:nvSpPr>
          <p:cNvPr id="29" name="Text 1">
            <a:extLst>
              <a:ext uri="{FF2B5EF4-FFF2-40B4-BE49-F238E27FC236}">
                <a16:creationId xmlns:a16="http://schemas.microsoft.com/office/drawing/2014/main" id="{C584CA40-E641-928C-12AF-723FB9B38B3E}"/>
              </a:ext>
            </a:extLst>
          </p:cNvPr>
          <p:cNvSpPr/>
          <p:nvPr/>
        </p:nvSpPr>
        <p:spPr>
          <a:xfrm>
            <a:off x="460425" y="9564774"/>
            <a:ext cx="7927229" cy="465952"/>
          </a:xfrm>
          <a:prstGeom prst="rect">
            <a:avLst/>
          </a:prstGeom>
          <a:noFill/>
          <a:ln/>
        </p:spPr>
        <p:txBody>
          <a:bodyPr wrap="square" lIns="0" tIns="0" rIns="0" bIns="0" rtlCol="0" anchor="t">
            <a:noAutofit/>
          </a:bodyPr>
          <a:lstStyle/>
          <a:p>
            <a:pPr marL="0" indent="0" algn="l">
              <a:lnSpc>
                <a:spcPct val="110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Gunakan filter kategori berikut untuk menelusuri koleksi penelitian dan laporan YNKI sesuai kebutuhan Anda. Setiap kategori mencerminkan jenis produk pengetahuan yang dihasilkan berdasarkan </a:t>
            </a:r>
            <a:r>
              <a:rPr lang="en-US" sz="1000" i="1" dirty="0">
                <a:solidFill>
                  <a:srgbClr val="161613"/>
                </a:solidFill>
                <a:latin typeface="Leelawadee UI" panose="020B0502040204020203" pitchFamily="34" charset="-34"/>
                <a:ea typeface="Inter" pitchFamily="34" charset="-122"/>
                <a:cs typeface="Leelawadee UI" panose="020B0502040204020203" pitchFamily="34" charset="-34"/>
              </a:rPr>
              <a:t>Knowledge Management Framework</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YNKI.</a:t>
            </a:r>
            <a:endParaRPr lang="en-US" sz="1000" dirty="0">
              <a:latin typeface="Leelawadee UI" panose="020B0502040204020203" pitchFamily="34" charset="-34"/>
              <a:cs typeface="Leelawadee UI" panose="020B0502040204020203" pitchFamily="34" charset="-34"/>
            </a:endParaRPr>
          </a:p>
        </p:txBody>
      </p:sp>
      <p:sp>
        <p:nvSpPr>
          <p:cNvPr id="30" name="Shape 2">
            <a:extLst>
              <a:ext uri="{FF2B5EF4-FFF2-40B4-BE49-F238E27FC236}">
                <a16:creationId xmlns:a16="http://schemas.microsoft.com/office/drawing/2014/main" id="{EA5937A7-5501-0446-F6CD-B55561F740C5}"/>
              </a:ext>
            </a:extLst>
          </p:cNvPr>
          <p:cNvSpPr/>
          <p:nvPr/>
        </p:nvSpPr>
        <p:spPr>
          <a:xfrm>
            <a:off x="409899" y="10091096"/>
            <a:ext cx="983233" cy="164233"/>
          </a:xfrm>
          <a:prstGeom prst="roundRect">
            <a:avLst>
              <a:gd name="adj" fmla="val 7233"/>
            </a:avLst>
          </a:prstGeom>
          <a:solidFill>
            <a:srgbClr val="E3E3E8"/>
          </a:solidFill>
          <a:ln/>
        </p:spPr>
      </p:sp>
      <p:sp>
        <p:nvSpPr>
          <p:cNvPr id="31" name="Text 3">
            <a:extLst>
              <a:ext uri="{FF2B5EF4-FFF2-40B4-BE49-F238E27FC236}">
                <a16:creationId xmlns:a16="http://schemas.microsoft.com/office/drawing/2014/main" id="{CAED0F47-2AE5-B7C2-6A97-0B69E5D92700}"/>
              </a:ext>
            </a:extLst>
          </p:cNvPr>
          <p:cNvSpPr/>
          <p:nvPr/>
        </p:nvSpPr>
        <p:spPr>
          <a:xfrm>
            <a:off x="458715" y="10115504"/>
            <a:ext cx="1041574" cy="185821"/>
          </a:xfrm>
          <a:prstGeom prst="rect">
            <a:avLst/>
          </a:prstGeom>
          <a:noFill/>
          <a:ln/>
        </p:spPr>
        <p:txBody>
          <a:bodyPr wrap="none" lIns="0" tIns="0" rIns="0" bIns="0" rtlCol="0" anchor="t"/>
          <a:lstStyle/>
          <a:p>
            <a:pPr marL="0" indent="0" algn="l">
              <a:lnSpc>
                <a:spcPct val="110000"/>
              </a:lnSpc>
              <a:buNone/>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SEMUA PUBLIKASI</a:t>
            </a:r>
            <a:endParaRPr lang="en-US" sz="800" dirty="0">
              <a:latin typeface="Leelawadee UI" panose="020B0502040204020203" pitchFamily="34" charset="-34"/>
              <a:cs typeface="Leelawadee UI" panose="020B0502040204020203" pitchFamily="34" charset="-34"/>
            </a:endParaRPr>
          </a:p>
        </p:txBody>
      </p:sp>
      <p:sp>
        <p:nvSpPr>
          <p:cNvPr id="32" name="Shape 4">
            <a:extLst>
              <a:ext uri="{FF2B5EF4-FFF2-40B4-BE49-F238E27FC236}">
                <a16:creationId xmlns:a16="http://schemas.microsoft.com/office/drawing/2014/main" id="{59FE4892-DA2C-E4F8-9FAB-8AE69C3EEB98}"/>
              </a:ext>
            </a:extLst>
          </p:cNvPr>
          <p:cNvSpPr/>
          <p:nvPr/>
        </p:nvSpPr>
        <p:spPr>
          <a:xfrm>
            <a:off x="1446711" y="10097944"/>
            <a:ext cx="1094464" cy="157386"/>
          </a:xfrm>
          <a:prstGeom prst="roundRect">
            <a:avLst>
              <a:gd name="adj" fmla="val 6756"/>
            </a:avLst>
          </a:prstGeom>
          <a:noFill/>
          <a:ln w="4763">
            <a:solidFill>
              <a:srgbClr val="28282F"/>
            </a:solidFill>
            <a:prstDash val="solid"/>
          </a:ln>
        </p:spPr>
      </p:sp>
      <p:sp>
        <p:nvSpPr>
          <p:cNvPr id="33" name="Text 5">
            <a:extLst>
              <a:ext uri="{FF2B5EF4-FFF2-40B4-BE49-F238E27FC236}">
                <a16:creationId xmlns:a16="http://schemas.microsoft.com/office/drawing/2014/main" id="{37CEF1C1-2C7E-B2D4-0877-98BC7E9E5CC9}"/>
              </a:ext>
            </a:extLst>
          </p:cNvPr>
          <p:cNvSpPr/>
          <p:nvPr/>
        </p:nvSpPr>
        <p:spPr>
          <a:xfrm>
            <a:off x="1500289" y="10127114"/>
            <a:ext cx="1160487" cy="86246"/>
          </a:xfrm>
          <a:prstGeom prst="rect">
            <a:avLst/>
          </a:prstGeom>
          <a:noFill/>
          <a:ln/>
        </p:spPr>
        <p:txBody>
          <a:bodyPr wrap="none" lIns="0" tIns="0" rIns="0" bIns="0" rtlCol="0" anchor="t"/>
          <a:lstStyle/>
          <a:p>
            <a:pPr marL="0" indent="0" algn="l">
              <a:lnSpc>
                <a:spcPct val="110000"/>
              </a:lnSpc>
              <a:buNone/>
            </a:pPr>
            <a:r>
              <a:rPr lang="en-US" sz="800" dirty="0">
                <a:solidFill>
                  <a:srgbClr val="28282F"/>
                </a:solidFill>
                <a:latin typeface="Leelawadee UI" panose="020B0502040204020203" pitchFamily="34" charset="-34"/>
                <a:ea typeface="Inter" pitchFamily="34" charset="-122"/>
                <a:cs typeface="Leelawadee UI" panose="020B0502040204020203" pitchFamily="34" charset="-34"/>
              </a:rPr>
              <a:t>LAPORAN PENELITIAN</a:t>
            </a:r>
            <a:endParaRPr lang="en-US" sz="800" dirty="0">
              <a:latin typeface="Leelawadee UI" panose="020B0502040204020203" pitchFamily="34" charset="-34"/>
              <a:cs typeface="Leelawadee UI" panose="020B0502040204020203" pitchFamily="34" charset="-34"/>
            </a:endParaRPr>
          </a:p>
        </p:txBody>
      </p:sp>
      <p:sp>
        <p:nvSpPr>
          <p:cNvPr id="34" name="Shape 6">
            <a:extLst>
              <a:ext uri="{FF2B5EF4-FFF2-40B4-BE49-F238E27FC236}">
                <a16:creationId xmlns:a16="http://schemas.microsoft.com/office/drawing/2014/main" id="{459BC306-1B29-6159-8F51-3AEAD17B204F}"/>
              </a:ext>
            </a:extLst>
          </p:cNvPr>
          <p:cNvSpPr/>
          <p:nvPr/>
        </p:nvSpPr>
        <p:spPr>
          <a:xfrm>
            <a:off x="2607198" y="10097944"/>
            <a:ext cx="1219794" cy="157386"/>
          </a:xfrm>
          <a:prstGeom prst="roundRect">
            <a:avLst>
              <a:gd name="adj" fmla="val 6756"/>
            </a:avLst>
          </a:prstGeom>
          <a:noFill/>
          <a:ln w="4763">
            <a:solidFill>
              <a:srgbClr val="28282F"/>
            </a:solidFill>
            <a:prstDash val="solid"/>
          </a:ln>
        </p:spPr>
      </p:sp>
      <p:sp>
        <p:nvSpPr>
          <p:cNvPr id="35" name="Text 7">
            <a:extLst>
              <a:ext uri="{FF2B5EF4-FFF2-40B4-BE49-F238E27FC236}">
                <a16:creationId xmlns:a16="http://schemas.microsoft.com/office/drawing/2014/main" id="{AB480613-828B-736F-B1D0-A0607B8C6BE8}"/>
              </a:ext>
            </a:extLst>
          </p:cNvPr>
          <p:cNvSpPr/>
          <p:nvPr/>
        </p:nvSpPr>
        <p:spPr>
          <a:xfrm>
            <a:off x="2660776" y="10127114"/>
            <a:ext cx="1219795" cy="86246"/>
          </a:xfrm>
          <a:prstGeom prst="rect">
            <a:avLst/>
          </a:prstGeom>
          <a:noFill/>
          <a:ln/>
        </p:spPr>
        <p:txBody>
          <a:bodyPr wrap="none" lIns="0" tIns="0" rIns="0" bIns="0" rtlCol="0" anchor="t"/>
          <a:lstStyle/>
          <a:p>
            <a:pPr marL="0" indent="0" algn="l">
              <a:lnSpc>
                <a:spcPct val="110000"/>
              </a:lnSpc>
              <a:buNone/>
            </a:pPr>
            <a:r>
              <a:rPr lang="en-US" sz="800" dirty="0">
                <a:solidFill>
                  <a:srgbClr val="28282F"/>
                </a:solidFill>
                <a:latin typeface="Leelawadee UI" panose="020B0502040204020203" pitchFamily="34" charset="-34"/>
                <a:ea typeface="Inter" pitchFamily="34" charset="-122"/>
                <a:cs typeface="Leelawadee UI" panose="020B0502040204020203" pitchFamily="34" charset="-34"/>
              </a:rPr>
              <a:t>ANALISIS SPASIAL &amp; GIS</a:t>
            </a:r>
            <a:endParaRPr lang="en-US" sz="800" dirty="0">
              <a:latin typeface="Leelawadee UI" panose="020B0502040204020203" pitchFamily="34" charset="-34"/>
              <a:cs typeface="Leelawadee UI" panose="020B0502040204020203" pitchFamily="34" charset="-34"/>
            </a:endParaRPr>
          </a:p>
        </p:txBody>
      </p:sp>
      <p:sp>
        <p:nvSpPr>
          <p:cNvPr id="36" name="Shape 8">
            <a:extLst>
              <a:ext uri="{FF2B5EF4-FFF2-40B4-BE49-F238E27FC236}">
                <a16:creationId xmlns:a16="http://schemas.microsoft.com/office/drawing/2014/main" id="{7B6798FA-1F2E-7434-702B-239DE6ACD4A5}"/>
              </a:ext>
            </a:extLst>
          </p:cNvPr>
          <p:cNvSpPr/>
          <p:nvPr/>
        </p:nvSpPr>
        <p:spPr>
          <a:xfrm>
            <a:off x="3880571" y="10110743"/>
            <a:ext cx="723602" cy="157386"/>
          </a:xfrm>
          <a:prstGeom prst="roundRect">
            <a:avLst>
              <a:gd name="adj" fmla="val 6756"/>
            </a:avLst>
          </a:prstGeom>
          <a:noFill/>
          <a:ln w="4763">
            <a:solidFill>
              <a:srgbClr val="28282F"/>
            </a:solidFill>
            <a:prstDash val="solid"/>
          </a:ln>
        </p:spPr>
      </p:sp>
      <p:sp>
        <p:nvSpPr>
          <p:cNvPr id="37" name="Text 9">
            <a:extLst>
              <a:ext uri="{FF2B5EF4-FFF2-40B4-BE49-F238E27FC236}">
                <a16:creationId xmlns:a16="http://schemas.microsoft.com/office/drawing/2014/main" id="{E8250563-C640-3E45-41E2-9CB630B1DE4B}"/>
              </a:ext>
            </a:extLst>
          </p:cNvPr>
          <p:cNvSpPr/>
          <p:nvPr/>
        </p:nvSpPr>
        <p:spPr>
          <a:xfrm>
            <a:off x="3934150" y="10139913"/>
            <a:ext cx="892076" cy="86246"/>
          </a:xfrm>
          <a:prstGeom prst="rect">
            <a:avLst/>
          </a:prstGeom>
          <a:noFill/>
          <a:ln/>
        </p:spPr>
        <p:txBody>
          <a:bodyPr wrap="none" lIns="0" tIns="0" rIns="0" bIns="0" rtlCol="0" anchor="t"/>
          <a:lstStyle/>
          <a:p>
            <a:pPr marL="0" indent="0" algn="l">
              <a:lnSpc>
                <a:spcPct val="110000"/>
              </a:lnSpc>
              <a:buNone/>
            </a:pPr>
            <a:r>
              <a:rPr lang="en-US" sz="800" dirty="0">
                <a:solidFill>
                  <a:srgbClr val="28282F"/>
                </a:solidFill>
                <a:latin typeface="Leelawadee UI" panose="020B0502040204020203" pitchFamily="34" charset="-34"/>
                <a:ea typeface="Inter" pitchFamily="34" charset="-122"/>
                <a:cs typeface="Leelawadee UI" panose="020B0502040204020203" pitchFamily="34" charset="-34"/>
              </a:rPr>
              <a:t>POLICY BRIEF</a:t>
            </a:r>
            <a:endParaRPr lang="en-US" sz="800" dirty="0">
              <a:latin typeface="Leelawadee UI" panose="020B0502040204020203" pitchFamily="34" charset="-34"/>
              <a:cs typeface="Leelawadee UI" panose="020B0502040204020203" pitchFamily="34" charset="-34"/>
            </a:endParaRPr>
          </a:p>
        </p:txBody>
      </p:sp>
      <p:sp>
        <p:nvSpPr>
          <p:cNvPr id="38" name="Shape 10">
            <a:extLst>
              <a:ext uri="{FF2B5EF4-FFF2-40B4-BE49-F238E27FC236}">
                <a16:creationId xmlns:a16="http://schemas.microsoft.com/office/drawing/2014/main" id="{C039B8B4-B47F-E601-203F-C928BCA6E4A0}"/>
              </a:ext>
            </a:extLst>
          </p:cNvPr>
          <p:cNvSpPr/>
          <p:nvPr/>
        </p:nvSpPr>
        <p:spPr>
          <a:xfrm>
            <a:off x="4714295" y="10110743"/>
            <a:ext cx="1111300" cy="157385"/>
          </a:xfrm>
          <a:prstGeom prst="roundRect">
            <a:avLst>
              <a:gd name="adj" fmla="val 6756"/>
            </a:avLst>
          </a:prstGeom>
          <a:noFill/>
          <a:ln w="4763">
            <a:solidFill>
              <a:srgbClr val="28282F"/>
            </a:solidFill>
            <a:prstDash val="solid"/>
          </a:ln>
        </p:spPr>
      </p:sp>
      <p:sp>
        <p:nvSpPr>
          <p:cNvPr id="39" name="Text 11">
            <a:extLst>
              <a:ext uri="{FF2B5EF4-FFF2-40B4-BE49-F238E27FC236}">
                <a16:creationId xmlns:a16="http://schemas.microsoft.com/office/drawing/2014/main" id="{1726F371-0BA4-989F-7373-224EEC55B16F}"/>
              </a:ext>
            </a:extLst>
          </p:cNvPr>
          <p:cNvSpPr/>
          <p:nvPr/>
        </p:nvSpPr>
        <p:spPr>
          <a:xfrm>
            <a:off x="4767874" y="10139913"/>
            <a:ext cx="1111300" cy="256123"/>
          </a:xfrm>
          <a:prstGeom prst="rect">
            <a:avLst/>
          </a:prstGeom>
          <a:noFill/>
          <a:ln/>
        </p:spPr>
        <p:txBody>
          <a:bodyPr wrap="none" lIns="0" tIns="0" rIns="0" bIns="0" rtlCol="0" anchor="t"/>
          <a:lstStyle/>
          <a:p>
            <a:pPr marL="0" indent="0" algn="l">
              <a:lnSpc>
                <a:spcPct val="110000"/>
              </a:lnSpc>
              <a:buNone/>
            </a:pPr>
            <a:r>
              <a:rPr lang="en-US" sz="800" dirty="0">
                <a:solidFill>
                  <a:srgbClr val="28282F"/>
                </a:solidFill>
                <a:latin typeface="Leelawadee UI" panose="020B0502040204020203" pitchFamily="34" charset="-34"/>
                <a:ea typeface="Inter" pitchFamily="34" charset="-122"/>
                <a:cs typeface="Leelawadee UI" panose="020B0502040204020203" pitchFamily="34" charset="-34"/>
              </a:rPr>
              <a:t>LAPORAN PROGRAM</a:t>
            </a:r>
            <a:endParaRPr lang="en-US" sz="800" dirty="0">
              <a:latin typeface="Leelawadee UI" panose="020B0502040204020203" pitchFamily="34" charset="-34"/>
              <a:cs typeface="Leelawadee UI" panose="020B0502040204020203" pitchFamily="34" charset="-34"/>
            </a:endParaRPr>
          </a:p>
        </p:txBody>
      </p:sp>
      <p:sp>
        <p:nvSpPr>
          <p:cNvPr id="40" name="Shape 12">
            <a:extLst>
              <a:ext uri="{FF2B5EF4-FFF2-40B4-BE49-F238E27FC236}">
                <a16:creationId xmlns:a16="http://schemas.microsoft.com/office/drawing/2014/main" id="{9A185D86-82D5-76BF-91CD-7C2E3F45D5EF}"/>
              </a:ext>
            </a:extLst>
          </p:cNvPr>
          <p:cNvSpPr/>
          <p:nvPr/>
        </p:nvSpPr>
        <p:spPr>
          <a:xfrm>
            <a:off x="5879174" y="10110743"/>
            <a:ext cx="939526" cy="157385"/>
          </a:xfrm>
          <a:prstGeom prst="roundRect">
            <a:avLst>
              <a:gd name="adj" fmla="val 6756"/>
            </a:avLst>
          </a:prstGeom>
          <a:noFill/>
          <a:ln w="4763">
            <a:solidFill>
              <a:srgbClr val="28282F"/>
            </a:solidFill>
            <a:prstDash val="solid"/>
          </a:ln>
        </p:spPr>
      </p:sp>
      <p:sp>
        <p:nvSpPr>
          <p:cNvPr id="41" name="Text 13">
            <a:extLst>
              <a:ext uri="{FF2B5EF4-FFF2-40B4-BE49-F238E27FC236}">
                <a16:creationId xmlns:a16="http://schemas.microsoft.com/office/drawing/2014/main" id="{C11A4E2A-8D98-76D6-AB50-F649CCA3CDF1}"/>
              </a:ext>
            </a:extLst>
          </p:cNvPr>
          <p:cNvSpPr/>
          <p:nvPr/>
        </p:nvSpPr>
        <p:spPr>
          <a:xfrm>
            <a:off x="5932752" y="10139913"/>
            <a:ext cx="1073646" cy="86246"/>
          </a:xfrm>
          <a:prstGeom prst="rect">
            <a:avLst/>
          </a:prstGeom>
          <a:noFill/>
          <a:ln/>
        </p:spPr>
        <p:txBody>
          <a:bodyPr wrap="none" lIns="0" tIns="0" rIns="0" bIns="0" rtlCol="0" anchor="t"/>
          <a:lstStyle/>
          <a:p>
            <a:pPr marL="0" indent="0" algn="l">
              <a:lnSpc>
                <a:spcPct val="110000"/>
              </a:lnSpc>
              <a:buNone/>
            </a:pPr>
            <a:r>
              <a:rPr lang="en-US" sz="800" dirty="0">
                <a:solidFill>
                  <a:srgbClr val="28282F"/>
                </a:solidFill>
                <a:latin typeface="Leelawadee UI" panose="020B0502040204020203" pitchFamily="34" charset="-34"/>
                <a:ea typeface="Inter" pitchFamily="34" charset="-122"/>
                <a:cs typeface="Leelawadee UI" panose="020B0502040204020203" pitchFamily="34" charset="-34"/>
              </a:rPr>
              <a:t>KAJIAN KEBIJAKAN</a:t>
            </a:r>
            <a:endParaRPr lang="en-US" sz="800" dirty="0">
              <a:latin typeface="Leelawadee UI" panose="020B0502040204020203" pitchFamily="34" charset="-34"/>
              <a:cs typeface="Leelawadee UI" panose="020B0502040204020203" pitchFamily="34" charset="-34"/>
            </a:endParaRPr>
          </a:p>
        </p:txBody>
      </p:sp>
      <p:sp>
        <p:nvSpPr>
          <p:cNvPr id="42" name="Shape 14">
            <a:extLst>
              <a:ext uri="{FF2B5EF4-FFF2-40B4-BE49-F238E27FC236}">
                <a16:creationId xmlns:a16="http://schemas.microsoft.com/office/drawing/2014/main" id="{20196C95-81C6-F23F-E7BC-3FD7BA09FBD8}"/>
              </a:ext>
            </a:extLst>
          </p:cNvPr>
          <p:cNvSpPr/>
          <p:nvPr/>
        </p:nvSpPr>
        <p:spPr>
          <a:xfrm>
            <a:off x="6872278" y="10110743"/>
            <a:ext cx="1207739" cy="157385"/>
          </a:xfrm>
          <a:prstGeom prst="roundRect">
            <a:avLst>
              <a:gd name="adj" fmla="val 6756"/>
            </a:avLst>
          </a:prstGeom>
          <a:noFill/>
          <a:ln w="4763">
            <a:solidFill>
              <a:srgbClr val="28282F"/>
            </a:solidFill>
            <a:prstDash val="solid"/>
          </a:ln>
        </p:spPr>
      </p:sp>
      <p:sp>
        <p:nvSpPr>
          <p:cNvPr id="43" name="Text 15">
            <a:extLst>
              <a:ext uri="{FF2B5EF4-FFF2-40B4-BE49-F238E27FC236}">
                <a16:creationId xmlns:a16="http://schemas.microsoft.com/office/drawing/2014/main" id="{CC435930-7B10-FB44-BC23-313ADD6BF461}"/>
              </a:ext>
            </a:extLst>
          </p:cNvPr>
          <p:cNvSpPr/>
          <p:nvPr/>
        </p:nvSpPr>
        <p:spPr>
          <a:xfrm>
            <a:off x="6925857" y="10139913"/>
            <a:ext cx="1207740" cy="86246"/>
          </a:xfrm>
          <a:prstGeom prst="rect">
            <a:avLst/>
          </a:prstGeom>
          <a:noFill/>
          <a:ln/>
        </p:spPr>
        <p:txBody>
          <a:bodyPr wrap="none" lIns="0" tIns="0" rIns="0" bIns="0" rtlCol="0" anchor="t"/>
          <a:lstStyle/>
          <a:p>
            <a:pPr marL="0" indent="0" algn="l">
              <a:lnSpc>
                <a:spcPct val="110000"/>
              </a:lnSpc>
              <a:buNone/>
            </a:pPr>
            <a:r>
              <a:rPr lang="en-US" sz="800" dirty="0">
                <a:solidFill>
                  <a:srgbClr val="28282F"/>
                </a:solidFill>
                <a:latin typeface="Leelawadee UI" panose="020B0502040204020203" pitchFamily="34" charset="-34"/>
                <a:ea typeface="Inter" pitchFamily="34" charset="-122"/>
                <a:cs typeface="Leelawadee UI" panose="020B0502040204020203" pitchFamily="34" charset="-34"/>
              </a:rPr>
              <a:t>SURVEI &amp; ASSESSMENT</a:t>
            </a:r>
            <a:endParaRPr lang="en-US" sz="800" dirty="0">
              <a:latin typeface="Leelawadee UI" panose="020B0502040204020203" pitchFamily="34" charset="-34"/>
              <a:cs typeface="Leelawadee UI" panose="020B0502040204020203" pitchFamily="34" charset="-34"/>
            </a:endParaRPr>
          </a:p>
        </p:txBody>
      </p:sp>
      <p:sp>
        <p:nvSpPr>
          <p:cNvPr id="44" name="Shape 16">
            <a:extLst>
              <a:ext uri="{FF2B5EF4-FFF2-40B4-BE49-F238E27FC236}">
                <a16:creationId xmlns:a16="http://schemas.microsoft.com/office/drawing/2014/main" id="{478C4F90-0CAF-1429-B925-3611D04051D2}"/>
              </a:ext>
            </a:extLst>
          </p:cNvPr>
          <p:cNvSpPr/>
          <p:nvPr/>
        </p:nvSpPr>
        <p:spPr>
          <a:xfrm>
            <a:off x="1446711" y="10366866"/>
            <a:ext cx="1094464" cy="157386"/>
          </a:xfrm>
          <a:prstGeom prst="roundRect">
            <a:avLst>
              <a:gd name="adj" fmla="val 6756"/>
            </a:avLst>
          </a:prstGeom>
          <a:noFill/>
          <a:ln w="4763">
            <a:solidFill>
              <a:srgbClr val="28282F"/>
            </a:solidFill>
            <a:prstDash val="solid"/>
          </a:ln>
        </p:spPr>
      </p:sp>
      <p:sp>
        <p:nvSpPr>
          <p:cNvPr id="45" name="Text 17">
            <a:extLst>
              <a:ext uri="{FF2B5EF4-FFF2-40B4-BE49-F238E27FC236}">
                <a16:creationId xmlns:a16="http://schemas.microsoft.com/office/drawing/2014/main" id="{C9B3D083-9DE4-84EC-EF4C-DE0739A16126}"/>
              </a:ext>
            </a:extLst>
          </p:cNvPr>
          <p:cNvSpPr/>
          <p:nvPr/>
        </p:nvSpPr>
        <p:spPr>
          <a:xfrm>
            <a:off x="1500289" y="10396036"/>
            <a:ext cx="1105123" cy="86246"/>
          </a:xfrm>
          <a:prstGeom prst="rect">
            <a:avLst/>
          </a:prstGeom>
          <a:noFill/>
          <a:ln/>
        </p:spPr>
        <p:txBody>
          <a:bodyPr wrap="none" lIns="0" tIns="0" rIns="0" bIns="0" rtlCol="0" anchor="t"/>
          <a:lstStyle/>
          <a:p>
            <a:pPr marL="0" indent="0" algn="l">
              <a:lnSpc>
                <a:spcPct val="110000"/>
              </a:lnSpc>
              <a:buNone/>
            </a:pPr>
            <a:r>
              <a:rPr lang="en-US" sz="800" dirty="0">
                <a:solidFill>
                  <a:srgbClr val="28282F"/>
                </a:solidFill>
                <a:latin typeface="Leelawadee UI" panose="020B0502040204020203" pitchFamily="34" charset="-34"/>
                <a:ea typeface="Inter" pitchFamily="34" charset="-122"/>
                <a:cs typeface="Leelawadee UI" panose="020B0502040204020203" pitchFamily="34" charset="-34"/>
              </a:rPr>
              <a:t>LAPORAN TAHUNAN</a:t>
            </a:r>
            <a:endParaRPr lang="en-US" sz="800" dirty="0">
              <a:latin typeface="Leelawadee UI" panose="020B0502040204020203" pitchFamily="34" charset="-34"/>
              <a:cs typeface="Leelawadee UI" panose="020B0502040204020203" pitchFamily="34" charset="-34"/>
            </a:endParaRPr>
          </a:p>
        </p:txBody>
      </p:sp>
      <p:pic>
        <p:nvPicPr>
          <p:cNvPr id="46" name="Image 0" descr="preencoded.png">
            <a:extLst>
              <a:ext uri="{FF2B5EF4-FFF2-40B4-BE49-F238E27FC236}">
                <a16:creationId xmlns:a16="http://schemas.microsoft.com/office/drawing/2014/main" id="{9FA644BF-803C-3BAF-9B62-05E4A0410493}"/>
              </a:ext>
            </a:extLst>
          </p:cNvPr>
          <p:cNvPicPr>
            <a:picLocks noChangeAspect="1"/>
          </p:cNvPicPr>
          <p:nvPr/>
        </p:nvPicPr>
        <p:blipFill>
          <a:blip r:embed="rId7"/>
          <a:stretch>
            <a:fillRect/>
          </a:stretch>
        </p:blipFill>
        <p:spPr>
          <a:xfrm>
            <a:off x="1088250" y="10706927"/>
            <a:ext cx="7023361" cy="3919977"/>
          </a:xfrm>
          <a:prstGeom prst="rect">
            <a:avLst/>
          </a:prstGeom>
        </p:spPr>
      </p:pic>
      <p:pic>
        <p:nvPicPr>
          <p:cNvPr id="47" name="Image 0" descr="preencoded.png">
            <a:extLst>
              <a:ext uri="{FF2B5EF4-FFF2-40B4-BE49-F238E27FC236}">
                <a16:creationId xmlns:a16="http://schemas.microsoft.com/office/drawing/2014/main" id="{032AD148-8377-C2E8-8D85-4713EC7C7679}"/>
              </a:ext>
            </a:extLst>
          </p:cNvPr>
          <p:cNvPicPr>
            <a:picLocks noChangeAspect="1"/>
          </p:cNvPicPr>
          <p:nvPr/>
        </p:nvPicPr>
        <p:blipFill>
          <a:blip r:embed="rId8"/>
          <a:stretch>
            <a:fillRect/>
          </a:stretch>
        </p:blipFill>
        <p:spPr>
          <a:xfrm>
            <a:off x="655463" y="15907434"/>
            <a:ext cx="760735" cy="470148"/>
          </a:xfrm>
          <a:prstGeom prst="rect">
            <a:avLst/>
          </a:prstGeom>
        </p:spPr>
      </p:pic>
      <p:sp>
        <p:nvSpPr>
          <p:cNvPr id="48" name="Text 1">
            <a:extLst>
              <a:ext uri="{FF2B5EF4-FFF2-40B4-BE49-F238E27FC236}">
                <a16:creationId xmlns:a16="http://schemas.microsoft.com/office/drawing/2014/main" id="{8541FE2A-D854-DB68-5BA9-B25D27F539D2}"/>
              </a:ext>
            </a:extLst>
          </p:cNvPr>
          <p:cNvSpPr/>
          <p:nvPr/>
        </p:nvSpPr>
        <p:spPr>
          <a:xfrm>
            <a:off x="1556989" y="15907434"/>
            <a:ext cx="1721867" cy="923479"/>
          </a:xfrm>
          <a:prstGeom prst="rect">
            <a:avLst/>
          </a:prstGeom>
          <a:noFill/>
          <a:ln/>
        </p:spPr>
        <p:txBody>
          <a:bodyPr wrap="square" lIns="0" tIns="0" rIns="0" bIns="0" rtlCol="0" anchor="t">
            <a:normAutofit/>
          </a:bodyPr>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Analisis Spasial Kebakaran Hutan dan Lahan di Lanskap Gambut Pesisir Delta Kapuas (2015–2019)</a:t>
            </a:r>
            <a:endParaRPr lang="en-US" sz="1100" dirty="0">
              <a:latin typeface="Leelawadee UI" panose="020B0502040204020203" pitchFamily="34" charset="-34"/>
              <a:cs typeface="Leelawadee UI" panose="020B0502040204020203" pitchFamily="34" charset="-34"/>
            </a:endParaRPr>
          </a:p>
        </p:txBody>
      </p:sp>
      <p:sp>
        <p:nvSpPr>
          <p:cNvPr id="49" name="Shape 2">
            <a:extLst>
              <a:ext uri="{FF2B5EF4-FFF2-40B4-BE49-F238E27FC236}">
                <a16:creationId xmlns:a16="http://schemas.microsoft.com/office/drawing/2014/main" id="{AAF4F218-0AB7-540B-EE25-0BD543104E51}"/>
              </a:ext>
            </a:extLst>
          </p:cNvPr>
          <p:cNvSpPr/>
          <p:nvPr/>
        </p:nvSpPr>
        <p:spPr>
          <a:xfrm>
            <a:off x="1559085" y="16771381"/>
            <a:ext cx="1250826" cy="218554"/>
          </a:xfrm>
          <a:prstGeom prst="roundRect">
            <a:avLst>
              <a:gd name="adj" fmla="val 6492"/>
            </a:avLst>
          </a:prstGeom>
          <a:solidFill>
            <a:srgbClr val="E3E3E8"/>
          </a:solidFill>
          <a:ln/>
        </p:spPr>
      </p:sp>
      <p:sp>
        <p:nvSpPr>
          <p:cNvPr id="50" name="Text 3">
            <a:extLst>
              <a:ext uri="{FF2B5EF4-FFF2-40B4-BE49-F238E27FC236}">
                <a16:creationId xmlns:a16="http://schemas.microsoft.com/office/drawing/2014/main" id="{9053AA4B-BD79-A778-C7B9-464C5EE21C7C}"/>
              </a:ext>
            </a:extLst>
          </p:cNvPr>
          <p:cNvSpPr/>
          <p:nvPr/>
        </p:nvSpPr>
        <p:spPr>
          <a:xfrm>
            <a:off x="1630002" y="16806802"/>
            <a:ext cx="1108993" cy="147712"/>
          </a:xfrm>
          <a:prstGeom prst="rect">
            <a:avLst/>
          </a:prstGeom>
          <a:noFill/>
          <a:ln/>
        </p:spPr>
        <p:txBody>
          <a:bodyPr wrap="none" lIns="0" tIns="0" rIns="0" bIns="0" rtlCol="0" anchor="t"/>
          <a:lstStyle/>
          <a:p>
            <a:pPr marL="0" indent="0" algn="l">
              <a:lnSpc>
                <a:spcPct val="130000"/>
              </a:lnSpc>
              <a:buNone/>
            </a:pPr>
            <a:r>
              <a:rPr lang="en-US" sz="700" dirty="0">
                <a:solidFill>
                  <a:srgbClr val="161613"/>
                </a:solidFill>
                <a:latin typeface="Leelawadee UI" panose="020B0502040204020203" pitchFamily="34" charset="-34"/>
                <a:ea typeface="Inter" pitchFamily="34" charset="-122"/>
                <a:cs typeface="Leelawadee UI" panose="020B0502040204020203" pitchFamily="34" charset="-34"/>
              </a:rPr>
              <a:t>ANALISIS SPASIAL &amp; GIS</a:t>
            </a:r>
            <a:endParaRPr lang="en-US" sz="700" dirty="0">
              <a:latin typeface="Leelawadee UI" panose="020B0502040204020203" pitchFamily="34" charset="-34"/>
              <a:cs typeface="Leelawadee UI" panose="020B0502040204020203" pitchFamily="34" charset="-34"/>
            </a:endParaRPr>
          </a:p>
        </p:txBody>
      </p:sp>
      <p:sp>
        <p:nvSpPr>
          <p:cNvPr id="51" name="Shape 4">
            <a:extLst>
              <a:ext uri="{FF2B5EF4-FFF2-40B4-BE49-F238E27FC236}">
                <a16:creationId xmlns:a16="http://schemas.microsoft.com/office/drawing/2014/main" id="{8BAA2962-B36D-8C75-7ED4-DC93E4AEA3B6}"/>
              </a:ext>
            </a:extLst>
          </p:cNvPr>
          <p:cNvSpPr/>
          <p:nvPr/>
        </p:nvSpPr>
        <p:spPr>
          <a:xfrm>
            <a:off x="2868996" y="16766618"/>
            <a:ext cx="386060" cy="228079"/>
          </a:xfrm>
          <a:prstGeom prst="roundRect">
            <a:avLst>
              <a:gd name="adj" fmla="val 6221"/>
            </a:avLst>
          </a:prstGeom>
          <a:noFill/>
          <a:ln w="4763">
            <a:solidFill>
              <a:srgbClr val="28282F"/>
            </a:solidFill>
            <a:prstDash val="solid"/>
          </a:ln>
        </p:spPr>
      </p:sp>
      <p:sp>
        <p:nvSpPr>
          <p:cNvPr id="52" name="Text 5">
            <a:extLst>
              <a:ext uri="{FF2B5EF4-FFF2-40B4-BE49-F238E27FC236}">
                <a16:creationId xmlns:a16="http://schemas.microsoft.com/office/drawing/2014/main" id="{A328949D-59CF-9A19-FFB5-E52D0DB193FB}"/>
              </a:ext>
            </a:extLst>
          </p:cNvPr>
          <p:cNvSpPr/>
          <p:nvPr/>
        </p:nvSpPr>
        <p:spPr>
          <a:xfrm>
            <a:off x="2944675" y="16806802"/>
            <a:ext cx="234702" cy="147712"/>
          </a:xfrm>
          <a:prstGeom prst="rect">
            <a:avLst/>
          </a:prstGeom>
          <a:noFill/>
          <a:ln/>
        </p:spPr>
        <p:txBody>
          <a:bodyPr wrap="none" lIns="0" tIns="0" rIns="0" bIns="0" rtlCol="0" anchor="t"/>
          <a:lstStyle/>
          <a:p>
            <a:pPr marL="0" indent="0" algn="l">
              <a:lnSpc>
                <a:spcPct val="130000"/>
              </a:lnSpc>
              <a:buNone/>
            </a:pPr>
            <a:r>
              <a:rPr lang="en-US" sz="700" dirty="0">
                <a:solidFill>
                  <a:srgbClr val="28282F"/>
                </a:solidFill>
                <a:latin typeface="Leelawadee UI" panose="020B0502040204020203" pitchFamily="34" charset="-34"/>
                <a:ea typeface="Inter" pitchFamily="34" charset="-122"/>
                <a:cs typeface="Leelawadee UI" panose="020B0502040204020203" pitchFamily="34" charset="-34"/>
              </a:rPr>
              <a:t>2020</a:t>
            </a:r>
            <a:endParaRPr lang="en-US" sz="700" dirty="0">
              <a:latin typeface="Leelawadee UI" panose="020B0502040204020203" pitchFamily="34" charset="-34"/>
              <a:cs typeface="Leelawadee UI" panose="020B0502040204020203" pitchFamily="34" charset="-34"/>
            </a:endParaRPr>
          </a:p>
        </p:txBody>
      </p:sp>
      <p:pic>
        <p:nvPicPr>
          <p:cNvPr id="53" name="Image 1" descr="preencoded.png">
            <a:hlinkClick r:id="" action="ppaction://noaction"/>
            <a:extLst>
              <a:ext uri="{FF2B5EF4-FFF2-40B4-BE49-F238E27FC236}">
                <a16:creationId xmlns:a16="http://schemas.microsoft.com/office/drawing/2014/main" id="{0D4BFC01-9808-4C25-DC20-CEA167C50A70}"/>
              </a:ext>
            </a:extLst>
          </p:cNvPr>
          <p:cNvPicPr>
            <a:picLocks noChangeAspect="1"/>
          </p:cNvPicPr>
          <p:nvPr/>
        </p:nvPicPr>
        <p:blipFill>
          <a:blip r:embed="rId9"/>
          <a:stretch>
            <a:fillRect/>
          </a:stretch>
        </p:blipFill>
        <p:spPr>
          <a:xfrm>
            <a:off x="2094500" y="18945561"/>
            <a:ext cx="644495" cy="239500"/>
          </a:xfrm>
          <a:prstGeom prst="rect">
            <a:avLst/>
          </a:prstGeom>
        </p:spPr>
      </p:pic>
      <p:pic>
        <p:nvPicPr>
          <p:cNvPr id="54" name="Image 2" descr="preencoded.png">
            <a:extLst>
              <a:ext uri="{FF2B5EF4-FFF2-40B4-BE49-F238E27FC236}">
                <a16:creationId xmlns:a16="http://schemas.microsoft.com/office/drawing/2014/main" id="{DFE9C343-EBB4-1009-92F7-8E1139AC089F}"/>
              </a:ext>
            </a:extLst>
          </p:cNvPr>
          <p:cNvPicPr>
            <a:picLocks noChangeAspect="1"/>
          </p:cNvPicPr>
          <p:nvPr/>
        </p:nvPicPr>
        <p:blipFill>
          <a:blip r:embed="rId10"/>
          <a:stretch>
            <a:fillRect/>
          </a:stretch>
        </p:blipFill>
        <p:spPr>
          <a:xfrm>
            <a:off x="3419647" y="15907434"/>
            <a:ext cx="760735" cy="470148"/>
          </a:xfrm>
          <a:prstGeom prst="rect">
            <a:avLst/>
          </a:prstGeom>
        </p:spPr>
      </p:pic>
      <p:sp>
        <p:nvSpPr>
          <p:cNvPr id="55" name="Text 7">
            <a:extLst>
              <a:ext uri="{FF2B5EF4-FFF2-40B4-BE49-F238E27FC236}">
                <a16:creationId xmlns:a16="http://schemas.microsoft.com/office/drawing/2014/main" id="{A4BCDB8C-694C-02E6-CEB5-B5F5E9895868}"/>
              </a:ext>
            </a:extLst>
          </p:cNvPr>
          <p:cNvSpPr/>
          <p:nvPr/>
        </p:nvSpPr>
        <p:spPr>
          <a:xfrm>
            <a:off x="4321174" y="15907434"/>
            <a:ext cx="1721867" cy="738783"/>
          </a:xfrm>
          <a:prstGeom prst="rect">
            <a:avLst/>
          </a:prstGeom>
          <a:noFill/>
          <a:ln/>
        </p:spPr>
        <p:txBody>
          <a:bodyPr wrap="square" lIns="0" tIns="0" rIns="0" bIns="0" rtlCol="0" anchor="t">
            <a:normAutofit/>
          </a:bodyPr>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Survei Kesadartahuan Restorasi Gambut: Mendengarkan Suara Masyarakat Gambut</a:t>
            </a:r>
            <a:endParaRPr lang="en-US" sz="1100" dirty="0">
              <a:latin typeface="Leelawadee UI" panose="020B0502040204020203" pitchFamily="34" charset="-34"/>
              <a:cs typeface="Leelawadee UI" panose="020B0502040204020203" pitchFamily="34" charset="-34"/>
            </a:endParaRPr>
          </a:p>
        </p:txBody>
      </p:sp>
      <p:sp>
        <p:nvSpPr>
          <p:cNvPr id="56" name="Shape 8">
            <a:extLst>
              <a:ext uri="{FF2B5EF4-FFF2-40B4-BE49-F238E27FC236}">
                <a16:creationId xmlns:a16="http://schemas.microsoft.com/office/drawing/2014/main" id="{CE0A9D0E-66A0-74B9-59E7-B3A0F5B685A8}"/>
              </a:ext>
            </a:extLst>
          </p:cNvPr>
          <p:cNvSpPr/>
          <p:nvPr/>
        </p:nvSpPr>
        <p:spPr>
          <a:xfrm>
            <a:off x="4321174" y="16777706"/>
            <a:ext cx="1233264" cy="218554"/>
          </a:xfrm>
          <a:prstGeom prst="roundRect">
            <a:avLst>
              <a:gd name="adj" fmla="val 6492"/>
            </a:avLst>
          </a:prstGeom>
          <a:solidFill>
            <a:srgbClr val="E3E3E8"/>
          </a:solidFill>
          <a:ln/>
        </p:spPr>
      </p:sp>
      <p:sp>
        <p:nvSpPr>
          <p:cNvPr id="57" name="Text 9">
            <a:extLst>
              <a:ext uri="{FF2B5EF4-FFF2-40B4-BE49-F238E27FC236}">
                <a16:creationId xmlns:a16="http://schemas.microsoft.com/office/drawing/2014/main" id="{427A83BB-D321-B0EA-74DA-20F81BA57AE1}"/>
              </a:ext>
            </a:extLst>
          </p:cNvPr>
          <p:cNvSpPr/>
          <p:nvPr/>
        </p:nvSpPr>
        <p:spPr>
          <a:xfrm>
            <a:off x="4392090" y="16813127"/>
            <a:ext cx="1091431" cy="147712"/>
          </a:xfrm>
          <a:prstGeom prst="rect">
            <a:avLst/>
          </a:prstGeom>
          <a:noFill/>
          <a:ln/>
        </p:spPr>
        <p:txBody>
          <a:bodyPr wrap="none" lIns="0" tIns="0" rIns="0" bIns="0" rtlCol="0" anchor="t"/>
          <a:lstStyle/>
          <a:p>
            <a:pPr marL="0" indent="0" algn="l">
              <a:lnSpc>
                <a:spcPct val="130000"/>
              </a:lnSpc>
              <a:buNone/>
            </a:pPr>
            <a:r>
              <a:rPr lang="en-US" sz="700" dirty="0">
                <a:solidFill>
                  <a:srgbClr val="161613"/>
                </a:solidFill>
                <a:latin typeface="Leelawadee UI" panose="020B0502040204020203" pitchFamily="34" charset="-34"/>
                <a:ea typeface="Inter" pitchFamily="34" charset="-122"/>
                <a:cs typeface="Leelawadee UI" panose="020B0502040204020203" pitchFamily="34" charset="-34"/>
              </a:rPr>
              <a:t>SURVEI &amp; ASSESSMENT</a:t>
            </a:r>
            <a:endParaRPr lang="en-US" sz="700" dirty="0">
              <a:latin typeface="Leelawadee UI" panose="020B0502040204020203" pitchFamily="34" charset="-34"/>
              <a:cs typeface="Leelawadee UI" panose="020B0502040204020203" pitchFamily="34" charset="-34"/>
            </a:endParaRPr>
          </a:p>
        </p:txBody>
      </p:sp>
      <p:sp>
        <p:nvSpPr>
          <p:cNvPr id="58" name="Shape 10">
            <a:extLst>
              <a:ext uri="{FF2B5EF4-FFF2-40B4-BE49-F238E27FC236}">
                <a16:creationId xmlns:a16="http://schemas.microsoft.com/office/drawing/2014/main" id="{AED871D3-EB54-E5B9-E348-0084B9E21D18}"/>
              </a:ext>
            </a:extLst>
          </p:cNvPr>
          <p:cNvSpPr/>
          <p:nvPr/>
        </p:nvSpPr>
        <p:spPr>
          <a:xfrm>
            <a:off x="5613523" y="16772944"/>
            <a:ext cx="386060" cy="228079"/>
          </a:xfrm>
          <a:prstGeom prst="roundRect">
            <a:avLst>
              <a:gd name="adj" fmla="val 6221"/>
            </a:avLst>
          </a:prstGeom>
          <a:noFill/>
          <a:ln w="4763">
            <a:solidFill>
              <a:srgbClr val="28282F"/>
            </a:solidFill>
            <a:prstDash val="solid"/>
          </a:ln>
        </p:spPr>
      </p:sp>
      <p:sp>
        <p:nvSpPr>
          <p:cNvPr id="59" name="Text 11">
            <a:extLst>
              <a:ext uri="{FF2B5EF4-FFF2-40B4-BE49-F238E27FC236}">
                <a16:creationId xmlns:a16="http://schemas.microsoft.com/office/drawing/2014/main" id="{ED9ED3E0-64DD-92D4-6417-598CA01A0271}"/>
              </a:ext>
            </a:extLst>
          </p:cNvPr>
          <p:cNvSpPr/>
          <p:nvPr/>
        </p:nvSpPr>
        <p:spPr>
          <a:xfrm>
            <a:off x="5689202" y="16813127"/>
            <a:ext cx="234702" cy="147712"/>
          </a:xfrm>
          <a:prstGeom prst="rect">
            <a:avLst/>
          </a:prstGeom>
          <a:noFill/>
          <a:ln/>
        </p:spPr>
        <p:txBody>
          <a:bodyPr wrap="none" lIns="0" tIns="0" rIns="0" bIns="0" rtlCol="0" anchor="t"/>
          <a:lstStyle/>
          <a:p>
            <a:pPr marL="0" indent="0" algn="l">
              <a:lnSpc>
                <a:spcPct val="130000"/>
              </a:lnSpc>
              <a:buNone/>
            </a:pPr>
            <a:r>
              <a:rPr lang="en-US" sz="700" dirty="0">
                <a:solidFill>
                  <a:srgbClr val="28282F"/>
                </a:solidFill>
                <a:latin typeface="Leelawadee UI" panose="020B0502040204020203" pitchFamily="34" charset="-34"/>
                <a:ea typeface="Inter" pitchFamily="34" charset="-122"/>
                <a:cs typeface="Leelawadee UI" panose="020B0502040204020203" pitchFamily="34" charset="-34"/>
              </a:rPr>
              <a:t>2024</a:t>
            </a:r>
            <a:endParaRPr lang="en-US" sz="700" dirty="0">
              <a:latin typeface="Leelawadee UI" panose="020B0502040204020203" pitchFamily="34" charset="-34"/>
              <a:cs typeface="Leelawadee UI" panose="020B0502040204020203" pitchFamily="34" charset="-34"/>
            </a:endParaRPr>
          </a:p>
        </p:txBody>
      </p:sp>
      <p:sp>
        <p:nvSpPr>
          <p:cNvPr id="60" name="Text 12">
            <a:extLst>
              <a:ext uri="{FF2B5EF4-FFF2-40B4-BE49-F238E27FC236}">
                <a16:creationId xmlns:a16="http://schemas.microsoft.com/office/drawing/2014/main" id="{4E458C8C-2465-E44F-D568-D70282722297}"/>
              </a:ext>
            </a:extLst>
          </p:cNvPr>
          <p:cNvSpPr/>
          <p:nvPr/>
        </p:nvSpPr>
        <p:spPr>
          <a:xfrm>
            <a:off x="3349774" y="17127750"/>
            <a:ext cx="2263749" cy="1846957"/>
          </a:xfrm>
          <a:prstGeom prst="rect">
            <a:avLst/>
          </a:prstGeom>
          <a:noFill/>
          <a:ln/>
        </p:spPr>
        <p:txBody>
          <a:bodyPr wrap="square" lIns="0" tIns="0" rIns="0" bIns="0" rtlCol="0" anchor="t">
            <a:normAutofit/>
          </a:bodyPr>
          <a:lstStyle/>
          <a:p>
            <a:pPr marL="0" indent="0" algn="l">
              <a:lnSpc>
                <a:spcPct val="130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Survei langsung di dua desa gambut di Kabupaten Kubu Raya, Kalimantan Barat — Desa Limbung dan Permata Jaya — sebagai bagian dari program restorasi gambut berbasis FPIC. Mengangkat perspektif dan aspirasi masyarakat lokal dalam perencanaan restorasi.</a:t>
            </a:r>
            <a:endParaRPr lang="en-US" sz="1000" dirty="0">
              <a:latin typeface="Leelawadee UI" panose="020B0502040204020203" pitchFamily="34" charset="-34"/>
              <a:cs typeface="Leelawadee UI" panose="020B0502040204020203" pitchFamily="34" charset="-34"/>
            </a:endParaRPr>
          </a:p>
        </p:txBody>
      </p:sp>
      <p:pic>
        <p:nvPicPr>
          <p:cNvPr id="61" name="Image 3" descr="preencoded.png">
            <a:hlinkClick r:id="" action="ppaction://noaction"/>
            <a:extLst>
              <a:ext uri="{FF2B5EF4-FFF2-40B4-BE49-F238E27FC236}">
                <a16:creationId xmlns:a16="http://schemas.microsoft.com/office/drawing/2014/main" id="{A5127931-4A1F-36E7-5231-AB209A559377}"/>
              </a:ext>
            </a:extLst>
          </p:cNvPr>
          <p:cNvPicPr>
            <a:picLocks noChangeAspect="1"/>
          </p:cNvPicPr>
          <p:nvPr/>
        </p:nvPicPr>
        <p:blipFill>
          <a:blip r:embed="rId9"/>
          <a:stretch>
            <a:fillRect/>
          </a:stretch>
        </p:blipFill>
        <p:spPr>
          <a:xfrm>
            <a:off x="4892390" y="18952276"/>
            <a:ext cx="644496" cy="239500"/>
          </a:xfrm>
          <a:prstGeom prst="rect">
            <a:avLst/>
          </a:prstGeom>
        </p:spPr>
      </p:pic>
      <p:pic>
        <p:nvPicPr>
          <p:cNvPr id="62" name="Image 4" descr="preencoded.png">
            <a:extLst>
              <a:ext uri="{FF2B5EF4-FFF2-40B4-BE49-F238E27FC236}">
                <a16:creationId xmlns:a16="http://schemas.microsoft.com/office/drawing/2014/main" id="{73E4B545-DEA1-C871-22B3-DDC4175B16BF}"/>
              </a:ext>
            </a:extLst>
          </p:cNvPr>
          <p:cNvPicPr>
            <a:picLocks noChangeAspect="1"/>
          </p:cNvPicPr>
          <p:nvPr/>
        </p:nvPicPr>
        <p:blipFill>
          <a:blip r:embed="rId11"/>
          <a:stretch>
            <a:fillRect/>
          </a:stretch>
        </p:blipFill>
        <p:spPr>
          <a:xfrm>
            <a:off x="6183832" y="15907434"/>
            <a:ext cx="760735" cy="470148"/>
          </a:xfrm>
          <a:prstGeom prst="rect">
            <a:avLst/>
          </a:prstGeom>
        </p:spPr>
      </p:pic>
      <p:sp>
        <p:nvSpPr>
          <p:cNvPr id="63" name="Text 13">
            <a:extLst>
              <a:ext uri="{FF2B5EF4-FFF2-40B4-BE49-F238E27FC236}">
                <a16:creationId xmlns:a16="http://schemas.microsoft.com/office/drawing/2014/main" id="{91365971-C612-026D-77EC-75B7C6736D9B}"/>
              </a:ext>
            </a:extLst>
          </p:cNvPr>
          <p:cNvSpPr/>
          <p:nvPr/>
        </p:nvSpPr>
        <p:spPr>
          <a:xfrm>
            <a:off x="7085358" y="15907434"/>
            <a:ext cx="1446449" cy="554087"/>
          </a:xfrm>
          <a:prstGeom prst="rect">
            <a:avLst/>
          </a:prstGeom>
          <a:noFill/>
          <a:ln/>
        </p:spPr>
        <p:txBody>
          <a:bodyPr wrap="square" lIns="0" tIns="0" rIns="0" bIns="0" rtlCol="0" anchor="t">
            <a:normAutofit/>
          </a:bodyPr>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Laporan Program Restorasi Gambut YNKI – PM Haze</a:t>
            </a:r>
            <a:endParaRPr lang="en-US" sz="1100" dirty="0">
              <a:latin typeface="Leelawadee UI" panose="020B0502040204020203" pitchFamily="34" charset="-34"/>
              <a:cs typeface="Leelawadee UI" panose="020B0502040204020203" pitchFamily="34" charset="-34"/>
            </a:endParaRPr>
          </a:p>
        </p:txBody>
      </p:sp>
      <p:sp>
        <p:nvSpPr>
          <p:cNvPr id="64" name="Shape 14">
            <a:extLst>
              <a:ext uri="{FF2B5EF4-FFF2-40B4-BE49-F238E27FC236}">
                <a16:creationId xmlns:a16="http://schemas.microsoft.com/office/drawing/2014/main" id="{184C422C-1116-CD16-7C7E-EF1B4D6CB452}"/>
              </a:ext>
            </a:extLst>
          </p:cNvPr>
          <p:cNvSpPr/>
          <p:nvPr/>
        </p:nvSpPr>
        <p:spPr>
          <a:xfrm>
            <a:off x="7085358" y="16588248"/>
            <a:ext cx="1092994" cy="218554"/>
          </a:xfrm>
          <a:prstGeom prst="roundRect">
            <a:avLst>
              <a:gd name="adj" fmla="val 6492"/>
            </a:avLst>
          </a:prstGeom>
          <a:solidFill>
            <a:srgbClr val="E3E3E8"/>
          </a:solidFill>
          <a:ln/>
        </p:spPr>
      </p:sp>
      <p:sp>
        <p:nvSpPr>
          <p:cNvPr id="65" name="Text 15">
            <a:extLst>
              <a:ext uri="{FF2B5EF4-FFF2-40B4-BE49-F238E27FC236}">
                <a16:creationId xmlns:a16="http://schemas.microsoft.com/office/drawing/2014/main" id="{F731ABA6-95F6-A9DD-F835-A208A0295EB2}"/>
              </a:ext>
            </a:extLst>
          </p:cNvPr>
          <p:cNvSpPr/>
          <p:nvPr/>
        </p:nvSpPr>
        <p:spPr>
          <a:xfrm>
            <a:off x="7156275" y="16623669"/>
            <a:ext cx="951161" cy="147712"/>
          </a:xfrm>
          <a:prstGeom prst="rect">
            <a:avLst/>
          </a:prstGeom>
          <a:noFill/>
          <a:ln/>
        </p:spPr>
        <p:txBody>
          <a:bodyPr wrap="none" lIns="0" tIns="0" rIns="0" bIns="0" rtlCol="0" anchor="t"/>
          <a:lstStyle/>
          <a:p>
            <a:pPr marL="0" indent="0" algn="l">
              <a:lnSpc>
                <a:spcPct val="130000"/>
              </a:lnSpc>
              <a:buNone/>
            </a:pPr>
            <a:r>
              <a:rPr lang="en-US" sz="700" dirty="0">
                <a:solidFill>
                  <a:srgbClr val="161613"/>
                </a:solidFill>
                <a:latin typeface="Leelawadee UI" panose="020B0502040204020203" pitchFamily="34" charset="-34"/>
                <a:ea typeface="Inter" pitchFamily="34" charset="-122"/>
                <a:cs typeface="Leelawadee UI" panose="020B0502040204020203" pitchFamily="34" charset="-34"/>
              </a:rPr>
              <a:t>LAPORAN PROGRAM</a:t>
            </a:r>
            <a:endParaRPr lang="en-US" sz="700" dirty="0">
              <a:latin typeface="Leelawadee UI" panose="020B0502040204020203" pitchFamily="34" charset="-34"/>
              <a:cs typeface="Leelawadee UI" panose="020B0502040204020203" pitchFamily="34" charset="-34"/>
            </a:endParaRPr>
          </a:p>
        </p:txBody>
      </p:sp>
      <p:sp>
        <p:nvSpPr>
          <p:cNvPr id="66" name="Shape 16">
            <a:extLst>
              <a:ext uri="{FF2B5EF4-FFF2-40B4-BE49-F238E27FC236}">
                <a16:creationId xmlns:a16="http://schemas.microsoft.com/office/drawing/2014/main" id="{535EEED6-BBE9-D740-868D-9634D700A0FD}"/>
              </a:ext>
            </a:extLst>
          </p:cNvPr>
          <p:cNvSpPr/>
          <p:nvPr/>
        </p:nvSpPr>
        <p:spPr>
          <a:xfrm>
            <a:off x="7085358" y="16865887"/>
            <a:ext cx="664443" cy="228079"/>
          </a:xfrm>
          <a:prstGeom prst="roundRect">
            <a:avLst>
              <a:gd name="adj" fmla="val 6221"/>
            </a:avLst>
          </a:prstGeom>
          <a:noFill/>
          <a:ln w="4763">
            <a:solidFill>
              <a:srgbClr val="28282F"/>
            </a:solidFill>
            <a:prstDash val="solid"/>
          </a:ln>
        </p:spPr>
      </p:sp>
      <p:sp>
        <p:nvSpPr>
          <p:cNvPr id="67" name="Text 17">
            <a:extLst>
              <a:ext uri="{FF2B5EF4-FFF2-40B4-BE49-F238E27FC236}">
                <a16:creationId xmlns:a16="http://schemas.microsoft.com/office/drawing/2014/main" id="{5A3EF303-2891-B0E7-C300-B5AC87CAA74C}"/>
              </a:ext>
            </a:extLst>
          </p:cNvPr>
          <p:cNvSpPr/>
          <p:nvPr/>
        </p:nvSpPr>
        <p:spPr>
          <a:xfrm>
            <a:off x="7161038" y="16906070"/>
            <a:ext cx="513085" cy="147712"/>
          </a:xfrm>
          <a:prstGeom prst="rect">
            <a:avLst/>
          </a:prstGeom>
          <a:noFill/>
          <a:ln/>
        </p:spPr>
        <p:txBody>
          <a:bodyPr wrap="none" lIns="0" tIns="0" rIns="0" bIns="0" rtlCol="0" anchor="t"/>
          <a:lstStyle/>
          <a:p>
            <a:pPr marL="0" indent="0" algn="l">
              <a:lnSpc>
                <a:spcPct val="130000"/>
              </a:lnSpc>
              <a:buNone/>
            </a:pPr>
            <a:r>
              <a:rPr lang="en-US" sz="700" dirty="0">
                <a:solidFill>
                  <a:srgbClr val="28282F"/>
                </a:solidFill>
                <a:latin typeface="Leelawadee UI" panose="020B0502040204020203" pitchFamily="34" charset="-34"/>
                <a:ea typeface="Inter" pitchFamily="34" charset="-122"/>
                <a:cs typeface="Leelawadee UI" panose="020B0502040204020203" pitchFamily="34" charset="-34"/>
              </a:rPr>
              <a:t>2024–2025</a:t>
            </a:r>
            <a:endParaRPr lang="en-US" sz="700" dirty="0">
              <a:latin typeface="Leelawadee UI" panose="020B0502040204020203" pitchFamily="34" charset="-34"/>
              <a:cs typeface="Leelawadee UI" panose="020B0502040204020203" pitchFamily="34" charset="-34"/>
            </a:endParaRPr>
          </a:p>
        </p:txBody>
      </p:sp>
      <p:sp>
        <p:nvSpPr>
          <p:cNvPr id="68" name="Text 18">
            <a:extLst>
              <a:ext uri="{FF2B5EF4-FFF2-40B4-BE49-F238E27FC236}">
                <a16:creationId xmlns:a16="http://schemas.microsoft.com/office/drawing/2014/main" id="{B0368236-2751-4426-6E65-0D661C79F164}"/>
              </a:ext>
            </a:extLst>
          </p:cNvPr>
          <p:cNvSpPr/>
          <p:nvPr/>
        </p:nvSpPr>
        <p:spPr>
          <a:xfrm>
            <a:off x="6183832" y="17220693"/>
            <a:ext cx="2263749" cy="1477566"/>
          </a:xfrm>
          <a:prstGeom prst="rect">
            <a:avLst/>
          </a:prstGeom>
          <a:noFill/>
          <a:ln/>
        </p:spPr>
        <p:txBody>
          <a:bodyPr wrap="square" lIns="0" tIns="0" rIns="0" bIns="0" rtlCol="0" anchor="t">
            <a:normAutofit/>
          </a:bodyPr>
          <a:lstStyle/>
          <a:p>
            <a:pPr marL="0" indent="0" algn="l">
              <a:lnSpc>
                <a:spcPct val="130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Laporan pelaksanaan program restorasi gambut di Desa Permata Jaya, mencakup pembangunan sekat kanal, pembibitan tanaman gambut endemik, dan pembentukan Kelompok Restorasi Gambut berbasis komunitas.</a:t>
            </a:r>
            <a:endParaRPr lang="en-US" sz="1000" dirty="0">
              <a:latin typeface="Leelawadee UI" panose="020B0502040204020203" pitchFamily="34" charset="-34"/>
              <a:cs typeface="Leelawadee UI" panose="020B0502040204020203" pitchFamily="34" charset="-34"/>
            </a:endParaRPr>
          </a:p>
        </p:txBody>
      </p:sp>
      <p:pic>
        <p:nvPicPr>
          <p:cNvPr id="69" name="Image 5" descr="preencoded.png">
            <a:hlinkClick r:id="" action="ppaction://noaction"/>
            <a:extLst>
              <a:ext uri="{FF2B5EF4-FFF2-40B4-BE49-F238E27FC236}">
                <a16:creationId xmlns:a16="http://schemas.microsoft.com/office/drawing/2014/main" id="{D48FB39B-E5FE-490A-93D0-10F4DCA8D3F9}"/>
              </a:ext>
            </a:extLst>
          </p:cNvPr>
          <p:cNvPicPr>
            <a:picLocks noChangeAspect="1"/>
          </p:cNvPicPr>
          <p:nvPr/>
        </p:nvPicPr>
        <p:blipFill>
          <a:blip r:embed="rId9"/>
          <a:stretch>
            <a:fillRect/>
          </a:stretch>
        </p:blipFill>
        <p:spPr>
          <a:xfrm>
            <a:off x="7795501" y="18945561"/>
            <a:ext cx="588765" cy="218790"/>
          </a:xfrm>
          <a:prstGeom prst="rect">
            <a:avLst/>
          </a:prstGeom>
        </p:spPr>
      </p:pic>
      <p:sp>
        <p:nvSpPr>
          <p:cNvPr id="70" name="Text 0">
            <a:extLst>
              <a:ext uri="{FF2B5EF4-FFF2-40B4-BE49-F238E27FC236}">
                <a16:creationId xmlns:a16="http://schemas.microsoft.com/office/drawing/2014/main" id="{7ADDED41-4FF8-6C4F-4021-0C0AE0105ABE}"/>
              </a:ext>
            </a:extLst>
          </p:cNvPr>
          <p:cNvSpPr/>
          <p:nvPr/>
        </p:nvSpPr>
        <p:spPr>
          <a:xfrm>
            <a:off x="641299" y="14788834"/>
            <a:ext cx="4091508" cy="310083"/>
          </a:xfrm>
          <a:prstGeom prst="rect">
            <a:avLst/>
          </a:prstGeom>
          <a:noFill/>
          <a:ln/>
        </p:spPr>
        <p:txBody>
          <a:bodyPr wrap="none" lIns="0" tIns="0" rIns="0" bIns="0" rtlCol="0" anchor="t"/>
          <a:lstStyle/>
          <a:p>
            <a:pPr marL="0" indent="0" algn="l">
              <a:lnSpc>
                <a:spcPct val="104000"/>
              </a:lnSpc>
              <a:buNone/>
            </a:pPr>
            <a:r>
              <a:rPr lang="en-US" sz="2200" dirty="0">
                <a:solidFill>
                  <a:srgbClr val="161613"/>
                </a:solidFill>
                <a:latin typeface="Leelawadee UI" panose="020B0502040204020203" pitchFamily="34" charset="-34"/>
                <a:ea typeface="DM Sans Medium" pitchFamily="34" charset="-122"/>
                <a:cs typeface="Leelawadee UI" panose="020B0502040204020203" pitchFamily="34" charset="-34"/>
              </a:rPr>
              <a:t>Kumpulan Penelitian &amp; Laporan</a:t>
            </a:r>
            <a:endParaRPr lang="en-US" sz="2200" dirty="0">
              <a:latin typeface="Leelawadee UI" panose="020B0502040204020203" pitchFamily="34" charset="-34"/>
              <a:cs typeface="Leelawadee UI" panose="020B0502040204020203" pitchFamily="34" charset="-34"/>
            </a:endParaRPr>
          </a:p>
        </p:txBody>
      </p:sp>
      <p:sp>
        <p:nvSpPr>
          <p:cNvPr id="71" name="Text 1">
            <a:extLst>
              <a:ext uri="{FF2B5EF4-FFF2-40B4-BE49-F238E27FC236}">
                <a16:creationId xmlns:a16="http://schemas.microsoft.com/office/drawing/2014/main" id="{28714A26-D62B-5004-C100-075E08D6E85B}"/>
              </a:ext>
            </a:extLst>
          </p:cNvPr>
          <p:cNvSpPr/>
          <p:nvPr/>
        </p:nvSpPr>
        <p:spPr>
          <a:xfrm>
            <a:off x="641299" y="15192956"/>
            <a:ext cx="7677689"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Berikut adalah kumpulan penelitian, laporan, dan kajian yang telah dihasilkan oleh YNKI. Setiap publikasi tersedia untuk diunduh dalam format PDF atau diakses secara daring. Produk pengetahuan ini merupakan hasil kerja tim peneliti, staf program, dan mitra akademis YNKI di lapangan.</a:t>
            </a:r>
            <a:endParaRPr lang="en-US" sz="950" dirty="0">
              <a:latin typeface="Leelawadee UI" panose="020B0502040204020203" pitchFamily="34" charset="-34"/>
              <a:cs typeface="Leelawadee UI" panose="020B0502040204020203" pitchFamily="34" charset="-34"/>
            </a:endParaRPr>
          </a:p>
        </p:txBody>
      </p:sp>
      <p:sp>
        <p:nvSpPr>
          <p:cNvPr id="72" name="Text 6">
            <a:extLst>
              <a:ext uri="{FF2B5EF4-FFF2-40B4-BE49-F238E27FC236}">
                <a16:creationId xmlns:a16="http://schemas.microsoft.com/office/drawing/2014/main" id="{E417B6DB-A5A5-0D07-0DE9-0F459A9A99EA}"/>
              </a:ext>
            </a:extLst>
          </p:cNvPr>
          <p:cNvSpPr/>
          <p:nvPr/>
        </p:nvSpPr>
        <p:spPr>
          <a:xfrm>
            <a:off x="639287" y="17226387"/>
            <a:ext cx="2211437" cy="2031653"/>
          </a:xfrm>
          <a:prstGeom prst="rect">
            <a:avLst/>
          </a:prstGeom>
          <a:noFill/>
          <a:ln/>
        </p:spPr>
        <p:txBody>
          <a:bodyPr wrap="square" lIns="0" tIns="0" rIns="0" bIns="0" rtlCol="0" anchor="t">
            <a:normAutofit/>
          </a:bodyPr>
          <a:lstStyle/>
          <a:p>
            <a:pPr marL="0" indent="0" algn="l">
              <a:lnSpc>
                <a:spcPct val="130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Analisis spasial yang mengungkap rata-rata kebakaran hutan dan lahan seluas </a:t>
            </a:r>
            <a:r>
              <a:rPr lang="en-US" sz="1000" b="1" dirty="0">
                <a:solidFill>
                  <a:srgbClr val="161613"/>
                </a:solidFill>
                <a:latin typeface="Leelawadee UI" panose="020B0502040204020203" pitchFamily="34" charset="-34"/>
                <a:ea typeface="Inter" pitchFamily="34" charset="-122"/>
                <a:cs typeface="Leelawadee UI" panose="020B0502040204020203" pitchFamily="34" charset="-34"/>
              </a:rPr>
              <a:t>51.130 hektar</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terjadi setiap tahunnya di Lanskap Gambut Pesisir Delta Kapuas sejak 2015–2019. Menjadi dasar perencanaan restorasi dan pencegahan kebakaran di lanskap gambut Kalimantan Barat.</a:t>
            </a:r>
            <a:endParaRPr lang="en-US" sz="1000" dirty="0">
              <a:latin typeface="Leelawadee UI" panose="020B0502040204020203" pitchFamily="34" charset="-34"/>
              <a:cs typeface="Leelawadee UI" panose="020B0502040204020203" pitchFamily="34" charset="-34"/>
            </a:endParaRPr>
          </a:p>
        </p:txBody>
      </p:sp>
      <p:pic>
        <p:nvPicPr>
          <p:cNvPr id="73" name="Image 0" descr="preencoded.png">
            <a:extLst>
              <a:ext uri="{FF2B5EF4-FFF2-40B4-BE49-F238E27FC236}">
                <a16:creationId xmlns:a16="http://schemas.microsoft.com/office/drawing/2014/main" id="{8B764E9F-6EBB-ACE4-E56C-281D87EC3DE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72789" y="19498100"/>
            <a:ext cx="4028182" cy="2305422"/>
          </a:xfrm>
          <a:prstGeom prst="rect">
            <a:avLst/>
          </a:prstGeom>
        </p:spPr>
      </p:pic>
      <p:sp>
        <p:nvSpPr>
          <p:cNvPr id="74" name="Shape 0">
            <a:extLst>
              <a:ext uri="{FF2B5EF4-FFF2-40B4-BE49-F238E27FC236}">
                <a16:creationId xmlns:a16="http://schemas.microsoft.com/office/drawing/2014/main" id="{78499BCA-442C-EF3B-2B43-2E2791F89D54}"/>
              </a:ext>
            </a:extLst>
          </p:cNvPr>
          <p:cNvSpPr/>
          <p:nvPr/>
        </p:nvSpPr>
        <p:spPr>
          <a:xfrm>
            <a:off x="768200" y="19641124"/>
            <a:ext cx="812006" cy="233214"/>
          </a:xfrm>
          <a:prstGeom prst="roundRect">
            <a:avLst>
              <a:gd name="adj" fmla="val 6383"/>
            </a:avLst>
          </a:prstGeom>
          <a:solidFill>
            <a:srgbClr val="E3E3E8"/>
          </a:solidFill>
          <a:ln/>
        </p:spPr>
      </p:sp>
      <p:sp>
        <p:nvSpPr>
          <p:cNvPr id="75" name="Text 1">
            <a:extLst>
              <a:ext uri="{FF2B5EF4-FFF2-40B4-BE49-F238E27FC236}">
                <a16:creationId xmlns:a16="http://schemas.microsoft.com/office/drawing/2014/main" id="{A1A50A26-58DE-9F3B-16BB-BA53AF560035}"/>
              </a:ext>
            </a:extLst>
          </p:cNvPr>
          <p:cNvSpPr/>
          <p:nvPr/>
        </p:nvSpPr>
        <p:spPr>
          <a:xfrm>
            <a:off x="842614" y="19678331"/>
            <a:ext cx="663178" cy="158800"/>
          </a:xfrm>
          <a:prstGeom prst="rect">
            <a:avLst/>
          </a:prstGeom>
          <a:noFill/>
          <a:ln/>
        </p:spPr>
        <p:txBody>
          <a:bodyPr wrap="none" lIns="0" tIns="0" rIns="0" bIns="0" rtlCol="0" anchor="t"/>
          <a:lstStyle/>
          <a:p>
            <a:pPr marL="0" indent="0" algn="l">
              <a:lnSpc>
                <a:spcPct val="133000"/>
              </a:lnSpc>
              <a:buNone/>
            </a:pPr>
            <a:r>
              <a:rPr lang="en-US" sz="750" dirty="0">
                <a:solidFill>
                  <a:srgbClr val="161613"/>
                </a:solidFill>
                <a:latin typeface="Leelawadee UI" panose="020B0502040204020203" pitchFamily="34" charset="-34"/>
                <a:ea typeface="Inter" pitchFamily="34" charset="-122"/>
                <a:cs typeface="Leelawadee UI" panose="020B0502040204020203" pitchFamily="34" charset="-34"/>
              </a:rPr>
              <a:t>POLICY BRIEF</a:t>
            </a:r>
            <a:endParaRPr lang="en-US" sz="750" dirty="0">
              <a:latin typeface="Leelawadee UI" panose="020B0502040204020203" pitchFamily="34" charset="-34"/>
              <a:cs typeface="Leelawadee UI" panose="020B0502040204020203" pitchFamily="34" charset="-34"/>
            </a:endParaRPr>
          </a:p>
        </p:txBody>
      </p:sp>
      <p:sp>
        <p:nvSpPr>
          <p:cNvPr id="76" name="Shape 2">
            <a:extLst>
              <a:ext uri="{FF2B5EF4-FFF2-40B4-BE49-F238E27FC236}">
                <a16:creationId xmlns:a16="http://schemas.microsoft.com/office/drawing/2014/main" id="{B8DC3B38-5550-170F-5E86-96C1E1013283}"/>
              </a:ext>
            </a:extLst>
          </p:cNvPr>
          <p:cNvSpPr/>
          <p:nvPr/>
        </p:nvSpPr>
        <p:spPr>
          <a:xfrm>
            <a:off x="1642194" y="19636362"/>
            <a:ext cx="404515" cy="242739"/>
          </a:xfrm>
          <a:prstGeom prst="roundRect">
            <a:avLst>
              <a:gd name="adj" fmla="val 6132"/>
            </a:avLst>
          </a:prstGeom>
          <a:noFill/>
          <a:ln w="4763">
            <a:solidFill>
              <a:srgbClr val="28282F"/>
            </a:solidFill>
            <a:prstDash val="solid"/>
          </a:ln>
        </p:spPr>
      </p:sp>
      <p:sp>
        <p:nvSpPr>
          <p:cNvPr id="77" name="Text 3">
            <a:extLst>
              <a:ext uri="{FF2B5EF4-FFF2-40B4-BE49-F238E27FC236}">
                <a16:creationId xmlns:a16="http://schemas.microsoft.com/office/drawing/2014/main" id="{1CA7024F-6452-93DC-5FAB-F9FB10410D28}"/>
              </a:ext>
            </a:extLst>
          </p:cNvPr>
          <p:cNvSpPr/>
          <p:nvPr/>
        </p:nvSpPr>
        <p:spPr>
          <a:xfrm>
            <a:off x="1721370" y="19678331"/>
            <a:ext cx="246162" cy="158800"/>
          </a:xfrm>
          <a:prstGeom prst="rect">
            <a:avLst/>
          </a:prstGeom>
          <a:noFill/>
          <a:ln/>
        </p:spPr>
        <p:txBody>
          <a:bodyPr wrap="none" lIns="0" tIns="0" rIns="0" bIns="0" rtlCol="0" anchor="t"/>
          <a:lstStyle/>
          <a:p>
            <a:pPr marL="0" indent="0" algn="l">
              <a:lnSpc>
                <a:spcPct val="133000"/>
              </a:lnSpc>
              <a:buNone/>
            </a:pPr>
            <a:r>
              <a:rPr lang="en-US" sz="750" dirty="0">
                <a:solidFill>
                  <a:srgbClr val="28282F"/>
                </a:solidFill>
                <a:latin typeface="Leelawadee UI" panose="020B0502040204020203" pitchFamily="34" charset="-34"/>
                <a:ea typeface="Inter" pitchFamily="34" charset="-122"/>
                <a:cs typeface="Leelawadee UI" panose="020B0502040204020203" pitchFamily="34" charset="-34"/>
              </a:rPr>
              <a:t>2024</a:t>
            </a:r>
            <a:endParaRPr lang="en-US" sz="750" dirty="0">
              <a:latin typeface="Leelawadee UI" panose="020B0502040204020203" pitchFamily="34" charset="-34"/>
              <a:cs typeface="Leelawadee UI" panose="020B0502040204020203" pitchFamily="34" charset="-34"/>
            </a:endParaRPr>
          </a:p>
        </p:txBody>
      </p:sp>
      <p:sp>
        <p:nvSpPr>
          <p:cNvPr id="78" name="Text 4">
            <a:extLst>
              <a:ext uri="{FF2B5EF4-FFF2-40B4-BE49-F238E27FC236}">
                <a16:creationId xmlns:a16="http://schemas.microsoft.com/office/drawing/2014/main" id="{D92224F6-458D-64BC-1253-0897C0A3CA47}"/>
              </a:ext>
            </a:extLst>
          </p:cNvPr>
          <p:cNvSpPr/>
          <p:nvPr/>
        </p:nvSpPr>
        <p:spPr>
          <a:xfrm>
            <a:off x="768200" y="19928660"/>
            <a:ext cx="3694509"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Policy Brief: Penguatan Tata Kelola Lanskap dalam Perencanaan Pembangunan Desa</a:t>
            </a:r>
            <a:endParaRPr lang="en-US" sz="1200" dirty="0">
              <a:latin typeface="Leelawadee UI" panose="020B0502040204020203" pitchFamily="34" charset="-34"/>
              <a:cs typeface="Leelawadee UI" panose="020B0502040204020203" pitchFamily="34" charset="-34"/>
            </a:endParaRPr>
          </a:p>
        </p:txBody>
      </p:sp>
      <p:sp>
        <p:nvSpPr>
          <p:cNvPr id="79" name="Text 5">
            <a:extLst>
              <a:ext uri="{FF2B5EF4-FFF2-40B4-BE49-F238E27FC236}">
                <a16:creationId xmlns:a16="http://schemas.microsoft.com/office/drawing/2014/main" id="{4F3202AB-13D7-52FB-C317-092709A00739}"/>
              </a:ext>
            </a:extLst>
          </p:cNvPr>
          <p:cNvSpPr/>
          <p:nvPr/>
        </p:nvSpPr>
        <p:spPr>
          <a:xfrm>
            <a:off x="768200" y="20390772"/>
            <a:ext cx="3694509"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Rekomendasi kebijakan untuk mengintegrasikan pendekatan lanskap dalam perencanaan pembangunan desa, berdasarkan pengalaman pendampingan intensif di tiga desa di Kabupaten Ketapang, Kalimantan Barat.</a:t>
            </a:r>
            <a:endParaRPr lang="en-US" sz="950" dirty="0">
              <a:latin typeface="Leelawadee UI" panose="020B0502040204020203" pitchFamily="34" charset="-34"/>
              <a:cs typeface="Leelawadee UI" panose="020B0502040204020203" pitchFamily="34" charset="-34"/>
            </a:endParaRPr>
          </a:p>
        </p:txBody>
      </p:sp>
      <p:pic>
        <p:nvPicPr>
          <p:cNvPr id="80" name="Image 1" descr="preencoded.png">
            <a:hlinkClick r:id="" action="ppaction://noaction"/>
            <a:extLst>
              <a:ext uri="{FF2B5EF4-FFF2-40B4-BE49-F238E27FC236}">
                <a16:creationId xmlns:a16="http://schemas.microsoft.com/office/drawing/2014/main" id="{2C40E23C-5D33-523D-BED9-65910C84C249}"/>
              </a:ext>
            </a:extLst>
          </p:cNvPr>
          <p:cNvPicPr>
            <a:picLocks noChangeAspect="1"/>
          </p:cNvPicPr>
          <p:nvPr/>
        </p:nvPicPr>
        <p:blipFill>
          <a:blip r:embed="rId13"/>
          <a:stretch>
            <a:fillRect/>
          </a:stretch>
        </p:blipFill>
        <p:spPr>
          <a:xfrm>
            <a:off x="768200" y="21324147"/>
            <a:ext cx="917823" cy="341114"/>
          </a:xfrm>
          <a:prstGeom prst="rect">
            <a:avLst/>
          </a:prstGeom>
        </p:spPr>
      </p:pic>
      <p:pic>
        <p:nvPicPr>
          <p:cNvPr id="81" name="Image 2" descr="preencoded.png">
            <a:extLst>
              <a:ext uri="{FF2B5EF4-FFF2-40B4-BE49-F238E27FC236}">
                <a16:creationId xmlns:a16="http://schemas.microsoft.com/office/drawing/2014/main" id="{9C86B22E-0887-7B1C-8139-8D46E38B07D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710657" y="19498100"/>
            <a:ext cx="3806986" cy="2305422"/>
          </a:xfrm>
          <a:prstGeom prst="rect">
            <a:avLst/>
          </a:prstGeom>
        </p:spPr>
      </p:pic>
      <p:sp>
        <p:nvSpPr>
          <p:cNvPr id="82" name="Shape 6">
            <a:extLst>
              <a:ext uri="{FF2B5EF4-FFF2-40B4-BE49-F238E27FC236}">
                <a16:creationId xmlns:a16="http://schemas.microsoft.com/office/drawing/2014/main" id="{B9E18277-6B8A-6D01-BBE3-71D2ECEBEDB9}"/>
              </a:ext>
            </a:extLst>
          </p:cNvPr>
          <p:cNvSpPr/>
          <p:nvPr/>
        </p:nvSpPr>
        <p:spPr>
          <a:xfrm>
            <a:off x="4906069" y="19641124"/>
            <a:ext cx="1136972" cy="233214"/>
          </a:xfrm>
          <a:prstGeom prst="roundRect">
            <a:avLst>
              <a:gd name="adj" fmla="val 6383"/>
            </a:avLst>
          </a:prstGeom>
          <a:solidFill>
            <a:srgbClr val="E3E3E8"/>
          </a:solidFill>
          <a:ln/>
        </p:spPr>
      </p:sp>
      <p:sp>
        <p:nvSpPr>
          <p:cNvPr id="83" name="Text 7">
            <a:extLst>
              <a:ext uri="{FF2B5EF4-FFF2-40B4-BE49-F238E27FC236}">
                <a16:creationId xmlns:a16="http://schemas.microsoft.com/office/drawing/2014/main" id="{29311977-59C4-C6C1-E70B-AEA92C7C3B8C}"/>
              </a:ext>
            </a:extLst>
          </p:cNvPr>
          <p:cNvSpPr/>
          <p:nvPr/>
        </p:nvSpPr>
        <p:spPr>
          <a:xfrm>
            <a:off x="4980483" y="19678331"/>
            <a:ext cx="988144" cy="158800"/>
          </a:xfrm>
          <a:prstGeom prst="rect">
            <a:avLst/>
          </a:prstGeom>
          <a:noFill/>
          <a:ln/>
        </p:spPr>
        <p:txBody>
          <a:bodyPr wrap="none" lIns="0" tIns="0" rIns="0" bIns="0" rtlCol="0" anchor="t"/>
          <a:lstStyle/>
          <a:p>
            <a:pPr marL="0" indent="0" algn="l">
              <a:lnSpc>
                <a:spcPct val="133000"/>
              </a:lnSpc>
              <a:buNone/>
            </a:pPr>
            <a:r>
              <a:rPr lang="en-US" sz="750" dirty="0">
                <a:solidFill>
                  <a:srgbClr val="161613"/>
                </a:solidFill>
                <a:latin typeface="Leelawadee UI" panose="020B0502040204020203" pitchFamily="34" charset="-34"/>
                <a:ea typeface="Inter" pitchFamily="34" charset="-122"/>
                <a:cs typeface="Leelawadee UI" panose="020B0502040204020203" pitchFamily="34" charset="-34"/>
              </a:rPr>
              <a:t>LAPORAN TAHUNAN</a:t>
            </a:r>
            <a:endParaRPr lang="en-US" sz="750" dirty="0">
              <a:latin typeface="Leelawadee UI" panose="020B0502040204020203" pitchFamily="34" charset="-34"/>
              <a:cs typeface="Leelawadee UI" panose="020B0502040204020203" pitchFamily="34" charset="-34"/>
            </a:endParaRPr>
          </a:p>
        </p:txBody>
      </p:sp>
      <p:sp>
        <p:nvSpPr>
          <p:cNvPr id="84" name="Shape 8">
            <a:extLst>
              <a:ext uri="{FF2B5EF4-FFF2-40B4-BE49-F238E27FC236}">
                <a16:creationId xmlns:a16="http://schemas.microsoft.com/office/drawing/2014/main" id="{5F848B12-6E58-124B-EB50-72B0A3E9CA3A}"/>
              </a:ext>
            </a:extLst>
          </p:cNvPr>
          <p:cNvSpPr/>
          <p:nvPr/>
        </p:nvSpPr>
        <p:spPr>
          <a:xfrm>
            <a:off x="6105028" y="19636362"/>
            <a:ext cx="404515" cy="242739"/>
          </a:xfrm>
          <a:prstGeom prst="roundRect">
            <a:avLst>
              <a:gd name="adj" fmla="val 6132"/>
            </a:avLst>
          </a:prstGeom>
          <a:noFill/>
          <a:ln w="4763">
            <a:solidFill>
              <a:srgbClr val="28282F"/>
            </a:solidFill>
            <a:prstDash val="solid"/>
          </a:ln>
        </p:spPr>
      </p:sp>
      <p:sp>
        <p:nvSpPr>
          <p:cNvPr id="85" name="Text 9">
            <a:extLst>
              <a:ext uri="{FF2B5EF4-FFF2-40B4-BE49-F238E27FC236}">
                <a16:creationId xmlns:a16="http://schemas.microsoft.com/office/drawing/2014/main" id="{7EF75A59-B6E9-29CD-003E-4C34275159D6}"/>
              </a:ext>
            </a:extLst>
          </p:cNvPr>
          <p:cNvSpPr/>
          <p:nvPr/>
        </p:nvSpPr>
        <p:spPr>
          <a:xfrm>
            <a:off x="6184205" y="19678331"/>
            <a:ext cx="246162" cy="158800"/>
          </a:xfrm>
          <a:prstGeom prst="rect">
            <a:avLst/>
          </a:prstGeom>
          <a:noFill/>
          <a:ln/>
        </p:spPr>
        <p:txBody>
          <a:bodyPr wrap="none" lIns="0" tIns="0" rIns="0" bIns="0" rtlCol="0" anchor="t"/>
          <a:lstStyle/>
          <a:p>
            <a:pPr marL="0" indent="0" algn="l">
              <a:lnSpc>
                <a:spcPct val="133000"/>
              </a:lnSpc>
              <a:buNone/>
            </a:pPr>
            <a:r>
              <a:rPr lang="en-US" sz="750" dirty="0">
                <a:solidFill>
                  <a:srgbClr val="28282F"/>
                </a:solidFill>
                <a:latin typeface="Leelawadee UI" panose="020B0502040204020203" pitchFamily="34" charset="-34"/>
                <a:ea typeface="Inter" pitchFamily="34" charset="-122"/>
                <a:cs typeface="Leelawadee UI" panose="020B0502040204020203" pitchFamily="34" charset="-34"/>
              </a:rPr>
              <a:t>2024</a:t>
            </a:r>
            <a:endParaRPr lang="en-US" sz="750" dirty="0">
              <a:latin typeface="Leelawadee UI" panose="020B0502040204020203" pitchFamily="34" charset="-34"/>
              <a:cs typeface="Leelawadee UI" panose="020B0502040204020203" pitchFamily="34" charset="-34"/>
            </a:endParaRPr>
          </a:p>
        </p:txBody>
      </p:sp>
      <p:sp>
        <p:nvSpPr>
          <p:cNvPr id="86" name="Text 10">
            <a:extLst>
              <a:ext uri="{FF2B5EF4-FFF2-40B4-BE49-F238E27FC236}">
                <a16:creationId xmlns:a16="http://schemas.microsoft.com/office/drawing/2014/main" id="{6FF6AD2C-10DF-D74A-3AC0-3EFC766730FB}"/>
              </a:ext>
            </a:extLst>
          </p:cNvPr>
          <p:cNvSpPr/>
          <p:nvPr/>
        </p:nvSpPr>
        <p:spPr>
          <a:xfrm>
            <a:off x="4906069" y="19928660"/>
            <a:ext cx="204080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Laporan Tahunan YNKI 2024</a:t>
            </a:r>
            <a:endParaRPr lang="en-US" sz="1200" dirty="0">
              <a:latin typeface="Leelawadee UI" panose="020B0502040204020203" pitchFamily="34" charset="-34"/>
              <a:cs typeface="Leelawadee UI" panose="020B0502040204020203" pitchFamily="34" charset="-34"/>
            </a:endParaRPr>
          </a:p>
        </p:txBody>
      </p:sp>
      <p:sp>
        <p:nvSpPr>
          <p:cNvPr id="87" name="Text 11">
            <a:extLst>
              <a:ext uri="{FF2B5EF4-FFF2-40B4-BE49-F238E27FC236}">
                <a16:creationId xmlns:a16="http://schemas.microsoft.com/office/drawing/2014/main" id="{1091347C-59D4-B785-6FE4-08BAD18B53F6}"/>
              </a:ext>
            </a:extLst>
          </p:cNvPr>
          <p:cNvSpPr/>
          <p:nvPr/>
        </p:nvSpPr>
        <p:spPr>
          <a:xfrm>
            <a:off x="4906069" y="20196923"/>
            <a:ext cx="3514031"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Laporan tahunan Yayasan Natural Kapital Indonesia yang mencakup capaian program, laporan keuangan, perkembangan organisasi, dan dampak yang dihasilkan sepanjang tahun 2024.</a:t>
            </a:r>
            <a:endParaRPr lang="en-US" sz="950" dirty="0">
              <a:latin typeface="Leelawadee UI" panose="020B0502040204020203" pitchFamily="34" charset="-34"/>
              <a:cs typeface="Leelawadee UI" panose="020B0502040204020203" pitchFamily="34" charset="-34"/>
            </a:endParaRPr>
          </a:p>
        </p:txBody>
      </p:sp>
      <p:pic>
        <p:nvPicPr>
          <p:cNvPr id="88" name="Image 3" descr="preencoded.png">
            <a:hlinkClick r:id="" action="ppaction://noaction"/>
            <a:extLst>
              <a:ext uri="{FF2B5EF4-FFF2-40B4-BE49-F238E27FC236}">
                <a16:creationId xmlns:a16="http://schemas.microsoft.com/office/drawing/2014/main" id="{5E82CA5C-1087-0576-37AE-795680808499}"/>
              </a:ext>
            </a:extLst>
          </p:cNvPr>
          <p:cNvPicPr>
            <a:picLocks noChangeAspect="1"/>
          </p:cNvPicPr>
          <p:nvPr/>
        </p:nvPicPr>
        <p:blipFill>
          <a:blip r:embed="rId13"/>
          <a:stretch>
            <a:fillRect/>
          </a:stretch>
        </p:blipFill>
        <p:spPr>
          <a:xfrm>
            <a:off x="4906069" y="21130299"/>
            <a:ext cx="917823" cy="341114"/>
          </a:xfrm>
          <a:prstGeom prst="rect">
            <a:avLst/>
          </a:prstGeom>
        </p:spPr>
      </p:pic>
      <p:sp>
        <p:nvSpPr>
          <p:cNvPr id="89" name="Shape 12">
            <a:extLst>
              <a:ext uri="{FF2B5EF4-FFF2-40B4-BE49-F238E27FC236}">
                <a16:creationId xmlns:a16="http://schemas.microsoft.com/office/drawing/2014/main" id="{671CFC1D-F518-CA25-896E-30585B0BF4C7}"/>
              </a:ext>
            </a:extLst>
          </p:cNvPr>
          <p:cNvSpPr/>
          <p:nvPr/>
        </p:nvSpPr>
        <p:spPr>
          <a:xfrm>
            <a:off x="587078" y="21943049"/>
            <a:ext cx="7930566" cy="686842"/>
          </a:xfrm>
          <a:prstGeom prst="roundRect">
            <a:avLst>
              <a:gd name="adj" fmla="val 2709"/>
            </a:avLst>
          </a:prstGeom>
          <a:solidFill>
            <a:srgbClr val="D6D6DC"/>
          </a:solidFill>
          <a:ln/>
        </p:spPr>
      </p:sp>
      <p:pic>
        <p:nvPicPr>
          <p:cNvPr id="90" name="Image 4" descr="preencoded.png">
            <a:extLst>
              <a:ext uri="{FF2B5EF4-FFF2-40B4-BE49-F238E27FC236}">
                <a16:creationId xmlns:a16="http://schemas.microsoft.com/office/drawing/2014/main" id="{0D2CBD2B-7997-729D-3074-567FB0C03250}"/>
              </a:ext>
            </a:extLst>
          </p:cNvPr>
          <p:cNvPicPr>
            <a:picLocks noChangeAspect="1"/>
          </p:cNvPicPr>
          <p:nvPr/>
        </p:nvPicPr>
        <p:blipFill>
          <a:blip r:embed="rId14"/>
          <a:stretch>
            <a:fillRect/>
          </a:stretch>
        </p:blipFill>
        <p:spPr>
          <a:xfrm>
            <a:off x="711050" y="22122833"/>
            <a:ext cx="155004" cy="123974"/>
          </a:xfrm>
          <a:prstGeom prst="rect">
            <a:avLst/>
          </a:prstGeom>
        </p:spPr>
      </p:pic>
      <p:sp>
        <p:nvSpPr>
          <p:cNvPr id="91" name="Text 13">
            <a:extLst>
              <a:ext uri="{FF2B5EF4-FFF2-40B4-BE49-F238E27FC236}">
                <a16:creationId xmlns:a16="http://schemas.microsoft.com/office/drawing/2014/main" id="{B7F7E190-F76C-1656-24F7-B6F99F53A813}"/>
              </a:ext>
            </a:extLst>
          </p:cNvPr>
          <p:cNvSpPr/>
          <p:nvPr/>
        </p:nvSpPr>
        <p:spPr>
          <a:xfrm>
            <a:off x="990029" y="22085626"/>
            <a:ext cx="7328959" cy="4016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 </a:t>
            </a:r>
            <a:r>
              <a:rPr lang="en-US" sz="950" b="1" dirty="0">
                <a:solidFill>
                  <a:srgbClr val="000000"/>
                </a:solidFill>
                <a:latin typeface="Leelawadee UI" panose="020B0502040204020203" pitchFamily="34" charset="-34"/>
                <a:ea typeface="Inter" pitchFamily="34" charset="-122"/>
                <a:cs typeface="Leelawadee UI" panose="020B0502040204020203" pitchFamily="34" charset="-34"/>
              </a:rPr>
              <a:t>Catatan untuk Tim YNKI:</a:t>
            </a: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 Daftar publikasi di atas adalah contoh placeholder. Tambahkan seluruh dokumen riil YNKI beserta tautan unduh PDF yang valid sebelum halaman ini diluncurkan secara publik.</a:t>
            </a:r>
            <a:endParaRPr lang="en-US" sz="950" dirty="0">
              <a:latin typeface="Leelawadee UI" panose="020B0502040204020203" pitchFamily="34" charset="-34"/>
              <a:cs typeface="Leelawadee UI" panose="020B0502040204020203" pitchFamily="34" charset="-34"/>
            </a:endParaRPr>
          </a:p>
        </p:txBody>
      </p:sp>
      <p:sp>
        <p:nvSpPr>
          <p:cNvPr id="92" name="Text 0">
            <a:extLst>
              <a:ext uri="{FF2B5EF4-FFF2-40B4-BE49-F238E27FC236}">
                <a16:creationId xmlns:a16="http://schemas.microsoft.com/office/drawing/2014/main" id="{0DDC2ECC-289D-2488-6260-B56B5E5D2185}"/>
              </a:ext>
            </a:extLst>
          </p:cNvPr>
          <p:cNvSpPr/>
          <p:nvPr/>
        </p:nvSpPr>
        <p:spPr>
          <a:xfrm>
            <a:off x="3261462" y="22975896"/>
            <a:ext cx="2938090" cy="310083"/>
          </a:xfrm>
          <a:prstGeom prst="rect">
            <a:avLst/>
          </a:prstGeom>
          <a:noFill/>
          <a:ln/>
        </p:spPr>
        <p:txBody>
          <a:bodyPr wrap="none" lIns="0" tIns="0" rIns="0" bIns="0" rtlCol="0" anchor="t"/>
          <a:lstStyle/>
          <a:p>
            <a:pPr marL="0" indent="0" algn="ctr">
              <a:lnSpc>
                <a:spcPct val="104000"/>
              </a:lnSpc>
              <a:buNone/>
            </a:pPr>
            <a:r>
              <a:rPr lang="en-US" sz="2200" dirty="0">
                <a:solidFill>
                  <a:srgbClr val="161613"/>
                </a:solidFill>
                <a:latin typeface="Leelawadee UI" panose="020B0502040204020203" pitchFamily="34" charset="-34"/>
                <a:ea typeface="DM Sans Medium" pitchFamily="34" charset="-122"/>
                <a:cs typeface="Leelawadee UI" panose="020B0502040204020203" pitchFamily="34" charset="-34"/>
              </a:rPr>
              <a:t>Publikasi Unggulan</a:t>
            </a:r>
            <a:endParaRPr lang="en-US" sz="2200" dirty="0">
              <a:latin typeface="Leelawadee UI" panose="020B0502040204020203" pitchFamily="34" charset="-34"/>
              <a:cs typeface="Leelawadee UI" panose="020B0502040204020203" pitchFamily="34" charset="-34"/>
            </a:endParaRPr>
          </a:p>
        </p:txBody>
      </p:sp>
      <p:sp>
        <p:nvSpPr>
          <p:cNvPr id="93" name="Text 1">
            <a:extLst>
              <a:ext uri="{FF2B5EF4-FFF2-40B4-BE49-F238E27FC236}">
                <a16:creationId xmlns:a16="http://schemas.microsoft.com/office/drawing/2014/main" id="{CEDA8EEE-C494-4030-16B8-144EADEFB616}"/>
              </a:ext>
            </a:extLst>
          </p:cNvPr>
          <p:cNvSpPr/>
          <p:nvPr/>
        </p:nvSpPr>
        <p:spPr>
          <a:xfrm>
            <a:off x="426063" y="23534001"/>
            <a:ext cx="8608963" cy="198462"/>
          </a:xfrm>
          <a:prstGeom prst="rect">
            <a:avLst/>
          </a:prstGeom>
          <a:noFill/>
          <a:ln/>
        </p:spPr>
        <p:txBody>
          <a:bodyPr wrap="none" lIns="0" tIns="0" rIns="0" bIns="0" rtlCol="0" anchor="t"/>
          <a:lstStyle/>
          <a:p>
            <a:pPr marL="0" indent="0" algn="ctr">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Beberapa publikasi pilihan yang menjadi rujukan penting dalam tata kelola lanskap berkelanjutan di Kalimantan Barat dan Indonesia.</a:t>
            </a:r>
            <a:endParaRPr lang="en-US" sz="1050" dirty="0">
              <a:latin typeface="Leelawadee UI" panose="020B0502040204020203" pitchFamily="34" charset="-34"/>
              <a:cs typeface="Leelawadee UI" panose="020B0502040204020203" pitchFamily="34" charset="-34"/>
            </a:endParaRPr>
          </a:p>
        </p:txBody>
      </p:sp>
      <p:sp>
        <p:nvSpPr>
          <p:cNvPr id="94" name="Shape 2">
            <a:extLst>
              <a:ext uri="{FF2B5EF4-FFF2-40B4-BE49-F238E27FC236}">
                <a16:creationId xmlns:a16="http://schemas.microsoft.com/office/drawing/2014/main" id="{DFA2C952-0512-800F-FFF4-125A366C8791}"/>
              </a:ext>
            </a:extLst>
          </p:cNvPr>
          <p:cNvSpPr/>
          <p:nvPr/>
        </p:nvSpPr>
        <p:spPr>
          <a:xfrm>
            <a:off x="565366" y="23871990"/>
            <a:ext cx="4103191" cy="2630388"/>
          </a:xfrm>
          <a:prstGeom prst="roundRect">
            <a:avLst>
              <a:gd name="adj" fmla="val 707"/>
            </a:avLst>
          </a:prstGeom>
          <a:solidFill>
            <a:srgbClr val="1B5E20"/>
          </a:solidFill>
          <a:ln/>
        </p:spPr>
      </p:sp>
      <p:sp>
        <p:nvSpPr>
          <p:cNvPr id="95" name="Text 3">
            <a:extLst>
              <a:ext uri="{FF2B5EF4-FFF2-40B4-BE49-F238E27FC236}">
                <a16:creationId xmlns:a16="http://schemas.microsoft.com/office/drawing/2014/main" id="{ED697D2F-7599-7262-7178-F5456DA6BB93}"/>
              </a:ext>
            </a:extLst>
          </p:cNvPr>
          <p:cNvSpPr/>
          <p:nvPr/>
        </p:nvSpPr>
        <p:spPr>
          <a:xfrm>
            <a:off x="689340" y="23995964"/>
            <a:ext cx="3855244"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FFFFFF"/>
                </a:solidFill>
                <a:latin typeface="Leelawadee UI" panose="020B0502040204020203" pitchFamily="34" charset="-34"/>
                <a:ea typeface="DM Sans Medium" pitchFamily="34" charset="-122"/>
                <a:cs typeface="Leelawadee UI" panose="020B0502040204020203" pitchFamily="34" charset="-34"/>
              </a:rPr>
              <a:t> Analisis Spasial Kebakaran Hutan dan Lahan di Lanskap Gambut Pesisir Delta Kapuas</a:t>
            </a:r>
            <a:endParaRPr lang="en-US" sz="1200" dirty="0">
              <a:latin typeface="Leelawadee UI" panose="020B0502040204020203" pitchFamily="34" charset="-34"/>
              <a:cs typeface="Leelawadee UI" panose="020B0502040204020203" pitchFamily="34" charset="-34"/>
            </a:endParaRPr>
          </a:p>
        </p:txBody>
      </p:sp>
      <p:sp>
        <p:nvSpPr>
          <p:cNvPr id="96" name="Text 4">
            <a:extLst>
              <a:ext uri="{FF2B5EF4-FFF2-40B4-BE49-F238E27FC236}">
                <a16:creationId xmlns:a16="http://schemas.microsoft.com/office/drawing/2014/main" id="{251EFC14-D89B-3DE8-8A57-66402339D882}"/>
              </a:ext>
            </a:extLst>
          </p:cNvPr>
          <p:cNvSpPr/>
          <p:nvPr/>
        </p:nvSpPr>
        <p:spPr>
          <a:xfrm>
            <a:off x="689340" y="24507635"/>
            <a:ext cx="3855244"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Analisis yang menjadi dasar perencanaan restorasi dan pencegahan kebakaran di lanskap gambut Kalimantan Barat. Mengidentifikasi pola spasial-temporal kebakaran selama lima tahun (2015–2019) dengan rata-rata 51.130 hektar terbakar per tahun.</a:t>
            </a:r>
            <a:endParaRPr lang="en-US" sz="950" dirty="0">
              <a:latin typeface="Leelawadee UI" panose="020B0502040204020203" pitchFamily="34" charset="-34"/>
              <a:cs typeface="Leelawadee UI" panose="020B0502040204020203" pitchFamily="34" charset="-34"/>
            </a:endParaRPr>
          </a:p>
        </p:txBody>
      </p:sp>
      <p:sp>
        <p:nvSpPr>
          <p:cNvPr id="97" name="Shape 5">
            <a:extLst>
              <a:ext uri="{FF2B5EF4-FFF2-40B4-BE49-F238E27FC236}">
                <a16:creationId xmlns:a16="http://schemas.microsoft.com/office/drawing/2014/main" id="{025F43D5-534C-0C72-0D70-42850C14C724}"/>
              </a:ext>
            </a:extLst>
          </p:cNvPr>
          <p:cNvSpPr/>
          <p:nvPr/>
        </p:nvSpPr>
        <p:spPr>
          <a:xfrm>
            <a:off x="689340" y="25639473"/>
            <a:ext cx="1321445" cy="242739"/>
          </a:xfrm>
          <a:prstGeom prst="roundRect">
            <a:avLst>
              <a:gd name="adj" fmla="val 6132"/>
            </a:avLst>
          </a:prstGeom>
          <a:noFill/>
          <a:ln w="4763">
            <a:solidFill>
              <a:srgbClr val="28282F"/>
            </a:solidFill>
            <a:prstDash val="solid"/>
          </a:ln>
        </p:spPr>
      </p:sp>
      <p:sp>
        <p:nvSpPr>
          <p:cNvPr id="98" name="Text 6">
            <a:extLst>
              <a:ext uri="{FF2B5EF4-FFF2-40B4-BE49-F238E27FC236}">
                <a16:creationId xmlns:a16="http://schemas.microsoft.com/office/drawing/2014/main" id="{91B9FF97-37CD-88F9-EB6F-74815621CD51}"/>
              </a:ext>
            </a:extLst>
          </p:cNvPr>
          <p:cNvSpPr/>
          <p:nvPr/>
        </p:nvSpPr>
        <p:spPr>
          <a:xfrm>
            <a:off x="768516" y="25681442"/>
            <a:ext cx="1620292" cy="158800"/>
          </a:xfrm>
          <a:prstGeom prst="rect">
            <a:avLst/>
          </a:prstGeom>
          <a:noFill/>
          <a:ln/>
        </p:spPr>
        <p:txBody>
          <a:bodyPr wrap="none" lIns="0" tIns="0" rIns="0" bIns="0" rtlCol="0" anchor="t"/>
          <a:lstStyle/>
          <a:p>
            <a:pPr marL="0" indent="0" algn="l">
              <a:lnSpc>
                <a:spcPct val="133000"/>
              </a:lnSpc>
              <a:buNone/>
            </a:pPr>
            <a:r>
              <a:rPr lang="en-US" sz="750" dirty="0">
                <a:solidFill>
                  <a:srgbClr val="28282F"/>
                </a:solidFill>
                <a:latin typeface="Leelawadee UI" panose="020B0502040204020203" pitchFamily="34" charset="-34"/>
                <a:ea typeface="Inter" pitchFamily="34" charset="-122"/>
                <a:cs typeface="Leelawadee UI" panose="020B0502040204020203" pitchFamily="34" charset="-34"/>
              </a:rPr>
              <a:t>ANALISIS SPASIAL &amp; GIS</a:t>
            </a:r>
            <a:endParaRPr lang="en-US" sz="750" dirty="0">
              <a:latin typeface="Leelawadee UI" panose="020B0502040204020203" pitchFamily="34" charset="-34"/>
              <a:cs typeface="Leelawadee UI" panose="020B0502040204020203" pitchFamily="34" charset="-34"/>
            </a:endParaRPr>
          </a:p>
        </p:txBody>
      </p:sp>
      <p:sp>
        <p:nvSpPr>
          <p:cNvPr id="99" name="Shape 7">
            <a:extLst>
              <a:ext uri="{FF2B5EF4-FFF2-40B4-BE49-F238E27FC236}">
                <a16:creationId xmlns:a16="http://schemas.microsoft.com/office/drawing/2014/main" id="{388B65F0-B7A6-B76C-21A7-E7E2E85BDEA4}"/>
              </a:ext>
            </a:extLst>
          </p:cNvPr>
          <p:cNvSpPr/>
          <p:nvPr/>
        </p:nvSpPr>
        <p:spPr>
          <a:xfrm>
            <a:off x="2072771" y="25639473"/>
            <a:ext cx="404515" cy="242739"/>
          </a:xfrm>
          <a:prstGeom prst="roundRect">
            <a:avLst>
              <a:gd name="adj" fmla="val 6132"/>
            </a:avLst>
          </a:prstGeom>
          <a:noFill/>
          <a:ln w="4763">
            <a:solidFill>
              <a:srgbClr val="28282F"/>
            </a:solidFill>
            <a:prstDash val="solid"/>
          </a:ln>
        </p:spPr>
      </p:sp>
      <p:sp>
        <p:nvSpPr>
          <p:cNvPr id="100" name="Text 8">
            <a:extLst>
              <a:ext uri="{FF2B5EF4-FFF2-40B4-BE49-F238E27FC236}">
                <a16:creationId xmlns:a16="http://schemas.microsoft.com/office/drawing/2014/main" id="{2473192C-B06A-B5D9-C246-A48145032D3F}"/>
              </a:ext>
            </a:extLst>
          </p:cNvPr>
          <p:cNvSpPr/>
          <p:nvPr/>
        </p:nvSpPr>
        <p:spPr>
          <a:xfrm>
            <a:off x="2151948" y="25681442"/>
            <a:ext cx="703362" cy="158800"/>
          </a:xfrm>
          <a:prstGeom prst="rect">
            <a:avLst/>
          </a:prstGeom>
          <a:noFill/>
          <a:ln/>
        </p:spPr>
        <p:txBody>
          <a:bodyPr wrap="none" lIns="0" tIns="0" rIns="0" bIns="0" rtlCol="0" anchor="t"/>
          <a:lstStyle/>
          <a:p>
            <a:pPr marL="0" indent="0" algn="l">
              <a:lnSpc>
                <a:spcPct val="133000"/>
              </a:lnSpc>
              <a:buNone/>
            </a:pPr>
            <a:r>
              <a:rPr lang="en-US" sz="750" dirty="0">
                <a:solidFill>
                  <a:srgbClr val="28282F"/>
                </a:solidFill>
                <a:latin typeface="Leelawadee UI" panose="020B0502040204020203" pitchFamily="34" charset="-34"/>
                <a:ea typeface="Inter" pitchFamily="34" charset="-122"/>
                <a:cs typeface="Leelawadee UI" panose="020B0502040204020203" pitchFamily="34" charset="-34"/>
              </a:rPr>
              <a:t>2020</a:t>
            </a:r>
            <a:endParaRPr lang="en-US" sz="750" dirty="0">
              <a:latin typeface="Leelawadee UI" panose="020B0502040204020203" pitchFamily="34" charset="-34"/>
              <a:cs typeface="Leelawadee UI" panose="020B0502040204020203" pitchFamily="34" charset="-34"/>
            </a:endParaRPr>
          </a:p>
        </p:txBody>
      </p:sp>
      <p:pic>
        <p:nvPicPr>
          <p:cNvPr id="101" name="Image 0" descr="preencoded.png">
            <a:hlinkClick r:id="" action="ppaction://noaction"/>
            <a:extLst>
              <a:ext uri="{FF2B5EF4-FFF2-40B4-BE49-F238E27FC236}">
                <a16:creationId xmlns:a16="http://schemas.microsoft.com/office/drawing/2014/main" id="{532B7DD0-DE63-393C-4223-D71D87F13679}"/>
              </a:ext>
            </a:extLst>
          </p:cNvPr>
          <p:cNvPicPr>
            <a:picLocks noChangeAspect="1"/>
          </p:cNvPicPr>
          <p:nvPr/>
        </p:nvPicPr>
        <p:blipFill>
          <a:blip r:embed="rId15"/>
          <a:stretch>
            <a:fillRect/>
          </a:stretch>
        </p:blipFill>
        <p:spPr>
          <a:xfrm>
            <a:off x="689340" y="26021738"/>
            <a:ext cx="917823" cy="341114"/>
          </a:xfrm>
          <a:prstGeom prst="rect">
            <a:avLst/>
          </a:prstGeom>
        </p:spPr>
      </p:pic>
      <p:sp>
        <p:nvSpPr>
          <p:cNvPr id="102" name="Text 9">
            <a:extLst>
              <a:ext uri="{FF2B5EF4-FFF2-40B4-BE49-F238E27FC236}">
                <a16:creationId xmlns:a16="http://schemas.microsoft.com/office/drawing/2014/main" id="{7953189B-CC30-2FBC-F062-17D0A39C8B20}"/>
              </a:ext>
            </a:extLst>
          </p:cNvPr>
          <p:cNvSpPr/>
          <p:nvPr/>
        </p:nvSpPr>
        <p:spPr>
          <a:xfrm>
            <a:off x="4886590" y="23995964"/>
            <a:ext cx="3924598"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Policy Brief: Penguatan Tata Kelola Lanskap dalam Perencanaan Pembangunan Desa</a:t>
            </a:r>
            <a:endParaRPr lang="en-US" sz="1200" dirty="0">
              <a:latin typeface="Leelawadee UI" panose="020B0502040204020203" pitchFamily="34" charset="-34"/>
              <a:cs typeface="Leelawadee UI" panose="020B0502040204020203" pitchFamily="34" charset="-34"/>
            </a:endParaRPr>
          </a:p>
        </p:txBody>
      </p:sp>
      <p:sp>
        <p:nvSpPr>
          <p:cNvPr id="103" name="Text 10">
            <a:extLst>
              <a:ext uri="{FF2B5EF4-FFF2-40B4-BE49-F238E27FC236}">
                <a16:creationId xmlns:a16="http://schemas.microsoft.com/office/drawing/2014/main" id="{D8C15E1C-E671-363A-312B-9E9B6E0B6119}"/>
              </a:ext>
            </a:extLst>
          </p:cNvPr>
          <p:cNvSpPr/>
          <p:nvPr/>
        </p:nvSpPr>
        <p:spPr>
          <a:xfrm>
            <a:off x="4886590" y="24507635"/>
            <a:ext cx="3924598"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Rekomendasi kebijakan berbasis pengalaman pendampingan YNKI di tiga desa Kabupaten Ketapang. Menawarkan kerangka integrasi pendekatan lanskap dalam dokumen perencanaan desa (RPJMDes dan RKPDes) secara inklusif dan kolaboratif.</a:t>
            </a:r>
            <a:endParaRPr lang="en-US" sz="950" dirty="0">
              <a:latin typeface="Leelawadee UI" panose="020B0502040204020203" pitchFamily="34" charset="-34"/>
              <a:cs typeface="Leelawadee UI" panose="020B0502040204020203" pitchFamily="34" charset="-34"/>
            </a:endParaRPr>
          </a:p>
        </p:txBody>
      </p:sp>
      <p:sp>
        <p:nvSpPr>
          <p:cNvPr id="104" name="Shape 11">
            <a:extLst>
              <a:ext uri="{FF2B5EF4-FFF2-40B4-BE49-F238E27FC236}">
                <a16:creationId xmlns:a16="http://schemas.microsoft.com/office/drawing/2014/main" id="{BDAAA00F-3FF2-B756-E31E-8678F76B66EA}"/>
              </a:ext>
            </a:extLst>
          </p:cNvPr>
          <p:cNvSpPr/>
          <p:nvPr/>
        </p:nvSpPr>
        <p:spPr>
          <a:xfrm>
            <a:off x="4886590" y="25445773"/>
            <a:ext cx="812006" cy="233214"/>
          </a:xfrm>
          <a:prstGeom prst="roundRect">
            <a:avLst>
              <a:gd name="adj" fmla="val 6383"/>
            </a:avLst>
          </a:prstGeom>
          <a:solidFill>
            <a:srgbClr val="E3E3E8"/>
          </a:solidFill>
          <a:ln/>
        </p:spPr>
      </p:sp>
      <p:sp>
        <p:nvSpPr>
          <p:cNvPr id="105" name="Text 12">
            <a:extLst>
              <a:ext uri="{FF2B5EF4-FFF2-40B4-BE49-F238E27FC236}">
                <a16:creationId xmlns:a16="http://schemas.microsoft.com/office/drawing/2014/main" id="{6BEABFC9-C859-91BD-4300-42797D58EB30}"/>
              </a:ext>
            </a:extLst>
          </p:cNvPr>
          <p:cNvSpPr/>
          <p:nvPr/>
        </p:nvSpPr>
        <p:spPr>
          <a:xfrm>
            <a:off x="4961004" y="25482980"/>
            <a:ext cx="1120378" cy="158800"/>
          </a:xfrm>
          <a:prstGeom prst="rect">
            <a:avLst/>
          </a:prstGeom>
          <a:noFill/>
          <a:ln/>
        </p:spPr>
        <p:txBody>
          <a:bodyPr wrap="none" lIns="0" tIns="0" rIns="0" bIns="0" rtlCol="0" anchor="t"/>
          <a:lstStyle/>
          <a:p>
            <a:pPr marL="0" indent="0" algn="l">
              <a:lnSpc>
                <a:spcPct val="133000"/>
              </a:lnSpc>
              <a:buNone/>
            </a:pPr>
            <a:r>
              <a:rPr lang="en-US" sz="750" dirty="0">
                <a:solidFill>
                  <a:srgbClr val="161613"/>
                </a:solidFill>
                <a:latin typeface="Leelawadee UI" panose="020B0502040204020203" pitchFamily="34" charset="-34"/>
                <a:ea typeface="Inter" pitchFamily="34" charset="-122"/>
                <a:cs typeface="Leelawadee UI" panose="020B0502040204020203" pitchFamily="34" charset="-34"/>
              </a:rPr>
              <a:t>POLICY BRIEF</a:t>
            </a:r>
            <a:endParaRPr lang="en-US" sz="750" dirty="0">
              <a:latin typeface="Leelawadee UI" panose="020B0502040204020203" pitchFamily="34" charset="-34"/>
              <a:cs typeface="Leelawadee UI" panose="020B0502040204020203" pitchFamily="34" charset="-34"/>
            </a:endParaRPr>
          </a:p>
        </p:txBody>
      </p:sp>
      <p:sp>
        <p:nvSpPr>
          <p:cNvPr id="106" name="Shape 13">
            <a:extLst>
              <a:ext uri="{FF2B5EF4-FFF2-40B4-BE49-F238E27FC236}">
                <a16:creationId xmlns:a16="http://schemas.microsoft.com/office/drawing/2014/main" id="{E545E7DA-2582-0846-16D0-FC04D5E8714B}"/>
              </a:ext>
            </a:extLst>
          </p:cNvPr>
          <p:cNvSpPr/>
          <p:nvPr/>
        </p:nvSpPr>
        <p:spPr>
          <a:xfrm>
            <a:off x="5760583" y="25441010"/>
            <a:ext cx="404515" cy="242739"/>
          </a:xfrm>
          <a:prstGeom prst="roundRect">
            <a:avLst>
              <a:gd name="adj" fmla="val 6132"/>
            </a:avLst>
          </a:prstGeom>
          <a:noFill/>
          <a:ln w="4763">
            <a:solidFill>
              <a:srgbClr val="28282F"/>
            </a:solidFill>
            <a:prstDash val="solid"/>
          </a:ln>
        </p:spPr>
      </p:sp>
      <p:sp>
        <p:nvSpPr>
          <p:cNvPr id="107" name="Text 14">
            <a:extLst>
              <a:ext uri="{FF2B5EF4-FFF2-40B4-BE49-F238E27FC236}">
                <a16:creationId xmlns:a16="http://schemas.microsoft.com/office/drawing/2014/main" id="{BF1FC120-9AE9-B663-48AA-E58EE9BB6C8D}"/>
              </a:ext>
            </a:extLst>
          </p:cNvPr>
          <p:cNvSpPr/>
          <p:nvPr/>
        </p:nvSpPr>
        <p:spPr>
          <a:xfrm>
            <a:off x="5839760" y="25482980"/>
            <a:ext cx="703362" cy="158800"/>
          </a:xfrm>
          <a:prstGeom prst="rect">
            <a:avLst/>
          </a:prstGeom>
          <a:noFill/>
          <a:ln/>
        </p:spPr>
        <p:txBody>
          <a:bodyPr wrap="none" lIns="0" tIns="0" rIns="0" bIns="0" rtlCol="0" anchor="t"/>
          <a:lstStyle/>
          <a:p>
            <a:pPr marL="0" indent="0" algn="l">
              <a:lnSpc>
                <a:spcPct val="133000"/>
              </a:lnSpc>
              <a:buNone/>
            </a:pPr>
            <a:r>
              <a:rPr lang="en-US" sz="750" dirty="0">
                <a:solidFill>
                  <a:srgbClr val="28282F"/>
                </a:solidFill>
                <a:latin typeface="Leelawadee UI" panose="020B0502040204020203" pitchFamily="34" charset="-34"/>
                <a:ea typeface="Inter" pitchFamily="34" charset="-122"/>
                <a:cs typeface="Leelawadee UI" panose="020B0502040204020203" pitchFamily="34" charset="-34"/>
              </a:rPr>
              <a:t>2024</a:t>
            </a:r>
            <a:endParaRPr lang="en-US" sz="750" dirty="0">
              <a:latin typeface="Leelawadee UI" panose="020B0502040204020203" pitchFamily="34" charset="-34"/>
              <a:cs typeface="Leelawadee UI" panose="020B0502040204020203" pitchFamily="34" charset="-34"/>
            </a:endParaRPr>
          </a:p>
        </p:txBody>
      </p:sp>
      <p:pic>
        <p:nvPicPr>
          <p:cNvPr id="108" name="Image 1" descr="preencoded.png">
            <a:hlinkClick r:id="" action="ppaction://noaction"/>
            <a:extLst>
              <a:ext uri="{FF2B5EF4-FFF2-40B4-BE49-F238E27FC236}">
                <a16:creationId xmlns:a16="http://schemas.microsoft.com/office/drawing/2014/main" id="{F7F9E7FA-3E30-BF83-63B9-8E29AE8641DA}"/>
              </a:ext>
            </a:extLst>
          </p:cNvPr>
          <p:cNvPicPr>
            <a:picLocks noChangeAspect="1"/>
          </p:cNvPicPr>
          <p:nvPr/>
        </p:nvPicPr>
        <p:blipFill>
          <a:blip r:embed="rId13"/>
          <a:stretch>
            <a:fillRect/>
          </a:stretch>
        </p:blipFill>
        <p:spPr>
          <a:xfrm>
            <a:off x="4886590" y="25823275"/>
            <a:ext cx="917823" cy="341114"/>
          </a:xfrm>
          <a:prstGeom prst="rect">
            <a:avLst/>
          </a:prstGeom>
        </p:spPr>
      </p:pic>
      <p:sp>
        <p:nvSpPr>
          <p:cNvPr id="109" name="Text 0">
            <a:extLst>
              <a:ext uri="{FF2B5EF4-FFF2-40B4-BE49-F238E27FC236}">
                <a16:creationId xmlns:a16="http://schemas.microsoft.com/office/drawing/2014/main" id="{D721CBA2-702B-44AF-3970-8C70E33756B2}"/>
              </a:ext>
            </a:extLst>
          </p:cNvPr>
          <p:cNvSpPr/>
          <p:nvPr/>
        </p:nvSpPr>
        <p:spPr>
          <a:xfrm>
            <a:off x="2544056" y="26946820"/>
            <a:ext cx="4216747" cy="310083"/>
          </a:xfrm>
          <a:prstGeom prst="rect">
            <a:avLst/>
          </a:prstGeom>
          <a:noFill/>
          <a:ln/>
        </p:spPr>
        <p:txBody>
          <a:bodyPr wrap="none" lIns="0" tIns="0" rIns="0" bIns="0" rtlCol="0" anchor="t"/>
          <a:lstStyle/>
          <a:p>
            <a:pPr marL="0" indent="0" algn="ctr">
              <a:lnSpc>
                <a:spcPct val="104000"/>
              </a:lnSpc>
              <a:buNone/>
            </a:pPr>
            <a:r>
              <a:rPr lang="en-US" sz="2200" dirty="0">
                <a:solidFill>
                  <a:srgbClr val="161613"/>
                </a:solidFill>
                <a:latin typeface="Leelawadee UI" panose="020B0502040204020203" pitchFamily="34" charset="-34"/>
                <a:ea typeface="DM Sans Medium" pitchFamily="34" charset="-122"/>
                <a:cs typeface="Leelawadee UI" panose="020B0502040204020203" pitchFamily="34" charset="-34"/>
              </a:rPr>
              <a:t>Ingin Berkolaborasi dalam Riset?</a:t>
            </a:r>
            <a:endParaRPr lang="en-US" sz="2200" dirty="0">
              <a:latin typeface="Leelawadee UI" panose="020B0502040204020203" pitchFamily="34" charset="-34"/>
              <a:cs typeface="Leelawadee UI" panose="020B0502040204020203" pitchFamily="34" charset="-34"/>
            </a:endParaRPr>
          </a:p>
        </p:txBody>
      </p:sp>
      <p:sp>
        <p:nvSpPr>
          <p:cNvPr id="110" name="Text 1">
            <a:extLst>
              <a:ext uri="{FF2B5EF4-FFF2-40B4-BE49-F238E27FC236}">
                <a16:creationId xmlns:a16="http://schemas.microsoft.com/office/drawing/2014/main" id="{79ECD0FF-D628-3C04-5C56-82F9440653B2}"/>
              </a:ext>
            </a:extLst>
          </p:cNvPr>
          <p:cNvSpPr/>
          <p:nvPr/>
        </p:nvSpPr>
        <p:spPr>
          <a:xfrm>
            <a:off x="576549" y="27504926"/>
            <a:ext cx="8151763" cy="595387"/>
          </a:xfrm>
          <a:prstGeom prst="rect">
            <a:avLst/>
          </a:prstGeom>
          <a:noFill/>
          <a:ln/>
        </p:spPr>
        <p:txBody>
          <a:bodyPr wrap="square" lIns="0" tIns="0" rIns="0" bIns="0" rtlCol="0" anchor="t">
            <a:normAutofit/>
          </a:bodyPr>
          <a:lstStyle/>
          <a:p>
            <a:pPr marL="0" indent="0" algn="ctr">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YNKI terbuka untuk kolaborasi riset dan penelitian dengan universitas, lembaga penelitian, dan akademisi yang memiliki kepedulian terhadap tata kelola lanskap berkelanjutan. Kami percaya bahwa pengetahuan yang kuat lahir dari kemitraan yang inklusif antara akademisi, praktisi, dan masyarakat lokal.</a:t>
            </a:r>
            <a:endParaRPr lang="en-US" sz="950" dirty="0">
              <a:latin typeface="Leelawadee UI" panose="020B0502040204020203" pitchFamily="34" charset="-34"/>
              <a:cs typeface="Leelawadee UI" panose="020B0502040204020203" pitchFamily="34" charset="-34"/>
            </a:endParaRPr>
          </a:p>
        </p:txBody>
      </p:sp>
      <p:sp>
        <p:nvSpPr>
          <p:cNvPr id="111" name="Shape 2">
            <a:extLst>
              <a:ext uri="{FF2B5EF4-FFF2-40B4-BE49-F238E27FC236}">
                <a16:creationId xmlns:a16="http://schemas.microsoft.com/office/drawing/2014/main" id="{820336B8-29D0-14A9-3488-C6B109C1D683}"/>
              </a:ext>
            </a:extLst>
          </p:cNvPr>
          <p:cNvSpPr/>
          <p:nvPr/>
        </p:nvSpPr>
        <p:spPr>
          <a:xfrm>
            <a:off x="576549" y="28239839"/>
            <a:ext cx="2634555" cy="1508522"/>
          </a:xfrm>
          <a:prstGeom prst="roundRect">
            <a:avLst>
              <a:gd name="adj" fmla="val 1233"/>
            </a:avLst>
          </a:prstGeom>
          <a:solidFill>
            <a:srgbClr val="EDEBE3"/>
          </a:solidFill>
          <a:ln/>
        </p:spPr>
      </p:sp>
      <p:sp>
        <p:nvSpPr>
          <p:cNvPr id="112" name="Text 3">
            <a:extLst>
              <a:ext uri="{FF2B5EF4-FFF2-40B4-BE49-F238E27FC236}">
                <a16:creationId xmlns:a16="http://schemas.microsoft.com/office/drawing/2014/main" id="{F8472CA2-22B7-2187-413E-1D6DEBF08D0E}"/>
              </a:ext>
            </a:extLst>
          </p:cNvPr>
          <p:cNvSpPr/>
          <p:nvPr/>
        </p:nvSpPr>
        <p:spPr>
          <a:xfrm>
            <a:off x="700522" y="28363813"/>
            <a:ext cx="1750070"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Kolaborasi Akademis</a:t>
            </a:r>
            <a:endParaRPr lang="en-US" sz="1200" dirty="0">
              <a:latin typeface="Leelawadee UI" panose="020B0502040204020203" pitchFamily="34" charset="-34"/>
              <a:cs typeface="Leelawadee UI" panose="020B0502040204020203" pitchFamily="34" charset="-34"/>
            </a:endParaRPr>
          </a:p>
        </p:txBody>
      </p:sp>
      <p:sp>
        <p:nvSpPr>
          <p:cNvPr id="113" name="Text 4">
            <a:extLst>
              <a:ext uri="{FF2B5EF4-FFF2-40B4-BE49-F238E27FC236}">
                <a16:creationId xmlns:a16="http://schemas.microsoft.com/office/drawing/2014/main" id="{795B9F3A-9703-3455-9D96-426DF85BAEBE}"/>
              </a:ext>
            </a:extLst>
          </p:cNvPr>
          <p:cNvSpPr/>
          <p:nvPr/>
        </p:nvSpPr>
        <p:spPr>
          <a:xfrm>
            <a:off x="700522" y="28632076"/>
            <a:ext cx="2386608"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Bergabunglah dengan jaringan peneliti YNKI untuk riset bersama, magang lapangan, atau penulisan publikasi ilmiah tentang tata kelola lanskap dan ekosistem gambut.</a:t>
            </a:r>
            <a:endParaRPr lang="en-US" sz="950" dirty="0">
              <a:latin typeface="Leelawadee UI" panose="020B0502040204020203" pitchFamily="34" charset="-34"/>
              <a:cs typeface="Leelawadee UI" panose="020B0502040204020203" pitchFamily="34" charset="-34"/>
            </a:endParaRPr>
          </a:p>
        </p:txBody>
      </p:sp>
      <p:sp>
        <p:nvSpPr>
          <p:cNvPr id="114" name="Shape 5">
            <a:extLst>
              <a:ext uri="{FF2B5EF4-FFF2-40B4-BE49-F238E27FC236}">
                <a16:creationId xmlns:a16="http://schemas.microsoft.com/office/drawing/2014/main" id="{7D5A25BB-8247-6F6A-9CCC-6D783890AB97}"/>
              </a:ext>
            </a:extLst>
          </p:cNvPr>
          <p:cNvSpPr/>
          <p:nvPr/>
        </p:nvSpPr>
        <p:spPr>
          <a:xfrm>
            <a:off x="3335078" y="28239839"/>
            <a:ext cx="2634630" cy="1508522"/>
          </a:xfrm>
          <a:prstGeom prst="roundRect">
            <a:avLst>
              <a:gd name="adj" fmla="val 1233"/>
            </a:avLst>
          </a:prstGeom>
          <a:solidFill>
            <a:srgbClr val="EDEBE3"/>
          </a:solidFill>
          <a:ln/>
        </p:spPr>
      </p:sp>
      <p:sp>
        <p:nvSpPr>
          <p:cNvPr id="115" name="Text 6">
            <a:extLst>
              <a:ext uri="{FF2B5EF4-FFF2-40B4-BE49-F238E27FC236}">
                <a16:creationId xmlns:a16="http://schemas.microsoft.com/office/drawing/2014/main" id="{E9251E1E-879D-788F-A66E-F240A889DEDB}"/>
              </a:ext>
            </a:extLst>
          </p:cNvPr>
          <p:cNvSpPr/>
          <p:nvPr/>
        </p:nvSpPr>
        <p:spPr>
          <a:xfrm>
            <a:off x="3459052" y="28363813"/>
            <a:ext cx="168510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Kemitraan Lembaga</a:t>
            </a:r>
            <a:endParaRPr lang="en-US" sz="1200" dirty="0">
              <a:latin typeface="Leelawadee UI" panose="020B0502040204020203" pitchFamily="34" charset="-34"/>
              <a:cs typeface="Leelawadee UI" panose="020B0502040204020203" pitchFamily="34" charset="-34"/>
            </a:endParaRPr>
          </a:p>
        </p:txBody>
      </p:sp>
      <p:sp>
        <p:nvSpPr>
          <p:cNvPr id="116" name="Text 7">
            <a:extLst>
              <a:ext uri="{FF2B5EF4-FFF2-40B4-BE49-F238E27FC236}">
                <a16:creationId xmlns:a16="http://schemas.microsoft.com/office/drawing/2014/main" id="{F1E4C90D-32BE-D28B-6645-68C1D9828758}"/>
              </a:ext>
            </a:extLst>
          </p:cNvPr>
          <p:cNvSpPr/>
          <p:nvPr/>
        </p:nvSpPr>
        <p:spPr>
          <a:xfrm>
            <a:off x="3459052" y="28632076"/>
            <a:ext cx="2386682"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YNKI membuka peluang kemitraan dengan lembaga penelitian dan organisasi pembangunan untuk menghasilkan kajian kebijakan dan analisis spasial yang berdampak.</a:t>
            </a:r>
            <a:endParaRPr lang="en-US" sz="950" dirty="0">
              <a:latin typeface="Leelawadee UI" panose="020B0502040204020203" pitchFamily="34" charset="-34"/>
              <a:cs typeface="Leelawadee UI" panose="020B0502040204020203" pitchFamily="34" charset="-34"/>
            </a:endParaRPr>
          </a:p>
        </p:txBody>
      </p:sp>
      <p:sp>
        <p:nvSpPr>
          <p:cNvPr id="117" name="Shape 8">
            <a:extLst>
              <a:ext uri="{FF2B5EF4-FFF2-40B4-BE49-F238E27FC236}">
                <a16:creationId xmlns:a16="http://schemas.microsoft.com/office/drawing/2014/main" id="{BCCE627F-BD4F-7162-9548-C168D2AEDF38}"/>
              </a:ext>
            </a:extLst>
          </p:cNvPr>
          <p:cNvSpPr/>
          <p:nvPr/>
        </p:nvSpPr>
        <p:spPr>
          <a:xfrm>
            <a:off x="6093682" y="28239839"/>
            <a:ext cx="2634555" cy="1508522"/>
          </a:xfrm>
          <a:prstGeom prst="roundRect">
            <a:avLst>
              <a:gd name="adj" fmla="val 1233"/>
            </a:avLst>
          </a:prstGeom>
          <a:solidFill>
            <a:srgbClr val="EDEBE3"/>
          </a:solidFill>
          <a:ln/>
        </p:spPr>
      </p:sp>
      <p:sp>
        <p:nvSpPr>
          <p:cNvPr id="118" name="Text 9">
            <a:extLst>
              <a:ext uri="{FF2B5EF4-FFF2-40B4-BE49-F238E27FC236}">
                <a16:creationId xmlns:a16="http://schemas.microsoft.com/office/drawing/2014/main" id="{D6575AD8-52F2-90F3-AE9E-80E6266665DC}"/>
              </a:ext>
            </a:extLst>
          </p:cNvPr>
          <p:cNvSpPr/>
          <p:nvPr/>
        </p:nvSpPr>
        <p:spPr>
          <a:xfrm>
            <a:off x="6217655" y="28363813"/>
            <a:ext cx="231442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Berbagi Data &amp; Pengetahuan</a:t>
            </a:r>
            <a:endParaRPr lang="en-US" sz="1200" dirty="0">
              <a:latin typeface="Leelawadee UI" panose="020B0502040204020203" pitchFamily="34" charset="-34"/>
              <a:cs typeface="Leelawadee UI" panose="020B0502040204020203" pitchFamily="34" charset="-34"/>
            </a:endParaRPr>
          </a:p>
        </p:txBody>
      </p:sp>
      <p:sp>
        <p:nvSpPr>
          <p:cNvPr id="119" name="Text 10">
            <a:extLst>
              <a:ext uri="{FF2B5EF4-FFF2-40B4-BE49-F238E27FC236}">
                <a16:creationId xmlns:a16="http://schemas.microsoft.com/office/drawing/2014/main" id="{4BEA1013-368F-597A-81F4-3C9D4ACE235D}"/>
              </a:ext>
            </a:extLst>
          </p:cNvPr>
          <p:cNvSpPr/>
          <p:nvPr/>
        </p:nvSpPr>
        <p:spPr>
          <a:xfrm>
            <a:off x="6217655" y="28632076"/>
            <a:ext cx="2386608"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Akses dan berbagi data spasial, hasil survei lapangan, serta produk pengetahuan YNKI untuk mendukung riset yang lebih luas tentang lanskap tropis Indonesia.</a:t>
            </a:r>
            <a:endParaRPr lang="en-US" sz="950" dirty="0">
              <a:latin typeface="Leelawadee UI" panose="020B0502040204020203" pitchFamily="34" charset="-34"/>
              <a:cs typeface="Leelawadee UI" panose="020B0502040204020203" pitchFamily="34" charset="-34"/>
            </a:endParaRPr>
          </a:p>
        </p:txBody>
      </p:sp>
      <p:pic>
        <p:nvPicPr>
          <p:cNvPr id="120" name="Image 0" descr="preencoded.png">
            <a:hlinkClick r:id="" action="ppaction://noaction"/>
            <a:extLst>
              <a:ext uri="{FF2B5EF4-FFF2-40B4-BE49-F238E27FC236}">
                <a16:creationId xmlns:a16="http://schemas.microsoft.com/office/drawing/2014/main" id="{07C76585-8D70-B1C0-D3BA-AD6A2B5F8E43}"/>
              </a:ext>
            </a:extLst>
          </p:cNvPr>
          <p:cNvPicPr>
            <a:picLocks noChangeAspect="1"/>
          </p:cNvPicPr>
          <p:nvPr/>
        </p:nvPicPr>
        <p:blipFill>
          <a:blip r:embed="rId16"/>
          <a:stretch>
            <a:fillRect/>
          </a:stretch>
        </p:blipFill>
        <p:spPr>
          <a:xfrm>
            <a:off x="2856372" y="29887887"/>
            <a:ext cx="1968773" cy="341114"/>
          </a:xfrm>
          <a:prstGeom prst="rect">
            <a:avLst/>
          </a:prstGeom>
        </p:spPr>
      </p:pic>
      <p:pic>
        <p:nvPicPr>
          <p:cNvPr id="121" name="Image 1" descr="preencoded.png">
            <a:hlinkClick r:id="" action="ppaction://noaction"/>
            <a:extLst>
              <a:ext uri="{FF2B5EF4-FFF2-40B4-BE49-F238E27FC236}">
                <a16:creationId xmlns:a16="http://schemas.microsoft.com/office/drawing/2014/main" id="{917C945B-3CBF-719C-25EE-F35628C0FA62}"/>
              </a:ext>
            </a:extLst>
          </p:cNvPr>
          <p:cNvPicPr>
            <a:picLocks noChangeAspect="1"/>
          </p:cNvPicPr>
          <p:nvPr/>
        </p:nvPicPr>
        <p:blipFill>
          <a:blip r:embed="rId17"/>
          <a:stretch>
            <a:fillRect/>
          </a:stretch>
        </p:blipFill>
        <p:spPr>
          <a:xfrm>
            <a:off x="4887132" y="29887887"/>
            <a:ext cx="1561281" cy="341114"/>
          </a:xfrm>
          <a:prstGeom prst="rect">
            <a:avLst/>
          </a:prstGeom>
        </p:spPr>
      </p:pic>
      <p:sp>
        <p:nvSpPr>
          <p:cNvPr id="122" name="Shape 0">
            <a:extLst>
              <a:ext uri="{FF2B5EF4-FFF2-40B4-BE49-F238E27FC236}">
                <a16:creationId xmlns:a16="http://schemas.microsoft.com/office/drawing/2014/main" id="{28E22F2D-4FDA-0DCE-C14A-0ACF41DFEF20}"/>
              </a:ext>
            </a:extLst>
          </p:cNvPr>
          <p:cNvSpPr/>
          <p:nvPr/>
        </p:nvSpPr>
        <p:spPr>
          <a:xfrm>
            <a:off x="542098" y="30446951"/>
            <a:ext cx="4103191" cy="1773734"/>
          </a:xfrm>
          <a:prstGeom prst="roundRect">
            <a:avLst>
              <a:gd name="adj" fmla="val 1049"/>
            </a:avLst>
          </a:prstGeom>
          <a:solidFill>
            <a:srgbClr val="1B5E20"/>
          </a:solidFill>
          <a:ln/>
        </p:spPr>
      </p:sp>
      <p:sp>
        <p:nvSpPr>
          <p:cNvPr id="123" name="Text 1">
            <a:extLst>
              <a:ext uri="{FF2B5EF4-FFF2-40B4-BE49-F238E27FC236}">
                <a16:creationId xmlns:a16="http://schemas.microsoft.com/office/drawing/2014/main" id="{F33AF8DC-5B73-4641-0C37-811D5C4885B3}"/>
              </a:ext>
            </a:extLst>
          </p:cNvPr>
          <p:cNvSpPr/>
          <p:nvPr/>
        </p:nvSpPr>
        <p:spPr>
          <a:xfrm>
            <a:off x="666072" y="30570925"/>
            <a:ext cx="2901479" cy="19384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Leelawadee UI" panose="020B0502040204020203" pitchFamily="34" charset="-34"/>
                <a:ea typeface="DM Sans Medium" pitchFamily="34" charset="-122"/>
                <a:cs typeface="Leelawadee UI" panose="020B0502040204020203" pitchFamily="34" charset="-34"/>
              </a:rPr>
              <a:t>Yayasan Natural Kapital Indonesia</a:t>
            </a:r>
            <a:endParaRPr lang="en-US" sz="1200" dirty="0">
              <a:latin typeface="Leelawadee UI" panose="020B0502040204020203" pitchFamily="34" charset="-34"/>
              <a:cs typeface="Leelawadee UI" panose="020B0502040204020203" pitchFamily="34" charset="-34"/>
            </a:endParaRPr>
          </a:p>
        </p:txBody>
      </p:sp>
      <p:sp>
        <p:nvSpPr>
          <p:cNvPr id="124" name="Text 2">
            <a:extLst>
              <a:ext uri="{FF2B5EF4-FFF2-40B4-BE49-F238E27FC236}">
                <a16:creationId xmlns:a16="http://schemas.microsoft.com/office/drawing/2014/main" id="{FF598BAF-8F8F-365E-50A8-19B97B67139C}"/>
              </a:ext>
            </a:extLst>
          </p:cNvPr>
          <p:cNvSpPr/>
          <p:nvPr/>
        </p:nvSpPr>
        <p:spPr>
          <a:xfrm>
            <a:off x="666072" y="30888747"/>
            <a:ext cx="3855244" cy="1220316"/>
          </a:xfrm>
          <a:prstGeom prst="rect">
            <a:avLst/>
          </a:prstGeom>
          <a:noFill/>
          <a:ln/>
        </p:spPr>
        <p:txBody>
          <a:bodyPr wrap="square" lIns="0" tIns="0" rIns="0" bIns="0" rtlCol="0" anchor="t"/>
          <a:lstStyle/>
          <a:p>
            <a:pPr marL="0" indent="0" algn="l">
              <a:lnSpc>
                <a:spcPct val="133000"/>
              </a:lnSpc>
              <a:spcAft>
                <a:spcPts val="850"/>
              </a:spcAft>
              <a:buNone/>
            </a:pPr>
            <a:r>
              <a:rPr lang="en-US" sz="950" b="1" dirty="0">
                <a:solidFill>
                  <a:srgbClr val="FFFFFF"/>
                </a:solidFill>
                <a:latin typeface="Leelawadee UI" panose="020B0502040204020203" pitchFamily="34" charset="-34"/>
                <a:ea typeface="Inter" pitchFamily="34" charset="-122"/>
                <a:cs typeface="Leelawadee UI" panose="020B0502040204020203" pitchFamily="34" charset="-34"/>
              </a:rPr>
              <a:t>Nature for Life</a:t>
            </a:r>
            <a:endParaRPr lang="en-US" sz="950" dirty="0">
              <a:latin typeface="Leelawadee UI" panose="020B0502040204020203" pitchFamily="34" charset="-34"/>
              <a:cs typeface="Leelawadee UI" panose="020B0502040204020203" pitchFamily="34" charset="-34"/>
            </a:endParaRPr>
          </a:p>
          <a:p>
            <a:pPr marL="0" indent="0" algn="l">
              <a:lnSpc>
                <a:spcPct val="133000"/>
              </a:lnSpc>
              <a:spcAft>
                <a:spcPts val="850"/>
              </a:spcAft>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Strengthening Inclusive and Collaborative Landscape Governance for Healthy Landscapes and Thriving Communities.</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 Jalan Karna Sosial, Pontianak,</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Kalimantan Barat 78121</a:t>
            </a:r>
            <a:endParaRPr lang="en-US" sz="950" dirty="0">
              <a:latin typeface="Leelawadee UI" panose="020B0502040204020203" pitchFamily="34" charset="-34"/>
              <a:cs typeface="Leelawadee UI" panose="020B0502040204020203" pitchFamily="34" charset="-34"/>
            </a:endParaRPr>
          </a:p>
        </p:txBody>
      </p:sp>
      <p:sp>
        <p:nvSpPr>
          <p:cNvPr id="125" name="Text 3">
            <a:extLst>
              <a:ext uri="{FF2B5EF4-FFF2-40B4-BE49-F238E27FC236}">
                <a16:creationId xmlns:a16="http://schemas.microsoft.com/office/drawing/2014/main" id="{97B12F12-D8B1-12D6-5DC0-D6CA5870717E}"/>
              </a:ext>
            </a:extLst>
          </p:cNvPr>
          <p:cNvSpPr/>
          <p:nvPr/>
        </p:nvSpPr>
        <p:spPr>
          <a:xfrm>
            <a:off x="4863322" y="30586478"/>
            <a:ext cx="3924598" cy="1240408"/>
          </a:xfrm>
          <a:prstGeom prst="rect">
            <a:avLst/>
          </a:prstGeom>
          <a:noFill/>
          <a:ln/>
        </p:spPr>
        <p:txBody>
          <a:bodyPr wrap="square" lIns="0" tIns="0" rIns="0" bIns="0" rtlCol="0" anchor="t">
            <a:normAutofit/>
          </a:bodyPr>
          <a:lstStyle/>
          <a:p>
            <a:pPr marL="0" indent="0" algn="l">
              <a:lnSpc>
                <a:spcPct val="133000"/>
              </a:lnSpc>
              <a:buNone/>
            </a:pPr>
            <a:endParaRPr lang="en-US" sz="950" dirty="0">
              <a:latin typeface="Leelawadee UI" panose="020B0502040204020203" pitchFamily="34" charset="-34"/>
              <a:cs typeface="Leelawadee UI" panose="020B0502040204020203" pitchFamily="34" charset="-34"/>
            </a:endParaRPr>
          </a:p>
        </p:txBody>
      </p:sp>
      <p:sp>
        <p:nvSpPr>
          <p:cNvPr id="126" name="Text 4">
            <a:extLst>
              <a:ext uri="{FF2B5EF4-FFF2-40B4-BE49-F238E27FC236}">
                <a16:creationId xmlns:a16="http://schemas.microsoft.com/office/drawing/2014/main" id="{E10610BC-3E7A-1F3A-69F7-077A958D3C39}"/>
              </a:ext>
            </a:extLst>
          </p:cNvPr>
          <p:cNvSpPr/>
          <p:nvPr/>
        </p:nvSpPr>
        <p:spPr>
          <a:xfrm>
            <a:off x="4863322" y="30586478"/>
            <a:ext cx="3924598" cy="1240408"/>
          </a:xfrm>
          <a:prstGeom prst="rect">
            <a:avLst/>
          </a:prstGeom>
          <a:noFill/>
          <a:ln/>
        </p:spPr>
        <p:txBody>
          <a:bodyPr wrap="square" lIns="0" tIns="0" rIns="0" bIns="0" rtlCol="0" anchor="t">
            <a:normAutofit/>
          </a:bodyPr>
          <a:lstStyle/>
          <a:p>
            <a:pPr marL="0" indent="0" algn="l">
              <a:lnSpc>
                <a:spcPct val="133000"/>
              </a:lnSpc>
              <a:buNone/>
            </a:pP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endParaRPr lang="en-US" sz="950" dirty="0">
              <a:latin typeface="Leelawadee UI" panose="020B0502040204020203" pitchFamily="34" charset="-34"/>
              <a:cs typeface="Leelawadee UI" panose="020B0502040204020203" pitchFamily="34" charset="-34"/>
            </a:endParaRPr>
          </a:p>
        </p:txBody>
      </p:sp>
      <p:sp>
        <p:nvSpPr>
          <p:cNvPr id="127" name="Text 5">
            <a:extLst>
              <a:ext uri="{FF2B5EF4-FFF2-40B4-BE49-F238E27FC236}">
                <a16:creationId xmlns:a16="http://schemas.microsoft.com/office/drawing/2014/main" id="{149D4638-57A8-8C40-BC4C-C2459B129E20}"/>
              </a:ext>
            </a:extLst>
          </p:cNvPr>
          <p:cNvSpPr/>
          <p:nvPr/>
        </p:nvSpPr>
        <p:spPr>
          <a:xfrm>
            <a:off x="4863322" y="30586478"/>
            <a:ext cx="3924598" cy="1240408"/>
          </a:xfrm>
          <a:prstGeom prst="rect">
            <a:avLst/>
          </a:prstGeom>
          <a:noFill/>
          <a:ln/>
        </p:spPr>
        <p:txBody>
          <a:bodyPr wrap="square" lIns="0" tIns="0" rIns="0" bIns="0" rtlCol="0" anchor="t">
            <a:normAutofit/>
          </a:bodyPr>
          <a:lstStyle/>
          <a:p>
            <a:pPr marL="0" indent="0" algn="l">
              <a:lnSpc>
                <a:spcPct val="133000"/>
              </a:lnSpc>
              <a:buNone/>
            </a:pPr>
            <a:endParaRPr lang="en-US" sz="950" dirty="0">
              <a:latin typeface="Leelawadee UI" panose="020B0502040204020203" pitchFamily="34" charset="-34"/>
              <a:cs typeface="Leelawadee UI" panose="020B0502040204020203" pitchFamily="34" charset="-34"/>
            </a:endParaRPr>
          </a:p>
        </p:txBody>
      </p:sp>
      <p:sp>
        <p:nvSpPr>
          <p:cNvPr id="128" name="Text 6">
            <a:extLst>
              <a:ext uri="{FF2B5EF4-FFF2-40B4-BE49-F238E27FC236}">
                <a16:creationId xmlns:a16="http://schemas.microsoft.com/office/drawing/2014/main" id="{A61D7479-5DE7-5950-FF4E-E24EBFBC43FE}"/>
              </a:ext>
            </a:extLst>
          </p:cNvPr>
          <p:cNvSpPr/>
          <p:nvPr/>
        </p:nvSpPr>
        <p:spPr>
          <a:xfrm>
            <a:off x="4863322" y="30586478"/>
            <a:ext cx="3924598" cy="1240408"/>
          </a:xfrm>
          <a:prstGeom prst="rect">
            <a:avLst/>
          </a:prstGeom>
          <a:noFill/>
          <a:ln/>
        </p:spPr>
        <p:txBody>
          <a:bodyPr wrap="square" lIns="0" tIns="0" rIns="0" bIns="0" rtlCol="0" anchor="t">
            <a:normAutofit/>
          </a:bodyPr>
          <a:lstStyle/>
          <a:p>
            <a:pPr marL="0" indent="0" algn="l">
              <a:lnSpc>
                <a:spcPct val="133000"/>
              </a:lnSpc>
              <a:buNone/>
            </a:pPr>
            <a:endParaRPr lang="en-US" sz="950" dirty="0">
              <a:latin typeface="Leelawadee UI" panose="020B0502040204020203" pitchFamily="34" charset="-34"/>
              <a:cs typeface="Leelawadee UI" panose="020B0502040204020203" pitchFamily="34" charset="-34"/>
            </a:endParaRPr>
          </a:p>
        </p:txBody>
      </p:sp>
      <p:sp>
        <p:nvSpPr>
          <p:cNvPr id="129" name="Text 7">
            <a:extLst>
              <a:ext uri="{FF2B5EF4-FFF2-40B4-BE49-F238E27FC236}">
                <a16:creationId xmlns:a16="http://schemas.microsoft.com/office/drawing/2014/main" id="{641454FE-DA9D-0371-D49E-691944A4C69D}"/>
              </a:ext>
            </a:extLst>
          </p:cNvPr>
          <p:cNvSpPr/>
          <p:nvPr/>
        </p:nvSpPr>
        <p:spPr>
          <a:xfrm>
            <a:off x="4863322" y="30586478"/>
            <a:ext cx="3924598" cy="1240408"/>
          </a:xfrm>
          <a:prstGeom prst="rect">
            <a:avLst/>
          </a:prstGeom>
          <a:noFill/>
          <a:ln/>
        </p:spPr>
        <p:txBody>
          <a:bodyPr wrap="square" lIns="0" tIns="0" rIns="0" bIns="0" rtlCol="0" anchor="t">
            <a:normAutofit/>
          </a:bodyPr>
          <a:lstStyle/>
          <a:p>
            <a:pPr marL="0" indent="0" algn="l">
              <a:lnSpc>
                <a:spcPct val="133000"/>
              </a:lnSpc>
              <a:buNone/>
            </a:pPr>
            <a:endParaRPr lang="en-US" sz="950" dirty="0">
              <a:latin typeface="Leelawadee UI" panose="020B0502040204020203" pitchFamily="34" charset="-34"/>
              <a:cs typeface="Leelawadee UI" panose="020B0502040204020203" pitchFamily="34" charset="-34"/>
            </a:endParaRPr>
          </a:p>
        </p:txBody>
      </p:sp>
      <p:pic>
        <p:nvPicPr>
          <p:cNvPr id="130" name="Image 0" descr="preencoded.png">
            <a:extLst>
              <a:ext uri="{FF2B5EF4-FFF2-40B4-BE49-F238E27FC236}">
                <a16:creationId xmlns:a16="http://schemas.microsoft.com/office/drawing/2014/main" id="{63CD2906-8095-AB30-71DC-A837CA99B745}"/>
              </a:ext>
            </a:extLst>
          </p:cNvPr>
          <p:cNvPicPr>
            <a:picLocks noChangeAspect="1"/>
          </p:cNvPicPr>
          <p:nvPr/>
        </p:nvPicPr>
        <p:blipFill>
          <a:blip r:embed="rId18"/>
          <a:stretch>
            <a:fillRect/>
          </a:stretch>
        </p:blipFill>
        <p:spPr>
          <a:xfrm>
            <a:off x="4863322" y="30586478"/>
            <a:ext cx="3924598" cy="1240408"/>
          </a:xfrm>
          <a:prstGeom prst="rect">
            <a:avLst/>
          </a:prstGeom>
        </p:spPr>
      </p:pic>
    </p:spTree>
    <p:extLst>
      <p:ext uri="{BB962C8B-B14F-4D97-AF65-F5344CB8AC3E}">
        <p14:creationId xmlns:p14="http://schemas.microsoft.com/office/powerpoint/2010/main" val="208444720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13</TotalTime>
  <Words>834</Words>
  <Application>Microsoft Office PowerPoint</Application>
  <PresentationFormat>Custom</PresentationFormat>
  <Paragraphs>74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Leelawadee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haryono sadikin</dc:creator>
  <cp:lastModifiedBy>haryono sadikin</cp:lastModifiedBy>
  <cp:revision>2</cp:revision>
  <dcterms:created xsi:type="dcterms:W3CDTF">2026-06-22T13:20:36Z</dcterms:created>
  <dcterms:modified xsi:type="dcterms:W3CDTF">2026-06-22T13:34:25Z</dcterms:modified>
</cp:coreProperties>
</file>