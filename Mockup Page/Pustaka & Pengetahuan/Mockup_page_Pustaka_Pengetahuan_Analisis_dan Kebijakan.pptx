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8999538" cy="323992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053" autoAdjust="0"/>
  </p:normalViewPr>
  <p:slideViewPr>
    <p:cSldViewPr snapToGrid="0">
      <p:cViewPr>
        <p:scale>
          <a:sx n="60" d="100"/>
          <a:sy n="60" d="100"/>
        </p:scale>
        <p:origin x="3066"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74966" y="5302386"/>
            <a:ext cx="7649607" cy="11279752"/>
          </a:xfrm>
        </p:spPr>
        <p:txBody>
          <a:bodyPr anchor="b"/>
          <a:lstStyle>
            <a:lvl1pPr algn="ctr">
              <a:defRPr sz="5905"/>
            </a:lvl1pPr>
          </a:lstStyle>
          <a:p>
            <a:r>
              <a:rPr lang="en-US"/>
              <a:t>Click to edit Master title style</a:t>
            </a:r>
            <a:endParaRPr lang="en-US" dirty="0"/>
          </a:p>
        </p:txBody>
      </p:sp>
      <p:sp>
        <p:nvSpPr>
          <p:cNvPr id="3" name="Subtitle 2"/>
          <p:cNvSpPr>
            <a:spLocks noGrp="1"/>
          </p:cNvSpPr>
          <p:nvPr>
            <p:ph type="subTitle" idx="1"/>
          </p:nvPr>
        </p:nvSpPr>
        <p:spPr>
          <a:xfrm>
            <a:off x="1124942" y="17017128"/>
            <a:ext cx="6749654" cy="7822326"/>
          </a:xfrm>
        </p:spPr>
        <p:txBody>
          <a:bodyPr/>
          <a:lstStyle>
            <a:lvl1pPr marL="0" indent="0" algn="ctr">
              <a:buNone/>
              <a:defRPr sz="2362"/>
            </a:lvl1pPr>
            <a:lvl2pPr marL="449976" indent="0" algn="ctr">
              <a:buNone/>
              <a:defRPr sz="1968"/>
            </a:lvl2pPr>
            <a:lvl3pPr marL="899952" indent="0" algn="ctr">
              <a:buNone/>
              <a:defRPr sz="1772"/>
            </a:lvl3pPr>
            <a:lvl4pPr marL="1349929" indent="0" algn="ctr">
              <a:buNone/>
              <a:defRPr sz="1575"/>
            </a:lvl4pPr>
            <a:lvl5pPr marL="1799905" indent="0" algn="ctr">
              <a:buNone/>
              <a:defRPr sz="1575"/>
            </a:lvl5pPr>
            <a:lvl6pPr marL="2249881" indent="0" algn="ctr">
              <a:buNone/>
              <a:defRPr sz="1575"/>
            </a:lvl6pPr>
            <a:lvl7pPr marL="2699857" indent="0" algn="ctr">
              <a:buNone/>
              <a:defRPr sz="1575"/>
            </a:lvl7pPr>
            <a:lvl8pPr marL="3149834" indent="0" algn="ctr">
              <a:buNone/>
              <a:defRPr sz="1575"/>
            </a:lvl8pPr>
            <a:lvl9pPr marL="3599810" indent="0" algn="ctr">
              <a:buNone/>
              <a:defRPr sz="157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9998689-E754-4E9C-A8EF-CEEA26DB03BE}"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FB93D7C7-A238-4105-8E53-458CC0202E66}" type="slidenum">
              <a:rPr lang="en-ID" smtClean="0"/>
              <a:t>‹#›</a:t>
            </a:fld>
            <a:endParaRPr lang="en-ID"/>
          </a:p>
        </p:txBody>
      </p:sp>
    </p:spTree>
    <p:extLst>
      <p:ext uri="{BB962C8B-B14F-4D97-AF65-F5344CB8AC3E}">
        <p14:creationId xmlns:p14="http://schemas.microsoft.com/office/powerpoint/2010/main" val="1002718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998689-E754-4E9C-A8EF-CEEA26DB03BE}"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FB93D7C7-A238-4105-8E53-458CC0202E66}" type="slidenum">
              <a:rPr lang="en-ID" smtClean="0"/>
              <a:t>‹#›</a:t>
            </a:fld>
            <a:endParaRPr lang="en-ID"/>
          </a:p>
        </p:txBody>
      </p:sp>
    </p:spTree>
    <p:extLst>
      <p:ext uri="{BB962C8B-B14F-4D97-AF65-F5344CB8AC3E}">
        <p14:creationId xmlns:p14="http://schemas.microsoft.com/office/powerpoint/2010/main" val="1591093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4031" y="8077332"/>
            <a:ext cx="7762102" cy="13477201"/>
          </a:xfrm>
        </p:spPr>
        <p:txBody>
          <a:bodyPr anchor="b"/>
          <a:lstStyle>
            <a:lvl1pPr>
              <a:defRPr sz="5905"/>
            </a:lvl1pPr>
          </a:lstStyle>
          <a:p>
            <a:r>
              <a:rPr lang="en-US"/>
              <a:t>Click to edit Master title style</a:t>
            </a:r>
            <a:endParaRPr lang="en-US" dirty="0"/>
          </a:p>
        </p:txBody>
      </p:sp>
      <p:sp>
        <p:nvSpPr>
          <p:cNvPr id="3" name="Text Placeholder 2"/>
          <p:cNvSpPr>
            <a:spLocks noGrp="1"/>
          </p:cNvSpPr>
          <p:nvPr>
            <p:ph type="body" idx="1"/>
          </p:nvPr>
        </p:nvSpPr>
        <p:spPr>
          <a:xfrm>
            <a:off x="614031" y="21682033"/>
            <a:ext cx="7762102" cy="7087342"/>
          </a:xfrm>
        </p:spPr>
        <p:txBody>
          <a:bodyPr/>
          <a:lstStyle>
            <a:lvl1pPr marL="0" indent="0">
              <a:buNone/>
              <a:defRPr sz="2362">
                <a:solidFill>
                  <a:schemeClr val="tx1"/>
                </a:solidFill>
              </a:defRPr>
            </a:lvl1pPr>
            <a:lvl2pPr marL="449976" indent="0">
              <a:buNone/>
              <a:defRPr sz="1968">
                <a:solidFill>
                  <a:schemeClr val="tx1">
                    <a:tint val="75000"/>
                  </a:schemeClr>
                </a:solidFill>
              </a:defRPr>
            </a:lvl2pPr>
            <a:lvl3pPr marL="899952" indent="0">
              <a:buNone/>
              <a:defRPr sz="1772">
                <a:solidFill>
                  <a:schemeClr val="tx1">
                    <a:tint val="75000"/>
                  </a:schemeClr>
                </a:solidFill>
              </a:defRPr>
            </a:lvl3pPr>
            <a:lvl4pPr marL="1349929" indent="0">
              <a:buNone/>
              <a:defRPr sz="1575">
                <a:solidFill>
                  <a:schemeClr val="tx1">
                    <a:tint val="75000"/>
                  </a:schemeClr>
                </a:solidFill>
              </a:defRPr>
            </a:lvl4pPr>
            <a:lvl5pPr marL="1799905" indent="0">
              <a:buNone/>
              <a:defRPr sz="1575">
                <a:solidFill>
                  <a:schemeClr val="tx1">
                    <a:tint val="75000"/>
                  </a:schemeClr>
                </a:solidFill>
              </a:defRPr>
            </a:lvl5pPr>
            <a:lvl6pPr marL="2249881" indent="0">
              <a:buNone/>
              <a:defRPr sz="1575">
                <a:solidFill>
                  <a:schemeClr val="tx1">
                    <a:tint val="75000"/>
                  </a:schemeClr>
                </a:solidFill>
              </a:defRPr>
            </a:lvl6pPr>
            <a:lvl7pPr marL="2699857" indent="0">
              <a:buNone/>
              <a:defRPr sz="1575">
                <a:solidFill>
                  <a:schemeClr val="tx1">
                    <a:tint val="75000"/>
                  </a:schemeClr>
                </a:solidFill>
              </a:defRPr>
            </a:lvl7pPr>
            <a:lvl8pPr marL="3149834" indent="0">
              <a:buNone/>
              <a:defRPr sz="1575">
                <a:solidFill>
                  <a:schemeClr val="tx1">
                    <a:tint val="75000"/>
                  </a:schemeClr>
                </a:solidFill>
              </a:defRPr>
            </a:lvl8pPr>
            <a:lvl9pPr marL="3599810" indent="0">
              <a:buNone/>
              <a:defRPr sz="157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998689-E754-4E9C-A8EF-CEEA26DB03BE}"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FB93D7C7-A238-4105-8E53-458CC0202E66}" type="slidenum">
              <a:rPr lang="en-ID" smtClean="0"/>
              <a:t>‹#›</a:t>
            </a:fld>
            <a:endParaRPr lang="en-ID"/>
          </a:p>
        </p:txBody>
      </p:sp>
    </p:spTree>
    <p:extLst>
      <p:ext uri="{BB962C8B-B14F-4D97-AF65-F5344CB8AC3E}">
        <p14:creationId xmlns:p14="http://schemas.microsoft.com/office/powerpoint/2010/main" val="3911860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18718" y="8624810"/>
            <a:ext cx="3824804" cy="205570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56016" y="8624810"/>
            <a:ext cx="3824804" cy="205570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9998689-E754-4E9C-A8EF-CEEA26DB03BE}"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FB93D7C7-A238-4105-8E53-458CC0202E66}" type="slidenum">
              <a:rPr lang="en-ID" smtClean="0"/>
              <a:t>‹#›</a:t>
            </a:fld>
            <a:endParaRPr lang="en-ID"/>
          </a:p>
        </p:txBody>
      </p:sp>
    </p:spTree>
    <p:extLst>
      <p:ext uri="{BB962C8B-B14F-4D97-AF65-F5344CB8AC3E}">
        <p14:creationId xmlns:p14="http://schemas.microsoft.com/office/powerpoint/2010/main" val="676819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9890" y="1724969"/>
            <a:ext cx="7762102" cy="626236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19891" y="7942328"/>
            <a:ext cx="3807226" cy="3892412"/>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4" name="Content Placeholder 3"/>
          <p:cNvSpPr>
            <a:spLocks noGrp="1"/>
          </p:cNvSpPr>
          <p:nvPr>
            <p:ph sz="half" idx="2"/>
          </p:nvPr>
        </p:nvSpPr>
        <p:spPr>
          <a:xfrm>
            <a:off x="619891" y="11834740"/>
            <a:ext cx="3807226" cy="174071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56017" y="7942328"/>
            <a:ext cx="3825976" cy="3892412"/>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6" name="Content Placeholder 5"/>
          <p:cNvSpPr>
            <a:spLocks noGrp="1"/>
          </p:cNvSpPr>
          <p:nvPr>
            <p:ph sz="quarter" idx="4"/>
          </p:nvPr>
        </p:nvSpPr>
        <p:spPr>
          <a:xfrm>
            <a:off x="4556017" y="11834740"/>
            <a:ext cx="3825976" cy="174071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998689-E754-4E9C-A8EF-CEEA26DB03BE}" type="datetimeFigureOut">
              <a:rPr lang="en-ID" smtClean="0"/>
              <a:t>22/06/2026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FB93D7C7-A238-4105-8E53-458CC0202E66}" type="slidenum">
              <a:rPr lang="en-ID" smtClean="0"/>
              <a:t>‹#›</a:t>
            </a:fld>
            <a:endParaRPr lang="en-ID"/>
          </a:p>
        </p:txBody>
      </p:sp>
    </p:spTree>
    <p:extLst>
      <p:ext uri="{BB962C8B-B14F-4D97-AF65-F5344CB8AC3E}">
        <p14:creationId xmlns:p14="http://schemas.microsoft.com/office/powerpoint/2010/main" val="2061891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998689-E754-4E9C-A8EF-CEEA26DB03BE}" type="datetimeFigureOut">
              <a:rPr lang="en-ID" smtClean="0"/>
              <a:t>22/06/2026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FB93D7C7-A238-4105-8E53-458CC0202E66}" type="slidenum">
              <a:rPr lang="en-ID" smtClean="0"/>
              <a:t>‹#›</a:t>
            </a:fld>
            <a:endParaRPr lang="en-ID"/>
          </a:p>
        </p:txBody>
      </p:sp>
    </p:spTree>
    <p:extLst>
      <p:ext uri="{BB962C8B-B14F-4D97-AF65-F5344CB8AC3E}">
        <p14:creationId xmlns:p14="http://schemas.microsoft.com/office/powerpoint/2010/main" val="1286200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998689-E754-4E9C-A8EF-CEEA26DB03BE}" type="datetimeFigureOut">
              <a:rPr lang="en-ID" smtClean="0"/>
              <a:t>22/06/2026</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FB93D7C7-A238-4105-8E53-458CC0202E66}" type="slidenum">
              <a:rPr lang="en-ID" smtClean="0"/>
              <a:t>‹#›</a:t>
            </a:fld>
            <a:endParaRPr lang="en-ID"/>
          </a:p>
        </p:txBody>
      </p:sp>
    </p:spTree>
    <p:extLst>
      <p:ext uri="{BB962C8B-B14F-4D97-AF65-F5344CB8AC3E}">
        <p14:creationId xmlns:p14="http://schemas.microsoft.com/office/powerpoint/2010/main" val="2169680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159952"/>
            <a:ext cx="2902585" cy="7559834"/>
          </a:xfrm>
        </p:spPr>
        <p:txBody>
          <a:bodyPr anchor="b"/>
          <a:lstStyle>
            <a:lvl1pPr>
              <a:defRPr sz="3149"/>
            </a:lvl1pPr>
          </a:lstStyle>
          <a:p>
            <a:r>
              <a:rPr lang="en-US"/>
              <a:t>Click to edit Master title style</a:t>
            </a:r>
            <a:endParaRPr lang="en-US" dirty="0"/>
          </a:p>
        </p:txBody>
      </p:sp>
      <p:sp>
        <p:nvSpPr>
          <p:cNvPr id="3" name="Content Placeholder 2"/>
          <p:cNvSpPr>
            <a:spLocks noGrp="1"/>
          </p:cNvSpPr>
          <p:nvPr>
            <p:ph idx="1"/>
          </p:nvPr>
        </p:nvSpPr>
        <p:spPr>
          <a:xfrm>
            <a:off x="3825976" y="4664905"/>
            <a:ext cx="4556016" cy="23024494"/>
          </a:xfrm>
        </p:spPr>
        <p:txBody>
          <a:bodyPr/>
          <a:lstStyle>
            <a:lvl1pPr>
              <a:defRPr sz="3149"/>
            </a:lvl1pPr>
            <a:lvl2pPr>
              <a:defRPr sz="2756"/>
            </a:lvl2pPr>
            <a:lvl3pPr>
              <a:defRPr sz="2362"/>
            </a:lvl3pPr>
            <a:lvl4pPr>
              <a:defRPr sz="1968"/>
            </a:lvl4pPr>
            <a:lvl5pPr>
              <a:defRPr sz="1968"/>
            </a:lvl5pPr>
            <a:lvl6pPr>
              <a:defRPr sz="1968"/>
            </a:lvl6pPr>
            <a:lvl7pPr>
              <a:defRPr sz="1968"/>
            </a:lvl7pPr>
            <a:lvl8pPr>
              <a:defRPr sz="1968"/>
            </a:lvl8pPr>
            <a:lvl9pPr>
              <a:defRPr sz="196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19891" y="9719786"/>
            <a:ext cx="2902585" cy="18007107"/>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89998689-E754-4E9C-A8EF-CEEA26DB03BE}"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FB93D7C7-A238-4105-8E53-458CC0202E66}" type="slidenum">
              <a:rPr lang="en-ID" smtClean="0"/>
              <a:t>‹#›</a:t>
            </a:fld>
            <a:endParaRPr lang="en-ID"/>
          </a:p>
        </p:txBody>
      </p:sp>
    </p:spTree>
    <p:extLst>
      <p:ext uri="{BB962C8B-B14F-4D97-AF65-F5344CB8AC3E}">
        <p14:creationId xmlns:p14="http://schemas.microsoft.com/office/powerpoint/2010/main" val="522688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159952"/>
            <a:ext cx="2902585" cy="7559834"/>
          </a:xfrm>
        </p:spPr>
        <p:txBody>
          <a:bodyPr anchor="b"/>
          <a:lstStyle>
            <a:lvl1pPr>
              <a:defRPr sz="3149"/>
            </a:lvl1pPr>
          </a:lstStyle>
          <a:p>
            <a:r>
              <a:rPr lang="en-US"/>
              <a:t>Click to edit Master title style</a:t>
            </a:r>
            <a:endParaRPr lang="en-US" dirty="0"/>
          </a:p>
        </p:txBody>
      </p:sp>
      <p:sp>
        <p:nvSpPr>
          <p:cNvPr id="3" name="Picture Placeholder 2"/>
          <p:cNvSpPr>
            <a:spLocks noGrp="1" noChangeAspect="1"/>
          </p:cNvSpPr>
          <p:nvPr>
            <p:ph type="pic" idx="1"/>
          </p:nvPr>
        </p:nvSpPr>
        <p:spPr>
          <a:xfrm>
            <a:off x="3825976" y="4664905"/>
            <a:ext cx="4556016" cy="23024494"/>
          </a:xfrm>
        </p:spPr>
        <p:txBody>
          <a:bodyPr anchor="t"/>
          <a:lstStyle>
            <a:lvl1pPr marL="0" indent="0">
              <a:buNone/>
              <a:defRPr sz="3149"/>
            </a:lvl1pPr>
            <a:lvl2pPr marL="449976" indent="0">
              <a:buNone/>
              <a:defRPr sz="2756"/>
            </a:lvl2pPr>
            <a:lvl3pPr marL="899952" indent="0">
              <a:buNone/>
              <a:defRPr sz="2362"/>
            </a:lvl3pPr>
            <a:lvl4pPr marL="1349929" indent="0">
              <a:buNone/>
              <a:defRPr sz="1968"/>
            </a:lvl4pPr>
            <a:lvl5pPr marL="1799905" indent="0">
              <a:buNone/>
              <a:defRPr sz="1968"/>
            </a:lvl5pPr>
            <a:lvl6pPr marL="2249881" indent="0">
              <a:buNone/>
              <a:defRPr sz="1968"/>
            </a:lvl6pPr>
            <a:lvl7pPr marL="2699857" indent="0">
              <a:buNone/>
              <a:defRPr sz="1968"/>
            </a:lvl7pPr>
            <a:lvl8pPr marL="3149834" indent="0">
              <a:buNone/>
              <a:defRPr sz="1968"/>
            </a:lvl8pPr>
            <a:lvl9pPr marL="3599810" indent="0">
              <a:buNone/>
              <a:defRPr sz="1968"/>
            </a:lvl9pPr>
          </a:lstStyle>
          <a:p>
            <a:r>
              <a:rPr lang="en-US"/>
              <a:t>Click icon to add picture</a:t>
            </a:r>
            <a:endParaRPr lang="en-US" dirty="0"/>
          </a:p>
        </p:txBody>
      </p:sp>
      <p:sp>
        <p:nvSpPr>
          <p:cNvPr id="4" name="Text Placeholder 3"/>
          <p:cNvSpPr>
            <a:spLocks noGrp="1"/>
          </p:cNvSpPr>
          <p:nvPr>
            <p:ph type="body" sz="half" idx="2"/>
          </p:nvPr>
        </p:nvSpPr>
        <p:spPr>
          <a:xfrm>
            <a:off x="619891" y="9719786"/>
            <a:ext cx="2902585" cy="18007107"/>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89998689-E754-4E9C-A8EF-CEEA26DB03BE}"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FB93D7C7-A238-4105-8E53-458CC0202E66}" type="slidenum">
              <a:rPr lang="en-ID" smtClean="0"/>
              <a:t>‹#›</a:t>
            </a:fld>
            <a:endParaRPr lang="en-ID"/>
          </a:p>
        </p:txBody>
      </p:sp>
    </p:spTree>
    <p:extLst>
      <p:ext uri="{BB962C8B-B14F-4D97-AF65-F5344CB8AC3E}">
        <p14:creationId xmlns:p14="http://schemas.microsoft.com/office/powerpoint/2010/main" val="3588601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998689-E754-4E9C-A8EF-CEEA26DB03BE}"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FB93D7C7-A238-4105-8E53-458CC0202E66}" type="slidenum">
              <a:rPr lang="en-ID" smtClean="0"/>
              <a:t>‹#›</a:t>
            </a:fld>
            <a:endParaRPr lang="en-ID"/>
          </a:p>
        </p:txBody>
      </p:sp>
    </p:spTree>
    <p:extLst>
      <p:ext uri="{BB962C8B-B14F-4D97-AF65-F5344CB8AC3E}">
        <p14:creationId xmlns:p14="http://schemas.microsoft.com/office/powerpoint/2010/main" val="2749804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0295" y="1724962"/>
            <a:ext cx="1940525" cy="2745689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18719" y="1724962"/>
            <a:ext cx="5709082" cy="274568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998689-E754-4E9C-A8EF-CEEA26DB03BE}"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FB93D7C7-A238-4105-8E53-458CC0202E66}" type="slidenum">
              <a:rPr lang="en-ID" smtClean="0"/>
              <a:t>‹#›</a:t>
            </a:fld>
            <a:endParaRPr lang="en-ID"/>
          </a:p>
        </p:txBody>
      </p:sp>
    </p:spTree>
    <p:extLst>
      <p:ext uri="{BB962C8B-B14F-4D97-AF65-F5344CB8AC3E}">
        <p14:creationId xmlns:p14="http://schemas.microsoft.com/office/powerpoint/2010/main" val="1139381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8718" y="1724969"/>
            <a:ext cx="7762102" cy="62623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18718" y="8624810"/>
            <a:ext cx="7762102" cy="205570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18718" y="30029347"/>
            <a:ext cx="2024896" cy="1724962"/>
          </a:xfrm>
          <a:prstGeom prst="rect">
            <a:avLst/>
          </a:prstGeom>
        </p:spPr>
        <p:txBody>
          <a:bodyPr vert="horz" lIns="91440" tIns="45720" rIns="91440" bIns="45720" rtlCol="0" anchor="ctr"/>
          <a:lstStyle>
            <a:lvl1pPr algn="l">
              <a:defRPr sz="1181">
                <a:solidFill>
                  <a:schemeClr val="tx1">
                    <a:tint val="75000"/>
                  </a:schemeClr>
                </a:solidFill>
              </a:defRPr>
            </a:lvl1pPr>
          </a:lstStyle>
          <a:p>
            <a:fld id="{89998689-E754-4E9C-A8EF-CEEA26DB03BE}" type="datetimeFigureOut">
              <a:rPr lang="en-ID" smtClean="0"/>
              <a:t>22/06/2026</a:t>
            </a:fld>
            <a:endParaRPr lang="en-ID"/>
          </a:p>
        </p:txBody>
      </p:sp>
      <p:sp>
        <p:nvSpPr>
          <p:cNvPr id="5" name="Footer Placeholder 4"/>
          <p:cNvSpPr>
            <a:spLocks noGrp="1"/>
          </p:cNvSpPr>
          <p:nvPr>
            <p:ph type="ftr" sz="quarter" idx="3"/>
          </p:nvPr>
        </p:nvSpPr>
        <p:spPr>
          <a:xfrm>
            <a:off x="2981097" y="30029347"/>
            <a:ext cx="3037344" cy="1724962"/>
          </a:xfrm>
          <a:prstGeom prst="rect">
            <a:avLst/>
          </a:prstGeom>
        </p:spPr>
        <p:txBody>
          <a:bodyPr vert="horz" lIns="91440" tIns="45720" rIns="91440" bIns="45720" rtlCol="0" anchor="ctr"/>
          <a:lstStyle>
            <a:lvl1pPr algn="ctr">
              <a:defRPr sz="1181">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6355924" y="30029347"/>
            <a:ext cx="2024896" cy="1724962"/>
          </a:xfrm>
          <a:prstGeom prst="rect">
            <a:avLst/>
          </a:prstGeom>
        </p:spPr>
        <p:txBody>
          <a:bodyPr vert="horz" lIns="91440" tIns="45720" rIns="91440" bIns="45720" rtlCol="0" anchor="ctr"/>
          <a:lstStyle>
            <a:lvl1pPr algn="r">
              <a:defRPr sz="1181">
                <a:solidFill>
                  <a:schemeClr val="tx1">
                    <a:tint val="75000"/>
                  </a:schemeClr>
                </a:solidFill>
              </a:defRPr>
            </a:lvl1pPr>
          </a:lstStyle>
          <a:p>
            <a:fld id="{FB93D7C7-A238-4105-8E53-458CC0202E66}" type="slidenum">
              <a:rPr lang="en-ID" smtClean="0"/>
              <a:t>‹#›</a:t>
            </a:fld>
            <a:endParaRPr lang="en-ID"/>
          </a:p>
        </p:txBody>
      </p:sp>
    </p:spTree>
    <p:extLst>
      <p:ext uri="{BB962C8B-B14F-4D97-AF65-F5344CB8AC3E}">
        <p14:creationId xmlns:p14="http://schemas.microsoft.com/office/powerpoint/2010/main" val="42762647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899952" rtl="0" eaLnBrk="1" latinLnBrk="0" hangingPunct="1">
        <a:lnSpc>
          <a:spcPct val="90000"/>
        </a:lnSpc>
        <a:spcBef>
          <a:spcPct val="0"/>
        </a:spcBef>
        <a:buNone/>
        <a:defRPr sz="4330" kern="1200">
          <a:solidFill>
            <a:schemeClr val="tx1"/>
          </a:solidFill>
          <a:latin typeface="+mj-lt"/>
          <a:ea typeface="+mj-ea"/>
          <a:cs typeface="+mj-cs"/>
        </a:defRPr>
      </a:lvl1pPr>
    </p:titleStyle>
    <p:bodyStyle>
      <a:lvl1pPr marL="224988" indent="-224988" algn="l" defTabSz="899952" rtl="0" eaLnBrk="1" latinLnBrk="0" hangingPunct="1">
        <a:lnSpc>
          <a:spcPct val="90000"/>
        </a:lnSpc>
        <a:spcBef>
          <a:spcPts val="984"/>
        </a:spcBef>
        <a:buFont typeface="Arial" panose="020B0604020202020204" pitchFamily="34" charset="0"/>
        <a:buChar char="•"/>
        <a:defRPr sz="2756" kern="1200">
          <a:solidFill>
            <a:schemeClr val="tx1"/>
          </a:solidFill>
          <a:latin typeface="+mn-lt"/>
          <a:ea typeface="+mn-ea"/>
          <a:cs typeface="+mn-cs"/>
        </a:defRPr>
      </a:lvl1pPr>
      <a:lvl2pPr marL="674964" indent="-224988" algn="l" defTabSz="899952" rtl="0" eaLnBrk="1" latinLnBrk="0" hangingPunct="1">
        <a:lnSpc>
          <a:spcPct val="90000"/>
        </a:lnSpc>
        <a:spcBef>
          <a:spcPts val="492"/>
        </a:spcBef>
        <a:buFont typeface="Arial" panose="020B0604020202020204" pitchFamily="34" charset="0"/>
        <a:buChar char="•"/>
        <a:defRPr sz="2362" kern="1200">
          <a:solidFill>
            <a:schemeClr val="tx1"/>
          </a:solidFill>
          <a:latin typeface="+mn-lt"/>
          <a:ea typeface="+mn-ea"/>
          <a:cs typeface="+mn-cs"/>
        </a:defRPr>
      </a:lvl2pPr>
      <a:lvl3pPr marL="1124941" indent="-224988" algn="l" defTabSz="899952" rtl="0" eaLnBrk="1" latinLnBrk="0" hangingPunct="1">
        <a:lnSpc>
          <a:spcPct val="90000"/>
        </a:lnSpc>
        <a:spcBef>
          <a:spcPts val="492"/>
        </a:spcBef>
        <a:buFont typeface="Arial" panose="020B0604020202020204" pitchFamily="34" charset="0"/>
        <a:buChar char="•"/>
        <a:defRPr sz="1968" kern="1200">
          <a:solidFill>
            <a:schemeClr val="tx1"/>
          </a:solidFill>
          <a:latin typeface="+mn-lt"/>
          <a:ea typeface="+mn-ea"/>
          <a:cs typeface="+mn-cs"/>
        </a:defRPr>
      </a:lvl3pPr>
      <a:lvl4pPr marL="1574917"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4pPr>
      <a:lvl5pPr marL="2024893"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5pPr>
      <a:lvl6pPr marL="2474869"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6pPr>
      <a:lvl7pPr marL="2924846"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7pPr>
      <a:lvl8pPr marL="3374822"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8pPr>
      <a:lvl9pPr marL="3824798"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9pPr>
    </p:bodyStyle>
    <p:otherStyle>
      <a:defPPr>
        <a:defRPr lang="en-US"/>
      </a:defPPr>
      <a:lvl1pPr marL="0" algn="l" defTabSz="899952" rtl="0" eaLnBrk="1" latinLnBrk="0" hangingPunct="1">
        <a:defRPr sz="1772" kern="1200">
          <a:solidFill>
            <a:schemeClr val="tx1"/>
          </a:solidFill>
          <a:latin typeface="+mn-lt"/>
          <a:ea typeface="+mn-ea"/>
          <a:cs typeface="+mn-cs"/>
        </a:defRPr>
      </a:lvl1pPr>
      <a:lvl2pPr marL="449976" algn="l" defTabSz="899952" rtl="0" eaLnBrk="1" latinLnBrk="0" hangingPunct="1">
        <a:defRPr sz="1772" kern="1200">
          <a:solidFill>
            <a:schemeClr val="tx1"/>
          </a:solidFill>
          <a:latin typeface="+mn-lt"/>
          <a:ea typeface="+mn-ea"/>
          <a:cs typeface="+mn-cs"/>
        </a:defRPr>
      </a:lvl2pPr>
      <a:lvl3pPr marL="899952" algn="l" defTabSz="899952" rtl="0" eaLnBrk="1" latinLnBrk="0" hangingPunct="1">
        <a:defRPr sz="1772" kern="1200">
          <a:solidFill>
            <a:schemeClr val="tx1"/>
          </a:solidFill>
          <a:latin typeface="+mn-lt"/>
          <a:ea typeface="+mn-ea"/>
          <a:cs typeface="+mn-cs"/>
        </a:defRPr>
      </a:lvl3pPr>
      <a:lvl4pPr marL="1349929" algn="l" defTabSz="899952" rtl="0" eaLnBrk="1" latinLnBrk="0" hangingPunct="1">
        <a:defRPr sz="1772" kern="1200">
          <a:solidFill>
            <a:schemeClr val="tx1"/>
          </a:solidFill>
          <a:latin typeface="+mn-lt"/>
          <a:ea typeface="+mn-ea"/>
          <a:cs typeface="+mn-cs"/>
        </a:defRPr>
      </a:lvl4pPr>
      <a:lvl5pPr marL="1799905" algn="l" defTabSz="899952" rtl="0" eaLnBrk="1" latinLnBrk="0" hangingPunct="1">
        <a:defRPr sz="1772" kern="1200">
          <a:solidFill>
            <a:schemeClr val="tx1"/>
          </a:solidFill>
          <a:latin typeface="+mn-lt"/>
          <a:ea typeface="+mn-ea"/>
          <a:cs typeface="+mn-cs"/>
        </a:defRPr>
      </a:lvl5pPr>
      <a:lvl6pPr marL="2249881" algn="l" defTabSz="899952" rtl="0" eaLnBrk="1" latinLnBrk="0" hangingPunct="1">
        <a:defRPr sz="1772" kern="1200">
          <a:solidFill>
            <a:schemeClr val="tx1"/>
          </a:solidFill>
          <a:latin typeface="+mn-lt"/>
          <a:ea typeface="+mn-ea"/>
          <a:cs typeface="+mn-cs"/>
        </a:defRPr>
      </a:lvl6pPr>
      <a:lvl7pPr marL="2699857" algn="l" defTabSz="899952" rtl="0" eaLnBrk="1" latinLnBrk="0" hangingPunct="1">
        <a:defRPr sz="1772" kern="1200">
          <a:solidFill>
            <a:schemeClr val="tx1"/>
          </a:solidFill>
          <a:latin typeface="+mn-lt"/>
          <a:ea typeface="+mn-ea"/>
          <a:cs typeface="+mn-cs"/>
        </a:defRPr>
      </a:lvl7pPr>
      <a:lvl8pPr marL="3149834" algn="l" defTabSz="899952" rtl="0" eaLnBrk="1" latinLnBrk="0" hangingPunct="1">
        <a:defRPr sz="1772" kern="1200">
          <a:solidFill>
            <a:schemeClr val="tx1"/>
          </a:solidFill>
          <a:latin typeface="+mn-lt"/>
          <a:ea typeface="+mn-ea"/>
          <a:cs typeface="+mn-cs"/>
        </a:defRPr>
      </a:lvl8pPr>
      <a:lvl9pPr marL="3599810" algn="l" defTabSz="899952" rtl="0" eaLnBrk="1" latinLnBrk="0" hangingPunct="1">
        <a:defRPr sz="177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0.png"/><Relationship Id="rId18" Type="http://schemas.openxmlformats.org/officeDocument/2006/relationships/image" Target="../media/image15.png"/><Relationship Id="rId26" Type="http://schemas.openxmlformats.org/officeDocument/2006/relationships/image" Target="../media/image23.png"/><Relationship Id="rId3" Type="http://schemas.openxmlformats.org/officeDocument/2006/relationships/hyperlink" Target="#daftar-analisis"/><Relationship Id="rId21" Type="http://schemas.openxmlformats.org/officeDocument/2006/relationships/image" Target="../media/image18.svg"/><Relationship Id="rId34" Type="http://schemas.openxmlformats.org/officeDocument/2006/relationships/image" Target="../media/image30.png"/><Relationship Id="rId7" Type="http://schemas.openxmlformats.org/officeDocument/2006/relationships/image" Target="../media/image4.png"/><Relationship Id="rId12" Type="http://schemas.openxmlformats.org/officeDocument/2006/relationships/image" Target="../media/image9.png"/><Relationship Id="rId17" Type="http://schemas.openxmlformats.org/officeDocument/2006/relationships/image" Target="../media/image14.svg"/><Relationship Id="rId25" Type="http://schemas.openxmlformats.org/officeDocument/2006/relationships/image" Target="../media/image22.png"/><Relationship Id="rId33" Type="http://schemas.openxmlformats.org/officeDocument/2006/relationships/hyperlink" Target="https://naturalkapital.or.id/hubungi-kami" TargetMode="External"/><Relationship Id="rId2" Type="http://schemas.openxmlformats.org/officeDocument/2006/relationships/image" Target="../media/image1.png"/><Relationship Id="rId16" Type="http://schemas.openxmlformats.org/officeDocument/2006/relationships/image" Target="../media/image13.svg"/><Relationship Id="rId20" Type="http://schemas.openxmlformats.org/officeDocument/2006/relationships/image" Target="../media/image17.svg"/><Relationship Id="rId29" Type="http://schemas.openxmlformats.org/officeDocument/2006/relationships/image" Target="../media/image26.sv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png"/><Relationship Id="rId24" Type="http://schemas.openxmlformats.org/officeDocument/2006/relationships/image" Target="../media/image21.png"/><Relationship Id="rId32" Type="http://schemas.openxmlformats.org/officeDocument/2006/relationships/image" Target="../media/image29.png"/><Relationship Id="rId5" Type="http://schemas.openxmlformats.org/officeDocument/2006/relationships/hyperlink" Target="https://naturalkapital.or.id/publikasi/" TargetMode="External"/><Relationship Id="rId15" Type="http://schemas.openxmlformats.org/officeDocument/2006/relationships/image" Target="../media/image12.png"/><Relationship Id="rId23" Type="http://schemas.openxmlformats.org/officeDocument/2006/relationships/image" Target="../media/image20.png"/><Relationship Id="rId28" Type="http://schemas.openxmlformats.org/officeDocument/2006/relationships/image" Target="../media/image25.svg"/><Relationship Id="rId10" Type="http://schemas.openxmlformats.org/officeDocument/2006/relationships/image" Target="../media/image7.png"/><Relationship Id="rId19" Type="http://schemas.openxmlformats.org/officeDocument/2006/relationships/image" Target="../media/image16.svg"/><Relationship Id="rId31" Type="http://schemas.openxmlformats.org/officeDocument/2006/relationships/image" Target="../media/image28.pn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11.png"/><Relationship Id="rId22" Type="http://schemas.openxmlformats.org/officeDocument/2006/relationships/image" Target="../media/image19.svg"/><Relationship Id="rId27" Type="http://schemas.openxmlformats.org/officeDocument/2006/relationships/image" Target="../media/image24.svg"/><Relationship Id="rId30" Type="http://schemas.openxmlformats.org/officeDocument/2006/relationships/image" Target="../media/image27.svg"/><Relationship Id="rId35" Type="http://schemas.openxmlformats.org/officeDocument/2006/relationships/image" Target="../media/image31.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3882B40B-95A1-6B61-FE32-293DEE642B8C}"/>
              </a:ext>
            </a:extLst>
          </p:cNvPr>
          <p:cNvPicPr>
            <a:picLocks noChangeAspect="1"/>
          </p:cNvPicPr>
          <p:nvPr/>
        </p:nvPicPr>
        <p:blipFill>
          <a:blip r:embed="rId2"/>
          <a:stretch>
            <a:fillRect/>
          </a:stretch>
        </p:blipFill>
        <p:spPr>
          <a:xfrm>
            <a:off x="6752490" y="117"/>
            <a:ext cx="2247047" cy="3370571"/>
          </a:xfrm>
          <a:prstGeom prst="rect">
            <a:avLst/>
          </a:prstGeom>
        </p:spPr>
      </p:pic>
      <p:sp>
        <p:nvSpPr>
          <p:cNvPr id="5" name="Shape 0">
            <a:extLst>
              <a:ext uri="{FF2B5EF4-FFF2-40B4-BE49-F238E27FC236}">
                <a16:creationId xmlns:a16="http://schemas.microsoft.com/office/drawing/2014/main" id="{B05E44F5-5378-3315-1E87-0BD65D17FAE2}"/>
              </a:ext>
            </a:extLst>
          </p:cNvPr>
          <p:cNvSpPr/>
          <p:nvPr/>
        </p:nvSpPr>
        <p:spPr>
          <a:xfrm>
            <a:off x="430287" y="437270"/>
            <a:ext cx="3453428" cy="261757"/>
          </a:xfrm>
          <a:prstGeom prst="roundRect">
            <a:avLst>
              <a:gd name="adj" fmla="val 6132"/>
            </a:avLst>
          </a:prstGeom>
          <a:noFill/>
          <a:ln w="4763">
            <a:solidFill>
              <a:srgbClr val="28282F"/>
            </a:solidFill>
            <a:prstDash val="solid"/>
          </a:ln>
        </p:spPr>
      </p:sp>
      <p:sp>
        <p:nvSpPr>
          <p:cNvPr id="6" name="Text 1">
            <a:extLst>
              <a:ext uri="{FF2B5EF4-FFF2-40B4-BE49-F238E27FC236}">
                <a16:creationId xmlns:a16="http://schemas.microsoft.com/office/drawing/2014/main" id="{D5EB9D2B-378E-05B8-D206-6B32C4B8F095}"/>
              </a:ext>
            </a:extLst>
          </p:cNvPr>
          <p:cNvSpPr/>
          <p:nvPr/>
        </p:nvSpPr>
        <p:spPr>
          <a:xfrm>
            <a:off x="513485" y="477749"/>
            <a:ext cx="3550444" cy="158800"/>
          </a:xfrm>
          <a:prstGeom prst="rect">
            <a:avLst/>
          </a:prstGeom>
          <a:noFill/>
          <a:ln/>
        </p:spPr>
        <p:txBody>
          <a:bodyPr wrap="none" lIns="0" tIns="0" rIns="0" bIns="0" rtlCol="0" anchor="t"/>
          <a:lstStyle/>
          <a:p>
            <a:pPr marL="0" indent="0" algn="l">
              <a:lnSpc>
                <a:spcPct val="133000"/>
              </a:lnSpc>
              <a:buNone/>
            </a:pPr>
            <a:r>
              <a:rPr lang="en-US" sz="900" dirty="0">
                <a:solidFill>
                  <a:srgbClr val="28282F"/>
                </a:solidFill>
                <a:latin typeface="Leelawadee UI" panose="020B0502040204020203" pitchFamily="34" charset="-34"/>
                <a:ea typeface="Inter" pitchFamily="34" charset="-122"/>
                <a:cs typeface="Leelawadee UI" panose="020B0502040204020203" pitchFamily="34" charset="-34"/>
              </a:rPr>
              <a:t>BERANDA / PUSTAKA &amp; PENGETAHUAN / ANALISIS &amp; KEBIJAKAN</a:t>
            </a:r>
            <a:endParaRPr lang="en-US" sz="900" dirty="0">
              <a:latin typeface="Leelawadee UI" panose="020B0502040204020203" pitchFamily="34" charset="-34"/>
              <a:cs typeface="Leelawadee UI" panose="020B0502040204020203" pitchFamily="34" charset="-34"/>
            </a:endParaRPr>
          </a:p>
        </p:txBody>
      </p:sp>
      <p:sp>
        <p:nvSpPr>
          <p:cNvPr id="7" name="Text 2">
            <a:extLst>
              <a:ext uri="{FF2B5EF4-FFF2-40B4-BE49-F238E27FC236}">
                <a16:creationId xmlns:a16="http://schemas.microsoft.com/office/drawing/2014/main" id="{503A72DB-F82A-AE5F-C27B-9DEF3D48E324}"/>
              </a:ext>
            </a:extLst>
          </p:cNvPr>
          <p:cNvSpPr/>
          <p:nvPr/>
        </p:nvSpPr>
        <p:spPr>
          <a:xfrm>
            <a:off x="430287" y="1058701"/>
            <a:ext cx="4722763" cy="833512"/>
          </a:xfrm>
          <a:prstGeom prst="rect">
            <a:avLst/>
          </a:prstGeom>
          <a:noFill/>
          <a:ln/>
        </p:spPr>
        <p:txBody>
          <a:bodyPr wrap="square" lIns="0" tIns="0" rIns="0" bIns="0" rtlCol="0" anchor="t">
            <a:normAutofit/>
          </a:bodyPr>
          <a:lstStyle/>
          <a:p>
            <a:pPr marL="0" indent="0" algn="l">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Analisis &amp; Kebijakan: Penguatan Tata Kelola Lanskap Berbasis Bukti</a:t>
            </a:r>
            <a:endParaRPr lang="en-US" sz="2400" dirty="0">
              <a:latin typeface="Leelawadee UI" panose="020B0502040204020203" pitchFamily="34" charset="-34"/>
              <a:cs typeface="Leelawadee UI" panose="020B0502040204020203" pitchFamily="34" charset="-34"/>
            </a:endParaRPr>
          </a:p>
        </p:txBody>
      </p:sp>
      <p:sp>
        <p:nvSpPr>
          <p:cNvPr id="8" name="Text 3">
            <a:extLst>
              <a:ext uri="{FF2B5EF4-FFF2-40B4-BE49-F238E27FC236}">
                <a16:creationId xmlns:a16="http://schemas.microsoft.com/office/drawing/2014/main" id="{9C839501-C1AC-EEF3-D83F-DA346F13A0BB}"/>
              </a:ext>
            </a:extLst>
          </p:cNvPr>
          <p:cNvSpPr/>
          <p:nvPr/>
        </p:nvSpPr>
        <p:spPr>
          <a:xfrm>
            <a:off x="430287" y="1918454"/>
            <a:ext cx="5874260" cy="992312"/>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Sebagai </a:t>
            </a: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Landscape Governance Backbone Organization</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YNKI menghasilkan analisis kebijakan, policy brief, dan kajian strategis yang mendukung pengambilan keputusan berbasis bukti dalam tata kelola lanskap. Temukan rekomendasi kebijakan, analisis regulasi, dan kajian strategis untuk memperkuat tata kelola lanskap yang inklusif dan kolaboratif di sini.</a:t>
            </a:r>
            <a:endParaRPr lang="en-US" sz="1050" dirty="0">
              <a:latin typeface="Leelawadee UI" panose="020B0502040204020203" pitchFamily="34" charset="-34"/>
              <a:cs typeface="Leelawadee UI" panose="020B0502040204020203" pitchFamily="34" charset="-34"/>
            </a:endParaRPr>
          </a:p>
        </p:txBody>
      </p:sp>
      <p:pic>
        <p:nvPicPr>
          <p:cNvPr id="9" name="Image 1" descr="preencoded.png">
            <a:hlinkClick r:id="rId3"/>
            <a:extLst>
              <a:ext uri="{FF2B5EF4-FFF2-40B4-BE49-F238E27FC236}">
                <a16:creationId xmlns:a16="http://schemas.microsoft.com/office/drawing/2014/main" id="{F1BEBF66-A252-8390-50D2-ADA8B9B9879F}"/>
              </a:ext>
            </a:extLst>
          </p:cNvPr>
          <p:cNvPicPr>
            <a:picLocks noChangeAspect="1"/>
          </p:cNvPicPr>
          <p:nvPr/>
        </p:nvPicPr>
        <p:blipFill>
          <a:blip r:embed="rId4"/>
          <a:stretch>
            <a:fillRect/>
          </a:stretch>
        </p:blipFill>
        <p:spPr>
          <a:xfrm>
            <a:off x="430132" y="3002258"/>
            <a:ext cx="1654671" cy="341114"/>
          </a:xfrm>
          <a:prstGeom prst="rect">
            <a:avLst/>
          </a:prstGeom>
        </p:spPr>
      </p:pic>
      <p:pic>
        <p:nvPicPr>
          <p:cNvPr id="10" name="Image 2" descr="preencoded.png">
            <a:hlinkClick r:id="rId5"/>
            <a:extLst>
              <a:ext uri="{FF2B5EF4-FFF2-40B4-BE49-F238E27FC236}">
                <a16:creationId xmlns:a16="http://schemas.microsoft.com/office/drawing/2014/main" id="{AE39A24F-317D-DD9B-A33D-D5C43932BE83}"/>
              </a:ext>
            </a:extLst>
          </p:cNvPr>
          <p:cNvPicPr>
            <a:picLocks noChangeAspect="1"/>
          </p:cNvPicPr>
          <p:nvPr/>
        </p:nvPicPr>
        <p:blipFill>
          <a:blip r:embed="rId6"/>
          <a:stretch>
            <a:fillRect/>
          </a:stretch>
        </p:blipFill>
        <p:spPr>
          <a:xfrm>
            <a:off x="2146790" y="3002258"/>
            <a:ext cx="2352824" cy="341114"/>
          </a:xfrm>
          <a:prstGeom prst="rect">
            <a:avLst/>
          </a:prstGeom>
        </p:spPr>
      </p:pic>
      <p:sp>
        <p:nvSpPr>
          <p:cNvPr id="11" name="Shape 0">
            <a:extLst>
              <a:ext uri="{FF2B5EF4-FFF2-40B4-BE49-F238E27FC236}">
                <a16:creationId xmlns:a16="http://schemas.microsoft.com/office/drawing/2014/main" id="{9BF7B407-1F43-AAE0-B088-8EC5F5E46EBE}"/>
              </a:ext>
            </a:extLst>
          </p:cNvPr>
          <p:cNvSpPr/>
          <p:nvPr/>
        </p:nvSpPr>
        <p:spPr>
          <a:xfrm>
            <a:off x="426211" y="3629948"/>
            <a:ext cx="903387" cy="195263"/>
          </a:xfrm>
          <a:prstGeom prst="roundRect">
            <a:avLst>
              <a:gd name="adj" fmla="val 6670"/>
            </a:avLst>
          </a:prstGeom>
          <a:solidFill>
            <a:srgbClr val="E3E3E8"/>
          </a:solidFill>
          <a:ln/>
        </p:spPr>
      </p:sp>
      <p:sp>
        <p:nvSpPr>
          <p:cNvPr id="12" name="Text 1">
            <a:extLst>
              <a:ext uri="{FF2B5EF4-FFF2-40B4-BE49-F238E27FC236}">
                <a16:creationId xmlns:a16="http://schemas.microsoft.com/office/drawing/2014/main" id="{0C134765-E930-628C-F0EE-79E11EA86E20}"/>
              </a:ext>
            </a:extLst>
          </p:cNvPr>
          <p:cNvSpPr/>
          <p:nvPr/>
        </p:nvSpPr>
        <p:spPr>
          <a:xfrm>
            <a:off x="491323" y="3662467"/>
            <a:ext cx="1230362" cy="130225"/>
          </a:xfrm>
          <a:prstGeom prst="rect">
            <a:avLst/>
          </a:prstGeom>
          <a:noFill/>
          <a:ln/>
        </p:spPr>
        <p:txBody>
          <a:bodyPr wrap="none" lIns="0" tIns="0" rIns="0" bIns="0" rtlCol="0" anchor="t"/>
          <a:lstStyle/>
          <a:p>
            <a:pPr marL="0" indent="0" algn="l">
              <a:lnSpc>
                <a:spcPct val="125000"/>
              </a:lnSpc>
              <a:buNone/>
            </a:pPr>
            <a:r>
              <a:rPr lang="en-US" sz="650" dirty="0">
                <a:solidFill>
                  <a:srgbClr val="161613"/>
                </a:solidFill>
                <a:latin typeface="Leelawadee UI" panose="020B0502040204020203" pitchFamily="34" charset="-34"/>
                <a:ea typeface="Inter" pitchFamily="34" charset="-122"/>
                <a:cs typeface="Leelawadee UI" panose="020B0502040204020203" pitchFamily="34" charset="-34"/>
              </a:rPr>
              <a:t>LANDASAN KERJA</a:t>
            </a:r>
            <a:endParaRPr lang="en-US" sz="650" dirty="0">
              <a:latin typeface="Leelawadee UI" panose="020B0502040204020203" pitchFamily="34" charset="-34"/>
              <a:cs typeface="Leelawadee UI" panose="020B0502040204020203" pitchFamily="34" charset="-34"/>
            </a:endParaRPr>
          </a:p>
        </p:txBody>
      </p:sp>
      <p:sp>
        <p:nvSpPr>
          <p:cNvPr id="13" name="Text 2">
            <a:extLst>
              <a:ext uri="{FF2B5EF4-FFF2-40B4-BE49-F238E27FC236}">
                <a16:creationId xmlns:a16="http://schemas.microsoft.com/office/drawing/2014/main" id="{ED176247-80B2-F136-2C29-50AF8D6C9924}"/>
              </a:ext>
            </a:extLst>
          </p:cNvPr>
          <p:cNvSpPr/>
          <p:nvPr/>
        </p:nvSpPr>
        <p:spPr>
          <a:xfrm>
            <a:off x="426211" y="3928943"/>
            <a:ext cx="8312274" cy="339179"/>
          </a:xfrm>
          <a:prstGeom prst="rect">
            <a:avLst/>
          </a:prstGeom>
          <a:noFill/>
          <a:ln/>
        </p:spPr>
        <p:txBody>
          <a:bodyPr wrap="none" lIns="0" tIns="0" rIns="0" bIns="0" rtlCol="0" anchor="t"/>
          <a:lstStyle/>
          <a:p>
            <a:pPr marL="0" indent="0" algn="l">
              <a:lnSpc>
                <a:spcPct val="104000"/>
              </a:lnSpc>
              <a:buNone/>
            </a:pPr>
            <a:r>
              <a:rPr lang="en-US" sz="2100" dirty="0" err="1">
                <a:solidFill>
                  <a:srgbClr val="161613"/>
                </a:solidFill>
                <a:latin typeface="Leelawadee UI" panose="020B0502040204020203" pitchFamily="34" charset="-34"/>
                <a:ea typeface="DM Sans Medium" pitchFamily="34" charset="-122"/>
                <a:cs typeface="Leelawadee UI" panose="020B0502040204020203" pitchFamily="34" charset="-34"/>
              </a:rPr>
              <a:t>Analisis</a:t>
            </a:r>
            <a:r>
              <a:rPr lang="en-US" sz="2100" dirty="0">
                <a:solidFill>
                  <a:srgbClr val="161613"/>
                </a:solidFill>
                <a:latin typeface="Leelawadee UI" panose="020B0502040204020203" pitchFamily="34" charset="-34"/>
                <a:ea typeface="DM Sans Medium" pitchFamily="34" charset="-122"/>
                <a:cs typeface="Leelawadee UI" panose="020B0502040204020203" pitchFamily="34" charset="-34"/>
              </a:rPr>
              <a:t> </a:t>
            </a:r>
            <a:r>
              <a:rPr lang="en-US" sz="2100" dirty="0" err="1">
                <a:solidFill>
                  <a:srgbClr val="161613"/>
                </a:solidFill>
                <a:latin typeface="Leelawadee UI" panose="020B0502040204020203" pitchFamily="34" charset="-34"/>
                <a:ea typeface="DM Sans Medium" pitchFamily="34" charset="-122"/>
                <a:cs typeface="Leelawadee UI" panose="020B0502040204020203" pitchFamily="34" charset="-34"/>
              </a:rPr>
              <a:t>Kebijakan</a:t>
            </a:r>
            <a:r>
              <a:rPr lang="en-US" sz="2100" dirty="0">
                <a:solidFill>
                  <a:srgbClr val="161613"/>
                </a:solidFill>
                <a:latin typeface="Leelawadee UI" panose="020B0502040204020203" pitchFamily="34" charset="-34"/>
                <a:ea typeface="DM Sans Medium" pitchFamily="34" charset="-122"/>
                <a:cs typeface="Leelawadee UI" panose="020B0502040204020203" pitchFamily="34" charset="-34"/>
              </a:rPr>
              <a:t> dan Tata Kelola </a:t>
            </a:r>
            <a:r>
              <a:rPr lang="en-US" sz="2100" dirty="0" err="1">
                <a:solidFill>
                  <a:srgbClr val="161613"/>
                </a:solidFill>
                <a:latin typeface="Leelawadee UI" panose="020B0502040204020203" pitchFamily="34" charset="-34"/>
                <a:ea typeface="DM Sans Medium" pitchFamily="34" charset="-122"/>
                <a:cs typeface="Leelawadee UI" panose="020B0502040204020203" pitchFamily="34" charset="-34"/>
              </a:rPr>
              <a:t>Lanskap</a:t>
            </a:r>
            <a:endParaRPr lang="en-US" sz="2100" dirty="0">
              <a:latin typeface="Leelawadee UI" panose="020B0502040204020203" pitchFamily="34" charset="-34"/>
              <a:cs typeface="Leelawadee UI" panose="020B0502040204020203" pitchFamily="34" charset="-34"/>
            </a:endParaRPr>
          </a:p>
        </p:txBody>
      </p:sp>
      <p:sp>
        <p:nvSpPr>
          <p:cNvPr id="14" name="Text 3">
            <a:extLst>
              <a:ext uri="{FF2B5EF4-FFF2-40B4-BE49-F238E27FC236}">
                <a16:creationId xmlns:a16="http://schemas.microsoft.com/office/drawing/2014/main" id="{B4E1019E-FEBC-3D19-C2C5-621502695487}"/>
              </a:ext>
            </a:extLst>
          </p:cNvPr>
          <p:cNvSpPr/>
          <p:nvPr/>
        </p:nvSpPr>
        <p:spPr>
          <a:xfrm>
            <a:off x="426211" y="4430196"/>
            <a:ext cx="5878336" cy="1911326"/>
          </a:xfrm>
          <a:prstGeom prst="rect">
            <a:avLst/>
          </a:prstGeom>
          <a:noFill/>
          <a:ln/>
        </p:spPr>
        <p:txBody>
          <a:bodyPr wrap="square" lIns="0" tIns="0" rIns="0" bIns="0" rtlCol="0" anchor="t">
            <a:normAutofit/>
          </a:bodyPr>
          <a:lstStyle/>
          <a:p>
            <a:pPr marL="0" indent="0" algn="l">
              <a:lnSpc>
                <a:spcPct val="125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Transformasi lanskap yang berkelanjutan membutuhkan kebijakan yang didasarkan pada </a:t>
            </a: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bukti, data, dan pembelajaran dari lapangan</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YNKI meyakini bahwa analisis kebijakan yang kredibel dan rekomendasi berbasis pengetahuan dapat mendorong perubahan sistemik dalam tata kelola lanskap—dari tingkat desa hingga kebijakan nasional dan internasional.</a:t>
            </a:r>
            <a:endParaRPr lang="en-US" sz="1050" dirty="0">
              <a:latin typeface="Leelawadee UI" panose="020B0502040204020203" pitchFamily="34" charset="-34"/>
              <a:cs typeface="Leelawadee UI" panose="020B0502040204020203" pitchFamily="34" charset="-34"/>
            </a:endParaRPr>
          </a:p>
          <a:p>
            <a:pPr marL="0" indent="0" algn="l">
              <a:lnSpc>
                <a:spcPct val="125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Melalui fungsi </a:t>
            </a: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Governance Enabling</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YNKI secara konsisten menghubungkan pengetahuan dari lapangan dengan proses kebijakan di tingkat desa, kabupaten, provinsi, dan nasional. Pendekatan ini memastikan bahwa suara masyarakat dan data ekologis menjadi fondasi setiap rekomendasi yang dihasilkan.</a:t>
            </a:r>
            <a:endParaRPr lang="en-US" sz="1050" dirty="0">
              <a:latin typeface="Leelawadee UI" panose="020B0502040204020203" pitchFamily="34" charset="-34"/>
              <a:cs typeface="Leelawadee UI" panose="020B0502040204020203" pitchFamily="34" charset="-34"/>
            </a:endParaRPr>
          </a:p>
        </p:txBody>
      </p:sp>
      <p:sp>
        <p:nvSpPr>
          <p:cNvPr id="15" name="Shape 4">
            <a:extLst>
              <a:ext uri="{FF2B5EF4-FFF2-40B4-BE49-F238E27FC236}">
                <a16:creationId xmlns:a16="http://schemas.microsoft.com/office/drawing/2014/main" id="{4F1DB022-7911-7A71-75FE-37488E9A7CEF}"/>
              </a:ext>
            </a:extLst>
          </p:cNvPr>
          <p:cNvSpPr/>
          <p:nvPr/>
        </p:nvSpPr>
        <p:spPr>
          <a:xfrm>
            <a:off x="443507" y="6341522"/>
            <a:ext cx="14288" cy="501253"/>
          </a:xfrm>
          <a:prstGeom prst="roundRect">
            <a:avLst>
              <a:gd name="adj" fmla="val 59998"/>
            </a:avLst>
          </a:prstGeom>
          <a:solidFill>
            <a:srgbClr val="28282F"/>
          </a:solidFill>
          <a:ln/>
        </p:spPr>
      </p:sp>
      <p:sp>
        <p:nvSpPr>
          <p:cNvPr id="16" name="Text 5">
            <a:extLst>
              <a:ext uri="{FF2B5EF4-FFF2-40B4-BE49-F238E27FC236}">
                <a16:creationId xmlns:a16="http://schemas.microsoft.com/office/drawing/2014/main" id="{3B119464-C992-6BE9-91EA-C4BE782F6E21}"/>
              </a:ext>
            </a:extLst>
          </p:cNvPr>
          <p:cNvSpPr/>
          <p:nvPr/>
        </p:nvSpPr>
        <p:spPr>
          <a:xfrm>
            <a:off x="606250" y="6426949"/>
            <a:ext cx="5061374" cy="339178"/>
          </a:xfrm>
          <a:prstGeom prst="rect">
            <a:avLst/>
          </a:prstGeom>
          <a:noFill/>
          <a:ln/>
        </p:spPr>
        <p:txBody>
          <a:bodyPr wrap="square" lIns="0" tIns="0" rIns="0" bIns="0" rtlCol="0" anchor="t">
            <a:normAutofit lnSpcReduction="10000"/>
          </a:bodyPr>
          <a:lstStyle/>
          <a:p>
            <a:pPr marL="0" indent="0" algn="l">
              <a:lnSpc>
                <a:spcPct val="125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"Kebijakan yang kuat lahir dari data yang jujur dan pembelajaran yang terus-menerus dari lapangan." — Prinsip Kerja YNKI</a:t>
            </a:r>
            <a:endParaRPr lang="en-US" sz="1000" dirty="0">
              <a:latin typeface="Leelawadee UI" panose="020B0502040204020203" pitchFamily="34" charset="-34"/>
              <a:cs typeface="Leelawadee UI" panose="020B0502040204020203" pitchFamily="34" charset="-34"/>
            </a:endParaRPr>
          </a:p>
        </p:txBody>
      </p:sp>
      <p:pic>
        <p:nvPicPr>
          <p:cNvPr id="17" name="Image 0" descr="preencoded.png">
            <a:extLst>
              <a:ext uri="{FF2B5EF4-FFF2-40B4-BE49-F238E27FC236}">
                <a16:creationId xmlns:a16="http://schemas.microsoft.com/office/drawing/2014/main" id="{1C58C907-D2FE-CD3C-FFDE-BD67658C9D8C}"/>
              </a:ext>
            </a:extLst>
          </p:cNvPr>
          <p:cNvPicPr>
            <a:picLocks noChangeAspect="1"/>
          </p:cNvPicPr>
          <p:nvPr/>
        </p:nvPicPr>
        <p:blipFill>
          <a:blip r:embed="rId7"/>
          <a:stretch>
            <a:fillRect/>
          </a:stretch>
        </p:blipFill>
        <p:spPr>
          <a:xfrm>
            <a:off x="6766777" y="4449828"/>
            <a:ext cx="2254210" cy="2254210"/>
          </a:xfrm>
          <a:prstGeom prst="rect">
            <a:avLst/>
          </a:prstGeom>
        </p:spPr>
      </p:pic>
      <p:sp>
        <p:nvSpPr>
          <p:cNvPr id="18" name="Shape 0">
            <a:extLst>
              <a:ext uri="{FF2B5EF4-FFF2-40B4-BE49-F238E27FC236}">
                <a16:creationId xmlns:a16="http://schemas.microsoft.com/office/drawing/2014/main" id="{0ADD015F-DB20-26C9-97FB-5FFD50FC1EE3}"/>
              </a:ext>
            </a:extLst>
          </p:cNvPr>
          <p:cNvSpPr/>
          <p:nvPr/>
        </p:nvSpPr>
        <p:spPr>
          <a:xfrm>
            <a:off x="442405" y="7233724"/>
            <a:ext cx="772939" cy="209178"/>
          </a:xfrm>
          <a:prstGeom prst="roundRect">
            <a:avLst>
              <a:gd name="adj" fmla="val 6560"/>
            </a:avLst>
          </a:prstGeom>
          <a:solidFill>
            <a:srgbClr val="E3E3E8"/>
          </a:solidFill>
          <a:ln/>
        </p:spPr>
      </p:sp>
      <p:sp>
        <p:nvSpPr>
          <p:cNvPr id="19" name="Text 1">
            <a:extLst>
              <a:ext uri="{FF2B5EF4-FFF2-40B4-BE49-F238E27FC236}">
                <a16:creationId xmlns:a16="http://schemas.microsoft.com/office/drawing/2014/main" id="{9202DF1E-F816-66D2-8453-3FB3E805640C}"/>
              </a:ext>
            </a:extLst>
          </p:cNvPr>
          <p:cNvSpPr/>
          <p:nvPr/>
        </p:nvSpPr>
        <p:spPr>
          <a:xfrm>
            <a:off x="526009" y="7252950"/>
            <a:ext cx="1092919" cy="140568"/>
          </a:xfrm>
          <a:prstGeom prst="rect">
            <a:avLst/>
          </a:prstGeom>
          <a:noFill/>
          <a:ln/>
        </p:spPr>
        <p:txBody>
          <a:bodyPr wrap="none" lIns="0" tIns="0" rIns="0" bIns="0" rtlCol="0" anchor="t"/>
          <a:lstStyle/>
          <a:p>
            <a:pPr marL="0" indent="0" algn="l">
              <a:lnSpc>
                <a:spcPct val="128000"/>
              </a:lnSpc>
              <a:buNone/>
            </a:pPr>
            <a:r>
              <a:rPr lang="en-US" sz="700" dirty="0">
                <a:solidFill>
                  <a:srgbClr val="161613"/>
                </a:solidFill>
                <a:latin typeface="Leelawadee UI" panose="020B0502040204020203" pitchFamily="34" charset="-34"/>
                <a:ea typeface="Inter" pitchFamily="34" charset="-122"/>
                <a:cs typeface="Leelawadee UI" panose="020B0502040204020203" pitchFamily="34" charset="-34"/>
              </a:rPr>
              <a:t>KOLEKSI KAMI</a:t>
            </a:r>
            <a:endParaRPr lang="en-US" sz="700" dirty="0">
              <a:latin typeface="Leelawadee UI" panose="020B0502040204020203" pitchFamily="34" charset="-34"/>
              <a:cs typeface="Leelawadee UI" panose="020B0502040204020203" pitchFamily="34" charset="-34"/>
            </a:endParaRPr>
          </a:p>
        </p:txBody>
      </p:sp>
      <p:sp>
        <p:nvSpPr>
          <p:cNvPr id="20" name="Text 2">
            <a:extLst>
              <a:ext uri="{FF2B5EF4-FFF2-40B4-BE49-F238E27FC236}">
                <a16:creationId xmlns:a16="http://schemas.microsoft.com/office/drawing/2014/main" id="{88DA12EC-DBA2-D407-637F-EADFDDD44BE0}"/>
              </a:ext>
            </a:extLst>
          </p:cNvPr>
          <p:cNvSpPr/>
          <p:nvPr/>
        </p:nvSpPr>
        <p:spPr>
          <a:xfrm>
            <a:off x="457246" y="7550909"/>
            <a:ext cx="4817790" cy="357336"/>
          </a:xfrm>
          <a:prstGeom prst="rect">
            <a:avLst/>
          </a:prstGeom>
          <a:noFill/>
          <a:ln/>
        </p:spPr>
        <p:txBody>
          <a:bodyPr wrap="none" lIns="0" tIns="0" rIns="0" bIns="0" rtlCol="0" anchor="t"/>
          <a:lstStyle/>
          <a:p>
            <a:pPr marL="0" indent="0" algn="l">
              <a:lnSpc>
                <a:spcPct val="104000"/>
              </a:lnSpc>
              <a:buNone/>
            </a:pPr>
            <a:r>
              <a:rPr lang="en-US" sz="2250" dirty="0">
                <a:solidFill>
                  <a:srgbClr val="161613"/>
                </a:solidFill>
                <a:latin typeface="Leelawadee UI" panose="020B0502040204020203" pitchFamily="34" charset="-34"/>
                <a:ea typeface="DM Sans Medium" pitchFamily="34" charset="-122"/>
                <a:cs typeface="Leelawadee UI" panose="020B0502040204020203" pitchFamily="34" charset="-34"/>
              </a:rPr>
              <a:t>Koleksi Analisis &amp; Kebijakan YNKI</a:t>
            </a:r>
            <a:endParaRPr lang="en-US" sz="2250" dirty="0">
              <a:latin typeface="Leelawadee UI" panose="020B0502040204020203" pitchFamily="34" charset="-34"/>
              <a:cs typeface="Leelawadee UI" panose="020B0502040204020203" pitchFamily="34" charset="-34"/>
            </a:endParaRPr>
          </a:p>
        </p:txBody>
      </p:sp>
      <p:sp>
        <p:nvSpPr>
          <p:cNvPr id="21" name="Text 3">
            <a:extLst>
              <a:ext uri="{FF2B5EF4-FFF2-40B4-BE49-F238E27FC236}">
                <a16:creationId xmlns:a16="http://schemas.microsoft.com/office/drawing/2014/main" id="{C6B7F86A-15EB-0F8A-ACFB-23D99CA5AB78}"/>
              </a:ext>
            </a:extLst>
          </p:cNvPr>
          <p:cNvSpPr/>
          <p:nvPr/>
        </p:nvSpPr>
        <p:spPr>
          <a:xfrm>
            <a:off x="457246" y="8066376"/>
            <a:ext cx="8151763" cy="758037"/>
          </a:xfrm>
          <a:prstGeom prst="rect">
            <a:avLst/>
          </a:prstGeom>
          <a:noFill/>
          <a:ln/>
        </p:spPr>
        <p:txBody>
          <a:bodyPr wrap="square" lIns="0" tIns="0" rIns="0" bIns="0" rtlCol="0" anchor="t">
            <a:normAutofit/>
          </a:bodyPr>
          <a:lstStyle/>
          <a:p>
            <a:pPr marL="0" indent="0" algn="l">
              <a:lnSpc>
                <a:spcPct val="128000"/>
              </a:lnSpc>
              <a:buNone/>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YNKI secara aktif menghasilkan analisis kebijakan dan kajian strategis yang mendukung penguatan tata kelola lanskap di Kalimantan Barat dan sekitarnya. Berikut adalah gambaran umum koleksi produk analisis kebijakan yang telah kami hasilkan.</a:t>
            </a:r>
            <a:endParaRPr lang="en-US" sz="1100" dirty="0">
              <a:latin typeface="Leelawadee UI" panose="020B0502040204020203" pitchFamily="34" charset="-34"/>
              <a:cs typeface="Leelawadee UI" panose="020B0502040204020203" pitchFamily="34" charset="-34"/>
            </a:endParaRPr>
          </a:p>
        </p:txBody>
      </p:sp>
      <p:sp>
        <p:nvSpPr>
          <p:cNvPr id="22" name="Text 4">
            <a:extLst>
              <a:ext uri="{FF2B5EF4-FFF2-40B4-BE49-F238E27FC236}">
                <a16:creationId xmlns:a16="http://schemas.microsoft.com/office/drawing/2014/main" id="{D9B8433C-EEC5-243B-497F-2120979B52F5}"/>
              </a:ext>
            </a:extLst>
          </p:cNvPr>
          <p:cNvSpPr/>
          <p:nvPr/>
        </p:nvSpPr>
        <p:spPr>
          <a:xfrm>
            <a:off x="457246" y="8593748"/>
            <a:ext cx="4010025" cy="377354"/>
          </a:xfrm>
          <a:prstGeom prst="rect">
            <a:avLst/>
          </a:prstGeom>
          <a:noFill/>
          <a:ln/>
        </p:spPr>
        <p:txBody>
          <a:bodyPr wrap="none" lIns="0" tIns="0" rIns="0" bIns="0" rtlCol="0" anchor="t"/>
          <a:lstStyle/>
          <a:p>
            <a:pPr marL="0" indent="0" algn="ctr">
              <a:lnSpc>
                <a:spcPct val="83000"/>
              </a:lnSpc>
              <a:buNone/>
            </a:pPr>
            <a:r>
              <a:rPr lang="en-US" sz="2950" dirty="0">
                <a:solidFill>
                  <a:srgbClr val="161613"/>
                </a:solidFill>
                <a:latin typeface="Leelawadee UI" panose="020B0502040204020203" pitchFamily="34" charset="-34"/>
                <a:ea typeface="DM Sans Medium" pitchFamily="34" charset="-122"/>
                <a:cs typeface="Leelawadee UI" panose="020B0502040204020203" pitchFamily="34" charset="-34"/>
              </a:rPr>
              <a:t>24+</a:t>
            </a:r>
            <a:endParaRPr lang="en-US" sz="2950" dirty="0">
              <a:latin typeface="Leelawadee UI" panose="020B0502040204020203" pitchFamily="34" charset="-34"/>
              <a:cs typeface="Leelawadee UI" panose="020B0502040204020203" pitchFamily="34" charset="-34"/>
            </a:endParaRPr>
          </a:p>
        </p:txBody>
      </p:sp>
      <p:sp>
        <p:nvSpPr>
          <p:cNvPr id="23" name="Text 5">
            <a:extLst>
              <a:ext uri="{FF2B5EF4-FFF2-40B4-BE49-F238E27FC236}">
                <a16:creationId xmlns:a16="http://schemas.microsoft.com/office/drawing/2014/main" id="{91A0153C-5974-DFB5-6461-E79578DA8301}"/>
              </a:ext>
            </a:extLst>
          </p:cNvPr>
          <p:cNvSpPr/>
          <p:nvPr/>
        </p:nvSpPr>
        <p:spPr>
          <a:xfrm>
            <a:off x="1402379" y="9107279"/>
            <a:ext cx="2119759" cy="178668"/>
          </a:xfrm>
          <a:prstGeom prst="rect">
            <a:avLst/>
          </a:prstGeom>
          <a:noFill/>
          <a:ln/>
        </p:spPr>
        <p:txBody>
          <a:bodyPr wrap="none" lIns="0" tIns="0" rIns="0" bIns="0" rtlCol="0" anchor="t"/>
          <a:lstStyle/>
          <a:p>
            <a:pPr marL="0" indent="0" algn="ctr">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Policy Brief &amp; Analisis Kebijakan</a:t>
            </a:r>
            <a:endParaRPr lang="en-US" sz="1100" dirty="0">
              <a:latin typeface="Leelawadee UI" panose="020B0502040204020203" pitchFamily="34" charset="-34"/>
              <a:cs typeface="Leelawadee UI" panose="020B0502040204020203" pitchFamily="34" charset="-34"/>
            </a:endParaRPr>
          </a:p>
        </p:txBody>
      </p:sp>
      <p:sp>
        <p:nvSpPr>
          <p:cNvPr id="24" name="Text 6">
            <a:extLst>
              <a:ext uri="{FF2B5EF4-FFF2-40B4-BE49-F238E27FC236}">
                <a16:creationId xmlns:a16="http://schemas.microsoft.com/office/drawing/2014/main" id="{C62E2F9F-94D6-75D5-E8F1-99BE16866629}"/>
              </a:ext>
            </a:extLst>
          </p:cNvPr>
          <p:cNvSpPr/>
          <p:nvPr/>
        </p:nvSpPr>
        <p:spPr>
          <a:xfrm>
            <a:off x="468335" y="9302205"/>
            <a:ext cx="4010025" cy="175840"/>
          </a:xfrm>
          <a:prstGeom prst="rect">
            <a:avLst/>
          </a:prstGeom>
          <a:noFill/>
          <a:ln/>
        </p:spPr>
        <p:txBody>
          <a:bodyPr wrap="none" lIns="0" tIns="0" rIns="0" bIns="0" rtlCol="0" anchor="t"/>
          <a:lstStyle/>
          <a:p>
            <a:pPr marL="0" indent="0" algn="ctr">
              <a:lnSpc>
                <a:spcPct val="128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Total dokumen analisis kebijakan yang telah diterbitkan YNKI</a:t>
            </a:r>
            <a:endParaRPr lang="en-US" sz="1050" dirty="0">
              <a:latin typeface="Leelawadee UI" panose="020B0502040204020203" pitchFamily="34" charset="-34"/>
              <a:cs typeface="Leelawadee UI" panose="020B0502040204020203" pitchFamily="34" charset="-34"/>
            </a:endParaRPr>
          </a:p>
        </p:txBody>
      </p:sp>
      <p:sp>
        <p:nvSpPr>
          <p:cNvPr id="25" name="Text 7">
            <a:extLst>
              <a:ext uri="{FF2B5EF4-FFF2-40B4-BE49-F238E27FC236}">
                <a16:creationId xmlns:a16="http://schemas.microsoft.com/office/drawing/2014/main" id="{58066BA7-CF1C-60CF-A25C-9B0BF280D612}"/>
              </a:ext>
            </a:extLst>
          </p:cNvPr>
          <p:cNvSpPr/>
          <p:nvPr/>
        </p:nvSpPr>
        <p:spPr>
          <a:xfrm>
            <a:off x="4598983" y="8593748"/>
            <a:ext cx="4010025" cy="377354"/>
          </a:xfrm>
          <a:prstGeom prst="rect">
            <a:avLst/>
          </a:prstGeom>
          <a:noFill/>
          <a:ln/>
        </p:spPr>
        <p:txBody>
          <a:bodyPr wrap="none" lIns="0" tIns="0" rIns="0" bIns="0" rtlCol="0" anchor="t"/>
          <a:lstStyle/>
          <a:p>
            <a:pPr marL="0" indent="0" algn="ctr">
              <a:lnSpc>
                <a:spcPct val="83000"/>
              </a:lnSpc>
              <a:buNone/>
            </a:pPr>
            <a:r>
              <a:rPr lang="en-US" sz="2950" dirty="0">
                <a:solidFill>
                  <a:srgbClr val="161613"/>
                </a:solidFill>
                <a:latin typeface="Leelawadee UI" panose="020B0502040204020203" pitchFamily="34" charset="-34"/>
                <a:ea typeface="DM Sans Medium" pitchFamily="34" charset="-122"/>
                <a:cs typeface="Leelawadee UI" panose="020B0502040204020203" pitchFamily="34" charset="-34"/>
              </a:rPr>
              <a:t>12</a:t>
            </a:r>
            <a:endParaRPr lang="en-US" sz="2950" dirty="0">
              <a:latin typeface="Leelawadee UI" panose="020B0502040204020203" pitchFamily="34" charset="-34"/>
              <a:cs typeface="Leelawadee UI" panose="020B0502040204020203" pitchFamily="34" charset="-34"/>
            </a:endParaRPr>
          </a:p>
        </p:txBody>
      </p:sp>
      <p:sp>
        <p:nvSpPr>
          <p:cNvPr id="26" name="Text 8">
            <a:extLst>
              <a:ext uri="{FF2B5EF4-FFF2-40B4-BE49-F238E27FC236}">
                <a16:creationId xmlns:a16="http://schemas.microsoft.com/office/drawing/2014/main" id="{92A2B4E4-3A57-1AFC-3FA2-4E38B50E83FE}"/>
              </a:ext>
            </a:extLst>
          </p:cNvPr>
          <p:cNvSpPr/>
          <p:nvPr/>
        </p:nvSpPr>
        <p:spPr>
          <a:xfrm>
            <a:off x="5484436" y="9107279"/>
            <a:ext cx="2239045" cy="178668"/>
          </a:xfrm>
          <a:prstGeom prst="rect">
            <a:avLst/>
          </a:prstGeom>
          <a:noFill/>
          <a:ln/>
        </p:spPr>
        <p:txBody>
          <a:bodyPr wrap="none" lIns="0" tIns="0" rIns="0" bIns="0" rtlCol="0" anchor="t"/>
          <a:lstStyle/>
          <a:p>
            <a:pPr marL="0" indent="0" algn="ctr">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Kajian Tata Kelola &amp; Kelembagaan</a:t>
            </a:r>
            <a:endParaRPr lang="en-US" sz="1100" dirty="0">
              <a:latin typeface="Leelawadee UI" panose="020B0502040204020203" pitchFamily="34" charset="-34"/>
              <a:cs typeface="Leelawadee UI" panose="020B0502040204020203" pitchFamily="34" charset="-34"/>
            </a:endParaRPr>
          </a:p>
        </p:txBody>
      </p:sp>
      <p:sp>
        <p:nvSpPr>
          <p:cNvPr id="27" name="Text 9">
            <a:extLst>
              <a:ext uri="{FF2B5EF4-FFF2-40B4-BE49-F238E27FC236}">
                <a16:creationId xmlns:a16="http://schemas.microsoft.com/office/drawing/2014/main" id="{5A0EE4A3-B280-2489-118F-EC4423FBC459}"/>
              </a:ext>
            </a:extLst>
          </p:cNvPr>
          <p:cNvSpPr/>
          <p:nvPr/>
        </p:nvSpPr>
        <p:spPr>
          <a:xfrm>
            <a:off x="4610072" y="9302205"/>
            <a:ext cx="4010025" cy="175840"/>
          </a:xfrm>
          <a:prstGeom prst="rect">
            <a:avLst/>
          </a:prstGeom>
          <a:noFill/>
          <a:ln/>
        </p:spPr>
        <p:txBody>
          <a:bodyPr wrap="none" lIns="0" tIns="0" rIns="0" bIns="0" rtlCol="0" anchor="t"/>
          <a:lstStyle/>
          <a:p>
            <a:pPr marL="0" indent="0" algn="ctr">
              <a:lnSpc>
                <a:spcPct val="128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Kajian mendalam tentang struktur tata kelola dan </a:t>
            </a:r>
          </a:p>
          <a:p>
            <a:pPr marL="0" indent="0" algn="ctr">
              <a:lnSpc>
                <a:spcPct val="128000"/>
              </a:lnSpc>
              <a:buNone/>
            </a:pPr>
            <a:r>
              <a:rPr lang="en-US" sz="1050" dirty="0" err="1">
                <a:solidFill>
                  <a:srgbClr val="161613"/>
                </a:solidFill>
                <a:latin typeface="Leelawadee UI" panose="020B0502040204020203" pitchFamily="34" charset="-34"/>
                <a:ea typeface="Inter" pitchFamily="34" charset="-122"/>
                <a:cs typeface="Leelawadee UI" panose="020B0502040204020203" pitchFamily="34" charset="-34"/>
              </a:rPr>
              <a:t>penguatan</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kelembagaan</a:t>
            </a:r>
            <a:endParaRPr lang="en-US" sz="1050" dirty="0">
              <a:latin typeface="Leelawadee UI" panose="020B0502040204020203" pitchFamily="34" charset="-34"/>
              <a:cs typeface="Leelawadee UI" panose="020B0502040204020203" pitchFamily="34" charset="-34"/>
            </a:endParaRPr>
          </a:p>
        </p:txBody>
      </p:sp>
      <p:sp>
        <p:nvSpPr>
          <p:cNvPr id="28" name="Text 10">
            <a:extLst>
              <a:ext uri="{FF2B5EF4-FFF2-40B4-BE49-F238E27FC236}">
                <a16:creationId xmlns:a16="http://schemas.microsoft.com/office/drawing/2014/main" id="{7A062080-D1A6-2778-1F1A-489EFC4BD488}"/>
              </a:ext>
            </a:extLst>
          </p:cNvPr>
          <p:cNvSpPr/>
          <p:nvPr/>
        </p:nvSpPr>
        <p:spPr>
          <a:xfrm>
            <a:off x="457246" y="9793005"/>
            <a:ext cx="4010025" cy="377354"/>
          </a:xfrm>
          <a:prstGeom prst="rect">
            <a:avLst/>
          </a:prstGeom>
          <a:noFill/>
          <a:ln/>
        </p:spPr>
        <p:txBody>
          <a:bodyPr wrap="none" lIns="0" tIns="0" rIns="0" bIns="0" rtlCol="0" anchor="t"/>
          <a:lstStyle/>
          <a:p>
            <a:pPr marL="0" indent="0" algn="ctr">
              <a:lnSpc>
                <a:spcPct val="83000"/>
              </a:lnSpc>
              <a:buNone/>
            </a:pPr>
            <a:r>
              <a:rPr lang="en-US" sz="2950" dirty="0">
                <a:solidFill>
                  <a:srgbClr val="161613"/>
                </a:solidFill>
                <a:latin typeface="Leelawadee UI" panose="020B0502040204020203" pitchFamily="34" charset="-34"/>
                <a:ea typeface="DM Sans Medium" pitchFamily="34" charset="-122"/>
                <a:cs typeface="Leelawadee UI" panose="020B0502040204020203" pitchFamily="34" charset="-34"/>
              </a:rPr>
              <a:t>38+</a:t>
            </a:r>
            <a:endParaRPr lang="en-US" sz="2950" dirty="0">
              <a:latin typeface="Leelawadee UI" panose="020B0502040204020203" pitchFamily="34" charset="-34"/>
              <a:cs typeface="Leelawadee UI" panose="020B0502040204020203" pitchFamily="34" charset="-34"/>
            </a:endParaRPr>
          </a:p>
        </p:txBody>
      </p:sp>
      <p:sp>
        <p:nvSpPr>
          <p:cNvPr id="29" name="Text 11">
            <a:extLst>
              <a:ext uri="{FF2B5EF4-FFF2-40B4-BE49-F238E27FC236}">
                <a16:creationId xmlns:a16="http://schemas.microsoft.com/office/drawing/2014/main" id="{2B561D2E-3B35-EC0A-180A-A28E758CC666}"/>
              </a:ext>
            </a:extLst>
          </p:cNvPr>
          <p:cNvSpPr/>
          <p:nvPr/>
        </p:nvSpPr>
        <p:spPr>
          <a:xfrm>
            <a:off x="1674213" y="10306536"/>
            <a:ext cx="1576090" cy="178668"/>
          </a:xfrm>
          <a:prstGeom prst="rect">
            <a:avLst/>
          </a:prstGeom>
          <a:noFill/>
          <a:ln/>
        </p:spPr>
        <p:txBody>
          <a:bodyPr wrap="none" lIns="0" tIns="0" rIns="0" bIns="0" rtlCol="0" anchor="t"/>
          <a:lstStyle/>
          <a:p>
            <a:pPr marL="0" indent="0" algn="ctr">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Rekomendasi Kebijakan</a:t>
            </a:r>
            <a:endParaRPr lang="en-US" sz="1100" dirty="0">
              <a:latin typeface="Leelawadee UI" panose="020B0502040204020203" pitchFamily="34" charset="-34"/>
              <a:cs typeface="Leelawadee UI" panose="020B0502040204020203" pitchFamily="34" charset="-34"/>
            </a:endParaRPr>
          </a:p>
        </p:txBody>
      </p:sp>
      <p:sp>
        <p:nvSpPr>
          <p:cNvPr id="30" name="Text 12">
            <a:extLst>
              <a:ext uri="{FF2B5EF4-FFF2-40B4-BE49-F238E27FC236}">
                <a16:creationId xmlns:a16="http://schemas.microsoft.com/office/drawing/2014/main" id="{FFBA38FB-801C-CD51-4EEE-7B31ADB2F646}"/>
              </a:ext>
            </a:extLst>
          </p:cNvPr>
          <p:cNvSpPr/>
          <p:nvPr/>
        </p:nvSpPr>
        <p:spPr>
          <a:xfrm>
            <a:off x="457246" y="10473005"/>
            <a:ext cx="4010025" cy="175840"/>
          </a:xfrm>
          <a:prstGeom prst="rect">
            <a:avLst/>
          </a:prstGeom>
          <a:noFill/>
          <a:ln/>
        </p:spPr>
        <p:txBody>
          <a:bodyPr wrap="none" lIns="0" tIns="0" rIns="0" bIns="0" rtlCol="0" anchor="t"/>
          <a:lstStyle/>
          <a:p>
            <a:pPr marL="0" indent="0" algn="ctr">
              <a:lnSpc>
                <a:spcPct val="128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Rekomendasi spesifik yang disampaikan kepada pemangku kebijakan</a:t>
            </a:r>
            <a:endParaRPr lang="en-US" sz="1050" dirty="0">
              <a:latin typeface="Leelawadee UI" panose="020B0502040204020203" pitchFamily="34" charset="-34"/>
              <a:cs typeface="Leelawadee UI" panose="020B0502040204020203" pitchFamily="34" charset="-34"/>
            </a:endParaRPr>
          </a:p>
        </p:txBody>
      </p:sp>
      <p:sp>
        <p:nvSpPr>
          <p:cNvPr id="31" name="Text 13">
            <a:extLst>
              <a:ext uri="{FF2B5EF4-FFF2-40B4-BE49-F238E27FC236}">
                <a16:creationId xmlns:a16="http://schemas.microsoft.com/office/drawing/2014/main" id="{A3258548-DB14-4573-9530-8C446EA18CD0}"/>
              </a:ext>
            </a:extLst>
          </p:cNvPr>
          <p:cNvSpPr/>
          <p:nvPr/>
        </p:nvSpPr>
        <p:spPr>
          <a:xfrm>
            <a:off x="4598983" y="9793005"/>
            <a:ext cx="4010025" cy="377354"/>
          </a:xfrm>
          <a:prstGeom prst="rect">
            <a:avLst/>
          </a:prstGeom>
          <a:noFill/>
          <a:ln/>
        </p:spPr>
        <p:txBody>
          <a:bodyPr wrap="none" lIns="0" tIns="0" rIns="0" bIns="0" rtlCol="0" anchor="t"/>
          <a:lstStyle/>
          <a:p>
            <a:pPr marL="0" indent="0" algn="ctr">
              <a:lnSpc>
                <a:spcPct val="83000"/>
              </a:lnSpc>
              <a:buNone/>
            </a:pPr>
            <a:r>
              <a:rPr lang="en-US" sz="2950" dirty="0">
                <a:solidFill>
                  <a:srgbClr val="161613"/>
                </a:solidFill>
                <a:latin typeface="Leelawadee UI" panose="020B0502040204020203" pitchFamily="34" charset="-34"/>
                <a:ea typeface="DM Sans Medium" pitchFamily="34" charset="-122"/>
                <a:cs typeface="Leelawadee UI" panose="020B0502040204020203" pitchFamily="34" charset="-34"/>
              </a:rPr>
              <a:t>8</a:t>
            </a:r>
            <a:endParaRPr lang="en-US" sz="2950" dirty="0">
              <a:latin typeface="Leelawadee UI" panose="020B0502040204020203" pitchFamily="34" charset="-34"/>
              <a:cs typeface="Leelawadee UI" panose="020B0502040204020203" pitchFamily="34" charset="-34"/>
            </a:endParaRPr>
          </a:p>
        </p:txBody>
      </p:sp>
      <p:sp>
        <p:nvSpPr>
          <p:cNvPr id="32" name="Text 14">
            <a:extLst>
              <a:ext uri="{FF2B5EF4-FFF2-40B4-BE49-F238E27FC236}">
                <a16:creationId xmlns:a16="http://schemas.microsoft.com/office/drawing/2014/main" id="{1618BAE5-153E-FC4B-4642-DB6D7AA46788}"/>
              </a:ext>
            </a:extLst>
          </p:cNvPr>
          <p:cNvSpPr/>
          <p:nvPr/>
        </p:nvSpPr>
        <p:spPr>
          <a:xfrm>
            <a:off x="5889249" y="10306536"/>
            <a:ext cx="1429420" cy="178668"/>
          </a:xfrm>
          <a:prstGeom prst="rect">
            <a:avLst/>
          </a:prstGeom>
          <a:noFill/>
          <a:ln/>
        </p:spPr>
        <p:txBody>
          <a:bodyPr wrap="none" lIns="0" tIns="0" rIns="0" bIns="0" rtlCol="0" anchor="t"/>
          <a:lstStyle/>
          <a:p>
            <a:pPr marL="0" indent="0" algn="ctr">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Analisis Regulasi</a:t>
            </a:r>
            <a:endParaRPr lang="en-US" sz="1100" dirty="0">
              <a:latin typeface="Leelawadee UI" panose="020B0502040204020203" pitchFamily="34" charset="-34"/>
              <a:cs typeface="Leelawadee UI" panose="020B0502040204020203" pitchFamily="34" charset="-34"/>
            </a:endParaRPr>
          </a:p>
        </p:txBody>
      </p:sp>
      <p:sp>
        <p:nvSpPr>
          <p:cNvPr id="33" name="Text 15">
            <a:extLst>
              <a:ext uri="{FF2B5EF4-FFF2-40B4-BE49-F238E27FC236}">
                <a16:creationId xmlns:a16="http://schemas.microsoft.com/office/drawing/2014/main" id="{3E941E07-93A7-4B4D-4C92-7015858B7798}"/>
              </a:ext>
            </a:extLst>
          </p:cNvPr>
          <p:cNvSpPr/>
          <p:nvPr/>
        </p:nvSpPr>
        <p:spPr>
          <a:xfrm>
            <a:off x="4598983" y="10473005"/>
            <a:ext cx="4010025" cy="175840"/>
          </a:xfrm>
          <a:prstGeom prst="rect">
            <a:avLst/>
          </a:prstGeom>
          <a:noFill/>
          <a:ln/>
        </p:spPr>
        <p:txBody>
          <a:bodyPr wrap="none" lIns="0" tIns="0" rIns="0" bIns="0" rtlCol="0" anchor="t"/>
          <a:lstStyle/>
          <a:p>
            <a:pPr marL="0" indent="0" algn="ctr">
              <a:lnSpc>
                <a:spcPct val="128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Analisis regulasi nasional &amp; internasional (EUDR, ESG, dll.)</a:t>
            </a:r>
            <a:endParaRPr lang="en-US" sz="1050" dirty="0">
              <a:latin typeface="Leelawadee UI" panose="020B0502040204020203" pitchFamily="34" charset="-34"/>
              <a:cs typeface="Leelawadee UI" panose="020B0502040204020203" pitchFamily="34" charset="-34"/>
            </a:endParaRPr>
          </a:p>
        </p:txBody>
      </p:sp>
      <p:sp>
        <p:nvSpPr>
          <p:cNvPr id="34" name="Shape 16">
            <a:extLst>
              <a:ext uri="{FF2B5EF4-FFF2-40B4-BE49-F238E27FC236}">
                <a16:creationId xmlns:a16="http://schemas.microsoft.com/office/drawing/2014/main" id="{AC2705BE-BA32-2CBA-ECD4-5F8EBBD06B68}"/>
              </a:ext>
            </a:extLst>
          </p:cNvPr>
          <p:cNvSpPr/>
          <p:nvPr/>
        </p:nvSpPr>
        <p:spPr>
          <a:xfrm>
            <a:off x="457246" y="10842839"/>
            <a:ext cx="8151763" cy="598587"/>
          </a:xfrm>
          <a:prstGeom prst="roundRect">
            <a:avLst>
              <a:gd name="adj" fmla="val 2866"/>
            </a:avLst>
          </a:prstGeom>
          <a:solidFill>
            <a:srgbClr val="B6D6FC"/>
          </a:solidFill>
          <a:ln/>
        </p:spPr>
      </p:sp>
      <p:pic>
        <p:nvPicPr>
          <p:cNvPr id="35" name="Image 0" descr="preencoded.png">
            <a:extLst>
              <a:ext uri="{FF2B5EF4-FFF2-40B4-BE49-F238E27FC236}">
                <a16:creationId xmlns:a16="http://schemas.microsoft.com/office/drawing/2014/main" id="{A27629BF-6C29-299A-CD9D-1242E2AEFFAC}"/>
              </a:ext>
            </a:extLst>
          </p:cNvPr>
          <p:cNvPicPr>
            <a:picLocks noChangeAspect="1"/>
          </p:cNvPicPr>
          <p:nvPr/>
        </p:nvPicPr>
        <p:blipFill>
          <a:blip r:embed="rId8"/>
          <a:stretch>
            <a:fillRect/>
          </a:stretch>
        </p:blipFill>
        <p:spPr>
          <a:xfrm>
            <a:off x="571546" y="11000001"/>
            <a:ext cx="142875" cy="114300"/>
          </a:xfrm>
          <a:prstGeom prst="rect">
            <a:avLst/>
          </a:prstGeom>
        </p:spPr>
      </p:pic>
      <p:sp>
        <p:nvSpPr>
          <p:cNvPr id="36" name="Text 17">
            <a:extLst>
              <a:ext uri="{FF2B5EF4-FFF2-40B4-BE49-F238E27FC236}">
                <a16:creationId xmlns:a16="http://schemas.microsoft.com/office/drawing/2014/main" id="{D6ED07CB-5EAC-409E-DD05-E2A6F5E1137E}"/>
              </a:ext>
            </a:extLst>
          </p:cNvPr>
          <p:cNvSpPr/>
          <p:nvPr/>
        </p:nvSpPr>
        <p:spPr>
          <a:xfrm>
            <a:off x="828721" y="10966292"/>
            <a:ext cx="7665988" cy="557550"/>
          </a:xfrm>
          <a:prstGeom prst="rect">
            <a:avLst/>
          </a:prstGeom>
          <a:noFill/>
          <a:ln/>
        </p:spPr>
        <p:txBody>
          <a:bodyPr wrap="square" lIns="0" tIns="0" rIns="0" bIns="0" rtlCol="0" anchor="t">
            <a:normAutofit/>
          </a:bodyPr>
          <a:lstStyle/>
          <a:p>
            <a:pPr marL="0" indent="0" algn="l">
              <a:lnSpc>
                <a:spcPct val="128000"/>
              </a:lnSpc>
              <a:buNone/>
            </a:pPr>
            <a:r>
              <a:rPr lang="en-US" sz="1050" dirty="0">
                <a:solidFill>
                  <a:srgbClr val="000000"/>
                </a:solidFill>
                <a:latin typeface="Leelawadee UI" panose="020B0502040204020203" pitchFamily="34" charset="-34"/>
                <a:ea typeface="Inter" pitchFamily="34" charset="-122"/>
                <a:cs typeface="Leelawadee UI" panose="020B0502040204020203" pitchFamily="34" charset="-34"/>
              </a:rPr>
              <a:t>📌 </a:t>
            </a:r>
            <a:r>
              <a:rPr lang="en-US" sz="1050" b="1" dirty="0">
                <a:solidFill>
                  <a:srgbClr val="000000"/>
                </a:solidFill>
                <a:latin typeface="Leelawadee UI" panose="020B0502040204020203" pitchFamily="34" charset="-34"/>
                <a:ea typeface="Inter" pitchFamily="34" charset="-122"/>
                <a:cs typeface="Leelawadee UI" panose="020B0502040204020203" pitchFamily="34" charset="-34"/>
              </a:rPr>
              <a:t>Catatan:</a:t>
            </a:r>
            <a:r>
              <a:rPr lang="en-US" sz="1050" dirty="0">
                <a:solidFill>
                  <a:srgbClr val="000000"/>
                </a:solidFill>
                <a:latin typeface="Leelawadee UI" panose="020B0502040204020203" pitchFamily="34" charset="-34"/>
                <a:ea typeface="Inter" pitchFamily="34" charset="-122"/>
                <a:cs typeface="Leelawadee UI" panose="020B0502040204020203" pitchFamily="34" charset="-34"/>
              </a:rPr>
              <a:t> Data di atas bersifat indikatif/placeholder. Tim YNKI diharapkan mengisi dengan data riil dari inventarisasi produk analisis kebijakan yang telah dihasilkan.</a:t>
            </a:r>
            <a:endParaRPr lang="en-US" sz="1050" dirty="0">
              <a:latin typeface="Leelawadee UI" panose="020B0502040204020203" pitchFamily="34" charset="-34"/>
              <a:cs typeface="Leelawadee UI" panose="020B0502040204020203" pitchFamily="34" charset="-34"/>
            </a:endParaRPr>
          </a:p>
        </p:txBody>
      </p:sp>
      <p:sp>
        <p:nvSpPr>
          <p:cNvPr id="37" name="Shape 0">
            <a:extLst>
              <a:ext uri="{FF2B5EF4-FFF2-40B4-BE49-F238E27FC236}">
                <a16:creationId xmlns:a16="http://schemas.microsoft.com/office/drawing/2014/main" id="{F548A8FC-5CB5-85D4-DA88-A60C78A20D69}"/>
              </a:ext>
            </a:extLst>
          </p:cNvPr>
          <p:cNvSpPr/>
          <p:nvPr/>
        </p:nvSpPr>
        <p:spPr>
          <a:xfrm>
            <a:off x="513485" y="11644203"/>
            <a:ext cx="789533" cy="233214"/>
          </a:xfrm>
          <a:prstGeom prst="roundRect">
            <a:avLst>
              <a:gd name="adj" fmla="val 6383"/>
            </a:avLst>
          </a:prstGeom>
          <a:solidFill>
            <a:srgbClr val="E3E3E8"/>
          </a:solidFill>
          <a:ln/>
        </p:spPr>
      </p:sp>
      <p:sp>
        <p:nvSpPr>
          <p:cNvPr id="38" name="Text 1">
            <a:extLst>
              <a:ext uri="{FF2B5EF4-FFF2-40B4-BE49-F238E27FC236}">
                <a16:creationId xmlns:a16="http://schemas.microsoft.com/office/drawing/2014/main" id="{3AD3BE16-1733-0C94-9703-9DE68F4FE972}"/>
              </a:ext>
            </a:extLst>
          </p:cNvPr>
          <p:cNvSpPr/>
          <p:nvPr/>
        </p:nvSpPr>
        <p:spPr>
          <a:xfrm>
            <a:off x="587899" y="11681410"/>
            <a:ext cx="1097905" cy="158800"/>
          </a:xfrm>
          <a:prstGeom prst="rect">
            <a:avLst/>
          </a:prstGeom>
          <a:noFill/>
          <a:ln/>
        </p:spPr>
        <p:txBody>
          <a:bodyPr wrap="none" lIns="0" tIns="0" rIns="0" bIns="0" rtlCol="0" anchor="t"/>
          <a:lstStyle/>
          <a:p>
            <a:pPr marL="0" indent="0" algn="l">
              <a:lnSpc>
                <a:spcPct val="133000"/>
              </a:lnSpc>
              <a:buNone/>
            </a:pPr>
            <a:r>
              <a:rPr lang="en-US" sz="750" dirty="0">
                <a:solidFill>
                  <a:srgbClr val="161613"/>
                </a:solidFill>
                <a:latin typeface="Leelawadee UI" panose="020B0502040204020203" pitchFamily="34" charset="-34"/>
                <a:ea typeface="Inter" pitchFamily="34" charset="-122"/>
                <a:cs typeface="Leelawadee UI" panose="020B0502040204020203" pitchFamily="34" charset="-34"/>
              </a:rPr>
              <a:t>FILTER TOPIK</a:t>
            </a:r>
            <a:endParaRPr lang="en-US" sz="750" dirty="0">
              <a:latin typeface="Leelawadee UI" panose="020B0502040204020203" pitchFamily="34" charset="-34"/>
              <a:cs typeface="Leelawadee UI" panose="020B0502040204020203" pitchFamily="34" charset="-34"/>
            </a:endParaRPr>
          </a:p>
        </p:txBody>
      </p:sp>
      <p:sp>
        <p:nvSpPr>
          <p:cNvPr id="39" name="Text 2">
            <a:extLst>
              <a:ext uri="{FF2B5EF4-FFF2-40B4-BE49-F238E27FC236}">
                <a16:creationId xmlns:a16="http://schemas.microsoft.com/office/drawing/2014/main" id="{28806798-8B60-6680-712E-8FE8F3674B85}"/>
              </a:ext>
            </a:extLst>
          </p:cNvPr>
          <p:cNvSpPr/>
          <p:nvPr/>
        </p:nvSpPr>
        <p:spPr>
          <a:xfrm>
            <a:off x="513485" y="11926977"/>
            <a:ext cx="5135463" cy="387548"/>
          </a:xfrm>
          <a:prstGeom prst="rect">
            <a:avLst/>
          </a:prstGeom>
          <a:noFill/>
          <a:ln/>
        </p:spPr>
        <p:txBody>
          <a:bodyPr wrap="none" lIns="0" tIns="0" rIns="0" bIns="0" rtlCol="0" anchor="t"/>
          <a:lstStyle/>
          <a:p>
            <a:pPr marL="0" indent="0" algn="l">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Filter Berdasarkan Topik Analisis</a:t>
            </a:r>
            <a:endParaRPr lang="en-US" sz="2400" dirty="0">
              <a:latin typeface="Leelawadee UI" panose="020B0502040204020203" pitchFamily="34" charset="-34"/>
              <a:cs typeface="Leelawadee UI" panose="020B0502040204020203" pitchFamily="34" charset="-34"/>
            </a:endParaRPr>
          </a:p>
        </p:txBody>
      </p:sp>
      <p:sp>
        <p:nvSpPr>
          <p:cNvPr id="40" name="Text 3">
            <a:extLst>
              <a:ext uri="{FF2B5EF4-FFF2-40B4-BE49-F238E27FC236}">
                <a16:creationId xmlns:a16="http://schemas.microsoft.com/office/drawing/2014/main" id="{3E2142C2-4317-3112-EBDB-41285E386052}"/>
              </a:ext>
            </a:extLst>
          </p:cNvPr>
          <p:cNvSpPr/>
          <p:nvPr/>
        </p:nvSpPr>
        <p:spPr>
          <a:xfrm>
            <a:off x="513960" y="12371860"/>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Gunakan filter berikut untuk menavigasi koleksi analisis kebijakan berdasarkan tema dan topik yang paling relevan dengan kebutuhan Anda.</a:t>
            </a:r>
            <a:endParaRPr lang="en-US" sz="950" dirty="0">
              <a:latin typeface="Leelawadee UI" panose="020B0502040204020203" pitchFamily="34" charset="-34"/>
              <a:cs typeface="Leelawadee UI" panose="020B0502040204020203" pitchFamily="34" charset="-34"/>
            </a:endParaRPr>
          </a:p>
        </p:txBody>
      </p:sp>
      <p:pic>
        <p:nvPicPr>
          <p:cNvPr id="41" name="Image 0" descr="preencoded.png">
            <a:extLst>
              <a:ext uri="{FF2B5EF4-FFF2-40B4-BE49-F238E27FC236}">
                <a16:creationId xmlns:a16="http://schemas.microsoft.com/office/drawing/2014/main" id="{CCD80C92-5EDE-B522-0C20-55DD5F80BA08}"/>
              </a:ext>
            </a:extLst>
          </p:cNvPr>
          <p:cNvPicPr>
            <a:picLocks noChangeAspect="1"/>
          </p:cNvPicPr>
          <p:nvPr/>
        </p:nvPicPr>
        <p:blipFill>
          <a:blip r:embed="rId9"/>
          <a:stretch>
            <a:fillRect/>
          </a:stretch>
        </p:blipFill>
        <p:spPr>
          <a:xfrm>
            <a:off x="542429" y="12747528"/>
            <a:ext cx="1162645" cy="341114"/>
          </a:xfrm>
          <a:prstGeom prst="rect">
            <a:avLst/>
          </a:prstGeom>
        </p:spPr>
      </p:pic>
      <p:pic>
        <p:nvPicPr>
          <p:cNvPr id="42" name="Image 1" descr="preencoded.png">
            <a:extLst>
              <a:ext uri="{FF2B5EF4-FFF2-40B4-BE49-F238E27FC236}">
                <a16:creationId xmlns:a16="http://schemas.microsoft.com/office/drawing/2014/main" id="{F26A4FB5-1FFC-10D2-68DA-CC8C4D40C75F}"/>
              </a:ext>
            </a:extLst>
          </p:cNvPr>
          <p:cNvPicPr>
            <a:picLocks noChangeAspect="1"/>
          </p:cNvPicPr>
          <p:nvPr/>
        </p:nvPicPr>
        <p:blipFill>
          <a:blip r:embed="rId10"/>
          <a:stretch>
            <a:fillRect/>
          </a:stretch>
        </p:blipFill>
        <p:spPr>
          <a:xfrm>
            <a:off x="1767061" y="12747528"/>
            <a:ext cx="1441475" cy="341114"/>
          </a:xfrm>
          <a:prstGeom prst="rect">
            <a:avLst/>
          </a:prstGeom>
        </p:spPr>
      </p:pic>
      <p:pic>
        <p:nvPicPr>
          <p:cNvPr id="43" name="Image 2" descr="preencoded.png">
            <a:extLst>
              <a:ext uri="{FF2B5EF4-FFF2-40B4-BE49-F238E27FC236}">
                <a16:creationId xmlns:a16="http://schemas.microsoft.com/office/drawing/2014/main" id="{C0919FE4-A39A-1723-4DA6-72F9CFC73F4E}"/>
              </a:ext>
            </a:extLst>
          </p:cNvPr>
          <p:cNvPicPr>
            <a:picLocks noChangeAspect="1"/>
          </p:cNvPicPr>
          <p:nvPr/>
        </p:nvPicPr>
        <p:blipFill>
          <a:blip r:embed="rId11"/>
          <a:stretch>
            <a:fillRect/>
          </a:stretch>
        </p:blipFill>
        <p:spPr>
          <a:xfrm>
            <a:off x="3270523" y="12747528"/>
            <a:ext cx="2041699" cy="341114"/>
          </a:xfrm>
          <a:prstGeom prst="rect">
            <a:avLst/>
          </a:prstGeom>
        </p:spPr>
      </p:pic>
      <p:pic>
        <p:nvPicPr>
          <p:cNvPr id="44" name="Image 3" descr="preencoded.png">
            <a:extLst>
              <a:ext uri="{FF2B5EF4-FFF2-40B4-BE49-F238E27FC236}">
                <a16:creationId xmlns:a16="http://schemas.microsoft.com/office/drawing/2014/main" id="{FEE35E29-E947-E7A6-2A8A-BDA64B9BA449}"/>
              </a:ext>
            </a:extLst>
          </p:cNvPr>
          <p:cNvPicPr>
            <a:picLocks noChangeAspect="1"/>
          </p:cNvPicPr>
          <p:nvPr/>
        </p:nvPicPr>
        <p:blipFill>
          <a:blip r:embed="rId12"/>
          <a:stretch>
            <a:fillRect/>
          </a:stretch>
        </p:blipFill>
        <p:spPr>
          <a:xfrm>
            <a:off x="542429" y="13228169"/>
            <a:ext cx="2285554" cy="341114"/>
          </a:xfrm>
          <a:prstGeom prst="rect">
            <a:avLst/>
          </a:prstGeom>
        </p:spPr>
      </p:pic>
      <p:pic>
        <p:nvPicPr>
          <p:cNvPr id="45" name="Image 4" descr="preencoded.png">
            <a:extLst>
              <a:ext uri="{FF2B5EF4-FFF2-40B4-BE49-F238E27FC236}">
                <a16:creationId xmlns:a16="http://schemas.microsoft.com/office/drawing/2014/main" id="{F79665D0-AF63-C74C-3CAA-699E80A8A561}"/>
              </a:ext>
            </a:extLst>
          </p:cNvPr>
          <p:cNvPicPr>
            <a:picLocks noChangeAspect="1"/>
          </p:cNvPicPr>
          <p:nvPr/>
        </p:nvPicPr>
        <p:blipFill>
          <a:blip r:embed="rId13"/>
          <a:stretch>
            <a:fillRect/>
          </a:stretch>
        </p:blipFill>
        <p:spPr>
          <a:xfrm>
            <a:off x="2889969" y="13228169"/>
            <a:ext cx="1828726" cy="341114"/>
          </a:xfrm>
          <a:prstGeom prst="rect">
            <a:avLst/>
          </a:prstGeom>
        </p:spPr>
      </p:pic>
      <p:pic>
        <p:nvPicPr>
          <p:cNvPr id="46" name="Image 5" descr="preencoded.png">
            <a:extLst>
              <a:ext uri="{FF2B5EF4-FFF2-40B4-BE49-F238E27FC236}">
                <a16:creationId xmlns:a16="http://schemas.microsoft.com/office/drawing/2014/main" id="{795B06E1-C891-DA36-5C6B-076D2CF8A852}"/>
              </a:ext>
            </a:extLst>
          </p:cNvPr>
          <p:cNvPicPr>
            <a:picLocks noChangeAspect="1"/>
          </p:cNvPicPr>
          <p:nvPr/>
        </p:nvPicPr>
        <p:blipFill>
          <a:blip r:embed="rId14"/>
          <a:stretch>
            <a:fillRect/>
          </a:stretch>
        </p:blipFill>
        <p:spPr>
          <a:xfrm>
            <a:off x="4780681" y="13228169"/>
            <a:ext cx="2397919" cy="341114"/>
          </a:xfrm>
          <a:prstGeom prst="rect">
            <a:avLst/>
          </a:prstGeom>
        </p:spPr>
      </p:pic>
      <p:pic>
        <p:nvPicPr>
          <p:cNvPr id="47" name="Image 6" descr="preencoded.png">
            <a:extLst>
              <a:ext uri="{FF2B5EF4-FFF2-40B4-BE49-F238E27FC236}">
                <a16:creationId xmlns:a16="http://schemas.microsoft.com/office/drawing/2014/main" id="{26E6BBD3-7764-C729-C1C1-440727D74D2F}"/>
              </a:ext>
            </a:extLst>
          </p:cNvPr>
          <p:cNvPicPr>
            <a:picLocks noChangeAspect="1"/>
          </p:cNvPicPr>
          <p:nvPr/>
        </p:nvPicPr>
        <p:blipFill>
          <a:blip r:embed="rId15"/>
          <a:stretch>
            <a:fillRect/>
          </a:stretch>
        </p:blipFill>
        <p:spPr>
          <a:xfrm>
            <a:off x="542429" y="13708809"/>
            <a:ext cx="2849166" cy="341114"/>
          </a:xfrm>
          <a:prstGeom prst="rect">
            <a:avLst/>
          </a:prstGeom>
        </p:spPr>
      </p:pic>
      <p:sp>
        <p:nvSpPr>
          <p:cNvPr id="48" name="Shape 0">
            <a:extLst>
              <a:ext uri="{FF2B5EF4-FFF2-40B4-BE49-F238E27FC236}">
                <a16:creationId xmlns:a16="http://schemas.microsoft.com/office/drawing/2014/main" id="{1F5029F4-C774-4ABD-D517-FEA51821FEA9}"/>
              </a:ext>
            </a:extLst>
          </p:cNvPr>
          <p:cNvSpPr/>
          <p:nvPr/>
        </p:nvSpPr>
        <p:spPr>
          <a:xfrm>
            <a:off x="496329" y="14169178"/>
            <a:ext cx="1265134" cy="181284"/>
          </a:xfrm>
          <a:prstGeom prst="roundRect">
            <a:avLst>
              <a:gd name="adj" fmla="val 7694"/>
            </a:avLst>
          </a:prstGeom>
          <a:solidFill>
            <a:srgbClr val="E3E3E8"/>
          </a:solidFill>
          <a:ln/>
        </p:spPr>
      </p:sp>
      <p:sp>
        <p:nvSpPr>
          <p:cNvPr id="49" name="Text 1">
            <a:extLst>
              <a:ext uri="{FF2B5EF4-FFF2-40B4-BE49-F238E27FC236}">
                <a16:creationId xmlns:a16="http://schemas.microsoft.com/office/drawing/2014/main" id="{E5B4607B-154C-36CD-2880-99E5512DF0DE}"/>
              </a:ext>
            </a:extLst>
          </p:cNvPr>
          <p:cNvSpPr/>
          <p:nvPr/>
        </p:nvSpPr>
        <p:spPr>
          <a:xfrm>
            <a:off x="542429" y="14203122"/>
            <a:ext cx="1265133" cy="264373"/>
          </a:xfrm>
          <a:prstGeom prst="rect">
            <a:avLst/>
          </a:prstGeom>
          <a:noFill/>
          <a:ln/>
        </p:spPr>
        <p:txBody>
          <a:bodyPr wrap="none" lIns="0" tIns="0" rIns="0" bIns="0" rtlCol="0" anchor="t"/>
          <a:lstStyle/>
          <a:p>
            <a:pPr marL="0" indent="0" algn="l">
              <a:lnSpc>
                <a:spcPct val="100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KUMPULAN DOKUMEN</a:t>
            </a:r>
            <a:endParaRPr lang="en-US" sz="900" dirty="0">
              <a:latin typeface="Leelawadee UI" panose="020B0502040204020203" pitchFamily="34" charset="-34"/>
              <a:cs typeface="Leelawadee UI" panose="020B0502040204020203" pitchFamily="34" charset="-34"/>
            </a:endParaRPr>
          </a:p>
        </p:txBody>
      </p:sp>
      <p:sp>
        <p:nvSpPr>
          <p:cNvPr id="50" name="Text 2">
            <a:extLst>
              <a:ext uri="{FF2B5EF4-FFF2-40B4-BE49-F238E27FC236}">
                <a16:creationId xmlns:a16="http://schemas.microsoft.com/office/drawing/2014/main" id="{59E81D94-990A-49E2-91A5-E09D7939306B}"/>
              </a:ext>
            </a:extLst>
          </p:cNvPr>
          <p:cNvSpPr/>
          <p:nvPr/>
        </p:nvSpPr>
        <p:spPr>
          <a:xfrm>
            <a:off x="496329" y="14350462"/>
            <a:ext cx="2785393"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Kumpulan Analisis &amp; Policy Brief</a:t>
            </a:r>
            <a:endParaRPr lang="en-US" sz="1200" dirty="0">
              <a:latin typeface="Leelawadee UI" panose="020B0502040204020203" pitchFamily="34" charset="-34"/>
              <a:cs typeface="Leelawadee UI" panose="020B0502040204020203" pitchFamily="34" charset="-34"/>
            </a:endParaRPr>
          </a:p>
        </p:txBody>
      </p:sp>
      <p:sp>
        <p:nvSpPr>
          <p:cNvPr id="51" name="Text 3">
            <a:extLst>
              <a:ext uri="{FF2B5EF4-FFF2-40B4-BE49-F238E27FC236}">
                <a16:creationId xmlns:a16="http://schemas.microsoft.com/office/drawing/2014/main" id="{B9354E71-177C-129A-728A-5060CC109EA4}"/>
              </a:ext>
            </a:extLst>
          </p:cNvPr>
          <p:cNvSpPr/>
          <p:nvPr/>
        </p:nvSpPr>
        <p:spPr>
          <a:xfrm>
            <a:off x="496329" y="14590819"/>
            <a:ext cx="7857457" cy="346282"/>
          </a:xfrm>
          <a:prstGeom prst="rect">
            <a:avLst/>
          </a:prstGeom>
          <a:noFill/>
          <a:ln/>
        </p:spPr>
        <p:txBody>
          <a:bodyPr wrap="square" lIns="0" tIns="0" rIns="0" bIns="0" rtlCol="0" anchor="t">
            <a:noAutofit/>
          </a:bodyPr>
          <a:lstStyle/>
          <a:p>
            <a:pPr marL="0" indent="0" algn="l">
              <a:lnSpc>
                <a:spcPct val="100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Berikut adalah kumpulan analisis kebijakan, policy brief, dan kajian strategis yang telah dihasilkan oleh YNKI. Setiap publikasi tersedia untuk diunduh dalam format PDF secara gratis.</a:t>
            </a:r>
            <a:endParaRPr lang="en-US" sz="1000" dirty="0">
              <a:latin typeface="Leelawadee UI" panose="020B0502040204020203" pitchFamily="34" charset="-34"/>
              <a:cs typeface="Leelawadee UI" panose="020B0502040204020203" pitchFamily="34" charset="-34"/>
            </a:endParaRPr>
          </a:p>
        </p:txBody>
      </p:sp>
      <p:pic>
        <p:nvPicPr>
          <p:cNvPr id="52" name="Image 0" descr="preencoded.png">
            <a:extLst>
              <a:ext uri="{FF2B5EF4-FFF2-40B4-BE49-F238E27FC236}">
                <a16:creationId xmlns:a16="http://schemas.microsoft.com/office/drawing/2014/main" id="{666453DF-8789-B937-891D-04B1776CAE8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511107" y="14974018"/>
            <a:ext cx="3636020" cy="1037035"/>
          </a:xfrm>
          <a:prstGeom prst="rect">
            <a:avLst/>
          </a:prstGeom>
        </p:spPr>
      </p:pic>
      <p:pic>
        <p:nvPicPr>
          <p:cNvPr id="53" name="Image 1" descr="preencoded.png">
            <a:extLst>
              <a:ext uri="{FF2B5EF4-FFF2-40B4-BE49-F238E27FC236}">
                <a16:creationId xmlns:a16="http://schemas.microsoft.com/office/drawing/2014/main" id="{FE7F0B04-14C4-3C05-FDCA-F0B3B412AA6E}"/>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10629" y="15337773"/>
            <a:ext cx="93018" cy="93018"/>
          </a:xfrm>
          <a:prstGeom prst="rect">
            <a:avLst/>
          </a:prstGeom>
        </p:spPr>
      </p:pic>
      <p:sp>
        <p:nvSpPr>
          <p:cNvPr id="54" name="Text 4">
            <a:extLst>
              <a:ext uri="{FF2B5EF4-FFF2-40B4-BE49-F238E27FC236}">
                <a16:creationId xmlns:a16="http://schemas.microsoft.com/office/drawing/2014/main" id="{4BE139E6-FB1E-E3BD-BD2B-D5DA99650DF8}"/>
              </a:ext>
            </a:extLst>
          </p:cNvPr>
          <p:cNvSpPr/>
          <p:nvPr/>
        </p:nvSpPr>
        <p:spPr>
          <a:xfrm>
            <a:off x="778103" y="15038332"/>
            <a:ext cx="3037954" cy="96887"/>
          </a:xfrm>
          <a:prstGeom prst="rect">
            <a:avLst/>
          </a:prstGeom>
          <a:noFill/>
          <a:ln/>
        </p:spPr>
        <p:txBody>
          <a:bodyPr wrap="none" lIns="0" tIns="0" rIns="0" bIns="0" rtlCol="0" anchor="t"/>
          <a:lstStyle/>
          <a:p>
            <a:pPr marL="0" indent="0" algn="l">
              <a:lnSpc>
                <a:spcPct val="104000"/>
              </a:lnSpc>
              <a:buNone/>
            </a:pPr>
            <a:r>
              <a:rPr lang="en-US" sz="900" dirty="0">
                <a:solidFill>
                  <a:srgbClr val="161613"/>
                </a:solidFill>
                <a:latin typeface="Leelawadee UI" panose="020B0502040204020203" pitchFamily="34" charset="-34"/>
                <a:ea typeface="DM Sans Medium" pitchFamily="34" charset="-122"/>
                <a:cs typeface="Leelawadee UI" panose="020B0502040204020203" pitchFamily="34" charset="-34"/>
              </a:rPr>
              <a:t>Policy Brief: Penguatan Tata Kelola Lanskap dalam </a:t>
            </a:r>
            <a:r>
              <a:rPr lang="en-US" sz="900" dirty="0" err="1">
                <a:solidFill>
                  <a:srgbClr val="161613"/>
                </a:solidFill>
                <a:latin typeface="Leelawadee UI" panose="020B0502040204020203" pitchFamily="34" charset="-34"/>
                <a:ea typeface="DM Sans Medium" pitchFamily="34" charset="-122"/>
                <a:cs typeface="Leelawadee UI" panose="020B0502040204020203" pitchFamily="34" charset="-34"/>
              </a:rPr>
              <a:t>Perencanaan</a:t>
            </a:r>
            <a:r>
              <a:rPr lang="en-US" sz="900" dirty="0">
                <a:solidFill>
                  <a:srgbClr val="161613"/>
                </a:solidFill>
                <a:latin typeface="Leelawadee UI" panose="020B0502040204020203" pitchFamily="34" charset="-34"/>
                <a:ea typeface="DM Sans Medium" pitchFamily="34" charset="-122"/>
                <a:cs typeface="Leelawadee UI" panose="020B0502040204020203" pitchFamily="34" charset="-34"/>
              </a:rPr>
              <a:t> </a:t>
            </a:r>
          </a:p>
          <a:p>
            <a:pPr marL="0" indent="0" algn="l">
              <a:lnSpc>
                <a:spcPct val="104000"/>
              </a:lnSpc>
              <a:buNone/>
            </a:pPr>
            <a:r>
              <a:rPr lang="en-US" sz="900" dirty="0">
                <a:solidFill>
                  <a:srgbClr val="161613"/>
                </a:solidFill>
                <a:latin typeface="Leelawadee UI" panose="020B0502040204020203" pitchFamily="34" charset="-34"/>
                <a:ea typeface="DM Sans Medium" pitchFamily="34" charset="-122"/>
                <a:cs typeface="Leelawadee UI" panose="020B0502040204020203" pitchFamily="34" charset="-34"/>
              </a:rPr>
              <a:t>Pembangunan Desa</a:t>
            </a:r>
            <a:endParaRPr lang="en-US" sz="900" dirty="0">
              <a:latin typeface="Leelawadee UI" panose="020B0502040204020203" pitchFamily="34" charset="-34"/>
              <a:cs typeface="Leelawadee UI" panose="020B0502040204020203" pitchFamily="34" charset="-34"/>
            </a:endParaRPr>
          </a:p>
        </p:txBody>
      </p:sp>
      <p:sp>
        <p:nvSpPr>
          <p:cNvPr id="55" name="Shape 5">
            <a:extLst>
              <a:ext uri="{FF2B5EF4-FFF2-40B4-BE49-F238E27FC236}">
                <a16:creationId xmlns:a16="http://schemas.microsoft.com/office/drawing/2014/main" id="{483570BC-08FC-2D3F-B3BD-7E8073CC4380}"/>
              </a:ext>
            </a:extLst>
          </p:cNvPr>
          <p:cNvSpPr/>
          <p:nvPr/>
        </p:nvSpPr>
        <p:spPr>
          <a:xfrm>
            <a:off x="784570" y="15364195"/>
            <a:ext cx="629283" cy="115338"/>
          </a:xfrm>
          <a:prstGeom prst="roundRect">
            <a:avLst>
              <a:gd name="adj" fmla="val 7694"/>
            </a:avLst>
          </a:prstGeom>
          <a:solidFill>
            <a:srgbClr val="E3E3E8"/>
          </a:solidFill>
          <a:ln/>
        </p:spPr>
      </p:sp>
      <p:sp>
        <p:nvSpPr>
          <p:cNvPr id="56" name="Text 6">
            <a:extLst>
              <a:ext uri="{FF2B5EF4-FFF2-40B4-BE49-F238E27FC236}">
                <a16:creationId xmlns:a16="http://schemas.microsoft.com/office/drawing/2014/main" id="{8433CFAE-AEF9-0342-4A56-687FB45279DD}"/>
              </a:ext>
            </a:extLst>
          </p:cNvPr>
          <p:cNvSpPr/>
          <p:nvPr/>
        </p:nvSpPr>
        <p:spPr>
          <a:xfrm>
            <a:off x="803066" y="15364924"/>
            <a:ext cx="595462" cy="101500"/>
          </a:xfrm>
          <a:prstGeom prst="rect">
            <a:avLst/>
          </a:prstGeom>
          <a:noFill/>
          <a:ln/>
        </p:spPr>
        <p:txBody>
          <a:bodyPr wrap="none" lIns="0" tIns="0" rIns="0" bIns="0" rtlCol="0" anchor="t"/>
          <a:lstStyle/>
          <a:p>
            <a:pPr marL="0" indent="0" algn="l">
              <a:lnSpc>
                <a:spcPct val="100000"/>
              </a:lnSpc>
              <a:buNone/>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POLICY BRIEF</a:t>
            </a:r>
            <a:endParaRPr lang="en-US" sz="800" dirty="0">
              <a:latin typeface="Leelawadee UI" panose="020B0502040204020203" pitchFamily="34" charset="-34"/>
              <a:cs typeface="Leelawadee UI" panose="020B0502040204020203" pitchFamily="34" charset="-34"/>
            </a:endParaRPr>
          </a:p>
        </p:txBody>
      </p:sp>
      <p:sp>
        <p:nvSpPr>
          <p:cNvPr id="57" name="Shape 7">
            <a:extLst>
              <a:ext uri="{FF2B5EF4-FFF2-40B4-BE49-F238E27FC236}">
                <a16:creationId xmlns:a16="http://schemas.microsoft.com/office/drawing/2014/main" id="{44A0B7F2-29DB-56CB-A06A-7EF556525F44}"/>
              </a:ext>
            </a:extLst>
          </p:cNvPr>
          <p:cNvSpPr/>
          <p:nvPr/>
        </p:nvSpPr>
        <p:spPr>
          <a:xfrm>
            <a:off x="790636" y="15360652"/>
            <a:ext cx="623217" cy="119325"/>
          </a:xfrm>
          <a:prstGeom prst="roundRect">
            <a:avLst>
              <a:gd name="adj" fmla="val 7004"/>
            </a:avLst>
          </a:prstGeom>
          <a:noFill/>
          <a:ln w="4763">
            <a:solidFill>
              <a:srgbClr val="28282F"/>
            </a:solidFill>
            <a:prstDash val="solid"/>
          </a:ln>
        </p:spPr>
      </p:sp>
      <p:sp>
        <p:nvSpPr>
          <p:cNvPr id="58" name="Text 8">
            <a:extLst>
              <a:ext uri="{FF2B5EF4-FFF2-40B4-BE49-F238E27FC236}">
                <a16:creationId xmlns:a16="http://schemas.microsoft.com/office/drawing/2014/main" id="{4BA206A9-A05E-AB1B-5538-80458E16E98F}"/>
              </a:ext>
            </a:extLst>
          </p:cNvPr>
          <p:cNvSpPr/>
          <p:nvPr/>
        </p:nvSpPr>
        <p:spPr>
          <a:xfrm>
            <a:off x="1504289" y="15365463"/>
            <a:ext cx="668238" cy="149647"/>
          </a:xfrm>
          <a:prstGeom prst="rect">
            <a:avLst/>
          </a:prstGeom>
          <a:noFill/>
          <a:ln/>
        </p:spPr>
        <p:txBody>
          <a:bodyPr wrap="none" lIns="0" tIns="0" rIns="0" bIns="0" rtlCol="0" anchor="t"/>
          <a:lstStyle/>
          <a:p>
            <a:pPr marL="0" indent="0" algn="l">
              <a:lnSpc>
                <a:spcPct val="100000"/>
              </a:lnSpc>
              <a:buNone/>
            </a:pPr>
            <a:r>
              <a:rPr lang="en-US" sz="800" dirty="0">
                <a:solidFill>
                  <a:srgbClr val="28282F"/>
                </a:solidFill>
                <a:latin typeface="Leelawadee UI" panose="020B0502040204020203" pitchFamily="34" charset="-34"/>
                <a:ea typeface="Inter" pitchFamily="34" charset="-122"/>
                <a:cs typeface="Leelawadee UI" panose="020B0502040204020203" pitchFamily="34" charset="-34"/>
              </a:rPr>
              <a:t>2024</a:t>
            </a:r>
            <a:endParaRPr lang="en-US" sz="800" dirty="0">
              <a:latin typeface="Leelawadee UI" panose="020B0502040204020203" pitchFamily="34" charset="-34"/>
              <a:cs typeface="Leelawadee UI" panose="020B0502040204020203" pitchFamily="34" charset="-34"/>
            </a:endParaRPr>
          </a:p>
        </p:txBody>
      </p:sp>
      <p:sp>
        <p:nvSpPr>
          <p:cNvPr id="59" name="Text 9">
            <a:extLst>
              <a:ext uri="{FF2B5EF4-FFF2-40B4-BE49-F238E27FC236}">
                <a16:creationId xmlns:a16="http://schemas.microsoft.com/office/drawing/2014/main" id="{015DE148-5063-C1FE-9E07-2FF628ED0E3C}"/>
              </a:ext>
            </a:extLst>
          </p:cNvPr>
          <p:cNvSpPr/>
          <p:nvPr/>
        </p:nvSpPr>
        <p:spPr>
          <a:xfrm>
            <a:off x="799609" y="15571554"/>
            <a:ext cx="3185842" cy="458725"/>
          </a:xfrm>
          <a:prstGeom prst="rect">
            <a:avLst/>
          </a:prstGeom>
          <a:noFill/>
          <a:ln/>
        </p:spPr>
        <p:txBody>
          <a:bodyPr wrap="square" lIns="0" tIns="0" rIns="0" bIns="0" rtlCol="0" anchor="t">
            <a:normAutofit/>
          </a:bodyPr>
          <a:lstStyle/>
          <a:p>
            <a:pPr marL="0" indent="0" algn="l">
              <a:lnSpc>
                <a:spcPct val="100000"/>
              </a:lnSpc>
              <a:buNone/>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Rekomendasi kebijakan untuk mengintegrasikan pendekatan lanskap dalam perencanaan pembangunan desa, berdasarkan pengalaman pendampingan YNKI di tiga desa Kabupaten Ketapang.</a:t>
            </a:r>
            <a:endParaRPr lang="en-US" sz="800" dirty="0">
              <a:latin typeface="Leelawadee UI" panose="020B0502040204020203" pitchFamily="34" charset="-34"/>
              <a:cs typeface="Leelawadee UI" panose="020B0502040204020203" pitchFamily="34" charset="-34"/>
            </a:endParaRPr>
          </a:p>
        </p:txBody>
      </p:sp>
      <p:pic>
        <p:nvPicPr>
          <p:cNvPr id="60" name="Image 2" descr="preencoded.png">
            <a:hlinkClick r:id="" action="ppaction://noaction"/>
            <a:extLst>
              <a:ext uri="{FF2B5EF4-FFF2-40B4-BE49-F238E27FC236}">
                <a16:creationId xmlns:a16="http://schemas.microsoft.com/office/drawing/2014/main" id="{5D569261-44A5-58EE-249B-E4551BA779A6}"/>
              </a:ext>
            </a:extLst>
          </p:cNvPr>
          <p:cNvPicPr>
            <a:picLocks noChangeAspect="1"/>
          </p:cNvPicPr>
          <p:nvPr/>
        </p:nvPicPr>
        <p:blipFill>
          <a:blip r:embed="rId18"/>
          <a:stretch>
            <a:fillRect/>
          </a:stretch>
        </p:blipFill>
        <p:spPr>
          <a:xfrm>
            <a:off x="1753286" y="15372372"/>
            <a:ext cx="458912" cy="170557"/>
          </a:xfrm>
          <a:prstGeom prst="rect">
            <a:avLst/>
          </a:prstGeom>
        </p:spPr>
      </p:pic>
      <p:pic>
        <p:nvPicPr>
          <p:cNvPr id="61" name="Image 3" descr="preencoded.png">
            <a:extLst>
              <a:ext uri="{FF2B5EF4-FFF2-40B4-BE49-F238E27FC236}">
                <a16:creationId xmlns:a16="http://schemas.microsoft.com/office/drawing/2014/main" id="{029BA617-28FE-7EAF-2816-D79CAB6B077C}"/>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96329" y="16141502"/>
            <a:ext cx="3636020" cy="1124738"/>
          </a:xfrm>
          <a:prstGeom prst="rect">
            <a:avLst/>
          </a:prstGeom>
        </p:spPr>
      </p:pic>
      <p:pic>
        <p:nvPicPr>
          <p:cNvPr id="62" name="Image 4" descr="preencoded.png">
            <a:extLst>
              <a:ext uri="{FF2B5EF4-FFF2-40B4-BE49-F238E27FC236}">
                <a16:creationId xmlns:a16="http://schemas.microsoft.com/office/drawing/2014/main" id="{B9C2859D-C6AF-45AC-4B2A-F7A0BD004104}"/>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83318" y="16524232"/>
            <a:ext cx="93018" cy="93018"/>
          </a:xfrm>
          <a:prstGeom prst="rect">
            <a:avLst/>
          </a:prstGeom>
        </p:spPr>
      </p:pic>
      <p:sp>
        <p:nvSpPr>
          <p:cNvPr id="63" name="Text 10">
            <a:extLst>
              <a:ext uri="{FF2B5EF4-FFF2-40B4-BE49-F238E27FC236}">
                <a16:creationId xmlns:a16="http://schemas.microsoft.com/office/drawing/2014/main" id="{0DA52D6C-67A8-DFF3-0DA0-95BEEF858285}"/>
              </a:ext>
            </a:extLst>
          </p:cNvPr>
          <p:cNvSpPr/>
          <p:nvPr/>
        </p:nvSpPr>
        <p:spPr>
          <a:xfrm>
            <a:off x="793646" y="16196069"/>
            <a:ext cx="2634928" cy="333180"/>
          </a:xfrm>
          <a:prstGeom prst="rect">
            <a:avLst/>
          </a:prstGeom>
          <a:noFill/>
          <a:ln/>
        </p:spPr>
        <p:txBody>
          <a:bodyPr wrap="none" lIns="0" tIns="0" rIns="0" bIns="0" rtlCol="0" anchor="t"/>
          <a:lstStyle/>
          <a:p>
            <a:pPr marL="0" indent="0" algn="l">
              <a:lnSpc>
                <a:spcPct val="104000"/>
              </a:lnSpc>
              <a:buNone/>
            </a:pPr>
            <a:r>
              <a:rPr lang="en-US" sz="900" dirty="0">
                <a:solidFill>
                  <a:srgbClr val="161613"/>
                </a:solidFill>
                <a:latin typeface="Leelawadee UI" panose="020B0502040204020203" pitchFamily="34" charset="-34"/>
                <a:ea typeface="DM Sans Medium" pitchFamily="34" charset="-122"/>
                <a:cs typeface="Leelawadee UI" panose="020B0502040204020203" pitchFamily="34" charset="-34"/>
              </a:rPr>
              <a:t>Analisis Kebijakan: Tata Kelola Gambut Berkelanjutan di </a:t>
            </a:r>
          </a:p>
          <a:p>
            <a:pPr marL="0" indent="0" algn="l">
              <a:lnSpc>
                <a:spcPct val="104000"/>
              </a:lnSpc>
              <a:buNone/>
            </a:pPr>
            <a:r>
              <a:rPr lang="en-US" sz="900" dirty="0">
                <a:solidFill>
                  <a:srgbClr val="161613"/>
                </a:solidFill>
                <a:latin typeface="Leelawadee UI" panose="020B0502040204020203" pitchFamily="34" charset="-34"/>
                <a:ea typeface="DM Sans Medium" pitchFamily="34" charset="-122"/>
                <a:cs typeface="Leelawadee UI" panose="020B0502040204020203" pitchFamily="34" charset="-34"/>
              </a:rPr>
              <a:t>Kalimantan Barat</a:t>
            </a:r>
            <a:endParaRPr lang="en-US" sz="900" dirty="0">
              <a:latin typeface="Leelawadee UI" panose="020B0502040204020203" pitchFamily="34" charset="-34"/>
              <a:cs typeface="Leelawadee UI" panose="020B0502040204020203" pitchFamily="34" charset="-34"/>
            </a:endParaRPr>
          </a:p>
        </p:txBody>
      </p:sp>
      <p:sp>
        <p:nvSpPr>
          <p:cNvPr id="64" name="Shape 11">
            <a:extLst>
              <a:ext uri="{FF2B5EF4-FFF2-40B4-BE49-F238E27FC236}">
                <a16:creationId xmlns:a16="http://schemas.microsoft.com/office/drawing/2014/main" id="{D9A21C75-AFCD-6CEC-34B7-A09825AABDA5}"/>
              </a:ext>
            </a:extLst>
          </p:cNvPr>
          <p:cNvSpPr/>
          <p:nvPr/>
        </p:nvSpPr>
        <p:spPr>
          <a:xfrm>
            <a:off x="770054" y="16529837"/>
            <a:ext cx="899533" cy="87414"/>
          </a:xfrm>
          <a:prstGeom prst="roundRect">
            <a:avLst>
              <a:gd name="adj" fmla="val 7694"/>
            </a:avLst>
          </a:prstGeom>
          <a:solidFill>
            <a:srgbClr val="E3E3E8"/>
          </a:solidFill>
          <a:ln/>
        </p:spPr>
      </p:sp>
      <p:sp>
        <p:nvSpPr>
          <p:cNvPr id="65" name="Text 12">
            <a:extLst>
              <a:ext uri="{FF2B5EF4-FFF2-40B4-BE49-F238E27FC236}">
                <a16:creationId xmlns:a16="http://schemas.microsoft.com/office/drawing/2014/main" id="{EDE84F49-4DF3-1511-B93C-74AC19522812}"/>
              </a:ext>
            </a:extLst>
          </p:cNvPr>
          <p:cNvSpPr/>
          <p:nvPr/>
        </p:nvSpPr>
        <p:spPr>
          <a:xfrm>
            <a:off x="795445" y="16507204"/>
            <a:ext cx="897316" cy="130475"/>
          </a:xfrm>
          <a:prstGeom prst="rect">
            <a:avLst/>
          </a:prstGeom>
          <a:noFill/>
          <a:ln/>
        </p:spPr>
        <p:txBody>
          <a:bodyPr wrap="none" lIns="0" tIns="0" rIns="0" bIns="0" rtlCol="0" anchor="t"/>
          <a:lstStyle/>
          <a:p>
            <a:pPr marL="0" indent="0" algn="l">
              <a:lnSpc>
                <a:spcPct val="100000"/>
              </a:lnSpc>
              <a:buNone/>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ANALISIS KEBIJAKAN</a:t>
            </a:r>
            <a:endParaRPr lang="en-US" sz="800" dirty="0">
              <a:latin typeface="Leelawadee UI" panose="020B0502040204020203" pitchFamily="34" charset="-34"/>
              <a:cs typeface="Leelawadee UI" panose="020B0502040204020203" pitchFamily="34" charset="-34"/>
            </a:endParaRPr>
          </a:p>
        </p:txBody>
      </p:sp>
      <p:sp>
        <p:nvSpPr>
          <p:cNvPr id="66" name="Shape 13">
            <a:extLst>
              <a:ext uri="{FF2B5EF4-FFF2-40B4-BE49-F238E27FC236}">
                <a16:creationId xmlns:a16="http://schemas.microsoft.com/office/drawing/2014/main" id="{205B3840-316C-E879-ED65-5A63DDAF3FE5}"/>
              </a:ext>
            </a:extLst>
          </p:cNvPr>
          <p:cNvSpPr/>
          <p:nvPr/>
        </p:nvSpPr>
        <p:spPr>
          <a:xfrm>
            <a:off x="772676" y="16486777"/>
            <a:ext cx="980610" cy="170556"/>
          </a:xfrm>
          <a:prstGeom prst="roundRect">
            <a:avLst>
              <a:gd name="adj" fmla="val 7004"/>
            </a:avLst>
          </a:prstGeom>
          <a:noFill/>
          <a:ln w="4763">
            <a:solidFill>
              <a:srgbClr val="28282F"/>
            </a:solidFill>
            <a:prstDash val="solid"/>
          </a:ln>
        </p:spPr>
      </p:sp>
      <p:sp>
        <p:nvSpPr>
          <p:cNvPr id="67" name="Text 14">
            <a:extLst>
              <a:ext uri="{FF2B5EF4-FFF2-40B4-BE49-F238E27FC236}">
                <a16:creationId xmlns:a16="http://schemas.microsoft.com/office/drawing/2014/main" id="{C4283D92-5D0B-0468-9775-A25D0218A464}"/>
              </a:ext>
            </a:extLst>
          </p:cNvPr>
          <p:cNvSpPr/>
          <p:nvPr/>
        </p:nvSpPr>
        <p:spPr>
          <a:xfrm>
            <a:off x="1795583" y="16517254"/>
            <a:ext cx="224331" cy="122630"/>
          </a:xfrm>
          <a:prstGeom prst="rect">
            <a:avLst/>
          </a:prstGeom>
          <a:noFill/>
          <a:ln/>
        </p:spPr>
        <p:txBody>
          <a:bodyPr wrap="none" lIns="0" tIns="0" rIns="0" bIns="0" rtlCol="0" anchor="t"/>
          <a:lstStyle/>
          <a:p>
            <a:pPr marL="0" indent="0" algn="l">
              <a:lnSpc>
                <a:spcPct val="100000"/>
              </a:lnSpc>
              <a:buNone/>
            </a:pPr>
            <a:r>
              <a:rPr lang="en-US" sz="800" dirty="0">
                <a:solidFill>
                  <a:srgbClr val="28282F"/>
                </a:solidFill>
                <a:latin typeface="Leelawadee UI" panose="020B0502040204020203" pitchFamily="34" charset="-34"/>
                <a:ea typeface="Inter" pitchFamily="34" charset="-122"/>
                <a:cs typeface="Leelawadee UI" panose="020B0502040204020203" pitchFamily="34" charset="-34"/>
              </a:rPr>
              <a:t>2024</a:t>
            </a:r>
            <a:endParaRPr lang="en-US" sz="800" dirty="0">
              <a:latin typeface="Leelawadee UI" panose="020B0502040204020203" pitchFamily="34" charset="-34"/>
              <a:cs typeface="Leelawadee UI" panose="020B0502040204020203" pitchFamily="34" charset="-34"/>
            </a:endParaRPr>
          </a:p>
        </p:txBody>
      </p:sp>
      <p:sp>
        <p:nvSpPr>
          <p:cNvPr id="68" name="Text 15">
            <a:extLst>
              <a:ext uri="{FF2B5EF4-FFF2-40B4-BE49-F238E27FC236}">
                <a16:creationId xmlns:a16="http://schemas.microsoft.com/office/drawing/2014/main" id="{E2ED79E6-7E59-4F90-51A9-CF5EDA222A6F}"/>
              </a:ext>
            </a:extLst>
          </p:cNvPr>
          <p:cNvSpPr/>
          <p:nvPr/>
        </p:nvSpPr>
        <p:spPr>
          <a:xfrm>
            <a:off x="781070" y="16754683"/>
            <a:ext cx="3185843" cy="286122"/>
          </a:xfrm>
          <a:prstGeom prst="rect">
            <a:avLst/>
          </a:prstGeom>
          <a:noFill/>
          <a:ln/>
        </p:spPr>
        <p:txBody>
          <a:bodyPr wrap="square" lIns="0" tIns="0" rIns="0" bIns="0" rtlCol="0" anchor="t">
            <a:noAutofit/>
          </a:bodyPr>
          <a:lstStyle/>
          <a:p>
            <a:pPr marL="0" indent="0" algn="l">
              <a:lnSpc>
                <a:spcPct val="100000"/>
              </a:lnSpc>
              <a:buNone/>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Analisis kebijakan pengelolaan ekosistem gambut di Kalimantan Barat, mencakup evaluasi regulasi, tantangan implementasi, dan rekomendasi perbaikan tata kelola.</a:t>
            </a:r>
            <a:endParaRPr lang="en-US" sz="800" dirty="0">
              <a:latin typeface="Leelawadee UI" panose="020B0502040204020203" pitchFamily="34" charset="-34"/>
              <a:cs typeface="Leelawadee UI" panose="020B0502040204020203" pitchFamily="34" charset="-34"/>
            </a:endParaRPr>
          </a:p>
        </p:txBody>
      </p:sp>
      <p:pic>
        <p:nvPicPr>
          <p:cNvPr id="69" name="Image 5" descr="preencoded.png">
            <a:hlinkClick r:id="" action="ppaction://noaction"/>
            <a:extLst>
              <a:ext uri="{FF2B5EF4-FFF2-40B4-BE49-F238E27FC236}">
                <a16:creationId xmlns:a16="http://schemas.microsoft.com/office/drawing/2014/main" id="{FD4C0E3E-D429-8204-68A7-83909E1AA3D8}"/>
              </a:ext>
            </a:extLst>
          </p:cNvPr>
          <p:cNvPicPr>
            <a:picLocks noChangeAspect="1"/>
          </p:cNvPicPr>
          <p:nvPr/>
        </p:nvPicPr>
        <p:blipFill>
          <a:blip r:embed="rId18"/>
          <a:stretch>
            <a:fillRect/>
          </a:stretch>
        </p:blipFill>
        <p:spPr>
          <a:xfrm>
            <a:off x="2054496" y="16509270"/>
            <a:ext cx="458912" cy="170557"/>
          </a:xfrm>
          <a:prstGeom prst="rect">
            <a:avLst/>
          </a:prstGeom>
        </p:spPr>
      </p:pic>
      <p:pic>
        <p:nvPicPr>
          <p:cNvPr id="70" name="Image 6" descr="preencoded.png">
            <a:extLst>
              <a:ext uri="{FF2B5EF4-FFF2-40B4-BE49-F238E27FC236}">
                <a16:creationId xmlns:a16="http://schemas.microsoft.com/office/drawing/2014/main" id="{517EB817-9626-138D-1EE4-1344917FB464}"/>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320914" y="14974019"/>
            <a:ext cx="4032872" cy="1037034"/>
          </a:xfrm>
          <a:prstGeom prst="rect">
            <a:avLst/>
          </a:prstGeom>
        </p:spPr>
      </p:pic>
      <p:pic>
        <p:nvPicPr>
          <p:cNvPr id="71" name="Image 7" descr="preencoded.png">
            <a:extLst>
              <a:ext uri="{FF2B5EF4-FFF2-40B4-BE49-F238E27FC236}">
                <a16:creationId xmlns:a16="http://schemas.microsoft.com/office/drawing/2014/main" id="{E1541F6F-B71A-A5FA-0149-165D931E009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4428484" y="15312454"/>
            <a:ext cx="93018" cy="93018"/>
          </a:xfrm>
          <a:prstGeom prst="rect">
            <a:avLst/>
          </a:prstGeom>
        </p:spPr>
      </p:pic>
      <p:sp>
        <p:nvSpPr>
          <p:cNvPr id="72" name="Text 16">
            <a:extLst>
              <a:ext uri="{FF2B5EF4-FFF2-40B4-BE49-F238E27FC236}">
                <a16:creationId xmlns:a16="http://schemas.microsoft.com/office/drawing/2014/main" id="{C72786DB-28DC-B38C-9E05-6D8257C9F0EB}"/>
              </a:ext>
            </a:extLst>
          </p:cNvPr>
          <p:cNvSpPr/>
          <p:nvPr/>
        </p:nvSpPr>
        <p:spPr>
          <a:xfrm>
            <a:off x="4629997" y="15045531"/>
            <a:ext cx="2212925" cy="96887"/>
          </a:xfrm>
          <a:prstGeom prst="rect">
            <a:avLst/>
          </a:prstGeom>
          <a:noFill/>
          <a:ln/>
        </p:spPr>
        <p:txBody>
          <a:bodyPr wrap="none" lIns="0" tIns="0" rIns="0" bIns="0" rtlCol="0" anchor="t"/>
          <a:lstStyle/>
          <a:p>
            <a:pPr marL="0" indent="0" algn="l">
              <a:lnSpc>
                <a:spcPct val="104000"/>
              </a:lnSpc>
              <a:buNone/>
            </a:pPr>
            <a:r>
              <a:rPr lang="en-US" sz="900" dirty="0">
                <a:solidFill>
                  <a:srgbClr val="161613"/>
                </a:solidFill>
                <a:latin typeface="Leelawadee UI" panose="020B0502040204020203" pitchFamily="34" charset="-34"/>
                <a:ea typeface="DM Sans Medium" pitchFamily="34" charset="-122"/>
                <a:cs typeface="Leelawadee UI" panose="020B0502040204020203" pitchFamily="34" charset="-34"/>
              </a:rPr>
              <a:t>Kajian Strategis: Kesiapan Daerah Menghadapi Regulasi EUDR</a:t>
            </a:r>
            <a:endParaRPr lang="en-US" sz="900" dirty="0">
              <a:latin typeface="Leelawadee UI" panose="020B0502040204020203" pitchFamily="34" charset="-34"/>
              <a:cs typeface="Leelawadee UI" panose="020B0502040204020203" pitchFamily="34" charset="-34"/>
            </a:endParaRPr>
          </a:p>
        </p:txBody>
      </p:sp>
      <p:sp>
        <p:nvSpPr>
          <p:cNvPr id="73" name="Shape 17">
            <a:extLst>
              <a:ext uri="{FF2B5EF4-FFF2-40B4-BE49-F238E27FC236}">
                <a16:creationId xmlns:a16="http://schemas.microsoft.com/office/drawing/2014/main" id="{62657270-5D72-9475-FDCA-E0DAF15D8BF6}"/>
              </a:ext>
            </a:extLst>
          </p:cNvPr>
          <p:cNvSpPr/>
          <p:nvPr/>
        </p:nvSpPr>
        <p:spPr>
          <a:xfrm>
            <a:off x="4629997" y="15278744"/>
            <a:ext cx="793807" cy="126728"/>
          </a:xfrm>
          <a:prstGeom prst="roundRect">
            <a:avLst>
              <a:gd name="adj" fmla="val 7694"/>
            </a:avLst>
          </a:prstGeom>
          <a:solidFill>
            <a:srgbClr val="E3E3E8"/>
          </a:solidFill>
          <a:ln/>
        </p:spPr>
      </p:sp>
      <p:sp>
        <p:nvSpPr>
          <p:cNvPr id="74" name="Text 18">
            <a:extLst>
              <a:ext uri="{FF2B5EF4-FFF2-40B4-BE49-F238E27FC236}">
                <a16:creationId xmlns:a16="http://schemas.microsoft.com/office/drawing/2014/main" id="{5CD09DA6-5CC8-3C7D-76E8-EC3669D0F6FC}"/>
              </a:ext>
            </a:extLst>
          </p:cNvPr>
          <p:cNvSpPr/>
          <p:nvPr/>
        </p:nvSpPr>
        <p:spPr>
          <a:xfrm>
            <a:off x="4684797" y="15279046"/>
            <a:ext cx="812025" cy="134275"/>
          </a:xfrm>
          <a:prstGeom prst="rect">
            <a:avLst/>
          </a:prstGeom>
          <a:noFill/>
          <a:ln/>
        </p:spPr>
        <p:txBody>
          <a:bodyPr wrap="none" lIns="0" tIns="0" rIns="0" bIns="0" rtlCol="0" anchor="t"/>
          <a:lstStyle/>
          <a:p>
            <a:pPr marL="0" indent="0" algn="l">
              <a:lnSpc>
                <a:spcPct val="100000"/>
              </a:lnSpc>
              <a:buNone/>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KAJIAN STRATEGIS</a:t>
            </a:r>
            <a:endParaRPr lang="en-US" sz="800" dirty="0">
              <a:latin typeface="Leelawadee UI" panose="020B0502040204020203" pitchFamily="34" charset="-34"/>
              <a:cs typeface="Leelawadee UI" panose="020B0502040204020203" pitchFamily="34" charset="-34"/>
            </a:endParaRPr>
          </a:p>
        </p:txBody>
      </p:sp>
      <p:sp>
        <p:nvSpPr>
          <p:cNvPr id="75" name="Shape 19">
            <a:extLst>
              <a:ext uri="{FF2B5EF4-FFF2-40B4-BE49-F238E27FC236}">
                <a16:creationId xmlns:a16="http://schemas.microsoft.com/office/drawing/2014/main" id="{5C6EF42A-A2BE-9610-8854-616025607096}"/>
              </a:ext>
            </a:extLst>
          </p:cNvPr>
          <p:cNvSpPr/>
          <p:nvPr/>
        </p:nvSpPr>
        <p:spPr>
          <a:xfrm>
            <a:off x="4649154" y="15250520"/>
            <a:ext cx="880929" cy="154952"/>
          </a:xfrm>
          <a:prstGeom prst="roundRect">
            <a:avLst>
              <a:gd name="adj" fmla="val 7004"/>
            </a:avLst>
          </a:prstGeom>
          <a:noFill/>
          <a:ln w="4763">
            <a:solidFill>
              <a:srgbClr val="28282F"/>
            </a:solidFill>
            <a:prstDash val="solid"/>
          </a:ln>
        </p:spPr>
      </p:sp>
      <p:sp>
        <p:nvSpPr>
          <p:cNvPr id="76" name="Text 20">
            <a:extLst>
              <a:ext uri="{FF2B5EF4-FFF2-40B4-BE49-F238E27FC236}">
                <a16:creationId xmlns:a16="http://schemas.microsoft.com/office/drawing/2014/main" id="{2370BC4A-52B4-C4CF-DEA8-400EC48AD0FB}"/>
              </a:ext>
            </a:extLst>
          </p:cNvPr>
          <p:cNvSpPr/>
          <p:nvPr/>
        </p:nvSpPr>
        <p:spPr>
          <a:xfrm>
            <a:off x="5603101" y="15285757"/>
            <a:ext cx="282285" cy="230181"/>
          </a:xfrm>
          <a:prstGeom prst="rect">
            <a:avLst/>
          </a:prstGeom>
          <a:noFill/>
          <a:ln/>
        </p:spPr>
        <p:txBody>
          <a:bodyPr wrap="none" lIns="0" tIns="0" rIns="0" bIns="0" rtlCol="0" anchor="t"/>
          <a:lstStyle/>
          <a:p>
            <a:pPr marL="0" indent="0" algn="l">
              <a:lnSpc>
                <a:spcPct val="100000"/>
              </a:lnSpc>
              <a:buNone/>
            </a:pPr>
            <a:r>
              <a:rPr lang="en-US" sz="800" dirty="0">
                <a:solidFill>
                  <a:srgbClr val="28282F"/>
                </a:solidFill>
                <a:latin typeface="Leelawadee UI" panose="020B0502040204020203" pitchFamily="34" charset="-34"/>
                <a:ea typeface="Inter" pitchFamily="34" charset="-122"/>
                <a:cs typeface="Leelawadee UI" panose="020B0502040204020203" pitchFamily="34" charset="-34"/>
              </a:rPr>
              <a:t>2024</a:t>
            </a:r>
            <a:endParaRPr lang="en-US" sz="800" dirty="0">
              <a:latin typeface="Leelawadee UI" panose="020B0502040204020203" pitchFamily="34" charset="-34"/>
              <a:cs typeface="Leelawadee UI" panose="020B0502040204020203" pitchFamily="34" charset="-34"/>
            </a:endParaRPr>
          </a:p>
        </p:txBody>
      </p:sp>
      <p:sp>
        <p:nvSpPr>
          <p:cNvPr id="77" name="Text 21">
            <a:extLst>
              <a:ext uri="{FF2B5EF4-FFF2-40B4-BE49-F238E27FC236}">
                <a16:creationId xmlns:a16="http://schemas.microsoft.com/office/drawing/2014/main" id="{1041DC7B-E8FC-F1AC-9A6F-0A4C30DE0E00}"/>
              </a:ext>
            </a:extLst>
          </p:cNvPr>
          <p:cNvSpPr/>
          <p:nvPr/>
        </p:nvSpPr>
        <p:spPr>
          <a:xfrm>
            <a:off x="4638066" y="15506561"/>
            <a:ext cx="3142993" cy="411252"/>
          </a:xfrm>
          <a:prstGeom prst="rect">
            <a:avLst/>
          </a:prstGeom>
          <a:noFill/>
          <a:ln/>
        </p:spPr>
        <p:txBody>
          <a:bodyPr wrap="square" lIns="0" tIns="0" rIns="0" bIns="0" rtlCol="0" anchor="t">
            <a:noAutofit/>
          </a:bodyPr>
          <a:lstStyle/>
          <a:p>
            <a:pPr marL="0" indent="0" algn="l">
              <a:lnSpc>
                <a:spcPct val="100000"/>
              </a:lnSpc>
              <a:buNone/>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Kajian tentang kesiapan pemerintah daerah dan pelaku usaha di Kalimantan Barat dalam menghadapi implementasi European Union Deforestation Regulation (EUDR).</a:t>
            </a:r>
            <a:endParaRPr lang="en-US" sz="800" dirty="0">
              <a:latin typeface="Leelawadee UI" panose="020B0502040204020203" pitchFamily="34" charset="-34"/>
              <a:cs typeface="Leelawadee UI" panose="020B0502040204020203" pitchFamily="34" charset="-34"/>
            </a:endParaRPr>
          </a:p>
        </p:txBody>
      </p:sp>
      <p:pic>
        <p:nvPicPr>
          <p:cNvPr id="78" name="Image 8" descr="preencoded.png">
            <a:hlinkClick r:id="" action="ppaction://noaction"/>
            <a:extLst>
              <a:ext uri="{FF2B5EF4-FFF2-40B4-BE49-F238E27FC236}">
                <a16:creationId xmlns:a16="http://schemas.microsoft.com/office/drawing/2014/main" id="{EE43070B-2C12-02F9-815B-D6361A3F02B9}"/>
              </a:ext>
            </a:extLst>
          </p:cNvPr>
          <p:cNvPicPr>
            <a:picLocks noChangeAspect="1"/>
          </p:cNvPicPr>
          <p:nvPr/>
        </p:nvPicPr>
        <p:blipFill>
          <a:blip r:embed="rId18"/>
          <a:stretch>
            <a:fillRect/>
          </a:stretch>
        </p:blipFill>
        <p:spPr>
          <a:xfrm>
            <a:off x="5869037" y="15250520"/>
            <a:ext cx="458912" cy="170557"/>
          </a:xfrm>
          <a:prstGeom prst="rect">
            <a:avLst/>
          </a:prstGeom>
        </p:spPr>
      </p:pic>
      <p:pic>
        <p:nvPicPr>
          <p:cNvPr id="79" name="Image 9" descr="preencoded.png">
            <a:extLst>
              <a:ext uri="{FF2B5EF4-FFF2-40B4-BE49-F238E27FC236}">
                <a16:creationId xmlns:a16="http://schemas.microsoft.com/office/drawing/2014/main" id="{0974D2D6-AC33-823E-75EC-F1FD7C84674E}"/>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342148" y="16158650"/>
            <a:ext cx="4032872" cy="1107589"/>
          </a:xfrm>
          <a:prstGeom prst="rect">
            <a:avLst/>
          </a:prstGeom>
        </p:spPr>
      </p:pic>
      <p:pic>
        <p:nvPicPr>
          <p:cNvPr id="80" name="Image 10" descr="preencoded.png">
            <a:extLst>
              <a:ext uri="{FF2B5EF4-FFF2-40B4-BE49-F238E27FC236}">
                <a16:creationId xmlns:a16="http://schemas.microsoft.com/office/drawing/2014/main" id="{BDD12C89-756B-C912-5E5B-6DCAA20607DB}"/>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4425847" y="16525527"/>
            <a:ext cx="93018" cy="93018"/>
          </a:xfrm>
          <a:prstGeom prst="rect">
            <a:avLst/>
          </a:prstGeom>
        </p:spPr>
      </p:pic>
      <p:sp>
        <p:nvSpPr>
          <p:cNvPr id="81" name="Text 22">
            <a:extLst>
              <a:ext uri="{FF2B5EF4-FFF2-40B4-BE49-F238E27FC236}">
                <a16:creationId xmlns:a16="http://schemas.microsoft.com/office/drawing/2014/main" id="{24FDA062-77A1-C4D0-67D8-2BB4A9886425}"/>
              </a:ext>
            </a:extLst>
          </p:cNvPr>
          <p:cNvSpPr/>
          <p:nvPr/>
        </p:nvSpPr>
        <p:spPr>
          <a:xfrm>
            <a:off x="4630650" y="16230163"/>
            <a:ext cx="2205038" cy="96887"/>
          </a:xfrm>
          <a:prstGeom prst="rect">
            <a:avLst/>
          </a:prstGeom>
          <a:noFill/>
          <a:ln/>
        </p:spPr>
        <p:txBody>
          <a:bodyPr wrap="none" lIns="0" tIns="0" rIns="0" bIns="0" rtlCol="0" anchor="t"/>
          <a:lstStyle/>
          <a:p>
            <a:pPr marL="0" indent="0" algn="l">
              <a:lnSpc>
                <a:spcPct val="104000"/>
              </a:lnSpc>
              <a:buNone/>
            </a:pPr>
            <a:r>
              <a:rPr lang="en-US" sz="900" dirty="0">
                <a:solidFill>
                  <a:srgbClr val="161613"/>
                </a:solidFill>
                <a:latin typeface="Leelawadee UI" panose="020B0502040204020203" pitchFamily="34" charset="-34"/>
                <a:ea typeface="DM Sans Medium" pitchFamily="34" charset="-122"/>
                <a:cs typeface="Leelawadee UI" panose="020B0502040204020203" pitchFamily="34" charset="-34"/>
              </a:rPr>
              <a:t>Policy Brief: Penguatan Keterlacakan Komoditas Karet Rakyat</a:t>
            </a:r>
            <a:endParaRPr lang="en-US" sz="900" dirty="0">
              <a:latin typeface="Leelawadee UI" panose="020B0502040204020203" pitchFamily="34" charset="-34"/>
              <a:cs typeface="Leelawadee UI" panose="020B0502040204020203" pitchFamily="34" charset="-34"/>
            </a:endParaRPr>
          </a:p>
        </p:txBody>
      </p:sp>
      <p:sp>
        <p:nvSpPr>
          <p:cNvPr id="82" name="Shape 23">
            <a:extLst>
              <a:ext uri="{FF2B5EF4-FFF2-40B4-BE49-F238E27FC236}">
                <a16:creationId xmlns:a16="http://schemas.microsoft.com/office/drawing/2014/main" id="{8001138F-1FE9-C85D-9AB2-5182F3C452C3}"/>
              </a:ext>
            </a:extLst>
          </p:cNvPr>
          <p:cNvSpPr/>
          <p:nvPr/>
        </p:nvSpPr>
        <p:spPr>
          <a:xfrm>
            <a:off x="4630650" y="16450355"/>
            <a:ext cx="594842" cy="93239"/>
          </a:xfrm>
          <a:prstGeom prst="roundRect">
            <a:avLst>
              <a:gd name="adj" fmla="val 7694"/>
            </a:avLst>
          </a:prstGeom>
          <a:solidFill>
            <a:srgbClr val="E3E3E8"/>
          </a:solidFill>
          <a:ln/>
        </p:spPr>
      </p:sp>
      <p:sp>
        <p:nvSpPr>
          <p:cNvPr id="83" name="Text 24">
            <a:extLst>
              <a:ext uri="{FF2B5EF4-FFF2-40B4-BE49-F238E27FC236}">
                <a16:creationId xmlns:a16="http://schemas.microsoft.com/office/drawing/2014/main" id="{F0530F1B-673B-D451-CF73-7514680E7AE3}"/>
              </a:ext>
            </a:extLst>
          </p:cNvPr>
          <p:cNvSpPr/>
          <p:nvPr/>
        </p:nvSpPr>
        <p:spPr>
          <a:xfrm>
            <a:off x="4664567" y="16413683"/>
            <a:ext cx="608878" cy="101535"/>
          </a:xfrm>
          <a:prstGeom prst="rect">
            <a:avLst/>
          </a:prstGeom>
          <a:noFill/>
          <a:ln/>
        </p:spPr>
        <p:txBody>
          <a:bodyPr wrap="none" lIns="0" tIns="0" rIns="0" bIns="0" rtlCol="0" anchor="t"/>
          <a:lstStyle/>
          <a:p>
            <a:pPr marL="0" indent="0" algn="l">
              <a:lnSpc>
                <a:spcPct val="100000"/>
              </a:lnSpc>
              <a:buNone/>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POLICY BRIEF</a:t>
            </a:r>
            <a:endParaRPr lang="en-US" sz="800" dirty="0">
              <a:latin typeface="Leelawadee UI" panose="020B0502040204020203" pitchFamily="34" charset="-34"/>
              <a:cs typeface="Leelawadee UI" panose="020B0502040204020203" pitchFamily="34" charset="-34"/>
            </a:endParaRPr>
          </a:p>
        </p:txBody>
      </p:sp>
      <p:sp>
        <p:nvSpPr>
          <p:cNvPr id="84" name="Shape 25">
            <a:extLst>
              <a:ext uri="{FF2B5EF4-FFF2-40B4-BE49-F238E27FC236}">
                <a16:creationId xmlns:a16="http://schemas.microsoft.com/office/drawing/2014/main" id="{EC8D4276-74AE-DEE1-1B5F-8E59CFFC54CD}"/>
              </a:ext>
            </a:extLst>
          </p:cNvPr>
          <p:cNvSpPr/>
          <p:nvPr/>
        </p:nvSpPr>
        <p:spPr>
          <a:xfrm>
            <a:off x="4626707" y="16375196"/>
            <a:ext cx="685515" cy="168399"/>
          </a:xfrm>
          <a:prstGeom prst="roundRect">
            <a:avLst>
              <a:gd name="adj" fmla="val 7004"/>
            </a:avLst>
          </a:prstGeom>
          <a:noFill/>
          <a:ln w="4763">
            <a:solidFill>
              <a:srgbClr val="28282F"/>
            </a:solidFill>
            <a:prstDash val="solid"/>
          </a:ln>
        </p:spPr>
      </p:sp>
      <p:sp>
        <p:nvSpPr>
          <p:cNvPr id="85" name="Text 26">
            <a:extLst>
              <a:ext uri="{FF2B5EF4-FFF2-40B4-BE49-F238E27FC236}">
                <a16:creationId xmlns:a16="http://schemas.microsoft.com/office/drawing/2014/main" id="{57AF8825-453D-9D57-C407-C94945B2C083}"/>
              </a:ext>
            </a:extLst>
          </p:cNvPr>
          <p:cNvSpPr/>
          <p:nvPr/>
        </p:nvSpPr>
        <p:spPr>
          <a:xfrm>
            <a:off x="5380102" y="16417164"/>
            <a:ext cx="314448" cy="221169"/>
          </a:xfrm>
          <a:prstGeom prst="rect">
            <a:avLst/>
          </a:prstGeom>
          <a:noFill/>
          <a:ln/>
        </p:spPr>
        <p:txBody>
          <a:bodyPr wrap="none" lIns="0" tIns="0" rIns="0" bIns="0" rtlCol="0" anchor="t"/>
          <a:lstStyle/>
          <a:p>
            <a:pPr marL="0" indent="0" algn="l">
              <a:lnSpc>
                <a:spcPct val="100000"/>
              </a:lnSpc>
              <a:buNone/>
            </a:pPr>
            <a:r>
              <a:rPr lang="en-US" sz="800" dirty="0">
                <a:solidFill>
                  <a:srgbClr val="28282F"/>
                </a:solidFill>
                <a:latin typeface="Leelawadee UI" panose="020B0502040204020203" pitchFamily="34" charset="-34"/>
                <a:ea typeface="Inter" pitchFamily="34" charset="-122"/>
                <a:cs typeface="Leelawadee UI" panose="020B0502040204020203" pitchFamily="34" charset="-34"/>
              </a:rPr>
              <a:t>2024</a:t>
            </a:r>
            <a:endParaRPr lang="en-US" sz="800" dirty="0">
              <a:latin typeface="Leelawadee UI" panose="020B0502040204020203" pitchFamily="34" charset="-34"/>
              <a:cs typeface="Leelawadee UI" panose="020B0502040204020203" pitchFamily="34" charset="-34"/>
            </a:endParaRPr>
          </a:p>
        </p:txBody>
      </p:sp>
      <p:sp>
        <p:nvSpPr>
          <p:cNvPr id="86" name="Text 27">
            <a:extLst>
              <a:ext uri="{FF2B5EF4-FFF2-40B4-BE49-F238E27FC236}">
                <a16:creationId xmlns:a16="http://schemas.microsoft.com/office/drawing/2014/main" id="{B5EE2DFA-C850-2052-98E6-6CD273234BAF}"/>
              </a:ext>
            </a:extLst>
          </p:cNvPr>
          <p:cNvSpPr/>
          <p:nvPr/>
        </p:nvSpPr>
        <p:spPr>
          <a:xfrm>
            <a:off x="4622839" y="16617250"/>
            <a:ext cx="3590569" cy="286122"/>
          </a:xfrm>
          <a:prstGeom prst="rect">
            <a:avLst/>
          </a:prstGeom>
          <a:noFill/>
          <a:ln/>
        </p:spPr>
        <p:txBody>
          <a:bodyPr wrap="square" lIns="0" tIns="0" rIns="0" bIns="0" rtlCol="0" anchor="t">
            <a:noAutofit/>
          </a:bodyPr>
          <a:lstStyle/>
          <a:p>
            <a:pPr marL="0" indent="0" algn="l">
              <a:lnSpc>
                <a:spcPct val="100000"/>
              </a:lnSpc>
              <a:buNone/>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Rekomendasi kebijakan untuk memperkuat sistem keterlacakan karet rakyat di Kalimantan Barat, mendukung transparansi rantai pasok dan kepatuhan terhadap regulasi global melalui platform Mokkalita.</a:t>
            </a:r>
            <a:endParaRPr lang="en-US" sz="800" dirty="0">
              <a:latin typeface="Leelawadee UI" panose="020B0502040204020203" pitchFamily="34" charset="-34"/>
              <a:cs typeface="Leelawadee UI" panose="020B0502040204020203" pitchFamily="34" charset="-34"/>
            </a:endParaRPr>
          </a:p>
        </p:txBody>
      </p:sp>
      <p:pic>
        <p:nvPicPr>
          <p:cNvPr id="87" name="Image 11" descr="preencoded.png">
            <a:hlinkClick r:id="" action="ppaction://noaction"/>
            <a:extLst>
              <a:ext uri="{FF2B5EF4-FFF2-40B4-BE49-F238E27FC236}">
                <a16:creationId xmlns:a16="http://schemas.microsoft.com/office/drawing/2014/main" id="{A38B2DEB-BA00-C471-D27A-3A3A5C383D46}"/>
              </a:ext>
            </a:extLst>
          </p:cNvPr>
          <p:cNvPicPr>
            <a:picLocks noChangeAspect="1"/>
          </p:cNvPicPr>
          <p:nvPr/>
        </p:nvPicPr>
        <p:blipFill>
          <a:blip r:embed="rId18"/>
          <a:stretch>
            <a:fillRect/>
          </a:stretch>
        </p:blipFill>
        <p:spPr>
          <a:xfrm>
            <a:off x="5667624" y="16420068"/>
            <a:ext cx="458912" cy="170557"/>
          </a:xfrm>
          <a:prstGeom prst="rect">
            <a:avLst/>
          </a:prstGeom>
        </p:spPr>
      </p:pic>
      <p:pic>
        <p:nvPicPr>
          <p:cNvPr id="88" name="Image 12" descr="preencoded.png">
            <a:extLst>
              <a:ext uri="{FF2B5EF4-FFF2-40B4-BE49-F238E27FC236}">
                <a16:creationId xmlns:a16="http://schemas.microsoft.com/office/drawing/2014/main" id="{DF02F8BD-61D6-C5C5-59E1-9102CFC37E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342148" y="17413836"/>
            <a:ext cx="4032873" cy="971324"/>
          </a:xfrm>
          <a:prstGeom prst="rect">
            <a:avLst/>
          </a:prstGeom>
        </p:spPr>
      </p:pic>
      <p:pic>
        <p:nvPicPr>
          <p:cNvPr id="89" name="Image 13" descr="preencoded.png">
            <a:extLst>
              <a:ext uri="{FF2B5EF4-FFF2-40B4-BE49-F238E27FC236}">
                <a16:creationId xmlns:a16="http://schemas.microsoft.com/office/drawing/2014/main" id="{20745E03-F415-CED5-EC80-1B16D3D944F6}"/>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4429138" y="17768325"/>
            <a:ext cx="93018" cy="93018"/>
          </a:xfrm>
          <a:prstGeom prst="rect">
            <a:avLst/>
          </a:prstGeom>
        </p:spPr>
      </p:pic>
      <p:sp>
        <p:nvSpPr>
          <p:cNvPr id="90" name="Text 28">
            <a:extLst>
              <a:ext uri="{FF2B5EF4-FFF2-40B4-BE49-F238E27FC236}">
                <a16:creationId xmlns:a16="http://schemas.microsoft.com/office/drawing/2014/main" id="{E7F8685E-886D-3DB6-C541-49F4C165B45A}"/>
              </a:ext>
            </a:extLst>
          </p:cNvPr>
          <p:cNvSpPr/>
          <p:nvPr/>
        </p:nvSpPr>
        <p:spPr>
          <a:xfrm>
            <a:off x="4630651" y="17485348"/>
            <a:ext cx="2623914" cy="96887"/>
          </a:xfrm>
          <a:prstGeom prst="rect">
            <a:avLst/>
          </a:prstGeom>
          <a:noFill/>
          <a:ln/>
        </p:spPr>
        <p:txBody>
          <a:bodyPr wrap="none" lIns="0" tIns="0" rIns="0" bIns="0" rtlCol="0" anchor="t"/>
          <a:lstStyle/>
          <a:p>
            <a:pPr marL="0" indent="0" algn="l">
              <a:lnSpc>
                <a:spcPct val="104000"/>
              </a:lnSpc>
              <a:buNone/>
            </a:pPr>
            <a:r>
              <a:rPr lang="en-US" sz="900" dirty="0">
                <a:solidFill>
                  <a:srgbClr val="161613"/>
                </a:solidFill>
                <a:latin typeface="Leelawadee UI" panose="020B0502040204020203" pitchFamily="34" charset="-34"/>
                <a:ea typeface="DM Sans Medium" pitchFamily="34" charset="-122"/>
                <a:cs typeface="Leelawadee UI" panose="020B0502040204020203" pitchFamily="34" charset="-34"/>
              </a:rPr>
              <a:t>Analisis Kebijakan: Pengarusutamaan Pendekatan Lanskap dalam RPJMD</a:t>
            </a:r>
            <a:endParaRPr lang="en-US" sz="900" dirty="0">
              <a:latin typeface="Leelawadee UI" panose="020B0502040204020203" pitchFamily="34" charset="-34"/>
              <a:cs typeface="Leelawadee UI" panose="020B0502040204020203" pitchFamily="34" charset="-34"/>
            </a:endParaRPr>
          </a:p>
        </p:txBody>
      </p:sp>
      <p:sp>
        <p:nvSpPr>
          <p:cNvPr id="91" name="Shape 29">
            <a:extLst>
              <a:ext uri="{FF2B5EF4-FFF2-40B4-BE49-F238E27FC236}">
                <a16:creationId xmlns:a16="http://schemas.microsoft.com/office/drawing/2014/main" id="{711C487F-EF6C-DA46-234C-C66835FF6B67}"/>
              </a:ext>
            </a:extLst>
          </p:cNvPr>
          <p:cNvSpPr/>
          <p:nvPr/>
        </p:nvSpPr>
        <p:spPr>
          <a:xfrm>
            <a:off x="4630651" y="17661731"/>
            <a:ext cx="892868" cy="105214"/>
          </a:xfrm>
          <a:prstGeom prst="roundRect">
            <a:avLst>
              <a:gd name="adj" fmla="val 7694"/>
            </a:avLst>
          </a:prstGeom>
          <a:solidFill>
            <a:srgbClr val="E3E3E8"/>
          </a:solidFill>
          <a:ln/>
        </p:spPr>
      </p:sp>
      <p:sp>
        <p:nvSpPr>
          <p:cNvPr id="92" name="Text 30">
            <a:extLst>
              <a:ext uri="{FF2B5EF4-FFF2-40B4-BE49-F238E27FC236}">
                <a16:creationId xmlns:a16="http://schemas.microsoft.com/office/drawing/2014/main" id="{040861C7-B142-A73C-16E4-29590470C491}"/>
              </a:ext>
            </a:extLst>
          </p:cNvPr>
          <p:cNvSpPr/>
          <p:nvPr/>
        </p:nvSpPr>
        <p:spPr>
          <a:xfrm>
            <a:off x="4675665" y="17664432"/>
            <a:ext cx="855661" cy="118416"/>
          </a:xfrm>
          <a:prstGeom prst="rect">
            <a:avLst/>
          </a:prstGeom>
          <a:noFill/>
          <a:ln/>
        </p:spPr>
        <p:txBody>
          <a:bodyPr wrap="none" lIns="0" tIns="0" rIns="0" bIns="0" rtlCol="0" anchor="t"/>
          <a:lstStyle/>
          <a:p>
            <a:pPr marL="0" indent="0" algn="l">
              <a:lnSpc>
                <a:spcPct val="100000"/>
              </a:lnSpc>
              <a:buNone/>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ANALISIS KEBIJAKAN</a:t>
            </a:r>
            <a:endParaRPr lang="en-US" sz="800" dirty="0">
              <a:latin typeface="Leelawadee UI" panose="020B0502040204020203" pitchFamily="34" charset="-34"/>
              <a:cs typeface="Leelawadee UI" panose="020B0502040204020203" pitchFamily="34" charset="-34"/>
            </a:endParaRPr>
          </a:p>
        </p:txBody>
      </p:sp>
      <p:sp>
        <p:nvSpPr>
          <p:cNvPr id="93" name="Shape 31">
            <a:extLst>
              <a:ext uri="{FF2B5EF4-FFF2-40B4-BE49-F238E27FC236}">
                <a16:creationId xmlns:a16="http://schemas.microsoft.com/office/drawing/2014/main" id="{C5AB73D5-890C-D39F-E079-9F4476DC5332}"/>
              </a:ext>
            </a:extLst>
          </p:cNvPr>
          <p:cNvSpPr/>
          <p:nvPr/>
        </p:nvSpPr>
        <p:spPr>
          <a:xfrm>
            <a:off x="4629996" y="17656969"/>
            <a:ext cx="1018951" cy="146535"/>
          </a:xfrm>
          <a:prstGeom prst="roundRect">
            <a:avLst>
              <a:gd name="adj" fmla="val 7004"/>
            </a:avLst>
          </a:prstGeom>
          <a:noFill/>
          <a:ln w="4763">
            <a:solidFill>
              <a:srgbClr val="28282F"/>
            </a:solidFill>
            <a:prstDash val="solid"/>
          </a:ln>
        </p:spPr>
      </p:sp>
      <p:sp>
        <p:nvSpPr>
          <p:cNvPr id="94" name="Text 32">
            <a:extLst>
              <a:ext uri="{FF2B5EF4-FFF2-40B4-BE49-F238E27FC236}">
                <a16:creationId xmlns:a16="http://schemas.microsoft.com/office/drawing/2014/main" id="{1AD1FA43-E11B-2DC2-3721-008DFD36D86A}"/>
              </a:ext>
            </a:extLst>
          </p:cNvPr>
          <p:cNvSpPr/>
          <p:nvPr/>
        </p:nvSpPr>
        <p:spPr>
          <a:xfrm>
            <a:off x="5789332" y="17665562"/>
            <a:ext cx="764928" cy="126367"/>
          </a:xfrm>
          <a:prstGeom prst="rect">
            <a:avLst/>
          </a:prstGeom>
          <a:noFill/>
          <a:ln/>
        </p:spPr>
        <p:txBody>
          <a:bodyPr wrap="none" lIns="0" tIns="0" rIns="0" bIns="0" rtlCol="0" anchor="t"/>
          <a:lstStyle/>
          <a:p>
            <a:pPr marL="0" indent="0" algn="l">
              <a:lnSpc>
                <a:spcPct val="100000"/>
              </a:lnSpc>
              <a:buNone/>
            </a:pPr>
            <a:r>
              <a:rPr lang="en-US" sz="800" dirty="0">
                <a:solidFill>
                  <a:srgbClr val="28282F"/>
                </a:solidFill>
                <a:latin typeface="Leelawadee UI" panose="020B0502040204020203" pitchFamily="34" charset="-34"/>
                <a:ea typeface="Inter" pitchFamily="34" charset="-122"/>
                <a:cs typeface="Leelawadee UI" panose="020B0502040204020203" pitchFamily="34" charset="-34"/>
              </a:rPr>
              <a:t>2024</a:t>
            </a:r>
            <a:endParaRPr lang="en-US" sz="800" dirty="0">
              <a:latin typeface="Leelawadee UI" panose="020B0502040204020203" pitchFamily="34" charset="-34"/>
              <a:cs typeface="Leelawadee UI" panose="020B0502040204020203" pitchFamily="34" charset="-34"/>
            </a:endParaRPr>
          </a:p>
        </p:txBody>
      </p:sp>
      <p:sp>
        <p:nvSpPr>
          <p:cNvPr id="95" name="Text 33">
            <a:extLst>
              <a:ext uri="{FF2B5EF4-FFF2-40B4-BE49-F238E27FC236}">
                <a16:creationId xmlns:a16="http://schemas.microsoft.com/office/drawing/2014/main" id="{B83DB5BA-EA45-9CF0-DB18-C810F08E06D7}"/>
              </a:ext>
            </a:extLst>
          </p:cNvPr>
          <p:cNvSpPr/>
          <p:nvPr/>
        </p:nvSpPr>
        <p:spPr>
          <a:xfrm>
            <a:off x="4629997" y="17878111"/>
            <a:ext cx="3647537" cy="507049"/>
          </a:xfrm>
          <a:prstGeom prst="rect">
            <a:avLst/>
          </a:prstGeom>
          <a:noFill/>
          <a:ln/>
        </p:spPr>
        <p:txBody>
          <a:bodyPr wrap="square" lIns="0" tIns="0" rIns="0" bIns="0" rtlCol="0" anchor="t">
            <a:normAutofit/>
          </a:bodyPr>
          <a:lstStyle/>
          <a:p>
            <a:pPr marL="0" indent="0" algn="l">
              <a:lnSpc>
                <a:spcPct val="100000"/>
              </a:lnSpc>
              <a:buNone/>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Analisis integrasi pendekatan lanskap dalam perencanaan pembangunan daerah (RPJMD) di Kalimantan Barat, mencakup identifikasi celah kebijakan dan peluang penguatan.</a:t>
            </a:r>
            <a:endParaRPr lang="en-US" sz="800" dirty="0">
              <a:latin typeface="Leelawadee UI" panose="020B0502040204020203" pitchFamily="34" charset="-34"/>
              <a:cs typeface="Leelawadee UI" panose="020B0502040204020203" pitchFamily="34" charset="-34"/>
            </a:endParaRPr>
          </a:p>
        </p:txBody>
      </p:sp>
      <p:pic>
        <p:nvPicPr>
          <p:cNvPr id="96" name="Image 14" descr="preencoded.png">
            <a:hlinkClick r:id="" action="ppaction://noaction"/>
            <a:extLst>
              <a:ext uri="{FF2B5EF4-FFF2-40B4-BE49-F238E27FC236}">
                <a16:creationId xmlns:a16="http://schemas.microsoft.com/office/drawing/2014/main" id="{1ED19B4B-6B04-7433-8A85-46887E97BA40}"/>
              </a:ext>
            </a:extLst>
          </p:cNvPr>
          <p:cNvPicPr>
            <a:picLocks noChangeAspect="1"/>
          </p:cNvPicPr>
          <p:nvPr/>
        </p:nvPicPr>
        <p:blipFill>
          <a:blip r:embed="rId18"/>
          <a:stretch>
            <a:fillRect/>
          </a:stretch>
        </p:blipFill>
        <p:spPr>
          <a:xfrm>
            <a:off x="6075091" y="17648736"/>
            <a:ext cx="458912" cy="170557"/>
          </a:xfrm>
          <a:prstGeom prst="rect">
            <a:avLst/>
          </a:prstGeom>
        </p:spPr>
      </p:pic>
      <p:sp>
        <p:nvSpPr>
          <p:cNvPr id="97" name="Shape 0">
            <a:extLst>
              <a:ext uri="{FF2B5EF4-FFF2-40B4-BE49-F238E27FC236}">
                <a16:creationId xmlns:a16="http://schemas.microsoft.com/office/drawing/2014/main" id="{A01544BA-4CFE-1769-4CDC-E487CDD1349B}"/>
              </a:ext>
            </a:extLst>
          </p:cNvPr>
          <p:cNvSpPr/>
          <p:nvPr/>
        </p:nvSpPr>
        <p:spPr>
          <a:xfrm>
            <a:off x="474072" y="18435860"/>
            <a:ext cx="1144856" cy="232384"/>
          </a:xfrm>
          <a:prstGeom prst="roundRect">
            <a:avLst>
              <a:gd name="adj" fmla="val 6633"/>
            </a:avLst>
          </a:prstGeom>
          <a:solidFill>
            <a:srgbClr val="E3E3E8"/>
          </a:solidFill>
          <a:ln/>
        </p:spPr>
      </p:sp>
      <p:sp>
        <p:nvSpPr>
          <p:cNvPr id="98" name="Text 1">
            <a:extLst>
              <a:ext uri="{FF2B5EF4-FFF2-40B4-BE49-F238E27FC236}">
                <a16:creationId xmlns:a16="http://schemas.microsoft.com/office/drawing/2014/main" id="{F3EB80AD-F8B0-4A8C-1699-3267E78D139C}"/>
              </a:ext>
            </a:extLst>
          </p:cNvPr>
          <p:cNvSpPr/>
          <p:nvPr/>
        </p:nvSpPr>
        <p:spPr>
          <a:xfrm>
            <a:off x="542450" y="18484481"/>
            <a:ext cx="1283271" cy="133648"/>
          </a:xfrm>
          <a:prstGeom prst="rect">
            <a:avLst/>
          </a:prstGeom>
          <a:noFill/>
          <a:ln/>
        </p:spPr>
        <p:txBody>
          <a:bodyPr wrap="none" lIns="0" tIns="0" rIns="0" bIns="0" rtlCol="0" anchor="t"/>
          <a:lstStyle/>
          <a:p>
            <a:pPr marL="0" indent="0" algn="l">
              <a:lnSpc>
                <a:spcPct val="126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PUBLIKASI PILIHAN</a:t>
            </a:r>
            <a:endParaRPr lang="en-US" sz="900" dirty="0">
              <a:latin typeface="Leelawadee UI" panose="020B0502040204020203" pitchFamily="34" charset="-34"/>
              <a:cs typeface="Leelawadee UI" panose="020B0502040204020203" pitchFamily="34" charset="-34"/>
            </a:endParaRPr>
          </a:p>
        </p:txBody>
      </p:sp>
      <p:sp>
        <p:nvSpPr>
          <p:cNvPr id="99" name="Text 2">
            <a:extLst>
              <a:ext uri="{FF2B5EF4-FFF2-40B4-BE49-F238E27FC236}">
                <a16:creationId xmlns:a16="http://schemas.microsoft.com/office/drawing/2014/main" id="{A827E07F-A7FD-752B-A9CF-5152296C026A}"/>
              </a:ext>
            </a:extLst>
          </p:cNvPr>
          <p:cNvSpPr/>
          <p:nvPr/>
        </p:nvSpPr>
        <p:spPr>
          <a:xfrm>
            <a:off x="457246" y="18696757"/>
            <a:ext cx="4514180" cy="345281"/>
          </a:xfrm>
          <a:prstGeom prst="rect">
            <a:avLst/>
          </a:prstGeom>
          <a:noFill/>
          <a:ln/>
        </p:spPr>
        <p:txBody>
          <a:bodyPr wrap="none" lIns="0" tIns="0" rIns="0" bIns="0" rtlCol="0" anchor="t"/>
          <a:lstStyle/>
          <a:p>
            <a:pPr marL="0" indent="0" algn="l">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Policy Brief &amp; Analisis Unggulan</a:t>
            </a:r>
            <a:endParaRPr lang="en-US" sz="2400" dirty="0">
              <a:latin typeface="Leelawadee UI" panose="020B0502040204020203" pitchFamily="34" charset="-34"/>
              <a:cs typeface="Leelawadee UI" panose="020B0502040204020203" pitchFamily="34" charset="-34"/>
            </a:endParaRPr>
          </a:p>
        </p:txBody>
      </p:sp>
      <p:sp>
        <p:nvSpPr>
          <p:cNvPr id="100" name="Text 3">
            <a:extLst>
              <a:ext uri="{FF2B5EF4-FFF2-40B4-BE49-F238E27FC236}">
                <a16:creationId xmlns:a16="http://schemas.microsoft.com/office/drawing/2014/main" id="{E2B1E783-2E6E-4020-DB64-131E2E791C7F}"/>
              </a:ext>
            </a:extLst>
          </p:cNvPr>
          <p:cNvSpPr/>
          <p:nvPr/>
        </p:nvSpPr>
        <p:spPr>
          <a:xfrm>
            <a:off x="457246" y="19189601"/>
            <a:ext cx="8151763" cy="33426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161613"/>
                </a:solidFill>
                <a:latin typeface="Leelawadee UI" panose="020B0502040204020203" pitchFamily="34" charset="-34"/>
                <a:ea typeface="Inter" pitchFamily="34" charset="-122"/>
                <a:cs typeface="Leelawadee UI" panose="020B0502040204020203" pitchFamily="34" charset="-34"/>
              </a:rPr>
              <a:t>Beberapa analisis kebijakan pilihan yang telah menjadi </a:t>
            </a:r>
            <a:r>
              <a:rPr lang="en-US" sz="850" b="1" dirty="0">
                <a:solidFill>
                  <a:srgbClr val="161613"/>
                </a:solidFill>
                <a:latin typeface="Leelawadee UI" panose="020B0502040204020203" pitchFamily="34" charset="-34"/>
                <a:ea typeface="Inter" pitchFamily="34" charset="-122"/>
                <a:cs typeface="Leelawadee UI" panose="020B0502040204020203" pitchFamily="34" charset="-34"/>
              </a:rPr>
              <a:t>rujukan penting</a:t>
            </a:r>
            <a:r>
              <a:rPr lang="en-US" sz="850" dirty="0">
                <a:solidFill>
                  <a:srgbClr val="161613"/>
                </a:solidFill>
                <a:latin typeface="Leelawadee UI" panose="020B0502040204020203" pitchFamily="34" charset="-34"/>
                <a:ea typeface="Inter" pitchFamily="34" charset="-122"/>
                <a:cs typeface="Leelawadee UI" panose="020B0502040204020203" pitchFamily="34" charset="-34"/>
              </a:rPr>
              <a:t> bagi pemangku kepentingan dalam penguatan tata kelola lanskap berkelanjutan di Kalimantan Barat.</a:t>
            </a:r>
            <a:endParaRPr lang="en-US" sz="850" dirty="0">
              <a:latin typeface="Leelawadee UI" panose="020B0502040204020203" pitchFamily="34" charset="-34"/>
              <a:cs typeface="Leelawadee UI" panose="020B0502040204020203" pitchFamily="34" charset="-34"/>
            </a:endParaRPr>
          </a:p>
        </p:txBody>
      </p:sp>
      <p:pic>
        <p:nvPicPr>
          <p:cNvPr id="101" name="Image 0" descr="preencoded.png">
            <a:extLst>
              <a:ext uri="{FF2B5EF4-FFF2-40B4-BE49-F238E27FC236}">
                <a16:creationId xmlns:a16="http://schemas.microsoft.com/office/drawing/2014/main" id="{D8334960-69CF-15D0-DC52-C9B47DF8E216}"/>
              </a:ext>
            </a:extLst>
          </p:cNvPr>
          <p:cNvPicPr>
            <a:picLocks noChangeAspect="1"/>
          </p:cNvPicPr>
          <p:nvPr/>
        </p:nvPicPr>
        <p:blipFill>
          <a:blip r:embed="rId23"/>
          <a:stretch>
            <a:fillRect/>
          </a:stretch>
        </p:blipFill>
        <p:spPr>
          <a:xfrm>
            <a:off x="457246" y="19634523"/>
            <a:ext cx="764232" cy="472306"/>
          </a:xfrm>
          <a:prstGeom prst="rect">
            <a:avLst/>
          </a:prstGeom>
        </p:spPr>
      </p:pic>
      <p:sp>
        <p:nvSpPr>
          <p:cNvPr id="102" name="Text 4">
            <a:extLst>
              <a:ext uri="{FF2B5EF4-FFF2-40B4-BE49-F238E27FC236}">
                <a16:creationId xmlns:a16="http://schemas.microsoft.com/office/drawing/2014/main" id="{5393BE75-E775-0DC0-B336-B4F70E1CA842}"/>
              </a:ext>
            </a:extLst>
          </p:cNvPr>
          <p:cNvSpPr/>
          <p:nvPr/>
        </p:nvSpPr>
        <p:spPr>
          <a:xfrm>
            <a:off x="1344410" y="19634523"/>
            <a:ext cx="1748135" cy="690562"/>
          </a:xfrm>
          <a:prstGeom prst="rect">
            <a:avLst/>
          </a:prstGeom>
          <a:noFill/>
          <a:ln/>
        </p:spPr>
        <p:txBody>
          <a:bodyPr wrap="square" lIns="0" tIns="0" rIns="0" bIns="0" rtlCol="0" anchor="t">
            <a:normAutofit/>
          </a:bodyPr>
          <a:lstStyle/>
          <a:p>
            <a:pPr marL="0" indent="0" algn="l">
              <a:lnSpc>
                <a:spcPct val="104000"/>
              </a:lnSpc>
              <a:buNone/>
            </a:pP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Policy Brief: Penguatan Tata Kelola Lanskap dalam Perencanaan Pembangunan Desa</a:t>
            </a:r>
            <a:endParaRPr lang="en-US" sz="1050" dirty="0">
              <a:latin typeface="Leelawadee UI" panose="020B0502040204020203" pitchFamily="34" charset="-34"/>
              <a:cs typeface="Leelawadee UI" panose="020B0502040204020203" pitchFamily="34" charset="-34"/>
            </a:endParaRPr>
          </a:p>
        </p:txBody>
      </p:sp>
      <p:sp>
        <p:nvSpPr>
          <p:cNvPr id="103" name="Shape 5">
            <a:extLst>
              <a:ext uri="{FF2B5EF4-FFF2-40B4-BE49-F238E27FC236}">
                <a16:creationId xmlns:a16="http://schemas.microsoft.com/office/drawing/2014/main" id="{8E529E55-111F-DD62-ADDE-95272192F72A}"/>
              </a:ext>
            </a:extLst>
          </p:cNvPr>
          <p:cNvSpPr/>
          <p:nvPr/>
        </p:nvSpPr>
        <p:spPr>
          <a:xfrm>
            <a:off x="1344411" y="20440501"/>
            <a:ext cx="802380" cy="217720"/>
          </a:xfrm>
          <a:prstGeom prst="roundRect">
            <a:avLst>
              <a:gd name="adj" fmla="val 6633"/>
            </a:avLst>
          </a:prstGeom>
          <a:solidFill>
            <a:srgbClr val="E3E3E8"/>
          </a:solidFill>
          <a:ln/>
        </p:spPr>
      </p:sp>
      <p:sp>
        <p:nvSpPr>
          <p:cNvPr id="104" name="Text 6">
            <a:extLst>
              <a:ext uri="{FF2B5EF4-FFF2-40B4-BE49-F238E27FC236}">
                <a16:creationId xmlns:a16="http://schemas.microsoft.com/office/drawing/2014/main" id="{66418948-BC87-8358-797D-5E5C8F6BFF41}"/>
              </a:ext>
            </a:extLst>
          </p:cNvPr>
          <p:cNvSpPr/>
          <p:nvPr/>
        </p:nvSpPr>
        <p:spPr>
          <a:xfrm>
            <a:off x="1410639" y="20473616"/>
            <a:ext cx="590550" cy="133648"/>
          </a:xfrm>
          <a:prstGeom prst="rect">
            <a:avLst/>
          </a:prstGeom>
          <a:noFill/>
          <a:ln/>
        </p:spPr>
        <p:txBody>
          <a:bodyPr wrap="none" lIns="0" tIns="0" rIns="0" bIns="0" rtlCol="0" anchor="t"/>
          <a:lstStyle/>
          <a:p>
            <a:pPr marL="0" indent="0" algn="l">
              <a:lnSpc>
                <a:spcPct val="126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POLICY BRIEF</a:t>
            </a:r>
            <a:endParaRPr lang="en-US" sz="900" dirty="0">
              <a:latin typeface="Leelawadee UI" panose="020B0502040204020203" pitchFamily="34" charset="-34"/>
              <a:cs typeface="Leelawadee UI" panose="020B0502040204020203" pitchFamily="34" charset="-34"/>
            </a:endParaRPr>
          </a:p>
        </p:txBody>
      </p:sp>
      <p:sp>
        <p:nvSpPr>
          <p:cNvPr id="105" name="Shape 7">
            <a:extLst>
              <a:ext uri="{FF2B5EF4-FFF2-40B4-BE49-F238E27FC236}">
                <a16:creationId xmlns:a16="http://schemas.microsoft.com/office/drawing/2014/main" id="{6FBEDA04-E72D-6BD3-B307-415658DE7BEA}"/>
              </a:ext>
            </a:extLst>
          </p:cNvPr>
          <p:cNvSpPr/>
          <p:nvPr/>
        </p:nvSpPr>
        <p:spPr>
          <a:xfrm>
            <a:off x="2122632" y="20435739"/>
            <a:ext cx="1085904" cy="222482"/>
          </a:xfrm>
          <a:prstGeom prst="roundRect">
            <a:avLst>
              <a:gd name="adj" fmla="val 6331"/>
            </a:avLst>
          </a:prstGeom>
          <a:noFill/>
          <a:ln w="4763">
            <a:solidFill>
              <a:srgbClr val="28282F"/>
            </a:solidFill>
            <a:prstDash val="solid"/>
          </a:ln>
        </p:spPr>
      </p:sp>
      <p:sp>
        <p:nvSpPr>
          <p:cNvPr id="106" name="Text 8">
            <a:extLst>
              <a:ext uri="{FF2B5EF4-FFF2-40B4-BE49-F238E27FC236}">
                <a16:creationId xmlns:a16="http://schemas.microsoft.com/office/drawing/2014/main" id="{DB4B4265-8CF3-039D-4461-04E367CBA203}"/>
              </a:ext>
            </a:extLst>
          </p:cNvPr>
          <p:cNvSpPr/>
          <p:nvPr/>
        </p:nvSpPr>
        <p:spPr>
          <a:xfrm>
            <a:off x="2193623" y="20473616"/>
            <a:ext cx="801588" cy="133648"/>
          </a:xfrm>
          <a:prstGeom prst="rect">
            <a:avLst/>
          </a:prstGeom>
          <a:noFill/>
          <a:ln/>
        </p:spPr>
        <p:txBody>
          <a:bodyPr wrap="none" lIns="0" tIns="0" rIns="0" bIns="0" rtlCol="0" anchor="t"/>
          <a:lstStyle/>
          <a:p>
            <a:pPr marL="0" indent="0" algn="l">
              <a:lnSpc>
                <a:spcPct val="126000"/>
              </a:lnSpc>
              <a:buNone/>
            </a:pPr>
            <a:r>
              <a:rPr lang="en-US" sz="900" dirty="0">
                <a:solidFill>
                  <a:srgbClr val="28282F"/>
                </a:solidFill>
                <a:latin typeface="Leelawadee UI" panose="020B0502040204020203" pitchFamily="34" charset="-34"/>
                <a:ea typeface="Inter" pitchFamily="34" charset="-122"/>
                <a:cs typeface="Leelawadee UI" panose="020B0502040204020203" pitchFamily="34" charset="-34"/>
              </a:rPr>
              <a:t>2024 · UNGGULAN</a:t>
            </a:r>
            <a:endParaRPr lang="en-US" sz="900" dirty="0">
              <a:latin typeface="Leelawadee UI" panose="020B0502040204020203" pitchFamily="34" charset="-34"/>
              <a:cs typeface="Leelawadee UI" panose="020B0502040204020203" pitchFamily="34" charset="-34"/>
            </a:endParaRPr>
          </a:p>
        </p:txBody>
      </p:sp>
      <p:sp>
        <p:nvSpPr>
          <p:cNvPr id="107" name="Text 9">
            <a:extLst>
              <a:ext uri="{FF2B5EF4-FFF2-40B4-BE49-F238E27FC236}">
                <a16:creationId xmlns:a16="http://schemas.microsoft.com/office/drawing/2014/main" id="{219CA5F2-14B1-C84C-3F56-9A6BEEA7856C}"/>
              </a:ext>
            </a:extLst>
          </p:cNvPr>
          <p:cNvSpPr/>
          <p:nvPr/>
        </p:nvSpPr>
        <p:spPr>
          <a:xfrm>
            <a:off x="464032" y="20755794"/>
            <a:ext cx="2628513" cy="1504206"/>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161613"/>
                </a:solidFill>
                <a:latin typeface="Leelawadee UI" panose="020B0502040204020203" pitchFamily="34" charset="-34"/>
                <a:ea typeface="Inter" pitchFamily="34" charset="-122"/>
                <a:cs typeface="Leelawadee UI" panose="020B0502040204020203" pitchFamily="34" charset="-34"/>
              </a:rPr>
              <a:t>Rekomendasi kebijakan berbasis pengalaman pendampingan YNKI di tiga desa Kabupaten Ketapang. Dokumen ini mengulas bagaimana pendekatan lanskap dapat diintegrasikan secara praktis dalam proses Musrenbangdes dan dokumen RPJMDes.</a:t>
            </a:r>
            <a:endParaRPr lang="en-US" sz="850" dirty="0">
              <a:latin typeface="Leelawadee UI" panose="020B0502040204020203" pitchFamily="34" charset="-34"/>
              <a:cs typeface="Leelawadee UI" panose="020B0502040204020203" pitchFamily="34" charset="-34"/>
            </a:endParaRPr>
          </a:p>
        </p:txBody>
      </p:sp>
      <p:pic>
        <p:nvPicPr>
          <p:cNvPr id="108" name="Image 1" descr="preencoded.png">
            <a:hlinkClick r:id="" action="ppaction://noaction"/>
            <a:extLst>
              <a:ext uri="{FF2B5EF4-FFF2-40B4-BE49-F238E27FC236}">
                <a16:creationId xmlns:a16="http://schemas.microsoft.com/office/drawing/2014/main" id="{C1029D18-52A3-2549-507C-699A9020A9F4}"/>
              </a:ext>
            </a:extLst>
          </p:cNvPr>
          <p:cNvPicPr>
            <a:picLocks noChangeAspect="1"/>
          </p:cNvPicPr>
          <p:nvPr/>
        </p:nvPicPr>
        <p:blipFill>
          <a:blip r:embed="rId24"/>
          <a:stretch>
            <a:fillRect/>
          </a:stretch>
        </p:blipFill>
        <p:spPr>
          <a:xfrm>
            <a:off x="2154565" y="21745012"/>
            <a:ext cx="817587" cy="303758"/>
          </a:xfrm>
          <a:prstGeom prst="rect">
            <a:avLst/>
          </a:prstGeom>
        </p:spPr>
      </p:pic>
      <p:pic>
        <p:nvPicPr>
          <p:cNvPr id="109" name="Image 2" descr="preencoded.png">
            <a:extLst>
              <a:ext uri="{FF2B5EF4-FFF2-40B4-BE49-F238E27FC236}">
                <a16:creationId xmlns:a16="http://schemas.microsoft.com/office/drawing/2014/main" id="{B3A79D96-73CC-74A6-A7D5-1F43E8DEAB9C}"/>
              </a:ext>
            </a:extLst>
          </p:cNvPr>
          <p:cNvPicPr>
            <a:picLocks noChangeAspect="1"/>
          </p:cNvPicPr>
          <p:nvPr/>
        </p:nvPicPr>
        <p:blipFill>
          <a:blip r:embed="rId25"/>
          <a:stretch>
            <a:fillRect/>
          </a:stretch>
        </p:blipFill>
        <p:spPr>
          <a:xfrm>
            <a:off x="3215477" y="19634523"/>
            <a:ext cx="764232" cy="472306"/>
          </a:xfrm>
          <a:prstGeom prst="rect">
            <a:avLst/>
          </a:prstGeom>
        </p:spPr>
      </p:pic>
      <p:sp>
        <p:nvSpPr>
          <p:cNvPr id="110" name="Text 10">
            <a:extLst>
              <a:ext uri="{FF2B5EF4-FFF2-40B4-BE49-F238E27FC236}">
                <a16:creationId xmlns:a16="http://schemas.microsoft.com/office/drawing/2014/main" id="{A04E9AA9-2335-745C-EB17-2AAC5BA1E5A3}"/>
              </a:ext>
            </a:extLst>
          </p:cNvPr>
          <p:cNvSpPr/>
          <p:nvPr/>
        </p:nvSpPr>
        <p:spPr>
          <a:xfrm>
            <a:off x="4102642" y="19634523"/>
            <a:ext cx="1748135" cy="517922"/>
          </a:xfrm>
          <a:prstGeom prst="rect">
            <a:avLst/>
          </a:prstGeom>
          <a:noFill/>
          <a:ln/>
        </p:spPr>
        <p:txBody>
          <a:bodyPr wrap="square" lIns="0" tIns="0" rIns="0" bIns="0" rtlCol="0" anchor="t">
            <a:normAutofit/>
          </a:bodyPr>
          <a:lstStyle/>
          <a:p>
            <a:pPr marL="0" indent="0" algn="l">
              <a:lnSpc>
                <a:spcPct val="104000"/>
              </a:lnSpc>
              <a:buNone/>
            </a:pP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Kajian Strategis: Kesiapan Daerah Menghadapi Regulasi EUDR</a:t>
            </a:r>
            <a:endParaRPr lang="en-US" sz="1050" dirty="0">
              <a:latin typeface="Leelawadee UI" panose="020B0502040204020203" pitchFamily="34" charset="-34"/>
              <a:cs typeface="Leelawadee UI" panose="020B0502040204020203" pitchFamily="34" charset="-34"/>
            </a:endParaRPr>
          </a:p>
        </p:txBody>
      </p:sp>
      <p:sp>
        <p:nvSpPr>
          <p:cNvPr id="111" name="Shape 11">
            <a:extLst>
              <a:ext uri="{FF2B5EF4-FFF2-40B4-BE49-F238E27FC236}">
                <a16:creationId xmlns:a16="http://schemas.microsoft.com/office/drawing/2014/main" id="{596522F4-B145-705A-46BD-79DC936E8629}"/>
              </a:ext>
            </a:extLst>
          </p:cNvPr>
          <p:cNvSpPr/>
          <p:nvPr/>
        </p:nvSpPr>
        <p:spPr>
          <a:xfrm>
            <a:off x="4102642" y="20263098"/>
            <a:ext cx="1050408" cy="190586"/>
          </a:xfrm>
          <a:prstGeom prst="roundRect">
            <a:avLst>
              <a:gd name="adj" fmla="val 6633"/>
            </a:avLst>
          </a:prstGeom>
          <a:solidFill>
            <a:srgbClr val="E3E3E8"/>
          </a:solidFill>
          <a:ln/>
        </p:spPr>
      </p:sp>
      <p:sp>
        <p:nvSpPr>
          <p:cNvPr id="112" name="Text 12">
            <a:extLst>
              <a:ext uri="{FF2B5EF4-FFF2-40B4-BE49-F238E27FC236}">
                <a16:creationId xmlns:a16="http://schemas.microsoft.com/office/drawing/2014/main" id="{3FC0F86D-ECF6-B560-661A-AC01C50A4284}"/>
              </a:ext>
            </a:extLst>
          </p:cNvPr>
          <p:cNvSpPr/>
          <p:nvPr/>
        </p:nvSpPr>
        <p:spPr>
          <a:xfrm>
            <a:off x="4168870" y="20296212"/>
            <a:ext cx="984180" cy="157471"/>
          </a:xfrm>
          <a:prstGeom prst="rect">
            <a:avLst/>
          </a:prstGeom>
          <a:noFill/>
          <a:ln/>
        </p:spPr>
        <p:txBody>
          <a:bodyPr wrap="none" lIns="0" tIns="0" rIns="0" bIns="0" rtlCol="0" anchor="t"/>
          <a:lstStyle/>
          <a:p>
            <a:pPr marL="0" indent="0" algn="l">
              <a:lnSpc>
                <a:spcPct val="126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KAJIAN STRATEGIS</a:t>
            </a:r>
            <a:endParaRPr lang="en-US" sz="900" dirty="0">
              <a:latin typeface="Leelawadee UI" panose="020B0502040204020203" pitchFamily="34" charset="-34"/>
              <a:cs typeface="Leelawadee UI" panose="020B0502040204020203" pitchFamily="34" charset="-34"/>
            </a:endParaRPr>
          </a:p>
        </p:txBody>
      </p:sp>
      <p:sp>
        <p:nvSpPr>
          <p:cNvPr id="113" name="Shape 13">
            <a:extLst>
              <a:ext uri="{FF2B5EF4-FFF2-40B4-BE49-F238E27FC236}">
                <a16:creationId xmlns:a16="http://schemas.microsoft.com/office/drawing/2014/main" id="{A05F795A-2DB8-5496-9CBA-D577699BBA40}"/>
              </a:ext>
            </a:extLst>
          </p:cNvPr>
          <p:cNvSpPr/>
          <p:nvPr/>
        </p:nvSpPr>
        <p:spPr>
          <a:xfrm>
            <a:off x="4102642" y="20518190"/>
            <a:ext cx="1050408" cy="224252"/>
          </a:xfrm>
          <a:prstGeom prst="roundRect">
            <a:avLst>
              <a:gd name="adj" fmla="val 6331"/>
            </a:avLst>
          </a:prstGeom>
          <a:noFill/>
          <a:ln w="4763">
            <a:solidFill>
              <a:srgbClr val="28282F"/>
            </a:solidFill>
            <a:prstDash val="solid"/>
          </a:ln>
        </p:spPr>
      </p:sp>
      <p:sp>
        <p:nvSpPr>
          <p:cNvPr id="114" name="Text 14">
            <a:extLst>
              <a:ext uri="{FF2B5EF4-FFF2-40B4-BE49-F238E27FC236}">
                <a16:creationId xmlns:a16="http://schemas.microsoft.com/office/drawing/2014/main" id="{10782C96-DAC0-9F0B-C807-ED4BCF88F1E4}"/>
              </a:ext>
            </a:extLst>
          </p:cNvPr>
          <p:cNvSpPr/>
          <p:nvPr/>
        </p:nvSpPr>
        <p:spPr>
          <a:xfrm>
            <a:off x="4173633" y="20556067"/>
            <a:ext cx="801588" cy="133648"/>
          </a:xfrm>
          <a:prstGeom prst="rect">
            <a:avLst/>
          </a:prstGeom>
          <a:noFill/>
          <a:ln/>
        </p:spPr>
        <p:txBody>
          <a:bodyPr wrap="none" lIns="0" tIns="0" rIns="0" bIns="0" rtlCol="0" anchor="t"/>
          <a:lstStyle/>
          <a:p>
            <a:pPr marL="0" indent="0" algn="l">
              <a:lnSpc>
                <a:spcPct val="126000"/>
              </a:lnSpc>
              <a:buNone/>
            </a:pPr>
            <a:r>
              <a:rPr lang="en-US" sz="900" dirty="0">
                <a:solidFill>
                  <a:srgbClr val="28282F"/>
                </a:solidFill>
                <a:latin typeface="Leelawadee UI" panose="020B0502040204020203" pitchFamily="34" charset="-34"/>
                <a:ea typeface="Inter" pitchFamily="34" charset="-122"/>
                <a:cs typeface="Leelawadee UI" panose="020B0502040204020203" pitchFamily="34" charset="-34"/>
              </a:rPr>
              <a:t>2024 · UNGGULAN</a:t>
            </a:r>
            <a:endParaRPr lang="en-US" sz="900" dirty="0">
              <a:latin typeface="Leelawadee UI" panose="020B0502040204020203" pitchFamily="34" charset="-34"/>
              <a:cs typeface="Leelawadee UI" panose="020B0502040204020203" pitchFamily="34" charset="-34"/>
            </a:endParaRPr>
          </a:p>
        </p:txBody>
      </p:sp>
      <p:sp>
        <p:nvSpPr>
          <p:cNvPr id="115" name="Text 15">
            <a:extLst>
              <a:ext uri="{FF2B5EF4-FFF2-40B4-BE49-F238E27FC236}">
                <a16:creationId xmlns:a16="http://schemas.microsoft.com/office/drawing/2014/main" id="{90574523-322F-B91A-2B55-AA0F18BB4327}"/>
              </a:ext>
            </a:extLst>
          </p:cNvPr>
          <p:cNvSpPr/>
          <p:nvPr/>
        </p:nvSpPr>
        <p:spPr>
          <a:xfrm>
            <a:off x="3238226" y="20838245"/>
            <a:ext cx="2612551" cy="1337072"/>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161613"/>
                </a:solidFill>
                <a:latin typeface="Leelawadee UI" panose="020B0502040204020203" pitchFamily="34" charset="-34"/>
                <a:ea typeface="Inter" pitchFamily="34" charset="-122"/>
                <a:cs typeface="Leelawadee UI" panose="020B0502040204020203" pitchFamily="34" charset="-34"/>
              </a:rPr>
              <a:t>Kajian komprehensif tentang kesiapan pemerintah daerah dan pelaku usaha di Kalimantan Barat menghadapi EUDR. Dokumen ini mencakup gap analysis, peta risiko, dan rekomendasi strategis untuk memastikan kepatuhan rantai pasok komoditas.</a:t>
            </a:r>
            <a:endParaRPr lang="en-US" sz="850" dirty="0">
              <a:latin typeface="Leelawadee UI" panose="020B0502040204020203" pitchFamily="34" charset="-34"/>
              <a:cs typeface="Leelawadee UI" panose="020B0502040204020203" pitchFamily="34" charset="-34"/>
            </a:endParaRPr>
          </a:p>
        </p:txBody>
      </p:sp>
      <p:pic>
        <p:nvPicPr>
          <p:cNvPr id="116" name="Image 3" descr="preencoded.png">
            <a:hlinkClick r:id="" action="ppaction://noaction"/>
            <a:extLst>
              <a:ext uri="{FF2B5EF4-FFF2-40B4-BE49-F238E27FC236}">
                <a16:creationId xmlns:a16="http://schemas.microsoft.com/office/drawing/2014/main" id="{C585EED7-D07B-0D3C-55CA-1B4C1BA9345C}"/>
              </a:ext>
            </a:extLst>
          </p:cNvPr>
          <p:cNvPicPr>
            <a:picLocks noChangeAspect="1"/>
          </p:cNvPicPr>
          <p:nvPr/>
        </p:nvPicPr>
        <p:blipFill>
          <a:blip r:embed="rId24"/>
          <a:stretch>
            <a:fillRect/>
          </a:stretch>
        </p:blipFill>
        <p:spPr>
          <a:xfrm>
            <a:off x="4766905" y="21852834"/>
            <a:ext cx="817587" cy="303758"/>
          </a:xfrm>
          <a:prstGeom prst="rect">
            <a:avLst/>
          </a:prstGeom>
        </p:spPr>
      </p:pic>
      <p:pic>
        <p:nvPicPr>
          <p:cNvPr id="117" name="Image 4" descr="preencoded.png">
            <a:extLst>
              <a:ext uri="{FF2B5EF4-FFF2-40B4-BE49-F238E27FC236}">
                <a16:creationId xmlns:a16="http://schemas.microsoft.com/office/drawing/2014/main" id="{D4DA6CD5-C837-C013-A63A-34FE0F4BB86D}"/>
              </a:ext>
            </a:extLst>
          </p:cNvPr>
          <p:cNvPicPr>
            <a:picLocks noChangeAspect="1"/>
          </p:cNvPicPr>
          <p:nvPr/>
        </p:nvPicPr>
        <p:blipFill>
          <a:blip r:embed="rId26"/>
          <a:stretch>
            <a:fillRect/>
          </a:stretch>
        </p:blipFill>
        <p:spPr>
          <a:xfrm>
            <a:off x="5973709" y="19634523"/>
            <a:ext cx="764232" cy="472306"/>
          </a:xfrm>
          <a:prstGeom prst="rect">
            <a:avLst/>
          </a:prstGeom>
        </p:spPr>
      </p:pic>
      <p:sp>
        <p:nvSpPr>
          <p:cNvPr id="118" name="Text 16">
            <a:extLst>
              <a:ext uri="{FF2B5EF4-FFF2-40B4-BE49-F238E27FC236}">
                <a16:creationId xmlns:a16="http://schemas.microsoft.com/office/drawing/2014/main" id="{630FBE90-2F7A-2F8C-9B74-5E220E453860}"/>
              </a:ext>
            </a:extLst>
          </p:cNvPr>
          <p:cNvSpPr/>
          <p:nvPr/>
        </p:nvSpPr>
        <p:spPr>
          <a:xfrm>
            <a:off x="6860873" y="19634523"/>
            <a:ext cx="1748135" cy="517922"/>
          </a:xfrm>
          <a:prstGeom prst="rect">
            <a:avLst/>
          </a:prstGeom>
          <a:noFill/>
          <a:ln/>
        </p:spPr>
        <p:txBody>
          <a:bodyPr wrap="square" lIns="0" tIns="0" rIns="0" bIns="0" rtlCol="0" anchor="t">
            <a:normAutofit/>
          </a:bodyPr>
          <a:lstStyle/>
          <a:p>
            <a:pPr marL="0" indent="0" algn="l">
              <a:lnSpc>
                <a:spcPct val="104000"/>
              </a:lnSpc>
              <a:buNone/>
            </a:pP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Policy Brief: Penguatan Keterlacakan Komoditas Karet Rakyat</a:t>
            </a:r>
            <a:endParaRPr lang="en-US" sz="1050" dirty="0">
              <a:latin typeface="Leelawadee UI" panose="020B0502040204020203" pitchFamily="34" charset="-34"/>
              <a:cs typeface="Leelawadee UI" panose="020B0502040204020203" pitchFamily="34" charset="-34"/>
            </a:endParaRPr>
          </a:p>
        </p:txBody>
      </p:sp>
      <p:sp>
        <p:nvSpPr>
          <p:cNvPr id="119" name="Shape 17">
            <a:extLst>
              <a:ext uri="{FF2B5EF4-FFF2-40B4-BE49-F238E27FC236}">
                <a16:creationId xmlns:a16="http://schemas.microsoft.com/office/drawing/2014/main" id="{1C3308D1-8DD3-1857-66DB-E00B713A77E7}"/>
              </a:ext>
            </a:extLst>
          </p:cNvPr>
          <p:cNvSpPr/>
          <p:nvPr/>
        </p:nvSpPr>
        <p:spPr>
          <a:xfrm>
            <a:off x="6860873" y="20267861"/>
            <a:ext cx="862608" cy="197856"/>
          </a:xfrm>
          <a:prstGeom prst="roundRect">
            <a:avLst>
              <a:gd name="adj" fmla="val 6633"/>
            </a:avLst>
          </a:prstGeom>
          <a:solidFill>
            <a:srgbClr val="E3E3E8"/>
          </a:solidFill>
          <a:ln/>
        </p:spPr>
      </p:sp>
      <p:sp>
        <p:nvSpPr>
          <p:cNvPr id="120" name="Text 18">
            <a:extLst>
              <a:ext uri="{FF2B5EF4-FFF2-40B4-BE49-F238E27FC236}">
                <a16:creationId xmlns:a16="http://schemas.microsoft.com/office/drawing/2014/main" id="{10AE14EA-A2BD-C04B-F91B-8F17F275CAD9}"/>
              </a:ext>
            </a:extLst>
          </p:cNvPr>
          <p:cNvSpPr/>
          <p:nvPr/>
        </p:nvSpPr>
        <p:spPr>
          <a:xfrm>
            <a:off x="6927102" y="20300975"/>
            <a:ext cx="590550" cy="133648"/>
          </a:xfrm>
          <a:prstGeom prst="rect">
            <a:avLst/>
          </a:prstGeom>
          <a:noFill/>
          <a:ln/>
        </p:spPr>
        <p:txBody>
          <a:bodyPr wrap="none" lIns="0" tIns="0" rIns="0" bIns="0" rtlCol="0" anchor="t"/>
          <a:lstStyle/>
          <a:p>
            <a:pPr marL="0" indent="0" algn="l">
              <a:lnSpc>
                <a:spcPct val="126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POLICY BRIEF</a:t>
            </a:r>
            <a:endParaRPr lang="en-US" sz="900" dirty="0">
              <a:latin typeface="Leelawadee UI" panose="020B0502040204020203" pitchFamily="34" charset="-34"/>
              <a:cs typeface="Leelawadee UI" panose="020B0502040204020203" pitchFamily="34" charset="-34"/>
            </a:endParaRPr>
          </a:p>
        </p:txBody>
      </p:sp>
      <p:sp>
        <p:nvSpPr>
          <p:cNvPr id="121" name="Shape 19">
            <a:extLst>
              <a:ext uri="{FF2B5EF4-FFF2-40B4-BE49-F238E27FC236}">
                <a16:creationId xmlns:a16="http://schemas.microsoft.com/office/drawing/2014/main" id="{A6157DEC-EBC7-6387-0409-65F9DB6A8420}"/>
              </a:ext>
            </a:extLst>
          </p:cNvPr>
          <p:cNvSpPr/>
          <p:nvPr/>
        </p:nvSpPr>
        <p:spPr>
          <a:xfrm>
            <a:off x="7639095" y="20263099"/>
            <a:ext cx="1099389" cy="202618"/>
          </a:xfrm>
          <a:prstGeom prst="roundRect">
            <a:avLst>
              <a:gd name="adj" fmla="val 6331"/>
            </a:avLst>
          </a:prstGeom>
          <a:noFill/>
          <a:ln w="4763">
            <a:solidFill>
              <a:srgbClr val="28282F"/>
            </a:solidFill>
            <a:prstDash val="solid"/>
          </a:ln>
        </p:spPr>
      </p:sp>
      <p:sp>
        <p:nvSpPr>
          <p:cNvPr id="122" name="Text 20">
            <a:extLst>
              <a:ext uri="{FF2B5EF4-FFF2-40B4-BE49-F238E27FC236}">
                <a16:creationId xmlns:a16="http://schemas.microsoft.com/office/drawing/2014/main" id="{AEFCC2B7-C1A8-35AD-AB72-3D96C6913ACF}"/>
              </a:ext>
            </a:extLst>
          </p:cNvPr>
          <p:cNvSpPr/>
          <p:nvPr/>
        </p:nvSpPr>
        <p:spPr>
          <a:xfrm>
            <a:off x="7710087" y="20300975"/>
            <a:ext cx="801588" cy="133648"/>
          </a:xfrm>
          <a:prstGeom prst="rect">
            <a:avLst/>
          </a:prstGeom>
          <a:noFill/>
          <a:ln/>
        </p:spPr>
        <p:txBody>
          <a:bodyPr wrap="none" lIns="0" tIns="0" rIns="0" bIns="0" rtlCol="0" anchor="t"/>
          <a:lstStyle/>
          <a:p>
            <a:pPr marL="0" indent="0" algn="l">
              <a:lnSpc>
                <a:spcPct val="126000"/>
              </a:lnSpc>
              <a:buNone/>
            </a:pPr>
            <a:r>
              <a:rPr lang="en-US" sz="900" dirty="0">
                <a:solidFill>
                  <a:srgbClr val="28282F"/>
                </a:solidFill>
                <a:latin typeface="Leelawadee UI" panose="020B0502040204020203" pitchFamily="34" charset="-34"/>
                <a:ea typeface="Inter" pitchFamily="34" charset="-122"/>
                <a:cs typeface="Leelawadee UI" panose="020B0502040204020203" pitchFamily="34" charset="-34"/>
              </a:rPr>
              <a:t>2024 · UNGGULAN</a:t>
            </a:r>
            <a:endParaRPr lang="en-US" sz="900" dirty="0">
              <a:latin typeface="Leelawadee UI" panose="020B0502040204020203" pitchFamily="34" charset="-34"/>
              <a:cs typeface="Leelawadee UI" panose="020B0502040204020203" pitchFamily="34" charset="-34"/>
            </a:endParaRPr>
          </a:p>
        </p:txBody>
      </p:sp>
      <p:sp>
        <p:nvSpPr>
          <p:cNvPr id="123" name="Text 21">
            <a:extLst>
              <a:ext uri="{FF2B5EF4-FFF2-40B4-BE49-F238E27FC236}">
                <a16:creationId xmlns:a16="http://schemas.microsoft.com/office/drawing/2014/main" id="{05569211-1C44-A59A-FD17-F2AF822C7EB9}"/>
              </a:ext>
            </a:extLst>
          </p:cNvPr>
          <p:cNvSpPr/>
          <p:nvPr/>
        </p:nvSpPr>
        <p:spPr>
          <a:xfrm>
            <a:off x="6038415" y="20583153"/>
            <a:ext cx="2570594" cy="1504206"/>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161613"/>
                </a:solidFill>
                <a:latin typeface="Leelawadee UI" panose="020B0502040204020203" pitchFamily="34" charset="-34"/>
                <a:ea typeface="Inter" pitchFamily="34" charset="-122"/>
                <a:cs typeface="Leelawadee UI" panose="020B0502040204020203" pitchFamily="34" charset="-34"/>
              </a:rPr>
              <a:t>Dikembangkan bersama Dinas Perkebunan Kalimantan Barat, policy brief ini merumuskan kerangka kebijakan untuk memperkuat sistem keterlacakan karet rakyat melalui platform digital Mokkalita guna mendukung kepatuhan regulasi global.</a:t>
            </a:r>
            <a:endParaRPr lang="en-US" sz="850" dirty="0">
              <a:latin typeface="Leelawadee UI" panose="020B0502040204020203" pitchFamily="34" charset="-34"/>
              <a:cs typeface="Leelawadee UI" panose="020B0502040204020203" pitchFamily="34" charset="-34"/>
            </a:endParaRPr>
          </a:p>
        </p:txBody>
      </p:sp>
      <p:pic>
        <p:nvPicPr>
          <p:cNvPr id="124" name="Image 5" descr="preencoded.png">
            <a:hlinkClick r:id="" action="ppaction://noaction"/>
            <a:extLst>
              <a:ext uri="{FF2B5EF4-FFF2-40B4-BE49-F238E27FC236}">
                <a16:creationId xmlns:a16="http://schemas.microsoft.com/office/drawing/2014/main" id="{CAA1A36E-9FF1-B24C-C4CE-87AFB46780EA}"/>
              </a:ext>
            </a:extLst>
          </p:cNvPr>
          <p:cNvPicPr>
            <a:picLocks noChangeAspect="1"/>
          </p:cNvPicPr>
          <p:nvPr/>
        </p:nvPicPr>
        <p:blipFill>
          <a:blip r:embed="rId24"/>
          <a:stretch>
            <a:fillRect/>
          </a:stretch>
        </p:blipFill>
        <p:spPr>
          <a:xfrm>
            <a:off x="7525136" y="21764877"/>
            <a:ext cx="817587" cy="303758"/>
          </a:xfrm>
          <a:prstGeom prst="rect">
            <a:avLst/>
          </a:prstGeom>
        </p:spPr>
      </p:pic>
      <p:sp>
        <p:nvSpPr>
          <p:cNvPr id="125" name="Shape 0">
            <a:extLst>
              <a:ext uri="{FF2B5EF4-FFF2-40B4-BE49-F238E27FC236}">
                <a16:creationId xmlns:a16="http://schemas.microsoft.com/office/drawing/2014/main" id="{BC005583-4136-13D5-ACB2-ECC2E6295384}"/>
              </a:ext>
            </a:extLst>
          </p:cNvPr>
          <p:cNvSpPr/>
          <p:nvPr/>
        </p:nvSpPr>
        <p:spPr>
          <a:xfrm>
            <a:off x="437436" y="22241515"/>
            <a:ext cx="1034950" cy="217870"/>
          </a:xfrm>
          <a:prstGeom prst="roundRect">
            <a:avLst>
              <a:gd name="adj" fmla="val 7694"/>
            </a:avLst>
          </a:prstGeom>
          <a:solidFill>
            <a:srgbClr val="E3E3E8"/>
          </a:solidFill>
          <a:ln/>
        </p:spPr>
      </p:sp>
      <p:sp>
        <p:nvSpPr>
          <p:cNvPr id="126" name="Text 1">
            <a:extLst>
              <a:ext uri="{FF2B5EF4-FFF2-40B4-BE49-F238E27FC236}">
                <a16:creationId xmlns:a16="http://schemas.microsoft.com/office/drawing/2014/main" id="{734697CC-9A5F-F529-2C5B-B1262F122EB8}"/>
              </a:ext>
            </a:extLst>
          </p:cNvPr>
          <p:cNvSpPr/>
          <p:nvPr/>
        </p:nvSpPr>
        <p:spPr>
          <a:xfrm>
            <a:off x="443507" y="22298418"/>
            <a:ext cx="1210235" cy="193849"/>
          </a:xfrm>
          <a:prstGeom prst="rect">
            <a:avLst/>
          </a:prstGeom>
          <a:noFill/>
          <a:ln/>
        </p:spPr>
        <p:txBody>
          <a:bodyPr wrap="none" lIns="0" tIns="0" rIns="0" bIns="0" rtlCol="0" anchor="t"/>
          <a:lstStyle/>
          <a:p>
            <a:pPr marL="0" indent="0" algn="l">
              <a:lnSpc>
                <a:spcPct val="100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PERAN YNKI</a:t>
            </a:r>
            <a:endParaRPr lang="en-US" sz="1000" dirty="0">
              <a:latin typeface="Leelawadee UI" panose="020B0502040204020203" pitchFamily="34" charset="-34"/>
              <a:cs typeface="Leelawadee UI" panose="020B0502040204020203" pitchFamily="34" charset="-34"/>
            </a:endParaRPr>
          </a:p>
        </p:txBody>
      </p:sp>
      <p:sp>
        <p:nvSpPr>
          <p:cNvPr id="127" name="Text 2">
            <a:extLst>
              <a:ext uri="{FF2B5EF4-FFF2-40B4-BE49-F238E27FC236}">
                <a16:creationId xmlns:a16="http://schemas.microsoft.com/office/drawing/2014/main" id="{D3DE3744-4985-50CD-5DB2-F210165CD2E1}"/>
              </a:ext>
            </a:extLst>
          </p:cNvPr>
          <p:cNvSpPr/>
          <p:nvPr/>
        </p:nvSpPr>
        <p:spPr>
          <a:xfrm>
            <a:off x="437436" y="22471738"/>
            <a:ext cx="3166839" cy="193849"/>
          </a:xfrm>
          <a:prstGeom prst="rect">
            <a:avLst/>
          </a:prstGeom>
          <a:noFill/>
          <a:ln/>
        </p:spPr>
        <p:txBody>
          <a:bodyPr wrap="none" lIns="0" tIns="0" rIns="0" bIns="0" rtlCol="0" anchor="t"/>
          <a:lstStyle/>
          <a:p>
            <a:pPr marL="0" indent="0" algn="l">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Peran YNKI dalam Advokasi Kebijakan</a:t>
            </a:r>
            <a:endParaRPr lang="en-US" sz="2400" dirty="0">
              <a:latin typeface="Leelawadee UI" panose="020B0502040204020203" pitchFamily="34" charset="-34"/>
              <a:cs typeface="Leelawadee UI" panose="020B0502040204020203" pitchFamily="34" charset="-34"/>
            </a:endParaRPr>
          </a:p>
        </p:txBody>
      </p:sp>
      <p:sp>
        <p:nvSpPr>
          <p:cNvPr id="128" name="Text 3">
            <a:extLst>
              <a:ext uri="{FF2B5EF4-FFF2-40B4-BE49-F238E27FC236}">
                <a16:creationId xmlns:a16="http://schemas.microsoft.com/office/drawing/2014/main" id="{A6223E86-FC47-9FD4-5D57-BA7AD7E9EBE7}"/>
              </a:ext>
            </a:extLst>
          </p:cNvPr>
          <p:cNvSpPr/>
          <p:nvPr/>
        </p:nvSpPr>
        <p:spPr>
          <a:xfrm>
            <a:off x="440009" y="22817189"/>
            <a:ext cx="8022685" cy="637673"/>
          </a:xfrm>
          <a:prstGeom prst="rect">
            <a:avLst/>
          </a:prstGeom>
          <a:noFill/>
          <a:ln/>
        </p:spPr>
        <p:txBody>
          <a:bodyPr wrap="square" lIns="0" tIns="0" rIns="0" bIns="0" rtlCol="0" anchor="t">
            <a:normAutofit/>
          </a:bodyPr>
          <a:lstStyle/>
          <a:p>
            <a:pPr marL="0" indent="0" algn="l">
              <a:lnSpc>
                <a:spcPct val="130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YNKI berperan aktif dalam mendorong kebijakan tata kelola lanskap yang inklusif dan berbasis bukti. Sebagai organisasi </a:t>
            </a:r>
            <a:r>
              <a:rPr lang="en-US" sz="1000" i="1" dirty="0">
                <a:solidFill>
                  <a:srgbClr val="161613"/>
                </a:solidFill>
                <a:latin typeface="Leelawadee UI" panose="020B0502040204020203" pitchFamily="34" charset="-34"/>
                <a:ea typeface="Inter" pitchFamily="34" charset="-122"/>
                <a:cs typeface="Leelawadee UI" panose="020B0502040204020203" pitchFamily="34" charset="-34"/>
              </a:rPr>
              <a:t>backbone</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tata kelola lanskap, YNKI menjalankan empat fungsi utama advokasi kebijakan yang saling melengkapi dan memperkuat satu sama lain.</a:t>
            </a:r>
            <a:endParaRPr lang="en-US" sz="1000" dirty="0">
              <a:latin typeface="Leelawadee UI" panose="020B0502040204020203" pitchFamily="34" charset="-34"/>
              <a:cs typeface="Leelawadee UI" panose="020B0502040204020203" pitchFamily="34" charset="-34"/>
            </a:endParaRPr>
          </a:p>
        </p:txBody>
      </p:sp>
      <p:sp>
        <p:nvSpPr>
          <p:cNvPr id="129" name="Shape 4">
            <a:extLst>
              <a:ext uri="{FF2B5EF4-FFF2-40B4-BE49-F238E27FC236}">
                <a16:creationId xmlns:a16="http://schemas.microsoft.com/office/drawing/2014/main" id="{E71E8B32-BA84-7545-2BE1-38D4C3CC2DB3}"/>
              </a:ext>
            </a:extLst>
          </p:cNvPr>
          <p:cNvSpPr/>
          <p:nvPr/>
        </p:nvSpPr>
        <p:spPr>
          <a:xfrm>
            <a:off x="448927" y="23330993"/>
            <a:ext cx="3855548" cy="920566"/>
          </a:xfrm>
          <a:prstGeom prst="roundRect">
            <a:avLst>
              <a:gd name="adj" fmla="val 1369"/>
            </a:avLst>
          </a:prstGeom>
          <a:solidFill>
            <a:srgbClr val="EDEBE3"/>
          </a:solidFill>
          <a:ln/>
        </p:spPr>
      </p:sp>
      <p:sp>
        <p:nvSpPr>
          <p:cNvPr id="130" name="Shape 5">
            <a:extLst>
              <a:ext uri="{FF2B5EF4-FFF2-40B4-BE49-F238E27FC236}">
                <a16:creationId xmlns:a16="http://schemas.microsoft.com/office/drawing/2014/main" id="{51E31041-95ED-DF17-9CA1-FAF561619A9D}"/>
              </a:ext>
            </a:extLst>
          </p:cNvPr>
          <p:cNvSpPr/>
          <p:nvPr/>
        </p:nvSpPr>
        <p:spPr>
          <a:xfrm>
            <a:off x="510914" y="23392979"/>
            <a:ext cx="186035" cy="186035"/>
          </a:xfrm>
          <a:prstGeom prst="roundRect">
            <a:avLst>
              <a:gd name="adj" fmla="val 30716954"/>
            </a:avLst>
          </a:prstGeom>
          <a:solidFill>
            <a:srgbClr val="28282F"/>
          </a:solidFill>
          <a:ln/>
        </p:spPr>
      </p:sp>
      <p:pic>
        <p:nvPicPr>
          <p:cNvPr id="131" name="Image 0" descr="preencoded.png">
            <a:extLst>
              <a:ext uri="{FF2B5EF4-FFF2-40B4-BE49-F238E27FC236}">
                <a16:creationId xmlns:a16="http://schemas.microsoft.com/office/drawing/2014/main" id="{2F1EC20D-CC85-3C79-39B4-9AC34EB4E334}"/>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562036" y="23444102"/>
            <a:ext cx="83716" cy="83716"/>
          </a:xfrm>
          <a:prstGeom prst="rect">
            <a:avLst/>
          </a:prstGeom>
        </p:spPr>
      </p:pic>
      <p:sp>
        <p:nvSpPr>
          <p:cNvPr id="132" name="Text 6">
            <a:extLst>
              <a:ext uri="{FF2B5EF4-FFF2-40B4-BE49-F238E27FC236}">
                <a16:creationId xmlns:a16="http://schemas.microsoft.com/office/drawing/2014/main" id="{E8191E1F-226A-DBC2-6027-D3863B55D565}"/>
              </a:ext>
            </a:extLst>
          </p:cNvPr>
          <p:cNvSpPr/>
          <p:nvPr/>
        </p:nvSpPr>
        <p:spPr>
          <a:xfrm>
            <a:off x="771549" y="23471748"/>
            <a:ext cx="866849" cy="96887"/>
          </a:xfrm>
          <a:prstGeom prst="rect">
            <a:avLst/>
          </a:prstGeom>
          <a:noFill/>
          <a:ln/>
        </p:spPr>
        <p:txBody>
          <a:bodyPr wrap="none" lIns="0" tIns="0" rIns="0" bIns="0" rtlCol="0" anchor="t"/>
          <a:lstStyle/>
          <a:p>
            <a:pPr marL="0" indent="0" algn="l">
              <a:lnSpc>
                <a:spcPct val="104000"/>
              </a:lnSpc>
              <a:buNone/>
            </a:pPr>
            <a:r>
              <a:rPr lang="en-US" sz="1000" dirty="0">
                <a:solidFill>
                  <a:srgbClr val="161613"/>
                </a:solidFill>
                <a:latin typeface="Leelawadee UI" panose="020B0502040204020203" pitchFamily="34" charset="-34"/>
                <a:ea typeface="DM Sans Medium" pitchFamily="34" charset="-122"/>
                <a:cs typeface="Leelawadee UI" panose="020B0502040204020203" pitchFamily="34" charset="-34"/>
              </a:rPr>
              <a:t>Penyusunan Policy Brief</a:t>
            </a:r>
            <a:endParaRPr lang="en-US" sz="1000" dirty="0">
              <a:latin typeface="Leelawadee UI" panose="020B0502040204020203" pitchFamily="34" charset="-34"/>
              <a:cs typeface="Leelawadee UI" panose="020B0502040204020203" pitchFamily="34" charset="-34"/>
            </a:endParaRPr>
          </a:p>
        </p:txBody>
      </p:sp>
      <p:sp>
        <p:nvSpPr>
          <p:cNvPr id="133" name="Text 7">
            <a:extLst>
              <a:ext uri="{FF2B5EF4-FFF2-40B4-BE49-F238E27FC236}">
                <a16:creationId xmlns:a16="http://schemas.microsoft.com/office/drawing/2014/main" id="{C333060D-8983-17D5-E2ED-E79D71CC3749}"/>
              </a:ext>
            </a:extLst>
          </p:cNvPr>
          <p:cNvSpPr/>
          <p:nvPr/>
        </p:nvSpPr>
        <p:spPr>
          <a:xfrm>
            <a:off x="509321" y="23680956"/>
            <a:ext cx="3635655" cy="329969"/>
          </a:xfrm>
          <a:prstGeom prst="rect">
            <a:avLst/>
          </a:prstGeom>
          <a:noFill/>
          <a:ln/>
        </p:spPr>
        <p:txBody>
          <a:bodyPr wrap="square" lIns="0" tIns="0" rIns="0" bIns="0" rtlCol="0" anchor="t">
            <a:noAutofit/>
          </a:bodyPr>
          <a:lstStyle/>
          <a:p>
            <a:pPr marL="0" indent="0" algn="l">
              <a:lnSpc>
                <a:spcPct val="100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Menyusun rekomendasi kebijakan yang tajam dan operasional berdasarkan data lapangan, riset komparatif, dan pembelajaran dari program-program YNKI di Kalimantan Barat.</a:t>
            </a:r>
            <a:endParaRPr lang="en-US" sz="900" dirty="0">
              <a:latin typeface="Leelawadee UI" panose="020B0502040204020203" pitchFamily="34" charset="-34"/>
              <a:cs typeface="Leelawadee UI" panose="020B0502040204020203" pitchFamily="34" charset="-34"/>
            </a:endParaRPr>
          </a:p>
        </p:txBody>
      </p:sp>
      <p:sp>
        <p:nvSpPr>
          <p:cNvPr id="134" name="Shape 8">
            <a:extLst>
              <a:ext uri="{FF2B5EF4-FFF2-40B4-BE49-F238E27FC236}">
                <a16:creationId xmlns:a16="http://schemas.microsoft.com/office/drawing/2014/main" id="{34EB2466-17FC-8BDE-9297-9188CEF227BA}"/>
              </a:ext>
            </a:extLst>
          </p:cNvPr>
          <p:cNvSpPr/>
          <p:nvPr/>
        </p:nvSpPr>
        <p:spPr>
          <a:xfrm>
            <a:off x="4666485" y="23330992"/>
            <a:ext cx="3480238" cy="954050"/>
          </a:xfrm>
          <a:prstGeom prst="roundRect">
            <a:avLst>
              <a:gd name="adj" fmla="val 1369"/>
            </a:avLst>
          </a:prstGeom>
          <a:solidFill>
            <a:srgbClr val="EDEBE3"/>
          </a:solidFill>
          <a:ln/>
        </p:spPr>
      </p:sp>
      <p:sp>
        <p:nvSpPr>
          <p:cNvPr id="135" name="Shape 9">
            <a:extLst>
              <a:ext uri="{FF2B5EF4-FFF2-40B4-BE49-F238E27FC236}">
                <a16:creationId xmlns:a16="http://schemas.microsoft.com/office/drawing/2014/main" id="{53E6E4FC-A71B-56B7-2B3B-597016744783}"/>
              </a:ext>
            </a:extLst>
          </p:cNvPr>
          <p:cNvSpPr/>
          <p:nvPr/>
        </p:nvSpPr>
        <p:spPr>
          <a:xfrm>
            <a:off x="4728472" y="23392979"/>
            <a:ext cx="186035" cy="186035"/>
          </a:xfrm>
          <a:prstGeom prst="roundRect">
            <a:avLst>
              <a:gd name="adj" fmla="val 30716954"/>
            </a:avLst>
          </a:prstGeom>
          <a:solidFill>
            <a:srgbClr val="28282F"/>
          </a:solidFill>
          <a:ln/>
        </p:spPr>
      </p:sp>
      <p:pic>
        <p:nvPicPr>
          <p:cNvPr id="136" name="Image 1" descr="preencoded.png">
            <a:extLst>
              <a:ext uri="{FF2B5EF4-FFF2-40B4-BE49-F238E27FC236}">
                <a16:creationId xmlns:a16="http://schemas.microsoft.com/office/drawing/2014/main" id="{D5D5E6C5-77AC-9033-4421-67E846321E5E}"/>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4779595" y="23444102"/>
            <a:ext cx="83716" cy="83716"/>
          </a:xfrm>
          <a:prstGeom prst="rect">
            <a:avLst/>
          </a:prstGeom>
        </p:spPr>
      </p:pic>
      <p:sp>
        <p:nvSpPr>
          <p:cNvPr id="137" name="Text 10">
            <a:extLst>
              <a:ext uri="{FF2B5EF4-FFF2-40B4-BE49-F238E27FC236}">
                <a16:creationId xmlns:a16="http://schemas.microsoft.com/office/drawing/2014/main" id="{063288E9-70CC-75E2-55F1-741909B2C557}"/>
              </a:ext>
            </a:extLst>
          </p:cNvPr>
          <p:cNvSpPr/>
          <p:nvPr/>
        </p:nvSpPr>
        <p:spPr>
          <a:xfrm>
            <a:off x="4989107" y="23471748"/>
            <a:ext cx="924446" cy="96887"/>
          </a:xfrm>
          <a:prstGeom prst="rect">
            <a:avLst/>
          </a:prstGeom>
          <a:noFill/>
          <a:ln/>
        </p:spPr>
        <p:txBody>
          <a:bodyPr wrap="none" lIns="0" tIns="0" rIns="0" bIns="0" rtlCol="0" anchor="t"/>
          <a:lstStyle/>
          <a:p>
            <a:pPr marL="0" indent="0" algn="l">
              <a:lnSpc>
                <a:spcPct val="104000"/>
              </a:lnSpc>
              <a:buNone/>
            </a:pPr>
            <a:r>
              <a:rPr lang="en-US" sz="1000" dirty="0">
                <a:solidFill>
                  <a:srgbClr val="161613"/>
                </a:solidFill>
                <a:latin typeface="Leelawadee UI" panose="020B0502040204020203" pitchFamily="34" charset="-34"/>
                <a:ea typeface="DM Sans Medium" pitchFamily="34" charset="-122"/>
                <a:cs typeface="Leelawadee UI" panose="020B0502040204020203" pitchFamily="34" charset="-34"/>
              </a:rPr>
              <a:t>Fasilitasi Dialog Kebijakan</a:t>
            </a:r>
            <a:endParaRPr lang="en-US" sz="1000" dirty="0">
              <a:latin typeface="Leelawadee UI" panose="020B0502040204020203" pitchFamily="34" charset="-34"/>
              <a:cs typeface="Leelawadee UI" panose="020B0502040204020203" pitchFamily="34" charset="-34"/>
            </a:endParaRPr>
          </a:p>
        </p:txBody>
      </p:sp>
      <p:sp>
        <p:nvSpPr>
          <p:cNvPr id="138" name="Text 11">
            <a:extLst>
              <a:ext uri="{FF2B5EF4-FFF2-40B4-BE49-F238E27FC236}">
                <a16:creationId xmlns:a16="http://schemas.microsoft.com/office/drawing/2014/main" id="{DFCE4614-FAD6-D2CB-C4D9-9F6590578465}"/>
              </a:ext>
            </a:extLst>
          </p:cNvPr>
          <p:cNvSpPr/>
          <p:nvPr/>
        </p:nvSpPr>
        <p:spPr>
          <a:xfrm>
            <a:off x="4726880" y="23680957"/>
            <a:ext cx="3251401" cy="243138"/>
          </a:xfrm>
          <a:prstGeom prst="rect">
            <a:avLst/>
          </a:prstGeom>
          <a:noFill/>
          <a:ln/>
        </p:spPr>
        <p:txBody>
          <a:bodyPr wrap="square" lIns="0" tIns="0" rIns="0" bIns="0" rtlCol="0" anchor="t">
            <a:noAutofit/>
          </a:bodyPr>
          <a:lstStyle/>
          <a:p>
            <a:pPr marL="0" indent="0" algn="l">
              <a:lnSpc>
                <a:spcPct val="100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Memfasilitasi forum multi-pihak yang mempertemukan pemerintah, masyarakat adat, sektor swasta, dan akademisi untuk membangun konsensus berbasis bukti.</a:t>
            </a:r>
            <a:endParaRPr lang="en-US" sz="900" dirty="0">
              <a:latin typeface="Leelawadee UI" panose="020B0502040204020203" pitchFamily="34" charset="-34"/>
              <a:cs typeface="Leelawadee UI" panose="020B0502040204020203" pitchFamily="34" charset="-34"/>
            </a:endParaRPr>
          </a:p>
        </p:txBody>
      </p:sp>
      <p:sp>
        <p:nvSpPr>
          <p:cNvPr id="139" name="Shape 12">
            <a:extLst>
              <a:ext uri="{FF2B5EF4-FFF2-40B4-BE49-F238E27FC236}">
                <a16:creationId xmlns:a16="http://schemas.microsoft.com/office/drawing/2014/main" id="{32E176C0-C678-FFA9-4C8E-59B53AEE7274}"/>
              </a:ext>
            </a:extLst>
          </p:cNvPr>
          <p:cNvSpPr/>
          <p:nvPr/>
        </p:nvSpPr>
        <p:spPr>
          <a:xfrm>
            <a:off x="444836" y="24418465"/>
            <a:ext cx="3895162" cy="997547"/>
          </a:xfrm>
          <a:prstGeom prst="roundRect">
            <a:avLst>
              <a:gd name="adj" fmla="val 1369"/>
            </a:avLst>
          </a:prstGeom>
          <a:solidFill>
            <a:srgbClr val="EDEBE3"/>
          </a:solidFill>
          <a:ln/>
        </p:spPr>
      </p:sp>
      <p:sp>
        <p:nvSpPr>
          <p:cNvPr id="140" name="Shape 13">
            <a:extLst>
              <a:ext uri="{FF2B5EF4-FFF2-40B4-BE49-F238E27FC236}">
                <a16:creationId xmlns:a16="http://schemas.microsoft.com/office/drawing/2014/main" id="{EB25FE8A-B7F0-4134-3C28-E272E4100291}"/>
              </a:ext>
            </a:extLst>
          </p:cNvPr>
          <p:cNvSpPr/>
          <p:nvPr/>
        </p:nvSpPr>
        <p:spPr>
          <a:xfrm>
            <a:off x="506823" y="24480452"/>
            <a:ext cx="186035" cy="186035"/>
          </a:xfrm>
          <a:prstGeom prst="roundRect">
            <a:avLst>
              <a:gd name="adj" fmla="val 30716954"/>
            </a:avLst>
          </a:prstGeom>
          <a:solidFill>
            <a:srgbClr val="28282F"/>
          </a:solidFill>
          <a:ln/>
        </p:spPr>
      </p:sp>
      <p:pic>
        <p:nvPicPr>
          <p:cNvPr id="141" name="Image 2" descr="preencoded.png">
            <a:extLst>
              <a:ext uri="{FF2B5EF4-FFF2-40B4-BE49-F238E27FC236}">
                <a16:creationId xmlns:a16="http://schemas.microsoft.com/office/drawing/2014/main" id="{ED8B122F-FD50-DA04-C50C-760D812FAD90}"/>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557945" y="24531575"/>
            <a:ext cx="83716" cy="83716"/>
          </a:xfrm>
          <a:prstGeom prst="rect">
            <a:avLst/>
          </a:prstGeom>
        </p:spPr>
      </p:pic>
      <p:sp>
        <p:nvSpPr>
          <p:cNvPr id="142" name="Text 14">
            <a:extLst>
              <a:ext uri="{FF2B5EF4-FFF2-40B4-BE49-F238E27FC236}">
                <a16:creationId xmlns:a16="http://schemas.microsoft.com/office/drawing/2014/main" id="{43036E93-1FDD-E529-89B3-E05659480072}"/>
              </a:ext>
            </a:extLst>
          </p:cNvPr>
          <p:cNvSpPr/>
          <p:nvPr/>
        </p:nvSpPr>
        <p:spPr>
          <a:xfrm>
            <a:off x="741273" y="24591118"/>
            <a:ext cx="979884" cy="96887"/>
          </a:xfrm>
          <a:prstGeom prst="rect">
            <a:avLst/>
          </a:prstGeom>
          <a:noFill/>
          <a:ln/>
        </p:spPr>
        <p:txBody>
          <a:bodyPr wrap="none" lIns="0" tIns="0" rIns="0" bIns="0" rtlCol="0" anchor="t"/>
          <a:lstStyle/>
          <a:p>
            <a:pPr marL="0" indent="0" algn="l">
              <a:lnSpc>
                <a:spcPct val="104000"/>
              </a:lnSpc>
              <a:buNone/>
            </a:pPr>
            <a:r>
              <a:rPr lang="en-US" sz="1000" dirty="0">
                <a:solidFill>
                  <a:srgbClr val="161613"/>
                </a:solidFill>
                <a:latin typeface="Leelawadee UI" panose="020B0502040204020203" pitchFamily="34" charset="-34"/>
                <a:ea typeface="DM Sans Medium" pitchFamily="34" charset="-122"/>
                <a:cs typeface="Leelawadee UI" panose="020B0502040204020203" pitchFamily="34" charset="-34"/>
              </a:rPr>
              <a:t>Dukungan Teknis Kebijakan</a:t>
            </a:r>
            <a:endParaRPr lang="en-US" sz="1000" dirty="0">
              <a:latin typeface="Leelawadee UI" panose="020B0502040204020203" pitchFamily="34" charset="-34"/>
              <a:cs typeface="Leelawadee UI" panose="020B0502040204020203" pitchFamily="34" charset="-34"/>
            </a:endParaRPr>
          </a:p>
        </p:txBody>
      </p:sp>
      <p:sp>
        <p:nvSpPr>
          <p:cNvPr id="143" name="Text 15">
            <a:extLst>
              <a:ext uri="{FF2B5EF4-FFF2-40B4-BE49-F238E27FC236}">
                <a16:creationId xmlns:a16="http://schemas.microsoft.com/office/drawing/2014/main" id="{D6F89CBC-F792-45B2-F4EF-6F6AA25CA3C9}"/>
              </a:ext>
            </a:extLst>
          </p:cNvPr>
          <p:cNvSpPr/>
          <p:nvPr/>
        </p:nvSpPr>
        <p:spPr>
          <a:xfrm>
            <a:off x="511598" y="24738506"/>
            <a:ext cx="3171630" cy="359434"/>
          </a:xfrm>
          <a:prstGeom prst="rect">
            <a:avLst/>
          </a:prstGeom>
          <a:noFill/>
          <a:ln/>
        </p:spPr>
        <p:txBody>
          <a:bodyPr wrap="square" lIns="0" tIns="0" rIns="0" bIns="0" rtlCol="0" anchor="t">
            <a:noAutofit/>
          </a:bodyPr>
          <a:lstStyle/>
          <a:p>
            <a:pPr marL="0" indent="0" algn="l">
              <a:lnSpc>
                <a:spcPct val="100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Memberikan asistensi teknis kepada pemerintah daerah dalam penyusunan, perencanaan, dan implementasi kebijakan tata kelola lanskap yang inklusif dan berkelanjutan.</a:t>
            </a:r>
            <a:endParaRPr lang="en-US" sz="900" dirty="0">
              <a:latin typeface="Leelawadee UI" panose="020B0502040204020203" pitchFamily="34" charset="-34"/>
              <a:cs typeface="Leelawadee UI" panose="020B0502040204020203" pitchFamily="34" charset="-34"/>
            </a:endParaRPr>
          </a:p>
        </p:txBody>
      </p:sp>
      <p:sp>
        <p:nvSpPr>
          <p:cNvPr id="144" name="Shape 16">
            <a:extLst>
              <a:ext uri="{FF2B5EF4-FFF2-40B4-BE49-F238E27FC236}">
                <a16:creationId xmlns:a16="http://schemas.microsoft.com/office/drawing/2014/main" id="{5AE27D53-0424-C74E-4372-CAD2DA7C40C5}"/>
              </a:ext>
            </a:extLst>
          </p:cNvPr>
          <p:cNvSpPr/>
          <p:nvPr/>
        </p:nvSpPr>
        <p:spPr>
          <a:xfrm>
            <a:off x="4662394" y="24418465"/>
            <a:ext cx="3508392" cy="973484"/>
          </a:xfrm>
          <a:prstGeom prst="roundRect">
            <a:avLst>
              <a:gd name="adj" fmla="val 1369"/>
            </a:avLst>
          </a:prstGeom>
          <a:solidFill>
            <a:srgbClr val="EDEBE3"/>
          </a:solidFill>
          <a:ln/>
        </p:spPr>
      </p:sp>
      <p:sp>
        <p:nvSpPr>
          <p:cNvPr id="145" name="Shape 17">
            <a:extLst>
              <a:ext uri="{FF2B5EF4-FFF2-40B4-BE49-F238E27FC236}">
                <a16:creationId xmlns:a16="http://schemas.microsoft.com/office/drawing/2014/main" id="{1B1B9E40-6CF7-CA68-0B31-E14BEDC3EB7C}"/>
              </a:ext>
            </a:extLst>
          </p:cNvPr>
          <p:cNvSpPr/>
          <p:nvPr/>
        </p:nvSpPr>
        <p:spPr>
          <a:xfrm>
            <a:off x="4724381" y="24480452"/>
            <a:ext cx="186035" cy="186035"/>
          </a:xfrm>
          <a:prstGeom prst="roundRect">
            <a:avLst>
              <a:gd name="adj" fmla="val 30716954"/>
            </a:avLst>
          </a:prstGeom>
          <a:solidFill>
            <a:srgbClr val="28282F"/>
          </a:solidFill>
          <a:ln/>
        </p:spPr>
      </p:sp>
      <p:pic>
        <p:nvPicPr>
          <p:cNvPr id="146" name="Image 3" descr="preencoded.png">
            <a:extLst>
              <a:ext uri="{FF2B5EF4-FFF2-40B4-BE49-F238E27FC236}">
                <a16:creationId xmlns:a16="http://schemas.microsoft.com/office/drawing/2014/main" id="{4F13A7F5-841E-6533-E737-7D14B37BC4D9}"/>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4775504" y="24531575"/>
            <a:ext cx="83716" cy="83716"/>
          </a:xfrm>
          <a:prstGeom prst="rect">
            <a:avLst/>
          </a:prstGeom>
        </p:spPr>
      </p:pic>
      <p:sp>
        <p:nvSpPr>
          <p:cNvPr id="147" name="Text 18">
            <a:extLst>
              <a:ext uri="{FF2B5EF4-FFF2-40B4-BE49-F238E27FC236}">
                <a16:creationId xmlns:a16="http://schemas.microsoft.com/office/drawing/2014/main" id="{76B9CFCC-A48C-A5D6-C4A6-456716FAFB27}"/>
              </a:ext>
            </a:extLst>
          </p:cNvPr>
          <p:cNvSpPr/>
          <p:nvPr/>
        </p:nvSpPr>
        <p:spPr>
          <a:xfrm>
            <a:off x="4958831" y="24591118"/>
            <a:ext cx="775246" cy="96887"/>
          </a:xfrm>
          <a:prstGeom prst="rect">
            <a:avLst/>
          </a:prstGeom>
          <a:noFill/>
          <a:ln/>
        </p:spPr>
        <p:txBody>
          <a:bodyPr wrap="none" lIns="0" tIns="0" rIns="0" bIns="0" rtlCol="0" anchor="t"/>
          <a:lstStyle/>
          <a:p>
            <a:pPr marL="0" indent="0" algn="l">
              <a:lnSpc>
                <a:spcPct val="104000"/>
              </a:lnSpc>
              <a:buNone/>
            </a:pPr>
            <a:r>
              <a:rPr lang="en-US" sz="1000" dirty="0">
                <a:solidFill>
                  <a:srgbClr val="161613"/>
                </a:solidFill>
                <a:latin typeface="Leelawadee UI" panose="020B0502040204020203" pitchFamily="34" charset="-34"/>
                <a:ea typeface="DM Sans Medium" pitchFamily="34" charset="-122"/>
                <a:cs typeface="Leelawadee UI" panose="020B0502040204020203" pitchFamily="34" charset="-34"/>
              </a:rPr>
              <a:t>Analisis Regulasi</a:t>
            </a:r>
            <a:endParaRPr lang="en-US" sz="1000" dirty="0">
              <a:latin typeface="Leelawadee UI" panose="020B0502040204020203" pitchFamily="34" charset="-34"/>
              <a:cs typeface="Leelawadee UI" panose="020B0502040204020203" pitchFamily="34" charset="-34"/>
            </a:endParaRPr>
          </a:p>
        </p:txBody>
      </p:sp>
      <p:sp>
        <p:nvSpPr>
          <p:cNvPr id="148" name="Text 19">
            <a:extLst>
              <a:ext uri="{FF2B5EF4-FFF2-40B4-BE49-F238E27FC236}">
                <a16:creationId xmlns:a16="http://schemas.microsoft.com/office/drawing/2014/main" id="{24BA0B4F-CB9A-D821-19AD-34EAE1A0DF2C}"/>
              </a:ext>
            </a:extLst>
          </p:cNvPr>
          <p:cNvSpPr/>
          <p:nvPr/>
        </p:nvSpPr>
        <p:spPr>
          <a:xfrm>
            <a:off x="4729156" y="24738505"/>
            <a:ext cx="3321314" cy="689537"/>
          </a:xfrm>
          <a:prstGeom prst="rect">
            <a:avLst/>
          </a:prstGeom>
          <a:noFill/>
          <a:ln/>
        </p:spPr>
        <p:txBody>
          <a:bodyPr wrap="square" lIns="0" tIns="0" rIns="0" bIns="0" rtlCol="0" anchor="t">
            <a:normAutofit/>
          </a:bodyPr>
          <a:lstStyle/>
          <a:p>
            <a:pPr marL="0" indent="0" algn="l">
              <a:lnSpc>
                <a:spcPct val="100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Menganalisis regulasi nasional dan internasional yang relevan dengan tata kelola lanskap—termasuk EUDR, ESG, dan kebijakan gambut—serta memberikan rekomendasi perbaikan yang actionable.</a:t>
            </a:r>
            <a:endParaRPr lang="en-US" sz="900" dirty="0">
              <a:latin typeface="Leelawadee UI" panose="020B0502040204020203" pitchFamily="34" charset="-34"/>
              <a:cs typeface="Leelawadee UI" panose="020B0502040204020203" pitchFamily="34" charset="-34"/>
            </a:endParaRPr>
          </a:p>
        </p:txBody>
      </p:sp>
      <p:pic>
        <p:nvPicPr>
          <p:cNvPr id="149" name="Image 4" descr="preencoded.png">
            <a:extLst>
              <a:ext uri="{FF2B5EF4-FFF2-40B4-BE49-F238E27FC236}">
                <a16:creationId xmlns:a16="http://schemas.microsoft.com/office/drawing/2014/main" id="{2031D8EB-FC8F-6B9C-F64E-1ED23C6DD3EE}"/>
              </a:ext>
            </a:extLst>
          </p:cNvPr>
          <p:cNvPicPr>
            <a:picLocks noChangeAspect="1"/>
          </p:cNvPicPr>
          <p:nvPr/>
        </p:nvPicPr>
        <p:blipFill>
          <a:blip r:embed="rId31"/>
          <a:stretch>
            <a:fillRect/>
          </a:stretch>
        </p:blipFill>
        <p:spPr>
          <a:xfrm>
            <a:off x="1889662" y="25458921"/>
            <a:ext cx="4720307" cy="2307282"/>
          </a:xfrm>
          <a:prstGeom prst="rect">
            <a:avLst/>
          </a:prstGeom>
        </p:spPr>
      </p:pic>
      <p:sp>
        <p:nvSpPr>
          <p:cNvPr id="150" name="Text 20">
            <a:extLst>
              <a:ext uri="{FF2B5EF4-FFF2-40B4-BE49-F238E27FC236}">
                <a16:creationId xmlns:a16="http://schemas.microsoft.com/office/drawing/2014/main" id="{F9780788-8BE6-991F-FE31-2CA4EB9F6FDA}"/>
              </a:ext>
            </a:extLst>
          </p:cNvPr>
          <p:cNvSpPr/>
          <p:nvPr/>
        </p:nvSpPr>
        <p:spPr>
          <a:xfrm>
            <a:off x="2247033" y="26252779"/>
            <a:ext cx="1100436" cy="137554"/>
          </a:xfrm>
          <a:prstGeom prst="rect">
            <a:avLst/>
          </a:prstGeom>
          <a:noFill/>
          <a:ln/>
        </p:spPr>
        <p:txBody>
          <a:bodyPr wrap="none" lIns="0" tIns="0" rIns="0" bIns="0" rtlCol="0" anchor="t"/>
          <a:lstStyle/>
          <a:p>
            <a:pPr marL="0" indent="0" algn="ctr">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Riset &amp; Analisis</a:t>
            </a:r>
            <a:endParaRPr lang="en-US" sz="1100" dirty="0">
              <a:latin typeface="Leelawadee UI" panose="020B0502040204020203" pitchFamily="34" charset="-34"/>
              <a:cs typeface="Leelawadee UI" panose="020B0502040204020203" pitchFamily="34" charset="-34"/>
            </a:endParaRPr>
          </a:p>
        </p:txBody>
      </p:sp>
      <p:sp>
        <p:nvSpPr>
          <p:cNvPr id="151" name="Text 21">
            <a:extLst>
              <a:ext uri="{FF2B5EF4-FFF2-40B4-BE49-F238E27FC236}">
                <a16:creationId xmlns:a16="http://schemas.microsoft.com/office/drawing/2014/main" id="{281FC42A-4EEF-1D71-819A-9B07704E8C50}"/>
              </a:ext>
            </a:extLst>
          </p:cNvPr>
          <p:cNvSpPr/>
          <p:nvPr/>
        </p:nvSpPr>
        <p:spPr>
          <a:xfrm>
            <a:off x="4583930" y="25724570"/>
            <a:ext cx="1151178" cy="137554"/>
          </a:xfrm>
          <a:prstGeom prst="rect">
            <a:avLst/>
          </a:prstGeom>
          <a:noFill/>
          <a:ln/>
        </p:spPr>
        <p:txBody>
          <a:bodyPr wrap="none" lIns="0" tIns="0" rIns="0" bIns="0" rtlCol="0" anchor="t"/>
          <a:lstStyle/>
          <a:p>
            <a:pPr marL="0" indent="0" algn="ctr">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Penyusunan Kebijakan</a:t>
            </a:r>
            <a:endParaRPr lang="en-US" sz="1100" dirty="0">
              <a:latin typeface="Leelawadee UI" panose="020B0502040204020203" pitchFamily="34" charset="-34"/>
              <a:cs typeface="Leelawadee UI" panose="020B0502040204020203" pitchFamily="34" charset="-34"/>
            </a:endParaRPr>
          </a:p>
        </p:txBody>
      </p:sp>
      <p:sp>
        <p:nvSpPr>
          <p:cNvPr id="152" name="Text 22">
            <a:extLst>
              <a:ext uri="{FF2B5EF4-FFF2-40B4-BE49-F238E27FC236}">
                <a16:creationId xmlns:a16="http://schemas.microsoft.com/office/drawing/2014/main" id="{5875CC23-0480-1B03-0755-D363B19C46B0}"/>
              </a:ext>
            </a:extLst>
          </p:cNvPr>
          <p:cNvSpPr/>
          <p:nvPr/>
        </p:nvSpPr>
        <p:spPr>
          <a:xfrm>
            <a:off x="5152106" y="26810333"/>
            <a:ext cx="1100436" cy="137554"/>
          </a:xfrm>
          <a:prstGeom prst="rect">
            <a:avLst/>
          </a:prstGeom>
          <a:noFill/>
          <a:ln/>
        </p:spPr>
        <p:txBody>
          <a:bodyPr wrap="none" lIns="0" tIns="0" rIns="0" bIns="0" rtlCol="0" anchor="t"/>
          <a:lstStyle/>
          <a:p>
            <a:pPr marL="0" indent="0" algn="ctr">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Dialog &amp; Konsultasi</a:t>
            </a:r>
            <a:endParaRPr lang="en-US" sz="1100" dirty="0">
              <a:latin typeface="Leelawadee UI" panose="020B0502040204020203" pitchFamily="34" charset="-34"/>
              <a:cs typeface="Leelawadee UI" panose="020B0502040204020203" pitchFamily="34" charset="-34"/>
            </a:endParaRPr>
          </a:p>
        </p:txBody>
      </p:sp>
      <p:sp>
        <p:nvSpPr>
          <p:cNvPr id="153" name="Text 23">
            <a:extLst>
              <a:ext uri="{FF2B5EF4-FFF2-40B4-BE49-F238E27FC236}">
                <a16:creationId xmlns:a16="http://schemas.microsoft.com/office/drawing/2014/main" id="{9B2DC998-C21D-4062-FC37-155FEF9FB5CD}"/>
              </a:ext>
            </a:extLst>
          </p:cNvPr>
          <p:cNvSpPr/>
          <p:nvPr/>
        </p:nvSpPr>
        <p:spPr>
          <a:xfrm>
            <a:off x="2192520" y="27348324"/>
            <a:ext cx="1490708" cy="137554"/>
          </a:xfrm>
          <a:prstGeom prst="rect">
            <a:avLst/>
          </a:prstGeom>
          <a:noFill/>
          <a:ln/>
        </p:spPr>
        <p:txBody>
          <a:bodyPr wrap="none" lIns="0" tIns="0" rIns="0" bIns="0" rtlCol="0" anchor="t"/>
          <a:lstStyle/>
          <a:p>
            <a:pPr marL="0" indent="0" algn="ctr">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Implementasi &amp; Pemantauan</a:t>
            </a:r>
            <a:endParaRPr lang="en-US" sz="1100" dirty="0">
              <a:latin typeface="Leelawadee UI" panose="020B0502040204020203" pitchFamily="34" charset="-34"/>
              <a:cs typeface="Leelawadee UI" panose="020B0502040204020203" pitchFamily="34" charset="-34"/>
            </a:endParaRPr>
          </a:p>
        </p:txBody>
      </p:sp>
      <p:sp>
        <p:nvSpPr>
          <p:cNvPr id="154" name="Text 24">
            <a:extLst>
              <a:ext uri="{FF2B5EF4-FFF2-40B4-BE49-F238E27FC236}">
                <a16:creationId xmlns:a16="http://schemas.microsoft.com/office/drawing/2014/main" id="{CC4F4B01-1409-F2FA-DDA0-EA93D6B2199A}"/>
              </a:ext>
            </a:extLst>
          </p:cNvPr>
          <p:cNvSpPr/>
          <p:nvPr/>
        </p:nvSpPr>
        <p:spPr>
          <a:xfrm>
            <a:off x="442405" y="27759269"/>
            <a:ext cx="7833761" cy="419645"/>
          </a:xfrm>
          <a:prstGeom prst="rect">
            <a:avLst/>
          </a:prstGeom>
          <a:noFill/>
          <a:ln/>
        </p:spPr>
        <p:txBody>
          <a:bodyPr wrap="square" lIns="0" tIns="0" rIns="0" bIns="0" rtlCol="0" anchor="t">
            <a:normAutofit/>
          </a:bodyPr>
          <a:lstStyle/>
          <a:p>
            <a:pPr marL="0" indent="0" algn="l">
              <a:lnSpc>
                <a:spcPct val="130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Siklus advokasi kebijakan YNKI dirancang untuk memastikan bahwa setiap rekomendasi yang dihasilkan telah melalui proses validasi lapangan yang ketat sebelum disampaikan kepada pemangku kebijakan.</a:t>
            </a:r>
            <a:endParaRPr lang="en-US" sz="1000" dirty="0">
              <a:latin typeface="Leelawadee UI" panose="020B0502040204020203" pitchFamily="34" charset="-34"/>
              <a:cs typeface="Leelawadee UI" panose="020B0502040204020203" pitchFamily="34" charset="-34"/>
            </a:endParaRPr>
          </a:p>
        </p:txBody>
      </p:sp>
      <p:sp>
        <p:nvSpPr>
          <p:cNvPr id="155" name="Text 0">
            <a:extLst>
              <a:ext uri="{FF2B5EF4-FFF2-40B4-BE49-F238E27FC236}">
                <a16:creationId xmlns:a16="http://schemas.microsoft.com/office/drawing/2014/main" id="{855A3463-4020-B788-904A-4D6D77790410}"/>
              </a:ext>
            </a:extLst>
          </p:cNvPr>
          <p:cNvSpPr/>
          <p:nvPr/>
        </p:nvSpPr>
        <p:spPr>
          <a:xfrm>
            <a:off x="426211" y="28294690"/>
            <a:ext cx="6588398" cy="351309"/>
          </a:xfrm>
          <a:prstGeom prst="rect">
            <a:avLst/>
          </a:prstGeom>
          <a:noFill/>
          <a:ln/>
        </p:spPr>
        <p:txBody>
          <a:bodyPr wrap="none" lIns="0" tIns="0" rIns="0" bIns="0" rtlCol="0" anchor="t"/>
          <a:lstStyle/>
          <a:p>
            <a:pPr marL="0" indent="0" algn="l">
              <a:lnSpc>
                <a:spcPct val="104000"/>
              </a:lnSpc>
              <a:buNone/>
            </a:pPr>
            <a:r>
              <a:rPr lang="en-US" sz="2200" dirty="0" err="1">
                <a:solidFill>
                  <a:srgbClr val="161613"/>
                </a:solidFill>
                <a:latin typeface="Leelawadee UI" panose="020B0502040204020203" pitchFamily="34" charset="-34"/>
                <a:ea typeface="DM Sans Medium" pitchFamily="34" charset="-122"/>
                <a:cs typeface="Leelawadee UI" panose="020B0502040204020203" pitchFamily="34" charset="-34"/>
              </a:rPr>
              <a:t>Kolaborasi</a:t>
            </a:r>
            <a:r>
              <a:rPr lang="en-US" sz="2200" dirty="0">
                <a:solidFill>
                  <a:srgbClr val="161613"/>
                </a:solidFill>
                <a:latin typeface="Leelawadee UI" panose="020B0502040204020203" pitchFamily="34" charset="-34"/>
                <a:ea typeface="DM Sans Medium" pitchFamily="34" charset="-122"/>
                <a:cs typeface="Leelawadee UI" panose="020B0502040204020203" pitchFamily="34" charset="-34"/>
              </a:rPr>
              <a:t> dalam </a:t>
            </a:r>
            <a:r>
              <a:rPr lang="en-US" sz="2200" dirty="0" err="1">
                <a:solidFill>
                  <a:srgbClr val="161613"/>
                </a:solidFill>
                <a:latin typeface="Leelawadee UI" panose="020B0502040204020203" pitchFamily="34" charset="-34"/>
                <a:ea typeface="DM Sans Medium" pitchFamily="34" charset="-122"/>
                <a:cs typeface="Leelawadee UI" panose="020B0502040204020203" pitchFamily="34" charset="-34"/>
              </a:rPr>
              <a:t>Advokasi</a:t>
            </a:r>
            <a:r>
              <a:rPr lang="en-US" sz="2200" dirty="0">
                <a:solidFill>
                  <a:srgbClr val="161613"/>
                </a:solidFill>
                <a:latin typeface="Leelawadee UI" panose="020B0502040204020203" pitchFamily="34" charset="-34"/>
                <a:ea typeface="DM Sans Medium" pitchFamily="34" charset="-122"/>
                <a:cs typeface="Leelawadee UI" panose="020B0502040204020203" pitchFamily="34" charset="-34"/>
              </a:rPr>
              <a:t> </a:t>
            </a:r>
            <a:r>
              <a:rPr lang="en-US" sz="2200" dirty="0" err="1">
                <a:solidFill>
                  <a:srgbClr val="161613"/>
                </a:solidFill>
                <a:latin typeface="Leelawadee UI" panose="020B0502040204020203" pitchFamily="34" charset="-34"/>
                <a:ea typeface="DM Sans Medium" pitchFamily="34" charset="-122"/>
                <a:cs typeface="Leelawadee UI" panose="020B0502040204020203" pitchFamily="34" charset="-34"/>
              </a:rPr>
              <a:t>Kebijakan</a:t>
            </a:r>
            <a:r>
              <a:rPr lang="en-US" sz="2200" dirty="0">
                <a:solidFill>
                  <a:srgbClr val="161613"/>
                </a:solidFill>
                <a:latin typeface="Leelawadee UI" panose="020B0502040204020203" pitchFamily="34" charset="-34"/>
                <a:ea typeface="DM Sans Medium" pitchFamily="34" charset="-122"/>
                <a:cs typeface="Leelawadee UI" panose="020B0502040204020203" pitchFamily="34" charset="-34"/>
              </a:rPr>
              <a:t> YNKI?</a:t>
            </a:r>
            <a:endParaRPr lang="en-US" sz="2200" dirty="0">
              <a:latin typeface="Leelawadee UI" panose="020B0502040204020203" pitchFamily="34" charset="-34"/>
              <a:cs typeface="Leelawadee UI" panose="020B0502040204020203" pitchFamily="34" charset="-34"/>
            </a:endParaRPr>
          </a:p>
        </p:txBody>
      </p:sp>
      <p:sp>
        <p:nvSpPr>
          <p:cNvPr id="156" name="Text 1">
            <a:extLst>
              <a:ext uri="{FF2B5EF4-FFF2-40B4-BE49-F238E27FC236}">
                <a16:creationId xmlns:a16="http://schemas.microsoft.com/office/drawing/2014/main" id="{CA9636AD-7CA6-A2E4-2C66-88E7AB254334}"/>
              </a:ext>
            </a:extLst>
          </p:cNvPr>
          <p:cNvSpPr/>
          <p:nvPr/>
        </p:nvSpPr>
        <p:spPr>
          <a:xfrm>
            <a:off x="426211" y="28638993"/>
            <a:ext cx="8151763" cy="758037"/>
          </a:xfrm>
          <a:prstGeom prst="rect">
            <a:avLst/>
          </a:prstGeom>
          <a:noFill/>
          <a:ln/>
        </p:spPr>
        <p:txBody>
          <a:bodyPr wrap="square" lIns="0" tIns="0" rIns="0" bIns="0" rtlCol="0" anchor="t">
            <a:normAutofit/>
          </a:bodyPr>
          <a:lstStyle/>
          <a:p>
            <a:pPr marL="0" indent="0" algn="l">
              <a:lnSpc>
                <a:spcPct val="127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YNKI terbuka untuk kolaborasi advokasi kebijakan dengan </a:t>
            </a:r>
            <a:r>
              <a:rPr lang="en-US" sz="1000" b="1" dirty="0">
                <a:solidFill>
                  <a:srgbClr val="161613"/>
                </a:solidFill>
                <a:latin typeface="Leelawadee UI" panose="020B0502040204020203" pitchFamily="34" charset="-34"/>
                <a:ea typeface="Inter" pitchFamily="34" charset="-122"/>
                <a:cs typeface="Leelawadee UI" panose="020B0502040204020203" pitchFamily="34" charset="-34"/>
              </a:rPr>
              <a:t>pemerintah daerah, lembaga penelitian, perguruan tinggi, dan organisasi masyarakat sipil</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yang memiliki kepedulian terhadap tata kelola lanskap berkelanjutan di Indonesia. Bersama, kita dapat memperkuat basis pengetahuan dan mendorong perubahan kebijakan yang sistemik dan berdampak nyata bagi masyarakat dan ekosistem.</a:t>
            </a:r>
            <a:endParaRPr lang="en-US" sz="1000" dirty="0">
              <a:latin typeface="Leelawadee UI" panose="020B0502040204020203" pitchFamily="34" charset="-34"/>
              <a:cs typeface="Leelawadee UI" panose="020B0502040204020203" pitchFamily="34" charset="-34"/>
            </a:endParaRPr>
          </a:p>
        </p:txBody>
      </p:sp>
      <p:sp>
        <p:nvSpPr>
          <p:cNvPr id="157" name="Shape 2">
            <a:extLst>
              <a:ext uri="{FF2B5EF4-FFF2-40B4-BE49-F238E27FC236}">
                <a16:creationId xmlns:a16="http://schemas.microsoft.com/office/drawing/2014/main" id="{2666D105-6AD2-552E-0DFB-3CAE169D9DFF}"/>
              </a:ext>
            </a:extLst>
          </p:cNvPr>
          <p:cNvSpPr/>
          <p:nvPr/>
        </p:nvSpPr>
        <p:spPr>
          <a:xfrm>
            <a:off x="426211" y="29374251"/>
            <a:ext cx="8151763" cy="582364"/>
          </a:xfrm>
          <a:prstGeom prst="roundRect">
            <a:avLst>
              <a:gd name="adj" fmla="val 2896"/>
            </a:avLst>
          </a:prstGeom>
          <a:solidFill>
            <a:srgbClr val="B6FCB8"/>
          </a:solidFill>
          <a:ln/>
        </p:spPr>
      </p:sp>
      <p:pic>
        <p:nvPicPr>
          <p:cNvPr id="158" name="Image 0" descr="preencoded.png">
            <a:extLst>
              <a:ext uri="{FF2B5EF4-FFF2-40B4-BE49-F238E27FC236}">
                <a16:creationId xmlns:a16="http://schemas.microsoft.com/office/drawing/2014/main" id="{CB247C73-CDB9-9ED4-8316-ABF140DA73F4}"/>
              </a:ext>
            </a:extLst>
          </p:cNvPr>
          <p:cNvPicPr>
            <a:picLocks noChangeAspect="1"/>
          </p:cNvPicPr>
          <p:nvPr/>
        </p:nvPicPr>
        <p:blipFill>
          <a:blip r:embed="rId32"/>
          <a:stretch>
            <a:fillRect/>
          </a:stretch>
        </p:blipFill>
        <p:spPr>
          <a:xfrm>
            <a:off x="538576" y="29530595"/>
            <a:ext cx="140494" cy="112365"/>
          </a:xfrm>
          <a:prstGeom prst="rect">
            <a:avLst/>
          </a:prstGeom>
        </p:spPr>
      </p:pic>
      <p:sp>
        <p:nvSpPr>
          <p:cNvPr id="159" name="Text 3">
            <a:extLst>
              <a:ext uri="{FF2B5EF4-FFF2-40B4-BE49-F238E27FC236}">
                <a16:creationId xmlns:a16="http://schemas.microsoft.com/office/drawing/2014/main" id="{A6A92396-4B12-0590-E50E-BF00248BEA40}"/>
              </a:ext>
            </a:extLst>
          </p:cNvPr>
          <p:cNvSpPr/>
          <p:nvPr/>
        </p:nvSpPr>
        <p:spPr>
          <a:xfrm>
            <a:off x="791435" y="29493984"/>
            <a:ext cx="7674173" cy="342900"/>
          </a:xfrm>
          <a:prstGeom prst="rect">
            <a:avLst/>
          </a:prstGeom>
          <a:noFill/>
          <a:ln/>
        </p:spPr>
        <p:txBody>
          <a:bodyPr wrap="square" lIns="0" tIns="0" rIns="0" bIns="0" rtlCol="0" anchor="t">
            <a:normAutofit lnSpcReduction="10000"/>
          </a:bodyPr>
          <a:lstStyle/>
          <a:p>
            <a:pPr marL="0" indent="0" algn="l">
              <a:lnSpc>
                <a:spcPct val="127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 </a:t>
            </a:r>
            <a:r>
              <a:rPr lang="en-US" sz="1000" b="1" dirty="0">
                <a:solidFill>
                  <a:srgbClr val="000000"/>
                </a:solidFill>
                <a:latin typeface="Leelawadee UI" panose="020B0502040204020203" pitchFamily="34" charset="-34"/>
                <a:ea typeface="Inter" pitchFamily="34" charset="-122"/>
                <a:cs typeface="Leelawadee UI" panose="020B0502040204020203" pitchFamily="34" charset="-34"/>
              </a:rPr>
              <a:t>Mari Berkolaborasi:</a:t>
            </a: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 Jika Anda memiliki data lapangan, ingin melakukan kajian bersama, atau membutuhkan dukungan teknis penyusunan kebijakan berbasis lanskap, kami siap berdiskusi.</a:t>
            </a:r>
            <a:endParaRPr lang="en-US" sz="1000" dirty="0">
              <a:latin typeface="Leelawadee UI" panose="020B0502040204020203" pitchFamily="34" charset="-34"/>
              <a:cs typeface="Leelawadee UI" panose="020B0502040204020203" pitchFamily="34" charset="-34"/>
            </a:endParaRPr>
          </a:p>
        </p:txBody>
      </p:sp>
      <p:pic>
        <p:nvPicPr>
          <p:cNvPr id="160" name="Image 1" descr="preencoded.png">
            <a:hlinkClick r:id="rId33"/>
            <a:extLst>
              <a:ext uri="{FF2B5EF4-FFF2-40B4-BE49-F238E27FC236}">
                <a16:creationId xmlns:a16="http://schemas.microsoft.com/office/drawing/2014/main" id="{8CD1F21D-A883-B228-6567-799DB6A9C21F}"/>
              </a:ext>
            </a:extLst>
          </p:cNvPr>
          <p:cNvPicPr>
            <a:picLocks noChangeAspect="1"/>
          </p:cNvPicPr>
          <p:nvPr/>
        </p:nvPicPr>
        <p:blipFill>
          <a:blip r:embed="rId34"/>
          <a:stretch>
            <a:fillRect/>
          </a:stretch>
        </p:blipFill>
        <p:spPr>
          <a:xfrm>
            <a:off x="426211" y="30071213"/>
            <a:ext cx="1752972" cy="309116"/>
          </a:xfrm>
          <a:prstGeom prst="rect">
            <a:avLst/>
          </a:prstGeom>
        </p:spPr>
      </p:pic>
      <p:pic>
        <p:nvPicPr>
          <p:cNvPr id="161" name="Image 2" descr="preencoded.png">
            <a:hlinkClick r:id="rId5"/>
            <a:extLst>
              <a:ext uri="{FF2B5EF4-FFF2-40B4-BE49-F238E27FC236}">
                <a16:creationId xmlns:a16="http://schemas.microsoft.com/office/drawing/2014/main" id="{716FB761-03E5-54D9-4887-81FF01275224}"/>
              </a:ext>
            </a:extLst>
          </p:cNvPr>
          <p:cNvPicPr>
            <a:picLocks noChangeAspect="1"/>
          </p:cNvPicPr>
          <p:nvPr/>
        </p:nvPicPr>
        <p:blipFill>
          <a:blip r:embed="rId35"/>
          <a:stretch>
            <a:fillRect/>
          </a:stretch>
        </p:blipFill>
        <p:spPr>
          <a:xfrm>
            <a:off x="2235365" y="30071213"/>
            <a:ext cx="1415058" cy="309116"/>
          </a:xfrm>
          <a:prstGeom prst="rect">
            <a:avLst/>
          </a:prstGeom>
        </p:spPr>
      </p:pic>
      <p:sp>
        <p:nvSpPr>
          <p:cNvPr id="162" name="Shape 4">
            <a:extLst>
              <a:ext uri="{FF2B5EF4-FFF2-40B4-BE49-F238E27FC236}">
                <a16:creationId xmlns:a16="http://schemas.microsoft.com/office/drawing/2014/main" id="{76837661-9B7A-9DCE-BBDA-16DC58BA1166}"/>
              </a:ext>
            </a:extLst>
          </p:cNvPr>
          <p:cNvSpPr/>
          <p:nvPr/>
        </p:nvSpPr>
        <p:spPr>
          <a:xfrm>
            <a:off x="426211" y="30522981"/>
            <a:ext cx="8151763" cy="13990"/>
          </a:xfrm>
          <a:prstGeom prst="roundRect">
            <a:avLst>
              <a:gd name="adj" fmla="val 120533"/>
            </a:avLst>
          </a:prstGeom>
          <a:solidFill>
            <a:srgbClr val="161613">
              <a:alpha val="50000"/>
            </a:srgbClr>
          </a:solidFill>
          <a:ln/>
        </p:spPr>
      </p:sp>
      <p:sp>
        <p:nvSpPr>
          <p:cNvPr id="163" name="Shape 5">
            <a:extLst>
              <a:ext uri="{FF2B5EF4-FFF2-40B4-BE49-F238E27FC236}">
                <a16:creationId xmlns:a16="http://schemas.microsoft.com/office/drawing/2014/main" id="{64247057-935A-90DC-2D03-5FDAB79518C2}"/>
              </a:ext>
            </a:extLst>
          </p:cNvPr>
          <p:cNvSpPr/>
          <p:nvPr/>
        </p:nvSpPr>
        <p:spPr>
          <a:xfrm>
            <a:off x="345248" y="30679623"/>
            <a:ext cx="2696021" cy="1683097"/>
          </a:xfrm>
          <a:prstGeom prst="roundRect">
            <a:avLst>
              <a:gd name="adj" fmla="val 1002"/>
            </a:avLst>
          </a:prstGeom>
          <a:solidFill>
            <a:srgbClr val="1B5E20"/>
          </a:solidFill>
          <a:ln/>
        </p:spPr>
      </p:sp>
      <p:sp>
        <p:nvSpPr>
          <p:cNvPr id="164" name="Text 6">
            <a:extLst>
              <a:ext uri="{FF2B5EF4-FFF2-40B4-BE49-F238E27FC236}">
                <a16:creationId xmlns:a16="http://schemas.microsoft.com/office/drawing/2014/main" id="{EB814856-5004-36F8-ABEF-B5F49955A4AF}"/>
              </a:ext>
            </a:extLst>
          </p:cNvPr>
          <p:cNvSpPr/>
          <p:nvPr/>
        </p:nvSpPr>
        <p:spPr>
          <a:xfrm>
            <a:off x="457613" y="30781496"/>
            <a:ext cx="2672655" cy="175617"/>
          </a:xfrm>
          <a:prstGeom prst="rect">
            <a:avLst/>
          </a:prstGeom>
          <a:noFill/>
          <a:ln/>
        </p:spPr>
        <p:txBody>
          <a:bodyPr wrap="none" lIns="0" tIns="0" rIns="0" bIns="0" rtlCol="0" anchor="t"/>
          <a:lstStyle/>
          <a:p>
            <a:pPr marL="0" indent="0" algn="l">
              <a:lnSpc>
                <a:spcPct val="104000"/>
              </a:lnSpc>
              <a:buNone/>
            </a:pPr>
            <a:r>
              <a:rPr lang="en-US" sz="1100" dirty="0">
                <a:solidFill>
                  <a:srgbClr val="FFFFFF"/>
                </a:solidFill>
                <a:latin typeface="Leelawadee UI" panose="020B0502040204020203" pitchFamily="34" charset="-34"/>
                <a:ea typeface="DM Sans Medium" pitchFamily="34" charset="-122"/>
                <a:cs typeface="Leelawadee UI" panose="020B0502040204020203" pitchFamily="34" charset="-34"/>
              </a:rPr>
              <a:t>Yayasan Natural Kapital Indonesia</a:t>
            </a:r>
            <a:endParaRPr lang="en-US" sz="1100" dirty="0">
              <a:latin typeface="Leelawadee UI" panose="020B0502040204020203" pitchFamily="34" charset="-34"/>
              <a:cs typeface="Leelawadee UI" panose="020B0502040204020203" pitchFamily="34" charset="-34"/>
            </a:endParaRPr>
          </a:p>
        </p:txBody>
      </p:sp>
      <p:sp>
        <p:nvSpPr>
          <p:cNvPr id="165" name="Text 7">
            <a:extLst>
              <a:ext uri="{FF2B5EF4-FFF2-40B4-BE49-F238E27FC236}">
                <a16:creationId xmlns:a16="http://schemas.microsoft.com/office/drawing/2014/main" id="{86DEDFB0-093E-8573-F5F5-C460BDE1B9CD}"/>
              </a:ext>
            </a:extLst>
          </p:cNvPr>
          <p:cNvSpPr/>
          <p:nvPr/>
        </p:nvSpPr>
        <p:spPr>
          <a:xfrm>
            <a:off x="457613" y="31058986"/>
            <a:ext cx="2471291" cy="1212056"/>
          </a:xfrm>
          <a:prstGeom prst="rect">
            <a:avLst/>
          </a:prstGeom>
          <a:noFill/>
          <a:ln/>
        </p:spPr>
        <p:txBody>
          <a:bodyPr wrap="square" lIns="0" tIns="0" rIns="0" bIns="0" rtlCol="0" anchor="t"/>
          <a:lstStyle/>
          <a:p>
            <a:pPr marL="0" indent="0" algn="l">
              <a:lnSpc>
                <a:spcPct val="127000"/>
              </a:lnSpc>
              <a:spcAft>
                <a:spcPts val="700"/>
              </a:spcAft>
              <a:buNone/>
            </a:pPr>
            <a:r>
              <a:rPr lang="en-US" sz="850" i="1" dirty="0">
                <a:solidFill>
                  <a:srgbClr val="FFFFFF"/>
                </a:solidFill>
                <a:latin typeface="Leelawadee UI" panose="020B0502040204020203" pitchFamily="34" charset="-34"/>
                <a:ea typeface="Inter" pitchFamily="34" charset="-122"/>
                <a:cs typeface="Leelawadee UI" panose="020B0502040204020203" pitchFamily="34" charset="-34"/>
              </a:rPr>
              <a:t>Nature for Life</a:t>
            </a:r>
            <a:endParaRPr lang="en-US" sz="850" dirty="0">
              <a:latin typeface="Leelawadee UI" panose="020B0502040204020203" pitchFamily="34" charset="-34"/>
              <a:cs typeface="Leelawadee UI" panose="020B0502040204020203" pitchFamily="34" charset="-34"/>
            </a:endParaRPr>
          </a:p>
          <a:p>
            <a:pPr marL="0" indent="0" algn="l">
              <a:lnSpc>
                <a:spcPct val="127000"/>
              </a:lnSpc>
              <a:buNone/>
            </a:pPr>
            <a:r>
              <a:rPr lang="en-US" sz="850" dirty="0">
                <a:solidFill>
                  <a:srgbClr val="FFFFFF"/>
                </a:solidFill>
                <a:latin typeface="Leelawadee UI" panose="020B0502040204020203" pitchFamily="34" charset="-34"/>
                <a:ea typeface="Inter" pitchFamily="34" charset="-122"/>
                <a:cs typeface="Leelawadee UI" panose="020B0502040204020203" pitchFamily="34" charset="-34"/>
              </a:rPr>
              <a:t>Jalan Karna Sosial, Pontianak</a:t>
            </a:r>
            <a:endParaRPr lang="en-US" sz="850" dirty="0">
              <a:latin typeface="Leelawadee UI" panose="020B0502040204020203" pitchFamily="34" charset="-34"/>
              <a:cs typeface="Leelawadee UI" panose="020B0502040204020203" pitchFamily="34" charset="-34"/>
            </a:endParaRPr>
          </a:p>
          <a:p>
            <a:pPr marL="0" indent="0" algn="l">
              <a:lnSpc>
                <a:spcPct val="127000"/>
              </a:lnSpc>
              <a:spcAft>
                <a:spcPts val="700"/>
              </a:spcAft>
              <a:buNone/>
            </a:pPr>
            <a:r>
              <a:rPr lang="en-US" sz="850" dirty="0">
                <a:solidFill>
                  <a:srgbClr val="FFFFFF"/>
                </a:solidFill>
                <a:latin typeface="Leelawadee UI" panose="020B0502040204020203" pitchFamily="34" charset="-34"/>
                <a:ea typeface="Inter" pitchFamily="34" charset="-122"/>
                <a:cs typeface="Leelawadee UI" panose="020B0502040204020203" pitchFamily="34" charset="-34"/>
              </a:rPr>
              <a:t>Kalimantan Barat 78121</a:t>
            </a:r>
            <a:endParaRPr lang="en-US" sz="850" dirty="0">
              <a:latin typeface="Leelawadee UI" panose="020B0502040204020203" pitchFamily="34" charset="-34"/>
              <a:cs typeface="Leelawadee UI" panose="020B0502040204020203" pitchFamily="34" charset="-34"/>
            </a:endParaRPr>
          </a:p>
          <a:p>
            <a:pPr marL="0" indent="0" algn="l">
              <a:lnSpc>
                <a:spcPct val="127000"/>
              </a:lnSpc>
              <a:buNone/>
            </a:pPr>
            <a:r>
              <a:rPr lang="en-US" sz="850" dirty="0">
                <a:solidFill>
                  <a:srgbClr val="FFFFFF"/>
                </a:solidFill>
                <a:latin typeface="Leelawadee UI" panose="020B0502040204020203" pitchFamily="34" charset="-34"/>
                <a:ea typeface="Inter" pitchFamily="34" charset="-122"/>
                <a:cs typeface="Leelawadee UI" panose="020B0502040204020203" pitchFamily="34" charset="-34"/>
              </a:rPr>
              <a:t>Strengthening Inclusive and Collaborative Landscape Governance for Healthy Landscapes and Thriving Communities.</a:t>
            </a:r>
            <a:endParaRPr lang="en-US" sz="850" dirty="0">
              <a:latin typeface="Leelawadee UI" panose="020B0502040204020203" pitchFamily="34" charset="-34"/>
              <a:cs typeface="Leelawadee UI" panose="020B0502040204020203" pitchFamily="34" charset="-34"/>
            </a:endParaRPr>
          </a:p>
        </p:txBody>
      </p:sp>
      <p:sp>
        <p:nvSpPr>
          <p:cNvPr id="166" name="Text 8">
            <a:extLst>
              <a:ext uri="{FF2B5EF4-FFF2-40B4-BE49-F238E27FC236}">
                <a16:creationId xmlns:a16="http://schemas.microsoft.com/office/drawing/2014/main" id="{B9DE9CD2-9AE0-87B2-B520-926017194D66}"/>
              </a:ext>
            </a:extLst>
          </p:cNvPr>
          <p:cNvSpPr/>
          <p:nvPr/>
        </p:nvSpPr>
        <p:spPr>
          <a:xfrm>
            <a:off x="3239360" y="30781496"/>
            <a:ext cx="1862361" cy="175617"/>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Tautan Cepat</a:t>
            </a:r>
            <a:endParaRPr lang="en-US" sz="1100" dirty="0">
              <a:latin typeface="Leelawadee UI" panose="020B0502040204020203" pitchFamily="34" charset="-34"/>
              <a:cs typeface="Leelawadee UI" panose="020B0502040204020203" pitchFamily="34" charset="-34"/>
            </a:endParaRPr>
          </a:p>
        </p:txBody>
      </p:sp>
      <p:sp>
        <p:nvSpPr>
          <p:cNvPr id="167" name="Text 9">
            <a:extLst>
              <a:ext uri="{FF2B5EF4-FFF2-40B4-BE49-F238E27FC236}">
                <a16:creationId xmlns:a16="http://schemas.microsoft.com/office/drawing/2014/main" id="{2A22AEAD-7585-B7BB-4321-CD7C58763DC3}"/>
              </a:ext>
            </a:extLst>
          </p:cNvPr>
          <p:cNvSpPr/>
          <p:nvPr/>
        </p:nvSpPr>
        <p:spPr>
          <a:xfrm>
            <a:off x="3239360" y="31058986"/>
            <a:ext cx="2534096" cy="792733"/>
          </a:xfrm>
          <a:prstGeom prst="rect">
            <a:avLst/>
          </a:prstGeom>
          <a:noFill/>
          <a:ln/>
        </p:spPr>
        <p:txBody>
          <a:bodyPr wrap="square" lIns="0" tIns="0" rIns="0" bIns="0" rtlCol="0" anchor="t">
            <a:normAutofit/>
          </a:bodyPr>
          <a:lstStyle/>
          <a:p>
            <a:pPr marL="342900" indent="-342900" algn="l">
              <a:lnSpc>
                <a:spcPct val="127000"/>
              </a:lnSpc>
              <a:buSzPct val="100000"/>
              <a:buChar char="•"/>
            </a:pPr>
            <a:r>
              <a:rPr lang="en-US" sz="850" dirty="0">
                <a:solidFill>
                  <a:srgbClr val="161613"/>
                </a:solidFill>
                <a:latin typeface="Leelawadee UI" panose="020B0502040204020203" pitchFamily="34" charset="-34"/>
                <a:ea typeface="Inter" pitchFamily="34" charset="-122"/>
                <a:cs typeface="Leelawadee UI" panose="020B0502040204020203" pitchFamily="34" charset="-34"/>
              </a:rPr>
              <a:t>Tentang Kami</a:t>
            </a:r>
            <a:endParaRPr lang="en-US" sz="850" dirty="0">
              <a:latin typeface="Leelawadee UI" panose="020B0502040204020203" pitchFamily="34" charset="-34"/>
              <a:cs typeface="Leelawadee UI" panose="020B0502040204020203" pitchFamily="34" charset="-34"/>
            </a:endParaRPr>
          </a:p>
          <a:p>
            <a:pPr marL="342900" indent="-342900" algn="l">
              <a:lnSpc>
                <a:spcPct val="127000"/>
              </a:lnSpc>
              <a:buSzPct val="100000"/>
              <a:buChar char="•"/>
            </a:pPr>
            <a:r>
              <a:rPr lang="en-US" sz="850" dirty="0">
                <a:solidFill>
                  <a:srgbClr val="161613"/>
                </a:solidFill>
                <a:latin typeface="Leelawadee UI" panose="020B0502040204020203" pitchFamily="34" charset="-34"/>
                <a:ea typeface="Inter" pitchFamily="34" charset="-122"/>
                <a:cs typeface="Leelawadee UI" panose="020B0502040204020203" pitchFamily="34" charset="-34"/>
              </a:rPr>
              <a:t>Program Kami</a:t>
            </a:r>
            <a:endParaRPr lang="en-US" sz="850" dirty="0">
              <a:latin typeface="Leelawadee UI" panose="020B0502040204020203" pitchFamily="34" charset="-34"/>
              <a:cs typeface="Leelawadee UI" panose="020B0502040204020203" pitchFamily="34" charset="-34"/>
            </a:endParaRPr>
          </a:p>
          <a:p>
            <a:pPr marL="342900" indent="-342900" algn="l">
              <a:lnSpc>
                <a:spcPct val="127000"/>
              </a:lnSpc>
              <a:buSzPct val="100000"/>
              <a:buChar char="•"/>
            </a:pPr>
            <a:r>
              <a:rPr lang="en-US" sz="850" dirty="0">
                <a:solidFill>
                  <a:srgbClr val="161613"/>
                </a:solidFill>
                <a:latin typeface="Leelawadee UI" panose="020B0502040204020203" pitchFamily="34" charset="-34"/>
                <a:ea typeface="Inter" pitchFamily="34" charset="-122"/>
                <a:cs typeface="Leelawadee UI" panose="020B0502040204020203" pitchFamily="34" charset="-34"/>
              </a:rPr>
              <a:t>Ikut Serta</a:t>
            </a:r>
            <a:endParaRPr lang="en-US" sz="850" dirty="0">
              <a:latin typeface="Leelawadee UI" panose="020B0502040204020203" pitchFamily="34" charset="-34"/>
              <a:cs typeface="Leelawadee UI" panose="020B0502040204020203" pitchFamily="34" charset="-34"/>
            </a:endParaRPr>
          </a:p>
          <a:p>
            <a:pPr marL="342900" indent="-342900" algn="l">
              <a:lnSpc>
                <a:spcPct val="127000"/>
              </a:lnSpc>
              <a:buSzPct val="100000"/>
              <a:buChar char="•"/>
            </a:pPr>
            <a:r>
              <a:rPr lang="en-US" sz="850" dirty="0">
                <a:solidFill>
                  <a:srgbClr val="161613"/>
                </a:solidFill>
                <a:latin typeface="Leelawadee UI" panose="020B0502040204020203" pitchFamily="34" charset="-34"/>
                <a:ea typeface="Inter" pitchFamily="34" charset="-122"/>
                <a:cs typeface="Leelawadee UI" panose="020B0502040204020203" pitchFamily="34" charset="-34"/>
              </a:rPr>
              <a:t>Pustaka &amp; Pengetahuan</a:t>
            </a:r>
            <a:endParaRPr lang="en-US" sz="850" dirty="0">
              <a:latin typeface="Leelawadee UI" panose="020B0502040204020203" pitchFamily="34" charset="-34"/>
              <a:cs typeface="Leelawadee UI" panose="020B0502040204020203" pitchFamily="34" charset="-34"/>
            </a:endParaRPr>
          </a:p>
        </p:txBody>
      </p:sp>
      <p:sp>
        <p:nvSpPr>
          <p:cNvPr id="168" name="Text 10">
            <a:extLst>
              <a:ext uri="{FF2B5EF4-FFF2-40B4-BE49-F238E27FC236}">
                <a16:creationId xmlns:a16="http://schemas.microsoft.com/office/drawing/2014/main" id="{DC79EB4E-4F10-D7F7-FB98-E4BC69F96D20}"/>
              </a:ext>
            </a:extLst>
          </p:cNvPr>
          <p:cNvSpPr/>
          <p:nvPr/>
        </p:nvSpPr>
        <p:spPr>
          <a:xfrm>
            <a:off x="6052509" y="30781496"/>
            <a:ext cx="1862361" cy="175617"/>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Kontak</a:t>
            </a:r>
            <a:endParaRPr lang="en-US" sz="1100" dirty="0">
              <a:latin typeface="Leelawadee UI" panose="020B0502040204020203" pitchFamily="34" charset="-34"/>
              <a:cs typeface="Leelawadee UI" panose="020B0502040204020203" pitchFamily="34" charset="-34"/>
            </a:endParaRPr>
          </a:p>
        </p:txBody>
      </p:sp>
      <p:sp>
        <p:nvSpPr>
          <p:cNvPr id="169" name="Text 11">
            <a:extLst>
              <a:ext uri="{FF2B5EF4-FFF2-40B4-BE49-F238E27FC236}">
                <a16:creationId xmlns:a16="http://schemas.microsoft.com/office/drawing/2014/main" id="{141CB9A8-6996-1E7F-6E65-7FF8831892D8}"/>
              </a:ext>
            </a:extLst>
          </p:cNvPr>
          <p:cNvSpPr/>
          <p:nvPr/>
        </p:nvSpPr>
        <p:spPr>
          <a:xfrm>
            <a:off x="6052509" y="31058986"/>
            <a:ext cx="2534096" cy="434578"/>
          </a:xfrm>
          <a:prstGeom prst="rect">
            <a:avLst/>
          </a:prstGeom>
          <a:noFill/>
          <a:ln/>
        </p:spPr>
        <p:txBody>
          <a:bodyPr wrap="square" lIns="0" tIns="0" rIns="0" bIns="0" rtlCol="0" anchor="t"/>
          <a:lstStyle/>
          <a:p>
            <a:pPr marL="0" indent="0" algn="l">
              <a:lnSpc>
                <a:spcPct val="127000"/>
              </a:lnSpc>
              <a:buNone/>
            </a:pPr>
            <a:r>
              <a:rPr lang="en-US" sz="8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850" dirty="0">
                <a:solidFill>
                  <a:srgbClr val="161613"/>
                </a:solidFill>
                <a:latin typeface="Leelawadee UI" panose="020B0502040204020203" pitchFamily="34" charset="-34"/>
                <a:ea typeface="Inter" pitchFamily="34" charset="-122"/>
                <a:cs typeface="Leelawadee UI" panose="020B0502040204020203" pitchFamily="34" charset="-34"/>
              </a:rPr>
              <a:t> info@naturalkapital.or.id</a:t>
            </a:r>
            <a:endParaRPr lang="en-US" sz="850" dirty="0">
              <a:latin typeface="Leelawadee UI" panose="020B0502040204020203" pitchFamily="34" charset="-34"/>
              <a:cs typeface="Leelawadee UI" panose="020B0502040204020203" pitchFamily="34" charset="-34"/>
            </a:endParaRPr>
          </a:p>
          <a:p>
            <a:pPr marL="0" indent="0" algn="l">
              <a:lnSpc>
                <a:spcPct val="127000"/>
              </a:lnSpc>
              <a:buNone/>
            </a:pPr>
            <a:r>
              <a:rPr lang="en-US" sz="8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850" dirty="0">
                <a:solidFill>
                  <a:srgbClr val="161613"/>
                </a:solidFill>
                <a:latin typeface="Leelawadee UI" panose="020B0502040204020203" pitchFamily="34" charset="-34"/>
                <a:ea typeface="Inter" pitchFamily="34" charset="-122"/>
                <a:cs typeface="Leelawadee UI" panose="020B0502040204020203" pitchFamily="34" charset="-34"/>
              </a:rPr>
              <a:t> (placeholder)</a:t>
            </a:r>
            <a:endParaRPr lang="en-US" sz="850" dirty="0">
              <a:latin typeface="Leelawadee UI" panose="020B0502040204020203" pitchFamily="34" charset="-34"/>
              <a:cs typeface="Leelawadee UI" panose="020B0502040204020203" pitchFamily="34" charset="-34"/>
            </a:endParaRPr>
          </a:p>
        </p:txBody>
      </p:sp>
      <p:sp>
        <p:nvSpPr>
          <p:cNvPr id="170" name="Text 12">
            <a:extLst>
              <a:ext uri="{FF2B5EF4-FFF2-40B4-BE49-F238E27FC236}">
                <a16:creationId xmlns:a16="http://schemas.microsoft.com/office/drawing/2014/main" id="{DDD1F22D-82F7-E16F-05C8-FDDB4B6BE8E5}"/>
              </a:ext>
            </a:extLst>
          </p:cNvPr>
          <p:cNvSpPr/>
          <p:nvPr/>
        </p:nvSpPr>
        <p:spPr>
          <a:xfrm>
            <a:off x="6052509" y="31595437"/>
            <a:ext cx="1862361" cy="175617"/>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Ikuti Kami</a:t>
            </a:r>
            <a:endParaRPr lang="en-US" sz="1100" dirty="0">
              <a:latin typeface="Leelawadee UI" panose="020B0502040204020203" pitchFamily="34" charset="-34"/>
              <a:cs typeface="Leelawadee UI" panose="020B0502040204020203" pitchFamily="34" charset="-34"/>
            </a:endParaRPr>
          </a:p>
        </p:txBody>
      </p:sp>
      <p:sp>
        <p:nvSpPr>
          <p:cNvPr id="171" name="Text 14">
            <a:extLst>
              <a:ext uri="{FF2B5EF4-FFF2-40B4-BE49-F238E27FC236}">
                <a16:creationId xmlns:a16="http://schemas.microsoft.com/office/drawing/2014/main" id="{29FBF148-07E3-84B7-22D3-1FFEFBC41AA7}"/>
              </a:ext>
            </a:extLst>
          </p:cNvPr>
          <p:cNvSpPr/>
          <p:nvPr/>
        </p:nvSpPr>
        <p:spPr>
          <a:xfrm>
            <a:off x="294501" y="31962018"/>
            <a:ext cx="8608963" cy="137145"/>
          </a:xfrm>
          <a:prstGeom prst="rect">
            <a:avLst/>
          </a:prstGeom>
          <a:noFill/>
          <a:ln/>
        </p:spPr>
        <p:txBody>
          <a:bodyPr wrap="none" lIns="0" tIns="0" rIns="0" bIns="0" rtlCol="0" anchor="t"/>
          <a:lstStyle/>
          <a:p>
            <a:pPr marL="0" indent="0" algn="ctr">
              <a:lnSpc>
                <a:spcPct val="127000"/>
              </a:lnSpc>
              <a:buNone/>
            </a:pPr>
            <a:r>
              <a:rPr lang="en-US" sz="7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700" dirty="0">
                <a:solidFill>
                  <a:srgbClr val="161613"/>
                </a:solidFill>
                <a:latin typeface="Leelawadee UI" panose="020B0502040204020203" pitchFamily="34" charset="-34"/>
                <a:ea typeface="Inter" pitchFamily="34" charset="-122"/>
                <a:cs typeface="Leelawadee UI" panose="020B0502040204020203" pitchFamily="34" charset="-34"/>
              </a:rPr>
              <a:t> 2026 Yayasan Natural Kapital Indonesia · </a:t>
            </a:r>
            <a:r>
              <a:rPr lang="en-US" sz="7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Kebijakan Privasi</a:t>
            </a:r>
            <a:endParaRPr lang="en-US" sz="700" dirty="0">
              <a:latin typeface="Leelawadee UI" panose="020B0502040204020203" pitchFamily="34" charset="-34"/>
              <a:cs typeface="Leelawadee UI" panose="020B0502040204020203" pitchFamily="34" charset="-34"/>
            </a:endParaRPr>
          </a:p>
        </p:txBody>
      </p:sp>
    </p:spTree>
    <p:extLst>
      <p:ext uri="{BB962C8B-B14F-4D97-AF65-F5344CB8AC3E}">
        <p14:creationId xmlns:p14="http://schemas.microsoft.com/office/powerpoint/2010/main" val="191655596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109</TotalTime>
  <Words>1042</Words>
  <Application>Microsoft Office PowerPoint</Application>
  <PresentationFormat>Custom</PresentationFormat>
  <Paragraphs>102</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Leelawadee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haryono sadikin</dc:creator>
  <cp:lastModifiedBy>haryono sadikin</cp:lastModifiedBy>
  <cp:revision>2</cp:revision>
  <dcterms:created xsi:type="dcterms:W3CDTF">2026-06-22T13:38:53Z</dcterms:created>
  <dcterms:modified xsi:type="dcterms:W3CDTF">2026-06-22T16:41:36Z</dcterms:modified>
</cp:coreProperties>
</file>