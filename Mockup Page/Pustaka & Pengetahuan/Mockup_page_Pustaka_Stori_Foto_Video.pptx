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432006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45" autoAdjust="0"/>
    <p:restoredTop sz="94660"/>
  </p:normalViewPr>
  <p:slideViewPr>
    <p:cSldViewPr snapToGrid="0">
      <p:cViewPr>
        <p:scale>
          <a:sx n="50" d="100"/>
          <a:sy n="50" d="100"/>
        </p:scale>
        <p:origin x="738"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7070108"/>
            <a:ext cx="7649607" cy="1504022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22690338"/>
            <a:ext cx="6749654" cy="1043015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BD361E-DE98-4F75-A81C-0922BBCAA92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31301460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D361E-DE98-4F75-A81C-0922BBCAA92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3767754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10770172"/>
            <a:ext cx="7762102" cy="17970262"/>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8910440"/>
            <a:ext cx="7762102" cy="9450136"/>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BD361E-DE98-4F75-A81C-0922BBCAA92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803570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11500170"/>
            <a:ext cx="3824804" cy="27410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BD361E-DE98-4F75-A81C-0922BBCAA92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3275465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2300044"/>
            <a:ext cx="7762102" cy="8350126"/>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10590160"/>
            <a:ext cx="380722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5780233"/>
            <a:ext cx="380722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10590160"/>
            <a:ext cx="3825976" cy="5190073"/>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5780233"/>
            <a:ext cx="3825976" cy="23210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BD361E-DE98-4F75-A81C-0922BBCAA922}"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29160896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BD361E-DE98-4F75-A81C-0922BBCAA922}"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13552920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BD361E-DE98-4F75-A81C-0922BBCAA922}"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22945097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6220102"/>
            <a:ext cx="4556016" cy="30700453"/>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B8BD361E-DE98-4F75-A81C-0922BBCAA92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30602035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880042"/>
            <a:ext cx="2902585" cy="1008014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6220102"/>
            <a:ext cx="4556016" cy="30700453"/>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2960191"/>
            <a:ext cx="2902585" cy="24010358"/>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B8BD361E-DE98-4F75-A81C-0922BBCAA922}"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3687147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D361E-DE98-4F75-A81C-0922BBCAA92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17216434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2300034"/>
            <a:ext cx="1940525" cy="366105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2300034"/>
            <a:ext cx="5709082" cy="366105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BD361E-DE98-4F75-A81C-0922BBCAA922}"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7D43DF41-BFDD-4FF7-BCD1-5724C07B69E3}" type="slidenum">
              <a:rPr lang="en-ID" smtClean="0"/>
              <a:t>‹#›</a:t>
            </a:fld>
            <a:endParaRPr lang="en-ID"/>
          </a:p>
        </p:txBody>
      </p:sp>
    </p:spTree>
    <p:extLst>
      <p:ext uri="{BB962C8B-B14F-4D97-AF65-F5344CB8AC3E}">
        <p14:creationId xmlns:p14="http://schemas.microsoft.com/office/powerpoint/2010/main" val="1930146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2300044"/>
            <a:ext cx="7762102" cy="835012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11500170"/>
            <a:ext cx="7762102" cy="2741040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40040601"/>
            <a:ext cx="2024896" cy="2300034"/>
          </a:xfrm>
          <a:prstGeom prst="rect">
            <a:avLst/>
          </a:prstGeom>
        </p:spPr>
        <p:txBody>
          <a:bodyPr vert="horz" lIns="91440" tIns="45720" rIns="91440" bIns="45720" rtlCol="0" anchor="ctr"/>
          <a:lstStyle>
            <a:lvl1pPr algn="l">
              <a:defRPr sz="1181">
                <a:solidFill>
                  <a:schemeClr val="tx1">
                    <a:tint val="75000"/>
                  </a:schemeClr>
                </a:solidFill>
              </a:defRPr>
            </a:lvl1pPr>
          </a:lstStyle>
          <a:p>
            <a:fld id="{B8BD361E-DE98-4F75-A81C-0922BBCAA922}" type="datetimeFigureOut">
              <a:rPr lang="en-ID" smtClean="0"/>
              <a:t>22/06/2026</a:t>
            </a:fld>
            <a:endParaRPr lang="en-ID"/>
          </a:p>
        </p:txBody>
      </p:sp>
      <p:sp>
        <p:nvSpPr>
          <p:cNvPr id="5" name="Footer Placeholder 4"/>
          <p:cNvSpPr>
            <a:spLocks noGrp="1"/>
          </p:cNvSpPr>
          <p:nvPr>
            <p:ph type="ftr" sz="quarter" idx="3"/>
          </p:nvPr>
        </p:nvSpPr>
        <p:spPr>
          <a:xfrm>
            <a:off x="2981097" y="40040601"/>
            <a:ext cx="3037344" cy="2300034"/>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40040601"/>
            <a:ext cx="2024896" cy="2300034"/>
          </a:xfrm>
          <a:prstGeom prst="rect">
            <a:avLst/>
          </a:prstGeom>
        </p:spPr>
        <p:txBody>
          <a:bodyPr vert="horz" lIns="91440" tIns="45720" rIns="91440" bIns="45720" rtlCol="0" anchor="ctr"/>
          <a:lstStyle>
            <a:lvl1pPr algn="r">
              <a:defRPr sz="1181">
                <a:solidFill>
                  <a:schemeClr val="tx1">
                    <a:tint val="75000"/>
                  </a:schemeClr>
                </a:solidFill>
              </a:defRPr>
            </a:lvl1pPr>
          </a:lstStyle>
          <a:p>
            <a:fld id="{7D43DF41-BFDD-4FF7-BCD1-5724C07B69E3}" type="slidenum">
              <a:rPr lang="en-ID" smtClean="0"/>
              <a:t>‹#›</a:t>
            </a:fld>
            <a:endParaRPr lang="en-ID"/>
          </a:p>
        </p:txBody>
      </p:sp>
    </p:spTree>
    <p:extLst>
      <p:ext uri="{BB962C8B-B14F-4D97-AF65-F5344CB8AC3E}">
        <p14:creationId xmlns:p14="http://schemas.microsoft.com/office/powerpoint/2010/main" val="1145054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galeri"/><Relationship Id="rId21" Type="http://schemas.openxmlformats.org/officeDocument/2006/relationships/image" Target="../media/image18.png"/><Relationship Id="rId7" Type="http://schemas.openxmlformats.org/officeDocument/2006/relationships/image" Target="../media/image4.png"/><Relationship Id="rId12" Type="http://schemas.openxmlformats.org/officeDocument/2006/relationships/image" Target="../media/image9.png"/><Relationship Id="rId17"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3.png"/><Relationship Id="rId20"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24" Type="http://schemas.openxmlformats.org/officeDocument/2006/relationships/image" Target="../media/image21.png"/><Relationship Id="rId5" Type="http://schemas.openxmlformats.org/officeDocument/2006/relationships/hyperlink" Target="https://id.linkedin.com/company/natural-kapital-foundation" TargetMode="External"/><Relationship Id="rId15" Type="http://schemas.openxmlformats.org/officeDocument/2006/relationships/image" Target="../media/image12.png"/><Relationship Id="rId23" Type="http://schemas.openxmlformats.org/officeDocument/2006/relationships/image" Target="../media/image20.png"/><Relationship Id="rId10" Type="http://schemas.openxmlformats.org/officeDocument/2006/relationships/image" Target="../media/image7.png"/><Relationship Id="rId19" Type="http://schemas.openxmlformats.org/officeDocument/2006/relationships/image" Target="../media/image16.svg"/><Relationship Id="rId4" Type="http://schemas.openxmlformats.org/officeDocument/2006/relationships/image" Target="../media/image2.png"/><Relationship Id="rId9" Type="http://schemas.openxmlformats.org/officeDocument/2006/relationships/image" Target="../media/image6.png"/><Relationship Id="rId14" Type="http://schemas.openxmlformats.org/officeDocument/2006/relationships/image" Target="../media/image11.png"/><Relationship Id="rId2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731AE4F6-5058-1627-84CD-8D46FFE29DB0}"/>
              </a:ext>
            </a:extLst>
          </p:cNvPr>
          <p:cNvPicPr>
            <a:picLocks noChangeAspect="1"/>
          </p:cNvPicPr>
          <p:nvPr/>
        </p:nvPicPr>
        <p:blipFill>
          <a:blip r:embed="rId2"/>
          <a:stretch>
            <a:fillRect/>
          </a:stretch>
        </p:blipFill>
        <p:spPr>
          <a:xfrm>
            <a:off x="6212797" y="0"/>
            <a:ext cx="2737891" cy="4106837"/>
          </a:xfrm>
          <a:prstGeom prst="rect">
            <a:avLst/>
          </a:prstGeom>
        </p:spPr>
      </p:pic>
      <p:sp>
        <p:nvSpPr>
          <p:cNvPr id="5" name="Text 0">
            <a:extLst>
              <a:ext uri="{FF2B5EF4-FFF2-40B4-BE49-F238E27FC236}">
                <a16:creationId xmlns:a16="http://schemas.microsoft.com/office/drawing/2014/main" id="{8F1928F4-F12B-B7EB-C0C7-B16940E6DE5F}"/>
              </a:ext>
            </a:extLst>
          </p:cNvPr>
          <p:cNvSpPr/>
          <p:nvPr/>
        </p:nvSpPr>
        <p:spPr>
          <a:xfrm>
            <a:off x="523650" y="771283"/>
            <a:ext cx="4442520" cy="193849"/>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Beranda / Pustaka &amp; Pengetahuan / Foto Story &amp; Video</a:t>
            </a:r>
            <a:endParaRPr lang="en-US" sz="1200" dirty="0">
              <a:latin typeface="Leelawadee UI" panose="020B0502040204020203" pitchFamily="34" charset="-34"/>
              <a:cs typeface="Leelawadee UI" panose="020B0502040204020203" pitchFamily="34" charset="-34"/>
            </a:endParaRPr>
          </a:p>
        </p:txBody>
      </p:sp>
      <p:sp>
        <p:nvSpPr>
          <p:cNvPr id="6" name="Text 1">
            <a:extLst>
              <a:ext uri="{FF2B5EF4-FFF2-40B4-BE49-F238E27FC236}">
                <a16:creationId xmlns:a16="http://schemas.microsoft.com/office/drawing/2014/main" id="{102455E4-4362-FD8F-8524-5514EFD7B067}"/>
              </a:ext>
            </a:extLst>
          </p:cNvPr>
          <p:cNvSpPr/>
          <p:nvPr/>
        </p:nvSpPr>
        <p:spPr>
          <a:xfrm>
            <a:off x="496119" y="1377181"/>
            <a:ext cx="4722763" cy="775097"/>
          </a:xfrm>
          <a:prstGeom prst="rect">
            <a:avLst/>
          </a:prstGeom>
          <a:noFill/>
          <a:ln/>
        </p:spPr>
        <p:txBody>
          <a:bodyPr wrap="square" lIns="0" tIns="0" rIns="0" bIns="0" rtlCol="0" anchor="t">
            <a:normAutofit/>
          </a:bodyPr>
          <a:lstStyle/>
          <a:p>
            <a:pPr marL="0" indent="0">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Foto Story &amp; Video: Momen Perubahan dalam Bingkai Visual</a:t>
            </a:r>
            <a:endParaRPr lang="en-US" sz="240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D1E014EB-3036-E635-D6F9-FDA4C270D2F3}"/>
              </a:ext>
            </a:extLst>
          </p:cNvPr>
          <p:cNvSpPr/>
          <p:nvPr/>
        </p:nvSpPr>
        <p:spPr>
          <a:xfrm>
            <a:off x="496119" y="2205375"/>
            <a:ext cx="4722763" cy="1190774"/>
          </a:xfrm>
          <a:prstGeom prst="rect">
            <a:avLst/>
          </a:prstGeom>
          <a:noFill/>
          <a:ln/>
        </p:spPr>
        <p:txBody>
          <a:bodyPr wrap="square" lIns="0" tIns="0" rIns="0" bIns="0" rtlCol="0" anchor="t">
            <a:normAutofit lnSpcReduction="10000"/>
          </a:bodyPr>
          <a:lstStyle/>
          <a:p>
            <a:pPr marL="0" indent="0">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Setiap gambar dan video adalah cerita tentang perubahan nyata di lapangan. Temukan dokumentasi visual perjalanan YNKI dalam memperkuat tata kelola lanskap yang inklusif dan kolaboratif—dari restorasi gambut hingga pemberdayaan masyarakat, dari Youth Camp hingga kolaborasi bersama mitra strategis. Ikuti juga kisah visual kami melalui media sosial resmi YNKI di LinkedIn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Natural Kapital Foundation</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t>
            </a:r>
            <a:endParaRPr lang="en-US" sz="1000" dirty="0">
              <a:latin typeface="Leelawadee UI" panose="020B0502040204020203" pitchFamily="34" charset="-34"/>
              <a:cs typeface="Leelawadee UI" panose="020B0502040204020203" pitchFamily="34" charset="-34"/>
            </a:endParaRPr>
          </a:p>
        </p:txBody>
      </p:sp>
      <p:pic>
        <p:nvPicPr>
          <p:cNvPr id="8" name="Image 1" descr="preencoded.png">
            <a:hlinkClick r:id="rId3"/>
            <a:extLst>
              <a:ext uri="{FF2B5EF4-FFF2-40B4-BE49-F238E27FC236}">
                <a16:creationId xmlns:a16="http://schemas.microsoft.com/office/drawing/2014/main" id="{3F82BBAF-9C3A-AD36-26C3-422AA66C6D60}"/>
              </a:ext>
            </a:extLst>
          </p:cNvPr>
          <p:cNvPicPr>
            <a:picLocks noChangeAspect="1"/>
          </p:cNvPicPr>
          <p:nvPr/>
        </p:nvPicPr>
        <p:blipFill>
          <a:blip r:embed="rId4"/>
          <a:stretch>
            <a:fillRect/>
          </a:stretch>
        </p:blipFill>
        <p:spPr>
          <a:xfrm>
            <a:off x="496119" y="3459807"/>
            <a:ext cx="1446312" cy="341114"/>
          </a:xfrm>
          <a:prstGeom prst="rect">
            <a:avLst/>
          </a:prstGeom>
        </p:spPr>
      </p:pic>
      <p:pic>
        <p:nvPicPr>
          <p:cNvPr id="9" name="Image 2" descr="preencoded.png">
            <a:hlinkClick r:id="rId5"/>
            <a:extLst>
              <a:ext uri="{FF2B5EF4-FFF2-40B4-BE49-F238E27FC236}">
                <a16:creationId xmlns:a16="http://schemas.microsoft.com/office/drawing/2014/main" id="{7D7E2AE9-8EFE-61DC-A23B-6C1FE23ACC94}"/>
              </a:ext>
            </a:extLst>
          </p:cNvPr>
          <p:cNvPicPr>
            <a:picLocks noChangeAspect="1"/>
          </p:cNvPicPr>
          <p:nvPr/>
        </p:nvPicPr>
        <p:blipFill>
          <a:blip r:embed="rId6"/>
          <a:stretch>
            <a:fillRect/>
          </a:stretch>
        </p:blipFill>
        <p:spPr>
          <a:xfrm>
            <a:off x="2004417" y="3459807"/>
            <a:ext cx="1296442" cy="341114"/>
          </a:xfrm>
          <a:prstGeom prst="rect">
            <a:avLst/>
          </a:prstGeom>
        </p:spPr>
      </p:pic>
      <p:sp>
        <p:nvSpPr>
          <p:cNvPr id="10" name="Text 0">
            <a:extLst>
              <a:ext uri="{FF2B5EF4-FFF2-40B4-BE49-F238E27FC236}">
                <a16:creationId xmlns:a16="http://schemas.microsoft.com/office/drawing/2014/main" id="{EB65D12E-2EBD-D0FD-C2EF-92933CC87D2F}"/>
              </a:ext>
            </a:extLst>
          </p:cNvPr>
          <p:cNvSpPr/>
          <p:nvPr/>
        </p:nvSpPr>
        <p:spPr>
          <a:xfrm>
            <a:off x="481689" y="4354471"/>
            <a:ext cx="1959322" cy="187747"/>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Koleksi Visual YNKI</a:t>
            </a:r>
            <a:endParaRPr lang="en-US" sz="1200" dirty="0">
              <a:latin typeface="Leelawadee UI" panose="020B0502040204020203" pitchFamily="34" charset="-34"/>
              <a:cs typeface="Leelawadee UI" panose="020B0502040204020203" pitchFamily="34" charset="-34"/>
            </a:endParaRPr>
          </a:p>
        </p:txBody>
      </p:sp>
      <p:sp>
        <p:nvSpPr>
          <p:cNvPr id="11" name="Text 1">
            <a:extLst>
              <a:ext uri="{FF2B5EF4-FFF2-40B4-BE49-F238E27FC236}">
                <a16:creationId xmlns:a16="http://schemas.microsoft.com/office/drawing/2014/main" id="{76B6C7FA-EDEC-EA94-F11E-ECE292B881D8}"/>
              </a:ext>
            </a:extLst>
          </p:cNvPr>
          <p:cNvSpPr/>
          <p:nvPr/>
        </p:nvSpPr>
        <p:spPr>
          <a:xfrm>
            <a:off x="1702257" y="4569304"/>
            <a:ext cx="5874172" cy="300410"/>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Mendokumentasikan Setiap Langkah Perubahan</a:t>
            </a:r>
            <a:endParaRPr lang="en-US" sz="2000" dirty="0">
              <a:latin typeface="Leelawadee UI" panose="020B0502040204020203" pitchFamily="34" charset="-34"/>
              <a:cs typeface="Leelawadee UI" panose="020B0502040204020203" pitchFamily="34" charset="-34"/>
            </a:endParaRPr>
          </a:p>
        </p:txBody>
      </p:sp>
      <p:sp>
        <p:nvSpPr>
          <p:cNvPr id="12" name="Text 2">
            <a:extLst>
              <a:ext uri="{FF2B5EF4-FFF2-40B4-BE49-F238E27FC236}">
                <a16:creationId xmlns:a16="http://schemas.microsoft.com/office/drawing/2014/main" id="{109C10A7-1A10-9306-9629-8B6370B1A35F}"/>
              </a:ext>
            </a:extLst>
          </p:cNvPr>
          <p:cNvSpPr/>
          <p:nvPr/>
        </p:nvSpPr>
        <p:spPr>
          <a:xfrm>
            <a:off x="563499" y="5044288"/>
            <a:ext cx="8151763" cy="378470"/>
          </a:xfrm>
          <a:prstGeom prst="rect">
            <a:avLst/>
          </a:prstGeom>
          <a:noFill/>
          <a:ln/>
        </p:spPr>
        <p:txBody>
          <a:bodyPr wrap="square" lIns="0" tIns="0" rIns="0" bIns="0" rtlCol="0" anchor="t">
            <a:noAutofit/>
          </a:bodyPr>
          <a:lstStyle/>
          <a:p>
            <a:pPr marL="0" indent="0" algn="ctr">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secara aktif mendokumentasikan setiap langkah perjalanan dalam mendorong perubahan di tingkat lanskap, kelembagaan, dan masyarakat di Kalimantan Barat. Berikut adalah koleksi visual yang telah diabadikan dari berbagai program dan kegiatan lapangan.</a:t>
            </a:r>
            <a:endParaRPr lang="en-US" sz="1050" dirty="0">
              <a:latin typeface="Leelawadee UI" panose="020B0502040204020203" pitchFamily="34" charset="-34"/>
              <a:cs typeface="Leelawadee UI" panose="020B0502040204020203" pitchFamily="34" charset="-34"/>
            </a:endParaRPr>
          </a:p>
        </p:txBody>
      </p:sp>
      <p:sp>
        <p:nvSpPr>
          <p:cNvPr id="13" name="Text 3">
            <a:extLst>
              <a:ext uri="{FF2B5EF4-FFF2-40B4-BE49-F238E27FC236}">
                <a16:creationId xmlns:a16="http://schemas.microsoft.com/office/drawing/2014/main" id="{1D6351DB-308D-F649-1C72-ED91322F7121}"/>
              </a:ext>
            </a:extLst>
          </p:cNvPr>
          <p:cNvSpPr/>
          <p:nvPr/>
        </p:nvSpPr>
        <p:spPr>
          <a:xfrm>
            <a:off x="563499" y="5613705"/>
            <a:ext cx="4003104" cy="396553"/>
          </a:xfrm>
          <a:prstGeom prst="rect">
            <a:avLst/>
          </a:prstGeom>
          <a:noFill/>
          <a:ln/>
        </p:spPr>
        <p:txBody>
          <a:bodyPr wrap="none" lIns="0" tIns="0" rIns="0" bIns="0" rtlCol="0" anchor="t"/>
          <a:lstStyle/>
          <a:p>
            <a:pPr marL="0" indent="0" algn="ctr">
              <a:lnSpc>
                <a:spcPct val="83000"/>
              </a:lnSpc>
              <a:buNone/>
            </a:pPr>
            <a:r>
              <a:rPr lang="en-US" sz="2800" dirty="0">
                <a:solidFill>
                  <a:srgbClr val="161613"/>
                </a:solidFill>
                <a:latin typeface="Leelawadee UI" panose="020B0502040204020203" pitchFamily="34" charset="-34"/>
                <a:ea typeface="DM Sans Medium" pitchFamily="34" charset="-122"/>
                <a:cs typeface="Leelawadee UI" panose="020B0502040204020203" pitchFamily="34" charset="-34"/>
              </a:rPr>
              <a:t>500+</a:t>
            </a:r>
            <a:endParaRPr lang="en-US" sz="2800" dirty="0">
              <a:latin typeface="Leelawadee UI" panose="020B0502040204020203" pitchFamily="34" charset="-34"/>
              <a:cs typeface="Leelawadee UI" panose="020B0502040204020203" pitchFamily="34" charset="-34"/>
            </a:endParaRPr>
          </a:p>
        </p:txBody>
      </p:sp>
      <p:sp>
        <p:nvSpPr>
          <p:cNvPr id="14" name="Text 4">
            <a:extLst>
              <a:ext uri="{FF2B5EF4-FFF2-40B4-BE49-F238E27FC236}">
                <a16:creationId xmlns:a16="http://schemas.microsoft.com/office/drawing/2014/main" id="{43A46132-4163-554B-AD89-550E91F3C224}"/>
              </a:ext>
            </a:extLst>
          </p:cNvPr>
          <p:cNvSpPr/>
          <p:nvPr/>
        </p:nvSpPr>
        <p:spPr>
          <a:xfrm>
            <a:off x="1546284" y="6005781"/>
            <a:ext cx="2037531" cy="187747"/>
          </a:xfrm>
          <a:prstGeom prst="rect">
            <a:avLst/>
          </a:prstGeom>
          <a:noFill/>
          <a:ln/>
        </p:spPr>
        <p:txBody>
          <a:bodyPr wrap="none" lIns="0" tIns="0" rIns="0" bIns="0" rtlCol="0" anchor="t"/>
          <a:lstStyle/>
          <a:p>
            <a:pPr marL="0" indent="0" algn="ctr">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Total Foto &amp; Dokumentasi</a:t>
            </a:r>
            <a:endParaRPr lang="en-US" sz="1200" dirty="0">
              <a:latin typeface="Leelawadee UI" panose="020B0502040204020203" pitchFamily="34" charset="-34"/>
              <a:cs typeface="Leelawadee UI" panose="020B0502040204020203" pitchFamily="34" charset="-34"/>
            </a:endParaRPr>
          </a:p>
        </p:txBody>
      </p:sp>
      <p:sp>
        <p:nvSpPr>
          <p:cNvPr id="15" name="Text 5">
            <a:extLst>
              <a:ext uri="{FF2B5EF4-FFF2-40B4-BE49-F238E27FC236}">
                <a16:creationId xmlns:a16="http://schemas.microsoft.com/office/drawing/2014/main" id="{88D45A84-C700-52DF-DB68-7FAEBB458D8E}"/>
              </a:ext>
            </a:extLst>
          </p:cNvPr>
          <p:cNvSpPr/>
          <p:nvPr/>
        </p:nvSpPr>
        <p:spPr>
          <a:xfrm>
            <a:off x="563498" y="6206818"/>
            <a:ext cx="4003104" cy="189235"/>
          </a:xfrm>
          <a:prstGeom prst="rect">
            <a:avLst/>
          </a:prstGeom>
          <a:noFill/>
          <a:ln/>
        </p:spPr>
        <p:txBody>
          <a:bodyPr wrap="none" lIns="0" tIns="0" rIns="0" bIns="0" rtlCol="0" anchor="t"/>
          <a:lstStyle/>
          <a:p>
            <a:pPr marL="0" indent="0" algn="ctr">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Koleksi foto lapangan dari seluruh program YNKI</a:t>
            </a:r>
            <a:endParaRPr lang="en-US" sz="1000" dirty="0">
              <a:latin typeface="Leelawadee UI" panose="020B0502040204020203" pitchFamily="34" charset="-34"/>
              <a:cs typeface="Leelawadee UI" panose="020B0502040204020203" pitchFamily="34" charset="-34"/>
            </a:endParaRPr>
          </a:p>
        </p:txBody>
      </p:sp>
      <p:sp>
        <p:nvSpPr>
          <p:cNvPr id="16" name="Text 6">
            <a:extLst>
              <a:ext uri="{FF2B5EF4-FFF2-40B4-BE49-F238E27FC236}">
                <a16:creationId xmlns:a16="http://schemas.microsoft.com/office/drawing/2014/main" id="{F6A17863-7F16-A9B6-399B-06FF4554062E}"/>
              </a:ext>
            </a:extLst>
          </p:cNvPr>
          <p:cNvSpPr/>
          <p:nvPr/>
        </p:nvSpPr>
        <p:spPr>
          <a:xfrm>
            <a:off x="4712083" y="5613705"/>
            <a:ext cx="4003179" cy="396553"/>
          </a:xfrm>
          <a:prstGeom prst="rect">
            <a:avLst/>
          </a:prstGeom>
          <a:noFill/>
          <a:ln/>
        </p:spPr>
        <p:txBody>
          <a:bodyPr wrap="none" lIns="0" tIns="0" rIns="0" bIns="0" rtlCol="0" anchor="t"/>
          <a:lstStyle/>
          <a:p>
            <a:pPr marL="0" indent="0" algn="ctr">
              <a:lnSpc>
                <a:spcPct val="83000"/>
              </a:lnSpc>
              <a:buNone/>
            </a:pPr>
            <a:r>
              <a:rPr lang="en-US" sz="2800" dirty="0">
                <a:solidFill>
                  <a:srgbClr val="161613"/>
                </a:solidFill>
                <a:latin typeface="Leelawadee UI" panose="020B0502040204020203" pitchFamily="34" charset="-34"/>
                <a:ea typeface="DM Sans Medium" pitchFamily="34" charset="-122"/>
                <a:cs typeface="Leelawadee UI" panose="020B0502040204020203" pitchFamily="34" charset="-34"/>
              </a:rPr>
              <a:t>30+</a:t>
            </a:r>
            <a:endParaRPr lang="en-US" sz="2800" dirty="0">
              <a:latin typeface="Leelawadee UI" panose="020B0502040204020203" pitchFamily="34" charset="-34"/>
              <a:cs typeface="Leelawadee UI" panose="020B0502040204020203" pitchFamily="34" charset="-34"/>
            </a:endParaRPr>
          </a:p>
        </p:txBody>
      </p:sp>
      <p:sp>
        <p:nvSpPr>
          <p:cNvPr id="17" name="Text 7">
            <a:extLst>
              <a:ext uri="{FF2B5EF4-FFF2-40B4-BE49-F238E27FC236}">
                <a16:creationId xmlns:a16="http://schemas.microsoft.com/office/drawing/2014/main" id="{584B8AAF-3AAA-1AD1-7201-B85EBEE5AE71}"/>
              </a:ext>
            </a:extLst>
          </p:cNvPr>
          <p:cNvSpPr/>
          <p:nvPr/>
        </p:nvSpPr>
        <p:spPr>
          <a:xfrm>
            <a:off x="5962610" y="6005781"/>
            <a:ext cx="1502122" cy="187747"/>
          </a:xfrm>
          <a:prstGeom prst="rect">
            <a:avLst/>
          </a:prstGeom>
          <a:noFill/>
          <a:ln/>
        </p:spPr>
        <p:txBody>
          <a:bodyPr wrap="none" lIns="0" tIns="0" rIns="0" bIns="0" rtlCol="0" anchor="t"/>
          <a:lstStyle/>
          <a:p>
            <a:pPr marL="0" indent="0" algn="ctr">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Video Kegiatan</a:t>
            </a:r>
            <a:endParaRPr lang="en-US" sz="1200" dirty="0">
              <a:latin typeface="Leelawadee UI" panose="020B0502040204020203" pitchFamily="34" charset="-34"/>
              <a:cs typeface="Leelawadee UI" panose="020B0502040204020203" pitchFamily="34" charset="-34"/>
            </a:endParaRPr>
          </a:p>
        </p:txBody>
      </p:sp>
      <p:sp>
        <p:nvSpPr>
          <p:cNvPr id="18" name="Text 8">
            <a:extLst>
              <a:ext uri="{FF2B5EF4-FFF2-40B4-BE49-F238E27FC236}">
                <a16:creationId xmlns:a16="http://schemas.microsoft.com/office/drawing/2014/main" id="{3EBEE018-6023-BE96-7DE5-97AB70B3B5A4}"/>
              </a:ext>
            </a:extLst>
          </p:cNvPr>
          <p:cNvSpPr/>
          <p:nvPr/>
        </p:nvSpPr>
        <p:spPr>
          <a:xfrm>
            <a:off x="4712082" y="6171180"/>
            <a:ext cx="4003179" cy="189235"/>
          </a:xfrm>
          <a:prstGeom prst="rect">
            <a:avLst/>
          </a:prstGeom>
          <a:noFill/>
          <a:ln/>
        </p:spPr>
        <p:txBody>
          <a:bodyPr wrap="none" lIns="0" tIns="0" rIns="0" bIns="0" rtlCol="0" anchor="t"/>
          <a:lstStyle/>
          <a:p>
            <a:pPr marL="0" indent="0" algn="ctr">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Dokumentasi video dari kegiatan lapangan dan wawancara</a:t>
            </a:r>
            <a:endParaRPr lang="en-US" sz="1000" dirty="0">
              <a:latin typeface="Leelawadee UI" panose="020B0502040204020203" pitchFamily="34" charset="-34"/>
              <a:cs typeface="Leelawadee UI" panose="020B0502040204020203" pitchFamily="34" charset="-34"/>
            </a:endParaRPr>
          </a:p>
        </p:txBody>
      </p:sp>
      <p:sp>
        <p:nvSpPr>
          <p:cNvPr id="19" name="Text 9">
            <a:extLst>
              <a:ext uri="{FF2B5EF4-FFF2-40B4-BE49-F238E27FC236}">
                <a16:creationId xmlns:a16="http://schemas.microsoft.com/office/drawing/2014/main" id="{F97B39F3-E537-577B-AD9D-478698433CC7}"/>
              </a:ext>
            </a:extLst>
          </p:cNvPr>
          <p:cNvSpPr/>
          <p:nvPr/>
        </p:nvSpPr>
        <p:spPr>
          <a:xfrm>
            <a:off x="563498" y="6630352"/>
            <a:ext cx="4003104" cy="396553"/>
          </a:xfrm>
          <a:prstGeom prst="rect">
            <a:avLst/>
          </a:prstGeom>
          <a:noFill/>
          <a:ln/>
        </p:spPr>
        <p:txBody>
          <a:bodyPr wrap="none" lIns="0" tIns="0" rIns="0" bIns="0" rtlCol="0" anchor="t"/>
          <a:lstStyle/>
          <a:p>
            <a:pPr marL="0" indent="0" algn="ctr">
              <a:lnSpc>
                <a:spcPct val="83000"/>
              </a:lnSpc>
              <a:buNone/>
            </a:pPr>
            <a:r>
              <a:rPr lang="en-US" sz="2800" dirty="0">
                <a:solidFill>
                  <a:srgbClr val="161613"/>
                </a:solidFill>
                <a:latin typeface="Leelawadee UI" panose="020B0502040204020203" pitchFamily="34" charset="-34"/>
                <a:ea typeface="DM Sans Medium" pitchFamily="34" charset="-122"/>
                <a:cs typeface="Leelawadee UI" panose="020B0502040204020203" pitchFamily="34" charset="-34"/>
              </a:rPr>
              <a:t>200+</a:t>
            </a:r>
            <a:endParaRPr lang="en-US" sz="2800" dirty="0">
              <a:latin typeface="Leelawadee UI" panose="020B0502040204020203" pitchFamily="34" charset="-34"/>
              <a:cs typeface="Leelawadee UI" panose="020B0502040204020203" pitchFamily="34" charset="-34"/>
            </a:endParaRPr>
          </a:p>
        </p:txBody>
      </p:sp>
      <p:sp>
        <p:nvSpPr>
          <p:cNvPr id="20" name="Text 10">
            <a:extLst>
              <a:ext uri="{FF2B5EF4-FFF2-40B4-BE49-F238E27FC236}">
                <a16:creationId xmlns:a16="http://schemas.microsoft.com/office/drawing/2014/main" id="{3F6F2E80-710B-A497-F670-990B02AE66DB}"/>
              </a:ext>
            </a:extLst>
          </p:cNvPr>
          <p:cNvSpPr/>
          <p:nvPr/>
        </p:nvSpPr>
        <p:spPr>
          <a:xfrm>
            <a:off x="1643241" y="7042644"/>
            <a:ext cx="1838102" cy="187747"/>
          </a:xfrm>
          <a:prstGeom prst="rect">
            <a:avLst/>
          </a:prstGeom>
          <a:noFill/>
          <a:ln/>
        </p:spPr>
        <p:txBody>
          <a:bodyPr wrap="none" lIns="0" tIns="0" rIns="0" bIns="0" rtlCol="0" anchor="t"/>
          <a:lstStyle/>
          <a:p>
            <a:pPr marL="0" indent="0" algn="ctr">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Postingan Media Sosial</a:t>
            </a:r>
            <a:endParaRPr lang="en-US" sz="1200" dirty="0">
              <a:latin typeface="Leelawadee UI" panose="020B0502040204020203" pitchFamily="34" charset="-34"/>
              <a:cs typeface="Leelawadee UI" panose="020B0502040204020203" pitchFamily="34" charset="-34"/>
            </a:endParaRPr>
          </a:p>
        </p:txBody>
      </p:sp>
      <p:sp>
        <p:nvSpPr>
          <p:cNvPr id="21" name="Text 11">
            <a:extLst>
              <a:ext uri="{FF2B5EF4-FFF2-40B4-BE49-F238E27FC236}">
                <a16:creationId xmlns:a16="http://schemas.microsoft.com/office/drawing/2014/main" id="{8235C05F-76C7-BA61-3729-41E613372DA6}"/>
              </a:ext>
            </a:extLst>
          </p:cNvPr>
          <p:cNvSpPr/>
          <p:nvPr/>
        </p:nvSpPr>
        <p:spPr>
          <a:xfrm>
            <a:off x="560740" y="7243598"/>
            <a:ext cx="4003104" cy="189235"/>
          </a:xfrm>
          <a:prstGeom prst="rect">
            <a:avLst/>
          </a:prstGeom>
          <a:noFill/>
          <a:ln/>
        </p:spPr>
        <p:txBody>
          <a:bodyPr wrap="none" lIns="0" tIns="0" rIns="0" bIns="0" rtlCol="0" anchor="t"/>
          <a:lstStyle/>
          <a:p>
            <a:pPr marL="0" indent="0" algn="ctr">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Update program di LinkedIn, Instagram, dan Facebook</a:t>
            </a:r>
            <a:endParaRPr lang="en-US" sz="1000" dirty="0">
              <a:latin typeface="Leelawadee UI" panose="020B0502040204020203" pitchFamily="34" charset="-34"/>
              <a:cs typeface="Leelawadee UI" panose="020B0502040204020203" pitchFamily="34" charset="-34"/>
            </a:endParaRPr>
          </a:p>
        </p:txBody>
      </p:sp>
      <p:sp>
        <p:nvSpPr>
          <p:cNvPr id="22" name="Text 12">
            <a:extLst>
              <a:ext uri="{FF2B5EF4-FFF2-40B4-BE49-F238E27FC236}">
                <a16:creationId xmlns:a16="http://schemas.microsoft.com/office/drawing/2014/main" id="{3AFF8E99-3B98-AD72-11B2-5A9F4CCBC3CF}"/>
              </a:ext>
            </a:extLst>
          </p:cNvPr>
          <p:cNvSpPr/>
          <p:nvPr/>
        </p:nvSpPr>
        <p:spPr>
          <a:xfrm>
            <a:off x="4712082" y="6630352"/>
            <a:ext cx="4003179" cy="396553"/>
          </a:xfrm>
          <a:prstGeom prst="rect">
            <a:avLst/>
          </a:prstGeom>
          <a:noFill/>
          <a:ln/>
        </p:spPr>
        <p:txBody>
          <a:bodyPr wrap="none" lIns="0" tIns="0" rIns="0" bIns="0" rtlCol="0" anchor="t"/>
          <a:lstStyle/>
          <a:p>
            <a:pPr marL="0" indent="0" algn="ctr">
              <a:lnSpc>
                <a:spcPct val="83000"/>
              </a:lnSpc>
              <a:buNone/>
            </a:pPr>
            <a:r>
              <a:rPr lang="en-US" sz="2800" dirty="0">
                <a:solidFill>
                  <a:srgbClr val="161613"/>
                </a:solidFill>
                <a:latin typeface="Leelawadee UI" panose="020B0502040204020203" pitchFamily="34" charset="-34"/>
                <a:ea typeface="DM Sans Medium" pitchFamily="34" charset="-122"/>
                <a:cs typeface="Leelawadee UI" panose="020B0502040204020203" pitchFamily="34" charset="-34"/>
              </a:rPr>
              <a:t>1.000+</a:t>
            </a:r>
            <a:endParaRPr lang="en-US" sz="2800" dirty="0">
              <a:latin typeface="Leelawadee UI" panose="020B0502040204020203" pitchFamily="34" charset="-34"/>
              <a:cs typeface="Leelawadee UI" panose="020B0502040204020203" pitchFamily="34" charset="-34"/>
            </a:endParaRPr>
          </a:p>
        </p:txBody>
      </p:sp>
      <p:sp>
        <p:nvSpPr>
          <p:cNvPr id="23" name="Text 13">
            <a:extLst>
              <a:ext uri="{FF2B5EF4-FFF2-40B4-BE49-F238E27FC236}">
                <a16:creationId xmlns:a16="http://schemas.microsoft.com/office/drawing/2014/main" id="{07F87124-C920-34B4-40BD-39E88D89D64D}"/>
              </a:ext>
            </a:extLst>
          </p:cNvPr>
          <p:cNvSpPr/>
          <p:nvPr/>
        </p:nvSpPr>
        <p:spPr>
          <a:xfrm>
            <a:off x="5580935" y="7042644"/>
            <a:ext cx="2259955" cy="187747"/>
          </a:xfrm>
          <a:prstGeom prst="rect">
            <a:avLst/>
          </a:prstGeom>
          <a:noFill/>
          <a:ln/>
        </p:spPr>
        <p:txBody>
          <a:bodyPr wrap="none" lIns="0" tIns="0" rIns="0" bIns="0" rtlCol="0" anchor="t"/>
          <a:lstStyle/>
          <a:p>
            <a:pPr marL="0" indent="0" algn="ctr">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Momen Bersama Masyarakat</a:t>
            </a:r>
            <a:endParaRPr lang="en-US" sz="1200" dirty="0">
              <a:latin typeface="Leelawadee UI" panose="020B0502040204020203" pitchFamily="34" charset="-34"/>
              <a:cs typeface="Leelawadee UI" panose="020B0502040204020203" pitchFamily="34" charset="-34"/>
            </a:endParaRPr>
          </a:p>
        </p:txBody>
      </p:sp>
      <p:sp>
        <p:nvSpPr>
          <p:cNvPr id="24" name="Text 14">
            <a:extLst>
              <a:ext uri="{FF2B5EF4-FFF2-40B4-BE49-F238E27FC236}">
                <a16:creationId xmlns:a16="http://schemas.microsoft.com/office/drawing/2014/main" id="{FB5F6B18-51FC-E8E2-8DD3-477AA6B0602B}"/>
              </a:ext>
            </a:extLst>
          </p:cNvPr>
          <p:cNvSpPr/>
          <p:nvPr/>
        </p:nvSpPr>
        <p:spPr>
          <a:xfrm>
            <a:off x="4709324" y="7205393"/>
            <a:ext cx="4003179" cy="189235"/>
          </a:xfrm>
          <a:prstGeom prst="rect">
            <a:avLst/>
          </a:prstGeom>
          <a:noFill/>
          <a:ln/>
        </p:spPr>
        <p:txBody>
          <a:bodyPr wrap="none" lIns="0" tIns="0" rIns="0" bIns="0" rtlCol="0" anchor="t"/>
          <a:lstStyle/>
          <a:p>
            <a:pPr marL="0" indent="0" algn="ctr">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Kebersamaan dengan komunitas lokal di berbagai desa</a:t>
            </a:r>
            <a:endParaRPr lang="en-US" sz="1000" dirty="0">
              <a:latin typeface="Leelawadee UI" panose="020B0502040204020203" pitchFamily="34" charset="-34"/>
              <a:cs typeface="Leelawadee UI" panose="020B0502040204020203" pitchFamily="34" charset="-34"/>
            </a:endParaRPr>
          </a:p>
        </p:txBody>
      </p:sp>
      <p:sp>
        <p:nvSpPr>
          <p:cNvPr id="25" name="Shape 15">
            <a:extLst>
              <a:ext uri="{FF2B5EF4-FFF2-40B4-BE49-F238E27FC236}">
                <a16:creationId xmlns:a16="http://schemas.microsoft.com/office/drawing/2014/main" id="{9CAEA77D-E441-EF6A-984E-D64542907272}"/>
              </a:ext>
            </a:extLst>
          </p:cNvPr>
          <p:cNvSpPr/>
          <p:nvPr/>
        </p:nvSpPr>
        <p:spPr>
          <a:xfrm>
            <a:off x="563974" y="7638063"/>
            <a:ext cx="8151763" cy="647849"/>
          </a:xfrm>
          <a:prstGeom prst="roundRect">
            <a:avLst>
              <a:gd name="adj" fmla="val 2782"/>
            </a:avLst>
          </a:prstGeom>
          <a:solidFill>
            <a:srgbClr val="B6D6FC"/>
          </a:solidFill>
          <a:ln/>
        </p:spPr>
      </p:sp>
      <p:pic>
        <p:nvPicPr>
          <p:cNvPr id="26" name="Image 0" descr="preencoded.png">
            <a:extLst>
              <a:ext uri="{FF2B5EF4-FFF2-40B4-BE49-F238E27FC236}">
                <a16:creationId xmlns:a16="http://schemas.microsoft.com/office/drawing/2014/main" id="{1152D85F-EA27-A861-2B92-862D34ED5BAB}"/>
              </a:ext>
            </a:extLst>
          </p:cNvPr>
          <p:cNvPicPr>
            <a:picLocks noChangeAspect="1"/>
          </p:cNvPicPr>
          <p:nvPr/>
        </p:nvPicPr>
        <p:blipFill>
          <a:blip r:embed="rId7"/>
          <a:stretch>
            <a:fillRect/>
          </a:stretch>
        </p:blipFill>
        <p:spPr>
          <a:xfrm>
            <a:off x="684078" y="7806834"/>
            <a:ext cx="150168" cy="120104"/>
          </a:xfrm>
          <a:prstGeom prst="rect">
            <a:avLst/>
          </a:prstGeom>
        </p:spPr>
      </p:pic>
      <p:sp>
        <p:nvSpPr>
          <p:cNvPr id="27" name="Text 16">
            <a:extLst>
              <a:ext uri="{FF2B5EF4-FFF2-40B4-BE49-F238E27FC236}">
                <a16:creationId xmlns:a16="http://schemas.microsoft.com/office/drawing/2014/main" id="{31484947-181A-0947-2B58-BA22FEFCE1D8}"/>
              </a:ext>
            </a:extLst>
          </p:cNvPr>
          <p:cNvSpPr/>
          <p:nvPr/>
        </p:nvSpPr>
        <p:spPr>
          <a:xfrm>
            <a:off x="954350" y="7772753"/>
            <a:ext cx="7641282" cy="378470"/>
          </a:xfrm>
          <a:prstGeom prst="rect">
            <a:avLst/>
          </a:prstGeom>
          <a:noFill/>
          <a:ln/>
        </p:spPr>
        <p:txBody>
          <a:bodyPr wrap="square" lIns="0" tIns="0" rIns="0" bIns="0" rtlCol="0" anchor="t">
            <a:normAutofit/>
          </a:bodyPr>
          <a:lstStyle/>
          <a:p>
            <a:pPr marL="0" indent="0" algn="l">
              <a:lnSpc>
                <a:spcPct val="131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a:t>
            </a:r>
            <a:r>
              <a:rPr lang="en-US" sz="1000" b="1" dirty="0">
                <a:solidFill>
                  <a:srgbClr val="000000"/>
                </a:solidFill>
                <a:latin typeface="Leelawadee UI" panose="020B0502040204020203" pitchFamily="34" charset="-34"/>
                <a:ea typeface="Inter" pitchFamily="34" charset="-122"/>
                <a:cs typeface="Leelawadee UI" panose="020B0502040204020203" pitchFamily="34" charset="-34"/>
              </a:rPr>
              <a:t>Catatan Tim YNKI:</a:t>
            </a: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 Data di atas bersifat placeholder. Mohon diperbarui dengan data riil dari koleksi foto dan video yang telah dihasilkan oleh tim dokumentasi YNKI.</a:t>
            </a:r>
            <a:endParaRPr lang="en-US" sz="1000" dirty="0">
              <a:latin typeface="Leelawadee UI" panose="020B0502040204020203" pitchFamily="34" charset="-34"/>
              <a:cs typeface="Leelawadee UI" panose="020B0502040204020203" pitchFamily="34" charset="-34"/>
            </a:endParaRPr>
          </a:p>
        </p:txBody>
      </p:sp>
      <p:sp>
        <p:nvSpPr>
          <p:cNvPr id="46" name="Text 0">
            <a:extLst>
              <a:ext uri="{FF2B5EF4-FFF2-40B4-BE49-F238E27FC236}">
                <a16:creationId xmlns:a16="http://schemas.microsoft.com/office/drawing/2014/main" id="{75F7075D-04DB-62F3-FE8C-05421C3B9903}"/>
              </a:ext>
            </a:extLst>
          </p:cNvPr>
          <p:cNvSpPr/>
          <p:nvPr/>
        </p:nvSpPr>
        <p:spPr>
          <a:xfrm>
            <a:off x="531249" y="9033197"/>
            <a:ext cx="2007766" cy="193849"/>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Navigasi Konten</a:t>
            </a:r>
            <a:endParaRPr lang="en-US" sz="1200" dirty="0">
              <a:latin typeface="Leelawadee UI" panose="020B0502040204020203" pitchFamily="34" charset="-34"/>
              <a:cs typeface="Leelawadee UI" panose="020B0502040204020203" pitchFamily="34" charset="-34"/>
            </a:endParaRPr>
          </a:p>
        </p:txBody>
      </p:sp>
      <p:sp>
        <p:nvSpPr>
          <p:cNvPr id="47" name="Text 1">
            <a:extLst>
              <a:ext uri="{FF2B5EF4-FFF2-40B4-BE49-F238E27FC236}">
                <a16:creationId xmlns:a16="http://schemas.microsoft.com/office/drawing/2014/main" id="{436B8582-6E7D-F42B-97C6-A183B6D7E946}"/>
              </a:ext>
            </a:extLst>
          </p:cNvPr>
          <p:cNvSpPr/>
          <p:nvPr/>
        </p:nvSpPr>
        <p:spPr>
          <a:xfrm>
            <a:off x="2175988" y="9126010"/>
            <a:ext cx="4638601" cy="310083"/>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Jelajahi Visual Berdasarkan Kategori</a:t>
            </a:r>
            <a:endParaRPr lang="en-US" sz="2000" dirty="0">
              <a:latin typeface="Leelawadee UI" panose="020B0502040204020203" pitchFamily="34" charset="-34"/>
              <a:cs typeface="Leelawadee UI" panose="020B0502040204020203" pitchFamily="34" charset="-34"/>
            </a:endParaRPr>
          </a:p>
        </p:txBody>
      </p:sp>
      <p:sp>
        <p:nvSpPr>
          <p:cNvPr id="48" name="Text 2">
            <a:extLst>
              <a:ext uri="{FF2B5EF4-FFF2-40B4-BE49-F238E27FC236}">
                <a16:creationId xmlns:a16="http://schemas.microsoft.com/office/drawing/2014/main" id="{AF506912-ECD2-34B0-50BA-5F660F59E5A9}"/>
              </a:ext>
            </a:extLst>
          </p:cNvPr>
          <p:cNvSpPr/>
          <p:nvPr/>
        </p:nvSpPr>
        <p:spPr>
          <a:xfrm>
            <a:off x="419444" y="9464998"/>
            <a:ext cx="8151763" cy="554056"/>
          </a:xfrm>
          <a:prstGeom prst="rect">
            <a:avLst/>
          </a:prstGeom>
          <a:noFill/>
          <a:ln/>
        </p:spPr>
        <p:txBody>
          <a:bodyPr wrap="square" lIns="0" tIns="0" rIns="0" bIns="0" rtlCol="0" anchor="t">
            <a:noAutofit/>
          </a:bodyPr>
          <a:lstStyle/>
          <a:p>
            <a:pPr marL="0" indent="0" algn="ctr">
              <a:lnSpc>
                <a:spcPct val="13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Gunakan filter kategori berikut untuk menemukan dokumentasi visual yang paling relevan dengan minat atau kebutuhan Anda. Setiap kategori mewakili program utama dan inisiatif YNKI di lapangan.</a:t>
            </a:r>
            <a:endParaRPr lang="en-US" sz="1100" dirty="0">
              <a:latin typeface="Leelawadee UI" panose="020B0502040204020203" pitchFamily="34" charset="-34"/>
              <a:cs typeface="Leelawadee UI" panose="020B0502040204020203" pitchFamily="34" charset="-34"/>
            </a:endParaRPr>
          </a:p>
        </p:txBody>
      </p:sp>
      <p:sp>
        <p:nvSpPr>
          <p:cNvPr id="49" name="Shape 3">
            <a:extLst>
              <a:ext uri="{FF2B5EF4-FFF2-40B4-BE49-F238E27FC236}">
                <a16:creationId xmlns:a16="http://schemas.microsoft.com/office/drawing/2014/main" id="{CA46A4B9-7CDB-00AC-07F8-6479032E206B}"/>
              </a:ext>
            </a:extLst>
          </p:cNvPr>
          <p:cNvSpPr/>
          <p:nvPr/>
        </p:nvSpPr>
        <p:spPr>
          <a:xfrm>
            <a:off x="419444" y="10158580"/>
            <a:ext cx="4013895" cy="913135"/>
          </a:xfrm>
          <a:prstGeom prst="roundRect">
            <a:avLst>
              <a:gd name="adj" fmla="val 2038"/>
            </a:avLst>
          </a:prstGeom>
          <a:solidFill>
            <a:srgbClr val="EDEBE3"/>
          </a:solidFill>
          <a:ln/>
        </p:spPr>
      </p:sp>
      <p:sp>
        <p:nvSpPr>
          <p:cNvPr id="50" name="Text 4">
            <a:extLst>
              <a:ext uri="{FF2B5EF4-FFF2-40B4-BE49-F238E27FC236}">
                <a16:creationId xmlns:a16="http://schemas.microsoft.com/office/drawing/2014/main" id="{69766630-3036-408D-5B70-277FD026C374}"/>
              </a:ext>
            </a:extLst>
          </p:cNvPr>
          <p:cNvSpPr/>
          <p:nvPr/>
        </p:nvSpPr>
        <p:spPr>
          <a:xfrm>
            <a:off x="543417" y="10282553"/>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Semua Visual</a:t>
            </a:r>
            <a:endParaRPr lang="en-US" sz="1400" dirty="0">
              <a:latin typeface="Leelawadee UI" panose="020B0502040204020203" pitchFamily="34" charset="-34"/>
              <a:cs typeface="Leelawadee UI" panose="020B0502040204020203" pitchFamily="34" charset="-34"/>
            </a:endParaRPr>
          </a:p>
        </p:txBody>
      </p:sp>
      <p:sp>
        <p:nvSpPr>
          <p:cNvPr id="51" name="Text 5">
            <a:extLst>
              <a:ext uri="{FF2B5EF4-FFF2-40B4-BE49-F238E27FC236}">
                <a16:creationId xmlns:a16="http://schemas.microsoft.com/office/drawing/2014/main" id="{A610B2CC-BF8D-2231-7119-C336FFB05C25}"/>
              </a:ext>
            </a:extLst>
          </p:cNvPr>
          <p:cNvSpPr/>
          <p:nvPr/>
        </p:nvSpPr>
        <p:spPr>
          <a:xfrm>
            <a:off x="543417" y="10550816"/>
            <a:ext cx="3765947" cy="198462"/>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Seluruh koleksi foto dan video dari semua program YNKI</a:t>
            </a:r>
            <a:endParaRPr lang="en-US" sz="1000" dirty="0">
              <a:latin typeface="Leelawadee UI" panose="020B0502040204020203" pitchFamily="34" charset="-34"/>
              <a:cs typeface="Leelawadee UI" panose="020B0502040204020203" pitchFamily="34" charset="-34"/>
            </a:endParaRPr>
          </a:p>
        </p:txBody>
      </p:sp>
      <p:sp>
        <p:nvSpPr>
          <p:cNvPr id="52" name="Shape 6">
            <a:extLst>
              <a:ext uri="{FF2B5EF4-FFF2-40B4-BE49-F238E27FC236}">
                <a16:creationId xmlns:a16="http://schemas.microsoft.com/office/drawing/2014/main" id="{15713718-3B18-E088-04A8-29C91B7F0EEB}"/>
              </a:ext>
            </a:extLst>
          </p:cNvPr>
          <p:cNvSpPr/>
          <p:nvPr/>
        </p:nvSpPr>
        <p:spPr>
          <a:xfrm>
            <a:off x="4557312" y="10158580"/>
            <a:ext cx="4013895" cy="913135"/>
          </a:xfrm>
          <a:prstGeom prst="roundRect">
            <a:avLst>
              <a:gd name="adj" fmla="val 2038"/>
            </a:avLst>
          </a:prstGeom>
          <a:solidFill>
            <a:srgbClr val="EDEBE3"/>
          </a:solidFill>
          <a:ln/>
        </p:spPr>
      </p:sp>
      <p:sp>
        <p:nvSpPr>
          <p:cNvPr id="53" name="Text 7">
            <a:extLst>
              <a:ext uri="{FF2B5EF4-FFF2-40B4-BE49-F238E27FC236}">
                <a16:creationId xmlns:a16="http://schemas.microsoft.com/office/drawing/2014/main" id="{F25B52F0-9907-1ECD-B334-4149B62103D8}"/>
              </a:ext>
            </a:extLst>
          </p:cNvPr>
          <p:cNvSpPr/>
          <p:nvPr/>
        </p:nvSpPr>
        <p:spPr>
          <a:xfrm>
            <a:off x="4681286" y="10282553"/>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Restorasi Gambut</a:t>
            </a:r>
            <a:endParaRPr lang="en-US" sz="1400" dirty="0">
              <a:latin typeface="Leelawadee UI" panose="020B0502040204020203" pitchFamily="34" charset="-34"/>
              <a:cs typeface="Leelawadee UI" panose="020B0502040204020203" pitchFamily="34" charset="-34"/>
            </a:endParaRPr>
          </a:p>
        </p:txBody>
      </p:sp>
      <p:sp>
        <p:nvSpPr>
          <p:cNvPr id="54" name="Text 8">
            <a:extLst>
              <a:ext uri="{FF2B5EF4-FFF2-40B4-BE49-F238E27FC236}">
                <a16:creationId xmlns:a16="http://schemas.microsoft.com/office/drawing/2014/main" id="{6E8F72F2-2623-7EFE-3267-A28A35048F2A}"/>
              </a:ext>
            </a:extLst>
          </p:cNvPr>
          <p:cNvSpPr/>
          <p:nvPr/>
        </p:nvSpPr>
        <p:spPr>
          <a:xfrm>
            <a:off x="4681286" y="10550816"/>
            <a:ext cx="3765947"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Dokumentasi kegiatan restorasi ekosistem gambut di Kalimantan Barat</a:t>
            </a:r>
            <a:endParaRPr lang="en-US" sz="1000" dirty="0">
              <a:latin typeface="Leelawadee UI" panose="020B0502040204020203" pitchFamily="34" charset="-34"/>
              <a:cs typeface="Leelawadee UI" panose="020B0502040204020203" pitchFamily="34" charset="-34"/>
            </a:endParaRPr>
          </a:p>
        </p:txBody>
      </p:sp>
      <p:sp>
        <p:nvSpPr>
          <p:cNvPr id="55" name="Shape 9">
            <a:extLst>
              <a:ext uri="{FF2B5EF4-FFF2-40B4-BE49-F238E27FC236}">
                <a16:creationId xmlns:a16="http://schemas.microsoft.com/office/drawing/2014/main" id="{74C7BBE4-05CF-6705-F825-515BCF36E4D5}"/>
              </a:ext>
            </a:extLst>
          </p:cNvPr>
          <p:cNvSpPr/>
          <p:nvPr/>
        </p:nvSpPr>
        <p:spPr>
          <a:xfrm>
            <a:off x="419444" y="11195688"/>
            <a:ext cx="4013895" cy="913135"/>
          </a:xfrm>
          <a:prstGeom prst="roundRect">
            <a:avLst>
              <a:gd name="adj" fmla="val 2038"/>
            </a:avLst>
          </a:prstGeom>
          <a:solidFill>
            <a:srgbClr val="EDEBE3"/>
          </a:solidFill>
          <a:ln/>
        </p:spPr>
      </p:sp>
      <p:sp>
        <p:nvSpPr>
          <p:cNvPr id="56" name="Text 10">
            <a:extLst>
              <a:ext uri="{FF2B5EF4-FFF2-40B4-BE49-F238E27FC236}">
                <a16:creationId xmlns:a16="http://schemas.microsoft.com/office/drawing/2014/main" id="{454D3F35-C335-D8E8-7DEF-3F0CB64167E9}"/>
              </a:ext>
            </a:extLst>
          </p:cNvPr>
          <p:cNvSpPr/>
          <p:nvPr/>
        </p:nvSpPr>
        <p:spPr>
          <a:xfrm>
            <a:off x="543417" y="11319662"/>
            <a:ext cx="1915492"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Youth Camp &amp; Pemuda</a:t>
            </a:r>
            <a:endParaRPr lang="en-US" sz="1400" dirty="0">
              <a:latin typeface="Leelawadee UI" panose="020B0502040204020203" pitchFamily="34" charset="-34"/>
              <a:cs typeface="Leelawadee UI" panose="020B0502040204020203" pitchFamily="34" charset="-34"/>
            </a:endParaRPr>
          </a:p>
        </p:txBody>
      </p:sp>
      <p:sp>
        <p:nvSpPr>
          <p:cNvPr id="57" name="Text 11">
            <a:extLst>
              <a:ext uri="{FF2B5EF4-FFF2-40B4-BE49-F238E27FC236}">
                <a16:creationId xmlns:a16="http://schemas.microsoft.com/office/drawing/2014/main" id="{05099E79-A0B2-F6EC-A34F-35AE2CB646B2}"/>
              </a:ext>
            </a:extLst>
          </p:cNvPr>
          <p:cNvSpPr/>
          <p:nvPr/>
        </p:nvSpPr>
        <p:spPr>
          <a:xfrm>
            <a:off x="543417" y="11587925"/>
            <a:ext cx="3765947"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Foto dan video kegiatan pelibatan anak muda dalam perlindungan hutan</a:t>
            </a:r>
            <a:endParaRPr lang="en-US" sz="1000" dirty="0">
              <a:latin typeface="Leelawadee UI" panose="020B0502040204020203" pitchFamily="34" charset="-34"/>
              <a:cs typeface="Leelawadee UI" panose="020B0502040204020203" pitchFamily="34" charset="-34"/>
            </a:endParaRPr>
          </a:p>
        </p:txBody>
      </p:sp>
      <p:sp>
        <p:nvSpPr>
          <p:cNvPr id="58" name="Shape 12">
            <a:extLst>
              <a:ext uri="{FF2B5EF4-FFF2-40B4-BE49-F238E27FC236}">
                <a16:creationId xmlns:a16="http://schemas.microsoft.com/office/drawing/2014/main" id="{FBD36559-A577-7623-C160-5D7695E565B7}"/>
              </a:ext>
            </a:extLst>
          </p:cNvPr>
          <p:cNvSpPr/>
          <p:nvPr/>
        </p:nvSpPr>
        <p:spPr>
          <a:xfrm>
            <a:off x="4557312" y="11195688"/>
            <a:ext cx="4013895" cy="913135"/>
          </a:xfrm>
          <a:prstGeom prst="roundRect">
            <a:avLst>
              <a:gd name="adj" fmla="val 2038"/>
            </a:avLst>
          </a:prstGeom>
          <a:solidFill>
            <a:srgbClr val="EDEBE3"/>
          </a:solidFill>
          <a:ln/>
        </p:spPr>
      </p:sp>
      <p:sp>
        <p:nvSpPr>
          <p:cNvPr id="59" name="Text 13">
            <a:extLst>
              <a:ext uri="{FF2B5EF4-FFF2-40B4-BE49-F238E27FC236}">
                <a16:creationId xmlns:a16="http://schemas.microsoft.com/office/drawing/2014/main" id="{B8EB32BF-36F7-1E26-3CF4-9A35C13B354B}"/>
              </a:ext>
            </a:extLst>
          </p:cNvPr>
          <p:cNvSpPr/>
          <p:nvPr/>
        </p:nvSpPr>
        <p:spPr>
          <a:xfrm>
            <a:off x="4681286" y="11319662"/>
            <a:ext cx="2201614"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Pemberdayaan Masyarakat</a:t>
            </a:r>
            <a:endParaRPr lang="en-US" sz="1400" dirty="0">
              <a:latin typeface="Leelawadee UI" panose="020B0502040204020203" pitchFamily="34" charset="-34"/>
              <a:cs typeface="Leelawadee UI" panose="020B0502040204020203" pitchFamily="34" charset="-34"/>
            </a:endParaRPr>
          </a:p>
        </p:txBody>
      </p:sp>
      <p:sp>
        <p:nvSpPr>
          <p:cNvPr id="60" name="Text 14">
            <a:extLst>
              <a:ext uri="{FF2B5EF4-FFF2-40B4-BE49-F238E27FC236}">
                <a16:creationId xmlns:a16="http://schemas.microsoft.com/office/drawing/2014/main" id="{1FF31B50-2E5C-DC94-2E11-E4C1040277A1}"/>
              </a:ext>
            </a:extLst>
          </p:cNvPr>
          <p:cNvSpPr/>
          <p:nvPr/>
        </p:nvSpPr>
        <p:spPr>
          <a:xfrm>
            <a:off x="4681286" y="11587925"/>
            <a:ext cx="3765947" cy="396925"/>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Dokumentasi program penguatan kapasitas dan ekonomi komunitas lokal</a:t>
            </a:r>
            <a:endParaRPr lang="en-US" sz="1000" dirty="0">
              <a:latin typeface="Leelawadee UI" panose="020B0502040204020203" pitchFamily="34" charset="-34"/>
              <a:cs typeface="Leelawadee UI" panose="020B0502040204020203" pitchFamily="34" charset="-34"/>
            </a:endParaRPr>
          </a:p>
        </p:txBody>
      </p:sp>
      <p:sp>
        <p:nvSpPr>
          <p:cNvPr id="61" name="Shape 15">
            <a:extLst>
              <a:ext uri="{FF2B5EF4-FFF2-40B4-BE49-F238E27FC236}">
                <a16:creationId xmlns:a16="http://schemas.microsoft.com/office/drawing/2014/main" id="{F82BDBC2-360A-123B-44C4-0613EA6A231F}"/>
              </a:ext>
            </a:extLst>
          </p:cNvPr>
          <p:cNvSpPr/>
          <p:nvPr/>
        </p:nvSpPr>
        <p:spPr>
          <a:xfrm>
            <a:off x="419444" y="12232797"/>
            <a:ext cx="4013895" cy="714673"/>
          </a:xfrm>
          <a:prstGeom prst="roundRect">
            <a:avLst>
              <a:gd name="adj" fmla="val 2604"/>
            </a:avLst>
          </a:prstGeom>
          <a:solidFill>
            <a:srgbClr val="EDEBE3"/>
          </a:solidFill>
          <a:ln/>
        </p:spPr>
      </p:sp>
      <p:sp>
        <p:nvSpPr>
          <p:cNvPr id="62" name="Text 16">
            <a:extLst>
              <a:ext uri="{FF2B5EF4-FFF2-40B4-BE49-F238E27FC236}">
                <a16:creationId xmlns:a16="http://schemas.microsoft.com/office/drawing/2014/main" id="{0BCD178B-0FBB-E7A6-E41A-5DB2964F891A}"/>
              </a:ext>
            </a:extLst>
          </p:cNvPr>
          <p:cNvSpPr/>
          <p:nvPr/>
        </p:nvSpPr>
        <p:spPr>
          <a:xfrm>
            <a:off x="543417" y="12356771"/>
            <a:ext cx="1930226"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Kolaborasi &amp; Kemitraan</a:t>
            </a:r>
            <a:endParaRPr lang="en-US" sz="1400" dirty="0">
              <a:latin typeface="Leelawadee UI" panose="020B0502040204020203" pitchFamily="34" charset="-34"/>
              <a:cs typeface="Leelawadee UI" panose="020B0502040204020203" pitchFamily="34" charset="-34"/>
            </a:endParaRPr>
          </a:p>
        </p:txBody>
      </p:sp>
      <p:sp>
        <p:nvSpPr>
          <p:cNvPr id="63" name="Text 17">
            <a:extLst>
              <a:ext uri="{FF2B5EF4-FFF2-40B4-BE49-F238E27FC236}">
                <a16:creationId xmlns:a16="http://schemas.microsoft.com/office/drawing/2014/main" id="{2F4F1C07-EA5A-04EA-DD01-B1B6073374B8}"/>
              </a:ext>
            </a:extLst>
          </p:cNvPr>
          <p:cNvSpPr/>
          <p:nvPr/>
        </p:nvSpPr>
        <p:spPr>
          <a:xfrm>
            <a:off x="543417" y="12625034"/>
            <a:ext cx="3765947" cy="198462"/>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Momen kolaborasi lintas sektor dengan mitra strategis YNKI</a:t>
            </a:r>
            <a:endParaRPr lang="en-US" sz="1000" dirty="0">
              <a:latin typeface="Leelawadee UI" panose="020B0502040204020203" pitchFamily="34" charset="-34"/>
              <a:cs typeface="Leelawadee UI" panose="020B0502040204020203" pitchFamily="34" charset="-34"/>
            </a:endParaRPr>
          </a:p>
        </p:txBody>
      </p:sp>
      <p:sp>
        <p:nvSpPr>
          <p:cNvPr id="64" name="Shape 18">
            <a:extLst>
              <a:ext uri="{FF2B5EF4-FFF2-40B4-BE49-F238E27FC236}">
                <a16:creationId xmlns:a16="http://schemas.microsoft.com/office/drawing/2014/main" id="{0DF5AFD1-C7FD-2C80-03C8-4AA97E9F087E}"/>
              </a:ext>
            </a:extLst>
          </p:cNvPr>
          <p:cNvSpPr/>
          <p:nvPr/>
        </p:nvSpPr>
        <p:spPr>
          <a:xfrm>
            <a:off x="4557312" y="12232797"/>
            <a:ext cx="4013895" cy="714673"/>
          </a:xfrm>
          <a:prstGeom prst="roundRect">
            <a:avLst>
              <a:gd name="adj" fmla="val 2604"/>
            </a:avLst>
          </a:prstGeom>
          <a:solidFill>
            <a:srgbClr val="EDEBE3"/>
          </a:solidFill>
          <a:ln/>
        </p:spPr>
      </p:sp>
      <p:sp>
        <p:nvSpPr>
          <p:cNvPr id="65" name="Text 19">
            <a:extLst>
              <a:ext uri="{FF2B5EF4-FFF2-40B4-BE49-F238E27FC236}">
                <a16:creationId xmlns:a16="http://schemas.microsoft.com/office/drawing/2014/main" id="{7C8C002A-A6C2-3EB4-9A61-6E8A153C81B4}"/>
              </a:ext>
            </a:extLst>
          </p:cNvPr>
          <p:cNvSpPr/>
          <p:nvPr/>
        </p:nvSpPr>
        <p:spPr>
          <a:xfrm>
            <a:off x="4681286" y="12356771"/>
            <a:ext cx="1601763" cy="193849"/>
          </a:xfrm>
          <a:prstGeom prst="rect">
            <a:avLst/>
          </a:prstGeom>
          <a:noFill/>
          <a:ln/>
        </p:spPr>
        <p:txBody>
          <a:bodyPr wrap="none" lIns="0" tIns="0" rIns="0" bIns="0" rtlCol="0" anchor="t"/>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Video Dokumenter</a:t>
            </a:r>
            <a:endParaRPr lang="en-US" sz="1400" dirty="0">
              <a:latin typeface="Leelawadee UI" panose="020B0502040204020203" pitchFamily="34" charset="-34"/>
              <a:cs typeface="Leelawadee UI" panose="020B0502040204020203" pitchFamily="34" charset="-34"/>
            </a:endParaRPr>
          </a:p>
        </p:txBody>
      </p:sp>
      <p:sp>
        <p:nvSpPr>
          <p:cNvPr id="66" name="Text 20">
            <a:extLst>
              <a:ext uri="{FF2B5EF4-FFF2-40B4-BE49-F238E27FC236}">
                <a16:creationId xmlns:a16="http://schemas.microsoft.com/office/drawing/2014/main" id="{F075C20A-EC39-1174-D1C4-D96710F400DA}"/>
              </a:ext>
            </a:extLst>
          </p:cNvPr>
          <p:cNvSpPr/>
          <p:nvPr/>
        </p:nvSpPr>
        <p:spPr>
          <a:xfrm>
            <a:off x="4681286" y="12625034"/>
            <a:ext cx="3765947" cy="198462"/>
          </a:xfrm>
          <a:prstGeom prst="rect">
            <a:avLst/>
          </a:prstGeom>
          <a:noFill/>
          <a:ln/>
        </p:spPr>
        <p:txBody>
          <a:bodyPr wrap="none" lIns="0" tIns="0" rIns="0" bIns="0" rtlCol="0" anchor="t"/>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Film pendek dan video dokumentasi kegiatan lapangan YNKI</a:t>
            </a:r>
            <a:endParaRPr lang="en-US" sz="1000" dirty="0">
              <a:latin typeface="Leelawadee UI" panose="020B0502040204020203" pitchFamily="34" charset="-34"/>
              <a:cs typeface="Leelawadee UI" panose="020B0502040204020203" pitchFamily="34" charset="-34"/>
            </a:endParaRPr>
          </a:p>
        </p:txBody>
      </p:sp>
      <p:sp>
        <p:nvSpPr>
          <p:cNvPr id="67" name="Text 0">
            <a:extLst>
              <a:ext uri="{FF2B5EF4-FFF2-40B4-BE49-F238E27FC236}">
                <a16:creationId xmlns:a16="http://schemas.microsoft.com/office/drawing/2014/main" id="{8DE2395B-BF37-1000-D624-A3DAFCDC8C84}"/>
              </a:ext>
            </a:extLst>
          </p:cNvPr>
          <p:cNvSpPr/>
          <p:nvPr/>
        </p:nvSpPr>
        <p:spPr>
          <a:xfrm>
            <a:off x="578502" y="13353956"/>
            <a:ext cx="1838176" cy="172641"/>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Galeri Foto YNKI</a:t>
            </a:r>
            <a:endParaRPr lang="en-US" sz="1200" dirty="0">
              <a:latin typeface="Leelawadee UI" panose="020B0502040204020203" pitchFamily="34" charset="-34"/>
              <a:cs typeface="Leelawadee UI" panose="020B0502040204020203" pitchFamily="34" charset="-34"/>
            </a:endParaRPr>
          </a:p>
        </p:txBody>
      </p:sp>
      <p:sp>
        <p:nvSpPr>
          <p:cNvPr id="68" name="Text 1">
            <a:extLst>
              <a:ext uri="{FF2B5EF4-FFF2-40B4-BE49-F238E27FC236}">
                <a16:creationId xmlns:a16="http://schemas.microsoft.com/office/drawing/2014/main" id="{15181729-402A-C048-1D2A-7DE24CA57BC6}"/>
              </a:ext>
            </a:extLst>
          </p:cNvPr>
          <p:cNvSpPr/>
          <p:nvPr/>
        </p:nvSpPr>
        <p:spPr>
          <a:xfrm>
            <a:off x="3124012" y="13526357"/>
            <a:ext cx="3030736" cy="276151"/>
          </a:xfrm>
          <a:prstGeom prst="rect">
            <a:avLst/>
          </a:prstGeom>
          <a:noFill/>
          <a:ln/>
        </p:spPr>
        <p:txBody>
          <a:bodyPr wrap="none" lIns="0" tIns="0" rIns="0" bIns="0" rtlCol="0" anchor="t"/>
          <a:lstStyle/>
          <a:p>
            <a:pPr marL="0" indent="0" algn="ctr">
              <a:lnSpc>
                <a:spcPct val="104000"/>
              </a:lnSpc>
              <a:buNone/>
            </a:pPr>
            <a:r>
              <a:rPr lang="en-US" dirty="0">
                <a:solidFill>
                  <a:srgbClr val="161613"/>
                </a:solidFill>
                <a:latin typeface="Leelawadee UI" panose="020B0502040204020203" pitchFamily="34" charset="-34"/>
                <a:ea typeface="DM Sans Medium" pitchFamily="34" charset="-122"/>
                <a:cs typeface="Leelawadee UI" panose="020B0502040204020203" pitchFamily="34" charset="-34"/>
              </a:rPr>
              <a:t>Foto-Foto dari Lapangan</a:t>
            </a:r>
            <a:endParaRPr lang="en-US" dirty="0">
              <a:latin typeface="Leelawadee UI" panose="020B0502040204020203" pitchFamily="34" charset="-34"/>
              <a:cs typeface="Leelawadee UI" panose="020B0502040204020203" pitchFamily="34" charset="-34"/>
            </a:endParaRPr>
          </a:p>
        </p:txBody>
      </p:sp>
      <p:sp>
        <p:nvSpPr>
          <p:cNvPr id="69" name="Text 2">
            <a:extLst>
              <a:ext uri="{FF2B5EF4-FFF2-40B4-BE49-F238E27FC236}">
                <a16:creationId xmlns:a16="http://schemas.microsoft.com/office/drawing/2014/main" id="{6661C15E-F186-7FB0-39E8-2A1A940EE65E}"/>
              </a:ext>
            </a:extLst>
          </p:cNvPr>
          <p:cNvSpPr/>
          <p:nvPr/>
        </p:nvSpPr>
        <p:spPr>
          <a:xfrm>
            <a:off x="563499" y="13814786"/>
            <a:ext cx="8151763" cy="469552"/>
          </a:xfrm>
          <a:prstGeom prst="rect">
            <a:avLst/>
          </a:prstGeom>
          <a:noFill/>
          <a:ln/>
        </p:spPr>
        <p:txBody>
          <a:bodyPr wrap="square" lIns="0" tIns="0" rIns="0" bIns="0" rtlCol="0" anchor="t">
            <a:normAutofit/>
          </a:bodyPr>
          <a:lstStyle/>
          <a:p>
            <a:pPr marL="0" indent="0" algn="ctr">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Kumpulan foto dokumentasi dari berbagai program dan kegiatan YNKI. Setiap foto adalah cerita tentang perubahan, kolaborasi, dan harapan yang nyata—diabadikan langsung dari lokasi kegiatan di Kalimantan Barat dan wilayah lainnya.</a:t>
            </a:r>
            <a:endParaRPr lang="en-US" sz="1000" dirty="0">
              <a:latin typeface="Leelawadee UI" panose="020B0502040204020203" pitchFamily="34" charset="-34"/>
              <a:cs typeface="Leelawadee UI" panose="020B0502040204020203" pitchFamily="34" charset="-34"/>
            </a:endParaRPr>
          </a:p>
        </p:txBody>
      </p:sp>
      <p:pic>
        <p:nvPicPr>
          <p:cNvPr id="70" name="Image 0" descr="preencoded.png">
            <a:extLst>
              <a:ext uri="{FF2B5EF4-FFF2-40B4-BE49-F238E27FC236}">
                <a16:creationId xmlns:a16="http://schemas.microsoft.com/office/drawing/2014/main" id="{2D73DB94-6118-27A5-8D9A-DB31F56E7F10}"/>
              </a:ext>
            </a:extLst>
          </p:cNvPr>
          <p:cNvPicPr>
            <a:picLocks noChangeAspect="1"/>
          </p:cNvPicPr>
          <p:nvPr/>
        </p:nvPicPr>
        <p:blipFill>
          <a:blip r:embed="rId8"/>
          <a:stretch>
            <a:fillRect/>
          </a:stretch>
        </p:blipFill>
        <p:spPr>
          <a:xfrm>
            <a:off x="563499" y="14394992"/>
            <a:ext cx="1897410" cy="1172617"/>
          </a:xfrm>
          <a:prstGeom prst="rect">
            <a:avLst/>
          </a:prstGeom>
        </p:spPr>
      </p:pic>
      <p:sp>
        <p:nvSpPr>
          <p:cNvPr id="71" name="Text 3">
            <a:extLst>
              <a:ext uri="{FF2B5EF4-FFF2-40B4-BE49-F238E27FC236}">
                <a16:creationId xmlns:a16="http://schemas.microsoft.com/office/drawing/2014/main" id="{99EC3341-8CB6-8B89-238B-587199A7FF2B}"/>
              </a:ext>
            </a:extLst>
          </p:cNvPr>
          <p:cNvSpPr/>
          <p:nvPr/>
        </p:nvSpPr>
        <p:spPr>
          <a:xfrm>
            <a:off x="563499" y="15690541"/>
            <a:ext cx="2593181" cy="172641"/>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Restorasi Gambut di Desa Permata Jaya</a:t>
            </a:r>
            <a:endParaRPr lang="en-US" sz="1100" dirty="0">
              <a:latin typeface="Leelawadee UI" panose="020B0502040204020203" pitchFamily="34" charset="-34"/>
              <a:cs typeface="Leelawadee UI" panose="020B0502040204020203" pitchFamily="34" charset="-34"/>
            </a:endParaRPr>
          </a:p>
        </p:txBody>
      </p:sp>
      <p:sp>
        <p:nvSpPr>
          <p:cNvPr id="72" name="Text 4">
            <a:extLst>
              <a:ext uri="{FF2B5EF4-FFF2-40B4-BE49-F238E27FC236}">
                <a16:creationId xmlns:a16="http://schemas.microsoft.com/office/drawing/2014/main" id="{649AB7C7-C3D4-B669-F7C1-A4AF20C906B7}"/>
              </a:ext>
            </a:extLst>
          </p:cNvPr>
          <p:cNvSpPr/>
          <p:nvPr/>
        </p:nvSpPr>
        <p:spPr>
          <a:xfrm>
            <a:off x="563499" y="15922191"/>
            <a:ext cx="2635300" cy="1926345"/>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Desa Permata Jaya, Kabupaten Kubu Raya · 2024</a:t>
            </a:r>
            <a:endParaRPr lang="en-US" sz="1000" dirty="0">
              <a:latin typeface="Leelawadee UI" panose="020B0502040204020203" pitchFamily="34" charset="-34"/>
              <a:cs typeface="Leelawadee UI" panose="020B0502040204020203" pitchFamily="34" charset="-34"/>
            </a:endParaRPr>
          </a:p>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bersama PM Haze dan LDPH Permata Jaya mengadakan kegiatan penanaman pohon dalam rangka memperingati Hari Lingkungan Hidup Sedunia, melibatkan BKSDA KalBar, Dinas Lingkungan Hidup, masyarakat, dan pelajar setempat.</a:t>
            </a:r>
            <a:endParaRPr lang="en-US" sz="1000" dirty="0">
              <a:latin typeface="Leelawadee UI" panose="020B0502040204020203" pitchFamily="34" charset="-34"/>
              <a:cs typeface="Leelawadee UI" panose="020B0502040204020203" pitchFamily="34" charset="-34"/>
            </a:endParaRPr>
          </a:p>
        </p:txBody>
      </p:sp>
      <p:pic>
        <p:nvPicPr>
          <p:cNvPr id="73" name="Image 1" descr="preencoded.png">
            <a:extLst>
              <a:ext uri="{FF2B5EF4-FFF2-40B4-BE49-F238E27FC236}">
                <a16:creationId xmlns:a16="http://schemas.microsoft.com/office/drawing/2014/main" id="{CECAD4D4-8274-E3E0-A17B-56BE07CA529A}"/>
              </a:ext>
            </a:extLst>
          </p:cNvPr>
          <p:cNvPicPr>
            <a:picLocks noChangeAspect="1"/>
          </p:cNvPicPr>
          <p:nvPr/>
        </p:nvPicPr>
        <p:blipFill>
          <a:blip r:embed="rId9"/>
          <a:stretch>
            <a:fillRect/>
          </a:stretch>
        </p:blipFill>
        <p:spPr>
          <a:xfrm>
            <a:off x="531249" y="17561110"/>
            <a:ext cx="966341" cy="303758"/>
          </a:xfrm>
          <a:prstGeom prst="rect">
            <a:avLst/>
          </a:prstGeom>
        </p:spPr>
      </p:pic>
      <p:pic>
        <p:nvPicPr>
          <p:cNvPr id="74" name="Image 2" descr="preencoded.png">
            <a:extLst>
              <a:ext uri="{FF2B5EF4-FFF2-40B4-BE49-F238E27FC236}">
                <a16:creationId xmlns:a16="http://schemas.microsoft.com/office/drawing/2014/main" id="{7FE42774-5177-5908-F14F-2E058D438B09}"/>
              </a:ext>
            </a:extLst>
          </p:cNvPr>
          <p:cNvPicPr>
            <a:picLocks noChangeAspect="1"/>
          </p:cNvPicPr>
          <p:nvPr/>
        </p:nvPicPr>
        <p:blipFill>
          <a:blip r:embed="rId10"/>
          <a:stretch>
            <a:fillRect/>
          </a:stretch>
        </p:blipFill>
        <p:spPr>
          <a:xfrm>
            <a:off x="3321730" y="14394992"/>
            <a:ext cx="1897410" cy="1172617"/>
          </a:xfrm>
          <a:prstGeom prst="rect">
            <a:avLst/>
          </a:prstGeom>
        </p:spPr>
      </p:pic>
      <p:sp>
        <p:nvSpPr>
          <p:cNvPr id="75" name="Text 5">
            <a:extLst>
              <a:ext uri="{FF2B5EF4-FFF2-40B4-BE49-F238E27FC236}">
                <a16:creationId xmlns:a16="http://schemas.microsoft.com/office/drawing/2014/main" id="{605FF1B7-CD7E-943B-02EA-FA1626D3307D}"/>
              </a:ext>
            </a:extLst>
          </p:cNvPr>
          <p:cNvSpPr/>
          <p:nvPr/>
        </p:nvSpPr>
        <p:spPr>
          <a:xfrm>
            <a:off x="3321730" y="15690541"/>
            <a:ext cx="2635300" cy="345281"/>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Youth Camp: Community Action to Protect Forest</a:t>
            </a:r>
            <a:endParaRPr lang="en-US" sz="1100" dirty="0">
              <a:latin typeface="Leelawadee UI" panose="020B0502040204020203" pitchFamily="34" charset="-34"/>
              <a:cs typeface="Leelawadee UI" panose="020B0502040204020203" pitchFamily="34" charset="-34"/>
            </a:endParaRPr>
          </a:p>
        </p:txBody>
      </p:sp>
      <p:sp>
        <p:nvSpPr>
          <p:cNvPr id="76" name="Text 6">
            <a:extLst>
              <a:ext uri="{FF2B5EF4-FFF2-40B4-BE49-F238E27FC236}">
                <a16:creationId xmlns:a16="http://schemas.microsoft.com/office/drawing/2014/main" id="{71EDF67E-A327-6519-5DA9-AA38DAB55F5E}"/>
              </a:ext>
            </a:extLst>
          </p:cNvPr>
          <p:cNvSpPr/>
          <p:nvPr/>
        </p:nvSpPr>
        <p:spPr>
          <a:xfrm>
            <a:off x="3321730" y="16094832"/>
            <a:ext cx="2635300" cy="1753704"/>
          </a:xfrm>
          <a:prstGeom prst="rect">
            <a:avLst/>
          </a:prstGeom>
          <a:noFill/>
          <a:ln/>
        </p:spPr>
        <p:txBody>
          <a:bodyPr wrap="square" lIns="0" tIns="0" rIns="0" bIns="0" rtlCol="0" anchor="t"/>
          <a:lstStyle/>
          <a:p>
            <a:pPr marL="0" indent="0" algn="l">
              <a:lnSpc>
                <a:spcPct val="126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Kabupaten Ketapang · 2024</a:t>
            </a:r>
            <a:endParaRPr lang="en-US" sz="1000" dirty="0">
              <a:latin typeface="Leelawadee UI" panose="020B0502040204020203" pitchFamily="34" charset="-34"/>
              <a:cs typeface="Leelawadee UI" panose="020B0502040204020203" pitchFamily="34" charset="-34"/>
            </a:endParaRPr>
          </a:p>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melalui program KalFor Project menggelar Youth Camp yang melibatkan 30 anak muda dari tiga desa di Kecamatan Muara Pawan—Desa Mayak, Ulak Medang, dan Tanjungpura—untuk menjadi agen perubahan di komunitas mereka.</a:t>
            </a:r>
            <a:endParaRPr lang="en-US" sz="1000" dirty="0">
              <a:latin typeface="Leelawadee UI" panose="020B0502040204020203" pitchFamily="34" charset="-34"/>
              <a:cs typeface="Leelawadee UI" panose="020B0502040204020203" pitchFamily="34" charset="-34"/>
            </a:endParaRPr>
          </a:p>
        </p:txBody>
      </p:sp>
      <p:pic>
        <p:nvPicPr>
          <p:cNvPr id="77" name="Image 3" descr="preencoded.png">
            <a:extLst>
              <a:ext uri="{FF2B5EF4-FFF2-40B4-BE49-F238E27FC236}">
                <a16:creationId xmlns:a16="http://schemas.microsoft.com/office/drawing/2014/main" id="{178E9468-42D5-CF23-FB2B-9D0FB4303DB2}"/>
              </a:ext>
            </a:extLst>
          </p:cNvPr>
          <p:cNvPicPr>
            <a:picLocks noChangeAspect="1"/>
          </p:cNvPicPr>
          <p:nvPr/>
        </p:nvPicPr>
        <p:blipFill>
          <a:blip r:embed="rId9"/>
          <a:stretch>
            <a:fillRect/>
          </a:stretch>
        </p:blipFill>
        <p:spPr>
          <a:xfrm>
            <a:off x="3264801" y="17589402"/>
            <a:ext cx="966341" cy="303758"/>
          </a:xfrm>
          <a:prstGeom prst="rect">
            <a:avLst/>
          </a:prstGeom>
        </p:spPr>
      </p:pic>
      <p:pic>
        <p:nvPicPr>
          <p:cNvPr id="78" name="Image 4" descr="preencoded.png">
            <a:extLst>
              <a:ext uri="{FF2B5EF4-FFF2-40B4-BE49-F238E27FC236}">
                <a16:creationId xmlns:a16="http://schemas.microsoft.com/office/drawing/2014/main" id="{CB4FC070-F4FA-967C-20D5-1403A6A69C67}"/>
              </a:ext>
            </a:extLst>
          </p:cNvPr>
          <p:cNvPicPr>
            <a:picLocks noChangeAspect="1"/>
          </p:cNvPicPr>
          <p:nvPr/>
        </p:nvPicPr>
        <p:blipFill>
          <a:blip r:embed="rId11"/>
          <a:stretch>
            <a:fillRect/>
          </a:stretch>
        </p:blipFill>
        <p:spPr>
          <a:xfrm>
            <a:off x="6079962" y="14394992"/>
            <a:ext cx="1897410" cy="1172617"/>
          </a:xfrm>
          <a:prstGeom prst="rect">
            <a:avLst/>
          </a:prstGeom>
        </p:spPr>
      </p:pic>
      <p:sp>
        <p:nvSpPr>
          <p:cNvPr id="79" name="Text 7">
            <a:extLst>
              <a:ext uri="{FF2B5EF4-FFF2-40B4-BE49-F238E27FC236}">
                <a16:creationId xmlns:a16="http://schemas.microsoft.com/office/drawing/2014/main" id="{97AA43FD-8803-2C25-5BEE-F20C9D61EB3F}"/>
              </a:ext>
            </a:extLst>
          </p:cNvPr>
          <p:cNvSpPr/>
          <p:nvPr/>
        </p:nvSpPr>
        <p:spPr>
          <a:xfrm>
            <a:off x="6079962" y="15690541"/>
            <a:ext cx="2635300" cy="345281"/>
          </a:xfrm>
          <a:prstGeom prst="rect">
            <a:avLst/>
          </a:prstGeom>
          <a:noFill/>
          <a:ln/>
        </p:spPr>
        <p:txBody>
          <a:bodyPr wrap="square" lIns="0" tIns="0" rIns="0" bIns="0" rtlCol="0" anchor="t">
            <a:normAutofit/>
          </a:bodyPr>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Pengembangan Usaha Madu Hutan Desa Ulak Medang</a:t>
            </a:r>
            <a:endParaRPr lang="en-US" sz="1100" dirty="0">
              <a:latin typeface="Leelawadee UI" panose="020B0502040204020203" pitchFamily="34" charset="-34"/>
              <a:cs typeface="Leelawadee UI" panose="020B0502040204020203" pitchFamily="34" charset="-34"/>
            </a:endParaRPr>
          </a:p>
        </p:txBody>
      </p:sp>
      <p:sp>
        <p:nvSpPr>
          <p:cNvPr id="80" name="Text 8">
            <a:extLst>
              <a:ext uri="{FF2B5EF4-FFF2-40B4-BE49-F238E27FC236}">
                <a16:creationId xmlns:a16="http://schemas.microsoft.com/office/drawing/2014/main" id="{D60A5624-BFD1-9A3B-71F3-0B12E180EBC7}"/>
              </a:ext>
            </a:extLst>
          </p:cNvPr>
          <p:cNvSpPr/>
          <p:nvPr/>
        </p:nvSpPr>
        <p:spPr>
          <a:xfrm>
            <a:off x="6079962" y="16094831"/>
            <a:ext cx="2635300" cy="1718701"/>
          </a:xfrm>
          <a:prstGeom prst="rect">
            <a:avLst/>
          </a:prstGeom>
          <a:noFill/>
          <a:ln/>
        </p:spPr>
        <p:txBody>
          <a:bodyPr wrap="square" lIns="0" tIns="0" rIns="0" bIns="0" rtlCol="0" anchor="t">
            <a:normAutofit/>
          </a:bodyPr>
          <a:lstStyle/>
          <a:p>
            <a:pPr marL="0" indent="0" algn="l">
              <a:lnSpc>
                <a:spcPct val="126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Desa Ulak Medang, Kabupaten Ketapang · 2024</a:t>
            </a:r>
            <a:endParaRPr lang="en-US" sz="1000" dirty="0">
              <a:latin typeface="Leelawadee UI" panose="020B0502040204020203" pitchFamily="34" charset="-34"/>
              <a:cs typeface="Leelawadee UI" panose="020B0502040204020203" pitchFamily="34" charset="-34"/>
            </a:endParaRPr>
          </a:p>
          <a:p>
            <a:pPr marL="0" indent="0" algn="l">
              <a:lnSpc>
                <a:spcPct val="126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bersama UNDP KalFor menyerahkan peralatan canggih—dehumidifier, refraktometer, perlengkapan pemrosesan madu, dan APD—untuk meningkatkan kualitas madu hutan sesuai standar SNI.</a:t>
            </a:r>
            <a:endParaRPr lang="en-US" sz="1000" dirty="0">
              <a:latin typeface="Leelawadee UI" panose="020B0502040204020203" pitchFamily="34" charset="-34"/>
              <a:cs typeface="Leelawadee UI" panose="020B0502040204020203" pitchFamily="34" charset="-34"/>
            </a:endParaRPr>
          </a:p>
        </p:txBody>
      </p:sp>
      <p:pic>
        <p:nvPicPr>
          <p:cNvPr id="81" name="Image 5" descr="preencoded.png">
            <a:extLst>
              <a:ext uri="{FF2B5EF4-FFF2-40B4-BE49-F238E27FC236}">
                <a16:creationId xmlns:a16="http://schemas.microsoft.com/office/drawing/2014/main" id="{AAE78A0D-3205-EC78-A06A-7D5FEC088238}"/>
              </a:ext>
            </a:extLst>
          </p:cNvPr>
          <p:cNvPicPr>
            <a:picLocks noChangeAspect="1"/>
          </p:cNvPicPr>
          <p:nvPr/>
        </p:nvPicPr>
        <p:blipFill>
          <a:blip r:embed="rId9"/>
          <a:stretch>
            <a:fillRect/>
          </a:stretch>
        </p:blipFill>
        <p:spPr>
          <a:xfrm>
            <a:off x="6047712" y="17566616"/>
            <a:ext cx="966341" cy="303758"/>
          </a:xfrm>
          <a:prstGeom prst="rect">
            <a:avLst/>
          </a:prstGeom>
        </p:spPr>
      </p:pic>
      <p:pic>
        <p:nvPicPr>
          <p:cNvPr id="82" name="Image 0" descr="preencoded.png">
            <a:extLst>
              <a:ext uri="{FF2B5EF4-FFF2-40B4-BE49-F238E27FC236}">
                <a16:creationId xmlns:a16="http://schemas.microsoft.com/office/drawing/2014/main" id="{CA816593-39F4-D628-1970-B8A64654C248}"/>
              </a:ext>
            </a:extLst>
          </p:cNvPr>
          <p:cNvPicPr>
            <a:picLocks noChangeAspect="1"/>
          </p:cNvPicPr>
          <p:nvPr/>
        </p:nvPicPr>
        <p:blipFill>
          <a:blip r:embed="rId12"/>
          <a:stretch>
            <a:fillRect/>
          </a:stretch>
        </p:blipFill>
        <p:spPr>
          <a:xfrm>
            <a:off x="6063171" y="18281746"/>
            <a:ext cx="2909603" cy="4364404"/>
          </a:xfrm>
          <a:prstGeom prst="rect">
            <a:avLst/>
          </a:prstGeom>
        </p:spPr>
      </p:pic>
      <p:sp>
        <p:nvSpPr>
          <p:cNvPr id="83" name="Text 0">
            <a:extLst>
              <a:ext uri="{FF2B5EF4-FFF2-40B4-BE49-F238E27FC236}">
                <a16:creationId xmlns:a16="http://schemas.microsoft.com/office/drawing/2014/main" id="{53C83C06-3903-1B33-2C6A-7453867C082D}"/>
              </a:ext>
            </a:extLst>
          </p:cNvPr>
          <p:cNvSpPr/>
          <p:nvPr/>
        </p:nvSpPr>
        <p:spPr>
          <a:xfrm>
            <a:off x="567553" y="18175215"/>
            <a:ext cx="4722763" cy="610493"/>
          </a:xfrm>
          <a:prstGeom prst="rect">
            <a:avLst/>
          </a:prstGeom>
          <a:noFill/>
          <a:ln/>
        </p:spPr>
        <p:txBody>
          <a:bodyPr wrap="square" lIns="0" tIns="0" rIns="0" bIns="0" rtlCol="0" anchor="t">
            <a:noAutofit/>
          </a:bodyPr>
          <a:lstStyle/>
          <a:p>
            <a:pPr marL="0" indent="0" algn="l">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Rapat Koordinasi YNKI-UNDP KalFor bersama OPD dan NGO</a:t>
            </a:r>
            <a:endParaRPr lang="en-US" sz="2000" dirty="0">
              <a:latin typeface="Leelawadee UI" panose="020B0502040204020203" pitchFamily="34" charset="-34"/>
              <a:cs typeface="Leelawadee UI" panose="020B0502040204020203" pitchFamily="34" charset="-34"/>
            </a:endParaRPr>
          </a:p>
        </p:txBody>
      </p:sp>
      <p:sp>
        <p:nvSpPr>
          <p:cNvPr id="84" name="Text 1">
            <a:extLst>
              <a:ext uri="{FF2B5EF4-FFF2-40B4-BE49-F238E27FC236}">
                <a16:creationId xmlns:a16="http://schemas.microsoft.com/office/drawing/2014/main" id="{BD462407-F0E6-4E26-CED0-020A063C91F4}"/>
              </a:ext>
            </a:extLst>
          </p:cNvPr>
          <p:cNvSpPr/>
          <p:nvPr/>
        </p:nvSpPr>
        <p:spPr>
          <a:xfrm>
            <a:off x="567553" y="18965939"/>
            <a:ext cx="4722763" cy="1298302"/>
          </a:xfrm>
          <a:prstGeom prst="rect">
            <a:avLst/>
          </a:prstGeom>
          <a:noFill/>
          <a:ln/>
        </p:spPr>
        <p:txBody>
          <a:bodyPr wrap="square" lIns="0" tIns="0" rIns="0" bIns="0" rtlCol="0" anchor="t"/>
          <a:lstStyle/>
          <a:p>
            <a:pPr marL="0" indent="0" algn="l">
              <a:lnSpc>
                <a:spcPct val="132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Kabupaten Ketapang · 2024</a:t>
            </a:r>
            <a:endParaRPr lang="en-US" sz="1000" dirty="0">
              <a:latin typeface="Leelawadee UI" panose="020B0502040204020203" pitchFamily="34" charset="-34"/>
              <a:cs typeface="Leelawadee UI" panose="020B0502040204020203" pitchFamily="34" charset="-34"/>
            </a:endParaRPr>
          </a:p>
          <a:p>
            <a:pPr marL="0" indent="0" algn="l">
              <a:lnSpc>
                <a:spcPct val="132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YNKI-UNDP KalFor menyelenggarakan Rapat Koordinasi (RaKor) terakhir bersama Organisasi Perangkat Daerah (OPD) dan NGO, difasilitasi oleh BAPPEDA Kabupaten Ketapang. Pertemuan ini menandai puncak satu tahun kolaborasi pendampingan di tiga desa—momen bersejarah yang mencerminkan komitmen multipihak dalam tata kelola lanskap yang inklusif.</a:t>
            </a:r>
            <a:endParaRPr lang="en-US" sz="1000" dirty="0">
              <a:latin typeface="Leelawadee UI" panose="020B0502040204020203" pitchFamily="34" charset="-34"/>
              <a:cs typeface="Leelawadee UI" panose="020B0502040204020203" pitchFamily="34" charset="-34"/>
            </a:endParaRPr>
          </a:p>
        </p:txBody>
      </p:sp>
      <p:sp>
        <p:nvSpPr>
          <p:cNvPr id="85" name="Shape 2">
            <a:extLst>
              <a:ext uri="{FF2B5EF4-FFF2-40B4-BE49-F238E27FC236}">
                <a16:creationId xmlns:a16="http://schemas.microsoft.com/office/drawing/2014/main" id="{0162C216-0940-A8BD-62BD-77E745147513}"/>
              </a:ext>
            </a:extLst>
          </p:cNvPr>
          <p:cNvSpPr/>
          <p:nvPr/>
        </p:nvSpPr>
        <p:spPr>
          <a:xfrm>
            <a:off x="479670" y="20399451"/>
            <a:ext cx="2388245" cy="2150046"/>
          </a:xfrm>
          <a:prstGeom prst="roundRect">
            <a:avLst>
              <a:gd name="adj" fmla="val 852"/>
            </a:avLst>
          </a:prstGeom>
          <a:solidFill>
            <a:srgbClr val="28282F"/>
          </a:solidFill>
          <a:ln/>
        </p:spPr>
      </p:sp>
      <p:sp>
        <p:nvSpPr>
          <p:cNvPr id="86" name="Text 3">
            <a:extLst>
              <a:ext uri="{FF2B5EF4-FFF2-40B4-BE49-F238E27FC236}">
                <a16:creationId xmlns:a16="http://schemas.microsoft.com/office/drawing/2014/main" id="{9960BFA4-7484-7E22-AF24-66D0EC918DBD}"/>
              </a:ext>
            </a:extLst>
          </p:cNvPr>
          <p:cNvSpPr/>
          <p:nvPr/>
        </p:nvSpPr>
        <p:spPr>
          <a:xfrm>
            <a:off x="601709" y="20519630"/>
            <a:ext cx="2150641" cy="190723"/>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Tentang Program KalFor</a:t>
            </a:r>
            <a:endParaRPr lang="en-US" sz="1400" dirty="0">
              <a:latin typeface="Leelawadee UI" panose="020B0502040204020203" pitchFamily="34" charset="-34"/>
              <a:cs typeface="Leelawadee UI" panose="020B0502040204020203" pitchFamily="34" charset="-34"/>
            </a:endParaRPr>
          </a:p>
        </p:txBody>
      </p:sp>
      <p:sp>
        <p:nvSpPr>
          <p:cNvPr id="87" name="Text 4">
            <a:extLst>
              <a:ext uri="{FF2B5EF4-FFF2-40B4-BE49-F238E27FC236}">
                <a16:creationId xmlns:a16="http://schemas.microsoft.com/office/drawing/2014/main" id="{F141A0C9-E717-0F0E-39B3-106FDAD6B761}"/>
              </a:ext>
            </a:extLst>
          </p:cNvPr>
          <p:cNvSpPr/>
          <p:nvPr/>
        </p:nvSpPr>
        <p:spPr>
          <a:xfrm>
            <a:off x="601709" y="20830532"/>
            <a:ext cx="2144167" cy="1163092"/>
          </a:xfrm>
          <a:prstGeom prst="rect">
            <a:avLst/>
          </a:prstGeom>
          <a:noFill/>
          <a:ln/>
        </p:spPr>
        <p:txBody>
          <a:bodyPr wrap="square" lIns="0" tIns="0" rIns="0" bIns="0" rtlCol="0" anchor="t">
            <a:noAutofit/>
          </a:bodyPr>
          <a:lstStyle/>
          <a:p>
            <a:pPr marL="0" indent="0" algn="l">
              <a:lnSpc>
                <a:spcPct val="132000"/>
              </a:lnSpc>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Program KalFor merupakan inisiatif YNKI bersama UNDP untuk memperkuat kapasitas komunitas lokal dalam pengelolaan hutan dan lahan gambut secara berkelanjutan di Kalimantan Barat.</a:t>
            </a:r>
            <a:endParaRPr lang="en-US" sz="1000" dirty="0">
              <a:latin typeface="Leelawadee UI" panose="020B0502040204020203" pitchFamily="34" charset="-34"/>
              <a:cs typeface="Leelawadee UI" panose="020B0502040204020203" pitchFamily="34" charset="-34"/>
            </a:endParaRPr>
          </a:p>
        </p:txBody>
      </p:sp>
      <p:sp>
        <p:nvSpPr>
          <p:cNvPr id="88" name="Text 5">
            <a:extLst>
              <a:ext uri="{FF2B5EF4-FFF2-40B4-BE49-F238E27FC236}">
                <a16:creationId xmlns:a16="http://schemas.microsoft.com/office/drawing/2014/main" id="{A974F31E-A902-CD38-94C3-7463D327E9E4}"/>
              </a:ext>
            </a:extLst>
          </p:cNvPr>
          <p:cNvSpPr/>
          <p:nvPr/>
        </p:nvSpPr>
        <p:spPr>
          <a:xfrm>
            <a:off x="3082599" y="20519630"/>
            <a:ext cx="2243733" cy="190723"/>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Capaian Kolaborasi 2024</a:t>
            </a:r>
            <a:endParaRPr lang="en-US" sz="1400" dirty="0">
              <a:latin typeface="Leelawadee UI" panose="020B0502040204020203" pitchFamily="34" charset="-34"/>
              <a:cs typeface="Leelawadee UI" panose="020B0502040204020203" pitchFamily="34" charset="-34"/>
            </a:endParaRPr>
          </a:p>
        </p:txBody>
      </p:sp>
      <p:sp>
        <p:nvSpPr>
          <p:cNvPr id="89" name="Text 6">
            <a:extLst>
              <a:ext uri="{FF2B5EF4-FFF2-40B4-BE49-F238E27FC236}">
                <a16:creationId xmlns:a16="http://schemas.microsoft.com/office/drawing/2014/main" id="{2FFEBE79-1BBB-364E-5EC6-BEABF2765C18}"/>
              </a:ext>
            </a:extLst>
          </p:cNvPr>
          <p:cNvSpPr/>
          <p:nvPr/>
        </p:nvSpPr>
        <p:spPr>
          <a:xfrm>
            <a:off x="3082599" y="20830532"/>
            <a:ext cx="2212479" cy="1676921"/>
          </a:xfrm>
          <a:prstGeom prst="rect">
            <a:avLst/>
          </a:prstGeom>
          <a:noFill/>
          <a:ln/>
        </p:spPr>
        <p:txBody>
          <a:bodyPr wrap="square" lIns="0" tIns="0" rIns="0" bIns="0" rtlCol="0" anchor="t">
            <a:normAutofit/>
          </a:bodyPr>
          <a:lstStyle/>
          <a:p>
            <a:pPr marL="342900" indent="-342900" algn="l">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Pendampingan tiga desa mitra selama 12 bulan penuh</a:t>
            </a:r>
            <a:endParaRPr lang="en-US" sz="1000" dirty="0">
              <a:latin typeface="Leelawadee UI" panose="020B0502040204020203" pitchFamily="34" charset="-34"/>
              <a:cs typeface="Leelawadee UI" panose="020B0502040204020203" pitchFamily="34" charset="-34"/>
            </a:endParaRPr>
          </a:p>
          <a:p>
            <a:pPr marL="342900" indent="-342900" algn="l">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Koordinasi lintas sektor dengan OPD dan NGO lokal</a:t>
            </a:r>
            <a:endParaRPr lang="en-US" sz="1000" dirty="0">
              <a:latin typeface="Leelawadee UI" panose="020B0502040204020203" pitchFamily="34" charset="-34"/>
              <a:cs typeface="Leelawadee UI" panose="020B0502040204020203" pitchFamily="34" charset="-34"/>
            </a:endParaRPr>
          </a:p>
          <a:p>
            <a:pPr marL="342900" indent="-342900" algn="l">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Fasilitasi BAPPEDA Kabupaten Ketapang</a:t>
            </a:r>
            <a:endParaRPr lang="en-US" sz="1000" dirty="0">
              <a:latin typeface="Leelawadee UI" panose="020B0502040204020203" pitchFamily="34" charset="-34"/>
              <a:cs typeface="Leelawadee UI" panose="020B0502040204020203" pitchFamily="34" charset="-34"/>
            </a:endParaRPr>
          </a:p>
          <a:p>
            <a:pPr marL="342900" indent="-342900" algn="l">
              <a:lnSpc>
                <a:spcPct val="132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Penguatan kapasitas kelembagaan desa</a:t>
            </a:r>
            <a:endParaRPr lang="en-US" sz="1000" dirty="0">
              <a:latin typeface="Leelawadee UI" panose="020B0502040204020203" pitchFamily="34" charset="-34"/>
              <a:cs typeface="Leelawadee UI" panose="020B0502040204020203" pitchFamily="34" charset="-34"/>
            </a:endParaRPr>
          </a:p>
        </p:txBody>
      </p:sp>
      <p:sp>
        <p:nvSpPr>
          <p:cNvPr id="98" name="Text 0">
            <a:extLst>
              <a:ext uri="{FF2B5EF4-FFF2-40B4-BE49-F238E27FC236}">
                <a16:creationId xmlns:a16="http://schemas.microsoft.com/office/drawing/2014/main" id="{F158E54D-5CEE-04E6-4797-84293D5C52F5}"/>
              </a:ext>
            </a:extLst>
          </p:cNvPr>
          <p:cNvSpPr/>
          <p:nvPr/>
        </p:nvSpPr>
        <p:spPr>
          <a:xfrm>
            <a:off x="504647" y="23093166"/>
            <a:ext cx="2007766" cy="193849"/>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Galeri Foto Lanjutan</a:t>
            </a:r>
            <a:endParaRPr lang="en-US" sz="1200" dirty="0">
              <a:latin typeface="Leelawadee UI" panose="020B0502040204020203" pitchFamily="34" charset="-34"/>
              <a:cs typeface="Leelawadee UI" panose="020B0502040204020203" pitchFamily="34" charset="-34"/>
            </a:endParaRPr>
          </a:p>
        </p:txBody>
      </p:sp>
      <p:sp>
        <p:nvSpPr>
          <p:cNvPr id="99" name="Text 1">
            <a:extLst>
              <a:ext uri="{FF2B5EF4-FFF2-40B4-BE49-F238E27FC236}">
                <a16:creationId xmlns:a16="http://schemas.microsoft.com/office/drawing/2014/main" id="{6B533995-AA38-A7A7-72C0-3BA91ABAABF1}"/>
              </a:ext>
            </a:extLst>
          </p:cNvPr>
          <p:cNvSpPr/>
          <p:nvPr/>
        </p:nvSpPr>
        <p:spPr>
          <a:xfrm>
            <a:off x="2786395" y="23274216"/>
            <a:ext cx="3562945" cy="310083"/>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Lokakarya &amp; Studi Banding</a:t>
            </a:r>
            <a:endParaRPr lang="en-US" sz="2000" dirty="0">
              <a:latin typeface="Leelawadee UI" panose="020B0502040204020203" pitchFamily="34" charset="-34"/>
              <a:cs typeface="Leelawadee UI" panose="020B0502040204020203" pitchFamily="34" charset="-34"/>
            </a:endParaRPr>
          </a:p>
        </p:txBody>
      </p:sp>
      <p:pic>
        <p:nvPicPr>
          <p:cNvPr id="100" name="Image 0" descr="preencoded.png">
            <a:extLst>
              <a:ext uri="{FF2B5EF4-FFF2-40B4-BE49-F238E27FC236}">
                <a16:creationId xmlns:a16="http://schemas.microsoft.com/office/drawing/2014/main" id="{57DDEE78-9642-D685-0718-92EE11934775}"/>
              </a:ext>
            </a:extLst>
          </p:cNvPr>
          <p:cNvPicPr>
            <a:picLocks noChangeAspect="1"/>
          </p:cNvPicPr>
          <p:nvPr/>
        </p:nvPicPr>
        <p:blipFill>
          <a:blip r:embed="rId13"/>
          <a:stretch>
            <a:fillRect/>
          </a:stretch>
        </p:blipFill>
        <p:spPr>
          <a:xfrm>
            <a:off x="491987" y="23770335"/>
            <a:ext cx="1159446" cy="716533"/>
          </a:xfrm>
          <a:prstGeom prst="rect">
            <a:avLst/>
          </a:prstGeom>
        </p:spPr>
      </p:pic>
      <p:sp>
        <p:nvSpPr>
          <p:cNvPr id="101" name="Text 2">
            <a:extLst>
              <a:ext uri="{FF2B5EF4-FFF2-40B4-BE49-F238E27FC236}">
                <a16:creationId xmlns:a16="http://schemas.microsoft.com/office/drawing/2014/main" id="{29E6C1FC-72B4-EB4F-00F3-B77FAD3DD3F5}"/>
              </a:ext>
            </a:extLst>
          </p:cNvPr>
          <p:cNvSpPr/>
          <p:nvPr/>
        </p:nvSpPr>
        <p:spPr>
          <a:xfrm>
            <a:off x="1806437" y="23770335"/>
            <a:ext cx="2683892"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Lokakarya Restorasi Gambut Partisipatif</a:t>
            </a:r>
            <a:endParaRPr lang="en-US" sz="1400" dirty="0">
              <a:latin typeface="Leelawadee UI" panose="020B0502040204020203" pitchFamily="34" charset="-34"/>
              <a:cs typeface="Leelawadee UI" panose="020B0502040204020203" pitchFamily="34" charset="-34"/>
            </a:endParaRPr>
          </a:p>
        </p:txBody>
      </p:sp>
      <p:sp>
        <p:nvSpPr>
          <p:cNvPr id="102" name="Text 3">
            <a:extLst>
              <a:ext uri="{FF2B5EF4-FFF2-40B4-BE49-F238E27FC236}">
                <a16:creationId xmlns:a16="http://schemas.microsoft.com/office/drawing/2014/main" id="{35DBB519-2D34-4CF0-9852-BA6782CCDC92}"/>
              </a:ext>
            </a:extLst>
          </p:cNvPr>
          <p:cNvSpPr/>
          <p:nvPr/>
        </p:nvSpPr>
        <p:spPr>
          <a:xfrm>
            <a:off x="476434" y="24701701"/>
            <a:ext cx="4013895" cy="1396082"/>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Desa Permata Jaya, Kabupaten Kubu Raya · 2024</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menyelenggarakan lokakarya restorasi gambut yang mempertemukan berbagai elemen masyarakat desa, Pemerintah Desa, BPD, LDPH, dan kelompok pengajar. Forum partisipatif ini menjadi ruang dialog dan perencanaan bersama untuk pemulihan ekosistem gambut secara berkelanjutan.</a:t>
            </a:r>
            <a:endParaRPr lang="en-US" sz="1000" dirty="0">
              <a:latin typeface="Leelawadee UI" panose="020B0502040204020203" pitchFamily="34" charset="-34"/>
              <a:cs typeface="Leelawadee UI" panose="020B0502040204020203" pitchFamily="34" charset="-34"/>
            </a:endParaRPr>
          </a:p>
        </p:txBody>
      </p:sp>
      <p:pic>
        <p:nvPicPr>
          <p:cNvPr id="103" name="Image 1" descr="preencoded.png">
            <a:extLst>
              <a:ext uri="{FF2B5EF4-FFF2-40B4-BE49-F238E27FC236}">
                <a16:creationId xmlns:a16="http://schemas.microsoft.com/office/drawing/2014/main" id="{EBB0E3CB-2E43-348E-32CD-C373E3CE8E5C}"/>
              </a:ext>
            </a:extLst>
          </p:cNvPr>
          <p:cNvPicPr>
            <a:picLocks noChangeAspect="1"/>
          </p:cNvPicPr>
          <p:nvPr/>
        </p:nvPicPr>
        <p:blipFill>
          <a:blip r:embed="rId14"/>
          <a:stretch>
            <a:fillRect/>
          </a:stretch>
        </p:blipFill>
        <p:spPr>
          <a:xfrm>
            <a:off x="2668722" y="25737098"/>
            <a:ext cx="1084808" cy="341114"/>
          </a:xfrm>
          <a:prstGeom prst="rect">
            <a:avLst/>
          </a:prstGeom>
        </p:spPr>
      </p:pic>
      <p:pic>
        <p:nvPicPr>
          <p:cNvPr id="104" name="Image 2" descr="preencoded.png">
            <a:extLst>
              <a:ext uri="{FF2B5EF4-FFF2-40B4-BE49-F238E27FC236}">
                <a16:creationId xmlns:a16="http://schemas.microsoft.com/office/drawing/2014/main" id="{6AD34F8D-7270-893F-4383-EB1302072889}"/>
              </a:ext>
            </a:extLst>
          </p:cNvPr>
          <p:cNvPicPr>
            <a:picLocks noChangeAspect="1"/>
          </p:cNvPicPr>
          <p:nvPr/>
        </p:nvPicPr>
        <p:blipFill>
          <a:blip r:embed="rId15"/>
          <a:stretch>
            <a:fillRect/>
          </a:stretch>
        </p:blipFill>
        <p:spPr>
          <a:xfrm>
            <a:off x="4645333" y="23770335"/>
            <a:ext cx="1159520" cy="716607"/>
          </a:xfrm>
          <a:prstGeom prst="rect">
            <a:avLst/>
          </a:prstGeom>
        </p:spPr>
      </p:pic>
      <p:sp>
        <p:nvSpPr>
          <p:cNvPr id="105" name="Text 4">
            <a:extLst>
              <a:ext uri="{FF2B5EF4-FFF2-40B4-BE49-F238E27FC236}">
                <a16:creationId xmlns:a16="http://schemas.microsoft.com/office/drawing/2014/main" id="{CC4150D7-CE3D-0FAC-F854-B89D92DCD338}"/>
              </a:ext>
            </a:extLst>
          </p:cNvPr>
          <p:cNvSpPr/>
          <p:nvPr/>
        </p:nvSpPr>
        <p:spPr>
          <a:xfrm>
            <a:off x="5959857" y="23770335"/>
            <a:ext cx="2683892"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Studi Banding Restorasi Gambut ke Pulau Tebing Tinggi</a:t>
            </a:r>
            <a:endParaRPr lang="en-US" sz="1400" dirty="0">
              <a:latin typeface="Leelawadee UI" panose="020B0502040204020203" pitchFamily="34" charset="-34"/>
              <a:cs typeface="Leelawadee UI" panose="020B0502040204020203" pitchFamily="34" charset="-34"/>
            </a:endParaRPr>
          </a:p>
        </p:txBody>
      </p:sp>
      <p:sp>
        <p:nvSpPr>
          <p:cNvPr id="106" name="Text 5">
            <a:extLst>
              <a:ext uri="{FF2B5EF4-FFF2-40B4-BE49-F238E27FC236}">
                <a16:creationId xmlns:a16="http://schemas.microsoft.com/office/drawing/2014/main" id="{D7CD7F39-6C0A-0A39-5944-4F62261647E9}"/>
              </a:ext>
            </a:extLst>
          </p:cNvPr>
          <p:cNvSpPr/>
          <p:nvPr/>
        </p:nvSpPr>
        <p:spPr>
          <a:xfrm>
            <a:off x="4629904" y="24586127"/>
            <a:ext cx="3965253" cy="151165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Desa Sungai Tohor, Kabupaten Kepulauan Meranti, Riau · 2022</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melakukan studi banding ke Pulau Tebing Tinggi untuk berbagi pengalaman dan pengetahuan tentang praktik terbaik restorasi gambut. Kunjungan ini memperkaya wawasan dan memperluas jaringan kolaborasi YNKI dengan komunitas restorasi gambut lintas provinsi.</a:t>
            </a:r>
            <a:endParaRPr lang="en-US" sz="1000" dirty="0">
              <a:latin typeface="Leelawadee UI" panose="020B0502040204020203" pitchFamily="34" charset="-34"/>
              <a:cs typeface="Leelawadee UI" panose="020B0502040204020203" pitchFamily="34" charset="-34"/>
            </a:endParaRPr>
          </a:p>
        </p:txBody>
      </p:sp>
      <p:pic>
        <p:nvPicPr>
          <p:cNvPr id="107" name="Image 3" descr="preencoded.png">
            <a:extLst>
              <a:ext uri="{FF2B5EF4-FFF2-40B4-BE49-F238E27FC236}">
                <a16:creationId xmlns:a16="http://schemas.microsoft.com/office/drawing/2014/main" id="{148D0DDA-67E2-E505-70A3-87DB484017D3}"/>
              </a:ext>
            </a:extLst>
          </p:cNvPr>
          <p:cNvPicPr>
            <a:picLocks noChangeAspect="1"/>
          </p:cNvPicPr>
          <p:nvPr/>
        </p:nvPicPr>
        <p:blipFill>
          <a:blip r:embed="rId14"/>
          <a:stretch>
            <a:fillRect/>
          </a:stretch>
        </p:blipFill>
        <p:spPr>
          <a:xfrm>
            <a:off x="6822142" y="25737098"/>
            <a:ext cx="1084808" cy="341114"/>
          </a:xfrm>
          <a:prstGeom prst="rect">
            <a:avLst/>
          </a:prstGeom>
        </p:spPr>
      </p:pic>
      <p:sp>
        <p:nvSpPr>
          <p:cNvPr id="108" name="Text 0">
            <a:extLst>
              <a:ext uri="{FF2B5EF4-FFF2-40B4-BE49-F238E27FC236}">
                <a16:creationId xmlns:a16="http://schemas.microsoft.com/office/drawing/2014/main" id="{3F09B83C-BA9A-62ED-5F80-866B10A907F4}"/>
              </a:ext>
            </a:extLst>
          </p:cNvPr>
          <p:cNvSpPr/>
          <p:nvPr/>
        </p:nvSpPr>
        <p:spPr>
          <a:xfrm>
            <a:off x="419444" y="26919760"/>
            <a:ext cx="2256979" cy="193849"/>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Video Dokumentasi YNKI</a:t>
            </a:r>
            <a:endParaRPr lang="en-US" sz="1200" dirty="0">
              <a:latin typeface="Leelawadee UI" panose="020B0502040204020203" pitchFamily="34" charset="-34"/>
              <a:cs typeface="Leelawadee UI" panose="020B0502040204020203" pitchFamily="34" charset="-34"/>
            </a:endParaRPr>
          </a:p>
        </p:txBody>
      </p:sp>
      <p:sp>
        <p:nvSpPr>
          <p:cNvPr id="109" name="Text 1">
            <a:extLst>
              <a:ext uri="{FF2B5EF4-FFF2-40B4-BE49-F238E27FC236}">
                <a16:creationId xmlns:a16="http://schemas.microsoft.com/office/drawing/2014/main" id="{0A11BB2C-25A2-DA1F-5878-068EA5B43508}"/>
              </a:ext>
            </a:extLst>
          </p:cNvPr>
          <p:cNvSpPr/>
          <p:nvPr/>
        </p:nvSpPr>
        <p:spPr>
          <a:xfrm>
            <a:off x="1983059" y="27096377"/>
            <a:ext cx="5007694" cy="310083"/>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Saksikan Perubahan Nyata di Lapangan</a:t>
            </a:r>
            <a:endParaRPr lang="en-US" sz="2000" dirty="0">
              <a:latin typeface="Leelawadee UI" panose="020B0502040204020203" pitchFamily="34" charset="-34"/>
              <a:cs typeface="Leelawadee UI" panose="020B0502040204020203" pitchFamily="34" charset="-34"/>
            </a:endParaRPr>
          </a:p>
        </p:txBody>
      </p:sp>
      <p:sp>
        <p:nvSpPr>
          <p:cNvPr id="110" name="Text 2">
            <a:extLst>
              <a:ext uri="{FF2B5EF4-FFF2-40B4-BE49-F238E27FC236}">
                <a16:creationId xmlns:a16="http://schemas.microsoft.com/office/drawing/2014/main" id="{FE3CD0CB-CC7F-74E9-6BA9-5D177867A229}"/>
              </a:ext>
            </a:extLst>
          </p:cNvPr>
          <p:cNvSpPr/>
          <p:nvPr/>
        </p:nvSpPr>
        <p:spPr>
          <a:xfrm>
            <a:off x="410143" y="27499514"/>
            <a:ext cx="8151763" cy="396925"/>
          </a:xfrm>
          <a:prstGeom prst="rect">
            <a:avLst/>
          </a:prstGeom>
          <a:noFill/>
          <a:ln/>
        </p:spPr>
        <p:txBody>
          <a:bodyPr wrap="square" lIns="0" tIns="0" rIns="0" bIns="0" rtlCol="0" anchor="t">
            <a:normAutofit/>
          </a:bodyPr>
          <a:lstStyle/>
          <a:p>
            <a:pPr marL="0" indent="0" algn="ctr">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Saksikan momen-momen penting perjalanan YNKI melalui video dokumentasi kegiatan lapangan, wawancara dengan masyarakat, dan kolaborasi bersama mitra. Setiap video mengabadikan semangat dan dedikasi seluruh pihak yang terlibat dalam perubahan nyata.</a:t>
            </a:r>
            <a:endParaRPr lang="en-US" sz="1000" dirty="0">
              <a:latin typeface="Leelawadee UI" panose="020B0502040204020203" pitchFamily="34" charset="-34"/>
              <a:cs typeface="Leelawadee UI" panose="020B0502040204020203" pitchFamily="34" charset="-34"/>
            </a:endParaRPr>
          </a:p>
        </p:txBody>
      </p:sp>
      <p:sp>
        <p:nvSpPr>
          <p:cNvPr id="111" name="Shape 3">
            <a:extLst>
              <a:ext uri="{FF2B5EF4-FFF2-40B4-BE49-F238E27FC236}">
                <a16:creationId xmlns:a16="http://schemas.microsoft.com/office/drawing/2014/main" id="{77CFBEB7-5A8E-9297-6868-18854A7A522E}"/>
              </a:ext>
            </a:extLst>
          </p:cNvPr>
          <p:cNvSpPr/>
          <p:nvPr/>
        </p:nvSpPr>
        <p:spPr>
          <a:xfrm>
            <a:off x="410143" y="28035965"/>
            <a:ext cx="2634555" cy="2687687"/>
          </a:xfrm>
          <a:prstGeom prst="roundRect">
            <a:avLst>
              <a:gd name="adj" fmla="val 706"/>
            </a:avLst>
          </a:prstGeom>
          <a:solidFill>
            <a:srgbClr val="F9F8F5"/>
          </a:solidFill>
          <a:ln w="14288">
            <a:solidFill>
              <a:srgbClr val="D3D1C9"/>
            </a:solidFill>
            <a:prstDash val="solid"/>
          </a:ln>
        </p:spPr>
      </p:sp>
      <p:sp>
        <p:nvSpPr>
          <p:cNvPr id="112" name="Text 4">
            <a:extLst>
              <a:ext uri="{FF2B5EF4-FFF2-40B4-BE49-F238E27FC236}">
                <a16:creationId xmlns:a16="http://schemas.microsoft.com/office/drawing/2014/main" id="{884E4D8D-86B8-E1F8-0676-99796FCB0060}"/>
              </a:ext>
            </a:extLst>
          </p:cNvPr>
          <p:cNvSpPr/>
          <p:nvPr/>
        </p:nvSpPr>
        <p:spPr>
          <a:xfrm>
            <a:off x="548404" y="28174227"/>
            <a:ext cx="2358033"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Restorasi Gambut Bersama Masyarakat Permata Jaya</a:t>
            </a:r>
            <a:endParaRPr lang="en-US" sz="1400" dirty="0">
              <a:latin typeface="Leelawadee UI" panose="020B0502040204020203" pitchFamily="34" charset="-34"/>
              <a:cs typeface="Leelawadee UI" panose="020B0502040204020203" pitchFamily="34" charset="-34"/>
            </a:endParaRPr>
          </a:p>
        </p:txBody>
      </p:sp>
      <p:sp>
        <p:nvSpPr>
          <p:cNvPr id="113" name="Text 5">
            <a:extLst>
              <a:ext uri="{FF2B5EF4-FFF2-40B4-BE49-F238E27FC236}">
                <a16:creationId xmlns:a16="http://schemas.microsoft.com/office/drawing/2014/main" id="{39951610-D649-9C8F-EE2C-D652FB60D79F}"/>
              </a:ext>
            </a:extLst>
          </p:cNvPr>
          <p:cNvSpPr/>
          <p:nvPr/>
        </p:nvSpPr>
        <p:spPr>
          <a:xfrm>
            <a:off x="548404" y="28636338"/>
            <a:ext cx="2358033" cy="1468413"/>
          </a:xfrm>
          <a:prstGeom prst="rect">
            <a:avLst/>
          </a:prstGeom>
          <a:noFill/>
          <a:ln/>
        </p:spPr>
        <p:txBody>
          <a:bodyPr wrap="square" lIns="0" tIns="0" rIns="0" bIns="0" rtlCol="0" anchor="t"/>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Durasi: 3:45 menit</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Dokumentasi lengkap kegiatan penanaman pohon dan pemulihan ekosistem gambut bersama masyarakat Desa Permata Jaya, Kabupaten Kubu Raya, dalam rangka Hari Lingkungan Hidup Sedunia 2024.</a:t>
            </a:r>
            <a:endParaRPr lang="en-US" sz="1000" dirty="0">
              <a:latin typeface="Leelawadee UI" panose="020B0502040204020203" pitchFamily="34" charset="-34"/>
              <a:cs typeface="Leelawadee UI" panose="020B0502040204020203" pitchFamily="34" charset="-34"/>
            </a:endParaRPr>
          </a:p>
        </p:txBody>
      </p:sp>
      <p:pic>
        <p:nvPicPr>
          <p:cNvPr id="114" name="Image 0" descr="preencoded.png">
            <a:extLst>
              <a:ext uri="{FF2B5EF4-FFF2-40B4-BE49-F238E27FC236}">
                <a16:creationId xmlns:a16="http://schemas.microsoft.com/office/drawing/2014/main" id="{116189ED-82C8-142B-B36B-16677C5ACDFF}"/>
              </a:ext>
            </a:extLst>
          </p:cNvPr>
          <p:cNvPicPr>
            <a:picLocks noChangeAspect="1"/>
          </p:cNvPicPr>
          <p:nvPr/>
        </p:nvPicPr>
        <p:blipFill>
          <a:blip r:embed="rId16"/>
          <a:stretch>
            <a:fillRect/>
          </a:stretch>
        </p:blipFill>
        <p:spPr>
          <a:xfrm>
            <a:off x="548404" y="30244277"/>
            <a:ext cx="1380530" cy="341114"/>
          </a:xfrm>
          <a:prstGeom prst="rect">
            <a:avLst/>
          </a:prstGeom>
        </p:spPr>
      </p:pic>
      <p:sp>
        <p:nvSpPr>
          <p:cNvPr id="115" name="Shape 6">
            <a:extLst>
              <a:ext uri="{FF2B5EF4-FFF2-40B4-BE49-F238E27FC236}">
                <a16:creationId xmlns:a16="http://schemas.microsoft.com/office/drawing/2014/main" id="{437FEC1A-8BE8-B226-E22D-016AC4E6E8D4}"/>
              </a:ext>
            </a:extLst>
          </p:cNvPr>
          <p:cNvSpPr/>
          <p:nvPr/>
        </p:nvSpPr>
        <p:spPr>
          <a:xfrm>
            <a:off x="3168672" y="28035965"/>
            <a:ext cx="2634630" cy="2687687"/>
          </a:xfrm>
          <a:prstGeom prst="roundRect">
            <a:avLst>
              <a:gd name="adj" fmla="val 706"/>
            </a:avLst>
          </a:prstGeom>
          <a:solidFill>
            <a:srgbClr val="F9F8F5"/>
          </a:solidFill>
          <a:ln w="14288">
            <a:solidFill>
              <a:srgbClr val="D3D1C9"/>
            </a:solidFill>
            <a:prstDash val="solid"/>
          </a:ln>
        </p:spPr>
      </p:sp>
      <p:sp>
        <p:nvSpPr>
          <p:cNvPr id="116" name="Text 7">
            <a:extLst>
              <a:ext uri="{FF2B5EF4-FFF2-40B4-BE49-F238E27FC236}">
                <a16:creationId xmlns:a16="http://schemas.microsoft.com/office/drawing/2014/main" id="{5103916A-DB5D-288E-84FE-86108F92C025}"/>
              </a:ext>
            </a:extLst>
          </p:cNvPr>
          <p:cNvSpPr/>
          <p:nvPr/>
        </p:nvSpPr>
        <p:spPr>
          <a:xfrm>
            <a:off x="3306933" y="28174227"/>
            <a:ext cx="2358107"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Youth Camp: Anak Muda Menjaga Hutan</a:t>
            </a:r>
            <a:endParaRPr lang="en-US" sz="1400" dirty="0">
              <a:latin typeface="Leelawadee UI" panose="020B0502040204020203" pitchFamily="34" charset="-34"/>
              <a:cs typeface="Leelawadee UI" panose="020B0502040204020203" pitchFamily="34" charset="-34"/>
            </a:endParaRPr>
          </a:p>
        </p:txBody>
      </p:sp>
      <p:sp>
        <p:nvSpPr>
          <p:cNvPr id="117" name="Text 8">
            <a:extLst>
              <a:ext uri="{FF2B5EF4-FFF2-40B4-BE49-F238E27FC236}">
                <a16:creationId xmlns:a16="http://schemas.microsoft.com/office/drawing/2014/main" id="{2A3A700D-8E6B-CC49-D001-1776FF7D2237}"/>
              </a:ext>
            </a:extLst>
          </p:cNvPr>
          <p:cNvSpPr/>
          <p:nvPr/>
        </p:nvSpPr>
        <p:spPr>
          <a:xfrm>
            <a:off x="3306933" y="28636338"/>
            <a:ext cx="2358107" cy="1468413"/>
          </a:xfrm>
          <a:prstGeom prst="rect">
            <a:avLst/>
          </a:prstGeom>
          <a:noFill/>
          <a:ln/>
        </p:spPr>
        <p:txBody>
          <a:bodyPr wrap="square" lIns="0" tIns="0" rIns="0" bIns="0" rtlCol="0" anchor="t"/>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Durasi: 4:20 menit</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Kisah inspiratif 30 anak muda dari tiga desa di Kabupaten Ketapang yang mengikuti Youth Camp dan belajar menjadi pemimpin perubahan dalam perlindungan hutan dan tata kelola lanskap yang berkelanjutan.</a:t>
            </a:r>
            <a:endParaRPr lang="en-US" sz="1000" dirty="0">
              <a:latin typeface="Leelawadee UI" panose="020B0502040204020203" pitchFamily="34" charset="-34"/>
              <a:cs typeface="Leelawadee UI" panose="020B0502040204020203" pitchFamily="34" charset="-34"/>
            </a:endParaRPr>
          </a:p>
        </p:txBody>
      </p:sp>
      <p:pic>
        <p:nvPicPr>
          <p:cNvPr id="118" name="Image 1" descr="preencoded.png">
            <a:extLst>
              <a:ext uri="{FF2B5EF4-FFF2-40B4-BE49-F238E27FC236}">
                <a16:creationId xmlns:a16="http://schemas.microsoft.com/office/drawing/2014/main" id="{EB4B8553-7D3D-4F9B-16EB-ED7E230FD6E1}"/>
              </a:ext>
            </a:extLst>
          </p:cNvPr>
          <p:cNvPicPr>
            <a:picLocks noChangeAspect="1"/>
          </p:cNvPicPr>
          <p:nvPr/>
        </p:nvPicPr>
        <p:blipFill>
          <a:blip r:embed="rId16"/>
          <a:stretch>
            <a:fillRect/>
          </a:stretch>
        </p:blipFill>
        <p:spPr>
          <a:xfrm>
            <a:off x="3306933" y="30244277"/>
            <a:ext cx="1380530" cy="341114"/>
          </a:xfrm>
          <a:prstGeom prst="rect">
            <a:avLst/>
          </a:prstGeom>
        </p:spPr>
      </p:pic>
      <p:sp>
        <p:nvSpPr>
          <p:cNvPr id="119" name="Shape 9">
            <a:extLst>
              <a:ext uri="{FF2B5EF4-FFF2-40B4-BE49-F238E27FC236}">
                <a16:creationId xmlns:a16="http://schemas.microsoft.com/office/drawing/2014/main" id="{CE082B83-3E54-0A4A-9853-DD75A001B0F9}"/>
              </a:ext>
            </a:extLst>
          </p:cNvPr>
          <p:cNvSpPr/>
          <p:nvPr/>
        </p:nvSpPr>
        <p:spPr>
          <a:xfrm>
            <a:off x="5927276" y="28035965"/>
            <a:ext cx="2634555" cy="2687687"/>
          </a:xfrm>
          <a:prstGeom prst="roundRect">
            <a:avLst>
              <a:gd name="adj" fmla="val 706"/>
            </a:avLst>
          </a:prstGeom>
          <a:solidFill>
            <a:srgbClr val="F9F8F5"/>
          </a:solidFill>
          <a:ln w="14288">
            <a:solidFill>
              <a:srgbClr val="D3D1C9"/>
            </a:solidFill>
            <a:prstDash val="solid"/>
          </a:ln>
        </p:spPr>
      </p:sp>
      <p:sp>
        <p:nvSpPr>
          <p:cNvPr id="120" name="Text 10">
            <a:extLst>
              <a:ext uri="{FF2B5EF4-FFF2-40B4-BE49-F238E27FC236}">
                <a16:creationId xmlns:a16="http://schemas.microsoft.com/office/drawing/2014/main" id="{FF462A92-D7A5-6136-5ECF-707247886EE8}"/>
              </a:ext>
            </a:extLst>
          </p:cNvPr>
          <p:cNvSpPr/>
          <p:nvPr/>
        </p:nvSpPr>
        <p:spPr>
          <a:xfrm>
            <a:off x="6065537" y="28174227"/>
            <a:ext cx="2358033"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 Kolaborasi YNKI-UNDP KalFor untuk Desa Berkelanjutan</a:t>
            </a:r>
            <a:endParaRPr lang="en-US" sz="1400" dirty="0">
              <a:latin typeface="Leelawadee UI" panose="020B0502040204020203" pitchFamily="34" charset="-34"/>
              <a:cs typeface="Leelawadee UI" panose="020B0502040204020203" pitchFamily="34" charset="-34"/>
            </a:endParaRPr>
          </a:p>
        </p:txBody>
      </p:sp>
      <p:sp>
        <p:nvSpPr>
          <p:cNvPr id="121" name="Text 11">
            <a:extLst>
              <a:ext uri="{FF2B5EF4-FFF2-40B4-BE49-F238E27FC236}">
                <a16:creationId xmlns:a16="http://schemas.microsoft.com/office/drawing/2014/main" id="{51A7327C-3986-EAAB-352C-CBCE8D694523}"/>
              </a:ext>
            </a:extLst>
          </p:cNvPr>
          <p:cNvSpPr/>
          <p:nvPr/>
        </p:nvSpPr>
        <p:spPr>
          <a:xfrm>
            <a:off x="6050513" y="28796666"/>
            <a:ext cx="2358033" cy="1468413"/>
          </a:xfrm>
          <a:prstGeom prst="rect">
            <a:avLst/>
          </a:prstGeom>
          <a:noFill/>
          <a:ln/>
        </p:spPr>
        <p:txBody>
          <a:bodyPr wrap="square" lIns="0" tIns="0" rIns="0" bIns="0" rtlCol="0" anchor="t"/>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Durasi: 5:10 menit</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Perjalanan satu tahun kolaborasi YNKI bersama UNDP KalFor dalam mendampingi tiga desa di Kabupaten Ketapang menuju pengelolaan sumber daya alam yang berkelanjutan dan tata kelola komunitas yang kuat.</a:t>
            </a:r>
            <a:endParaRPr lang="en-US" sz="1000" dirty="0">
              <a:latin typeface="Leelawadee UI" panose="020B0502040204020203" pitchFamily="34" charset="-34"/>
              <a:cs typeface="Leelawadee UI" panose="020B0502040204020203" pitchFamily="34" charset="-34"/>
            </a:endParaRPr>
          </a:p>
        </p:txBody>
      </p:sp>
      <p:pic>
        <p:nvPicPr>
          <p:cNvPr id="122" name="Image 2" descr="preencoded.png">
            <a:extLst>
              <a:ext uri="{FF2B5EF4-FFF2-40B4-BE49-F238E27FC236}">
                <a16:creationId xmlns:a16="http://schemas.microsoft.com/office/drawing/2014/main" id="{90091DD0-001D-0282-F82D-4602182ECFFA}"/>
              </a:ext>
            </a:extLst>
          </p:cNvPr>
          <p:cNvPicPr>
            <a:picLocks noChangeAspect="1"/>
          </p:cNvPicPr>
          <p:nvPr/>
        </p:nvPicPr>
        <p:blipFill>
          <a:blip r:embed="rId16"/>
          <a:stretch>
            <a:fillRect/>
          </a:stretch>
        </p:blipFill>
        <p:spPr>
          <a:xfrm>
            <a:off x="6065537" y="30244277"/>
            <a:ext cx="1380530" cy="341114"/>
          </a:xfrm>
          <a:prstGeom prst="rect">
            <a:avLst/>
          </a:prstGeom>
        </p:spPr>
      </p:pic>
      <p:sp>
        <p:nvSpPr>
          <p:cNvPr id="123" name="Text 0">
            <a:extLst>
              <a:ext uri="{FF2B5EF4-FFF2-40B4-BE49-F238E27FC236}">
                <a16:creationId xmlns:a16="http://schemas.microsoft.com/office/drawing/2014/main" id="{C8D2B508-C942-8FA2-CBD1-12E8F23FA774}"/>
              </a:ext>
            </a:extLst>
          </p:cNvPr>
          <p:cNvSpPr/>
          <p:nvPr/>
        </p:nvSpPr>
        <p:spPr>
          <a:xfrm>
            <a:off x="496119" y="31288584"/>
            <a:ext cx="1813917" cy="169515"/>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Media Sosial YNKI</a:t>
            </a:r>
            <a:endParaRPr lang="en-US" sz="1200" dirty="0">
              <a:latin typeface="Leelawadee UI" panose="020B0502040204020203" pitchFamily="34" charset="-34"/>
              <a:cs typeface="Leelawadee UI" panose="020B0502040204020203" pitchFamily="34" charset="-34"/>
            </a:endParaRPr>
          </a:p>
        </p:txBody>
      </p:sp>
      <p:sp>
        <p:nvSpPr>
          <p:cNvPr id="124" name="Text 1">
            <a:extLst>
              <a:ext uri="{FF2B5EF4-FFF2-40B4-BE49-F238E27FC236}">
                <a16:creationId xmlns:a16="http://schemas.microsoft.com/office/drawing/2014/main" id="{89E5608E-E6A0-5FDA-7027-80C0E643FC07}"/>
              </a:ext>
            </a:extLst>
          </p:cNvPr>
          <p:cNvSpPr/>
          <p:nvPr/>
        </p:nvSpPr>
        <p:spPr>
          <a:xfrm>
            <a:off x="2252618" y="31392243"/>
            <a:ext cx="4774034" cy="271314"/>
          </a:xfrm>
          <a:prstGeom prst="rect">
            <a:avLst/>
          </a:prstGeom>
          <a:noFill/>
          <a:ln/>
        </p:spPr>
        <p:txBody>
          <a:bodyPr wrap="none" lIns="0" tIns="0" rIns="0" bIns="0" rtlCol="0" anchor="t"/>
          <a:lstStyle/>
          <a:p>
            <a:pPr marL="0" indent="0" algn="ctr">
              <a:lnSpc>
                <a:spcPct val="104000"/>
              </a:lnSpc>
              <a:buNone/>
            </a:pPr>
            <a:r>
              <a:rPr lang="en-US" dirty="0">
                <a:solidFill>
                  <a:srgbClr val="161613"/>
                </a:solidFill>
                <a:latin typeface="Leelawadee UI" panose="020B0502040204020203" pitchFamily="34" charset="-34"/>
                <a:ea typeface="DM Sans Medium" pitchFamily="34" charset="-122"/>
                <a:cs typeface="Leelawadee UI" panose="020B0502040204020203" pitchFamily="34" charset="-34"/>
              </a:rPr>
              <a:t>Ikuti Perjalanan Visual YNKI di Media Sosial</a:t>
            </a:r>
            <a:endParaRPr lang="en-US" dirty="0">
              <a:latin typeface="Leelawadee UI" panose="020B0502040204020203" pitchFamily="34" charset="-34"/>
              <a:cs typeface="Leelawadee UI" panose="020B0502040204020203" pitchFamily="34" charset="-34"/>
            </a:endParaRPr>
          </a:p>
        </p:txBody>
      </p:sp>
      <p:sp>
        <p:nvSpPr>
          <p:cNvPr id="125" name="Text 2">
            <a:extLst>
              <a:ext uri="{FF2B5EF4-FFF2-40B4-BE49-F238E27FC236}">
                <a16:creationId xmlns:a16="http://schemas.microsoft.com/office/drawing/2014/main" id="{0AAA1750-3C24-7D75-3F1E-57648A418931}"/>
              </a:ext>
            </a:extLst>
          </p:cNvPr>
          <p:cNvSpPr/>
          <p:nvPr/>
        </p:nvSpPr>
        <p:spPr>
          <a:xfrm>
            <a:off x="563792" y="31805985"/>
            <a:ext cx="7994302" cy="345280"/>
          </a:xfrm>
          <a:prstGeom prst="rect">
            <a:avLst/>
          </a:prstGeom>
          <a:noFill/>
          <a:ln/>
        </p:spPr>
        <p:txBody>
          <a:bodyPr wrap="square" lIns="0" tIns="0" rIns="0" bIns="0" rtlCol="0" anchor="t">
            <a:normAutofit/>
          </a:bodyPr>
          <a:lstStyle/>
          <a:p>
            <a:pPr marL="0" indent="0" algn="ctr">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aktif berbagi cerita visual dan update program melalui berbagai platform media sosial. Ikuti kami untuk mendapatkan berita terkini, foto kegiatan lapangan, dan inspirasi dari perjalanan tata kelola lanskap yang inklusif dan kolaboratif di Kalimantan Barat.</a:t>
            </a:r>
            <a:endParaRPr lang="en-US" sz="900" dirty="0">
              <a:latin typeface="Leelawadee UI" panose="020B0502040204020203" pitchFamily="34" charset="-34"/>
              <a:cs typeface="Leelawadee UI" panose="020B0502040204020203" pitchFamily="34" charset="-34"/>
            </a:endParaRPr>
          </a:p>
        </p:txBody>
      </p:sp>
      <p:sp>
        <p:nvSpPr>
          <p:cNvPr id="126" name="Shape 3">
            <a:extLst>
              <a:ext uri="{FF2B5EF4-FFF2-40B4-BE49-F238E27FC236}">
                <a16:creationId xmlns:a16="http://schemas.microsoft.com/office/drawing/2014/main" id="{635BB797-6507-6743-7CF9-1BE66C8CCA7D}"/>
              </a:ext>
            </a:extLst>
          </p:cNvPr>
          <p:cNvSpPr/>
          <p:nvPr/>
        </p:nvSpPr>
        <p:spPr>
          <a:xfrm>
            <a:off x="577334" y="32238405"/>
            <a:ext cx="244153" cy="271314"/>
          </a:xfrm>
          <a:prstGeom prst="roundRect">
            <a:avLst>
              <a:gd name="adj" fmla="val 14044"/>
            </a:avLst>
          </a:prstGeom>
          <a:solidFill>
            <a:srgbClr val="DFDFE0"/>
          </a:solidFill>
          <a:ln/>
        </p:spPr>
      </p:sp>
      <p:pic>
        <p:nvPicPr>
          <p:cNvPr id="127" name="Image 0" descr="preencoded.png">
            <a:extLst>
              <a:ext uri="{FF2B5EF4-FFF2-40B4-BE49-F238E27FC236}">
                <a16:creationId xmlns:a16="http://schemas.microsoft.com/office/drawing/2014/main" id="{E18EC45E-17DF-12FD-FB61-0E9961367F0B}"/>
              </a:ext>
            </a:extLst>
          </p:cNvPr>
          <p:cNvPicPr>
            <a:picLocks noChangeAspect="1"/>
          </p:cNvPicPr>
          <p:nvPr/>
        </p:nvPicPr>
        <p:blipFill>
          <a:blip r:embed="rId17"/>
          <a:stretch>
            <a:fillRect/>
          </a:stretch>
        </p:blipFill>
        <p:spPr>
          <a:xfrm>
            <a:off x="631582" y="32316763"/>
            <a:ext cx="135657" cy="108496"/>
          </a:xfrm>
          <a:prstGeom prst="rect">
            <a:avLst/>
          </a:prstGeom>
        </p:spPr>
      </p:pic>
      <p:sp>
        <p:nvSpPr>
          <p:cNvPr id="128" name="Text 4">
            <a:extLst>
              <a:ext uri="{FF2B5EF4-FFF2-40B4-BE49-F238E27FC236}">
                <a16:creationId xmlns:a16="http://schemas.microsoft.com/office/drawing/2014/main" id="{9BE6F7E7-4C3F-5C13-3E4E-F10A55F9CAA4}"/>
              </a:ext>
            </a:extLst>
          </p:cNvPr>
          <p:cNvSpPr/>
          <p:nvPr/>
        </p:nvSpPr>
        <p:spPr>
          <a:xfrm>
            <a:off x="947071" y="32285509"/>
            <a:ext cx="13567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LinkedIn</a:t>
            </a:r>
            <a:endParaRPr lang="en-US" sz="1100" dirty="0">
              <a:latin typeface="Leelawadee UI" panose="020B0502040204020203" pitchFamily="34" charset="-34"/>
              <a:cs typeface="Leelawadee UI" panose="020B0502040204020203" pitchFamily="34" charset="-34"/>
            </a:endParaRPr>
          </a:p>
        </p:txBody>
      </p:sp>
      <p:sp>
        <p:nvSpPr>
          <p:cNvPr id="129" name="Text 5">
            <a:extLst>
              <a:ext uri="{FF2B5EF4-FFF2-40B4-BE49-F238E27FC236}">
                <a16:creationId xmlns:a16="http://schemas.microsoft.com/office/drawing/2014/main" id="{EF7B5EB9-6D7D-96D4-E44D-BF564AEDFF42}"/>
              </a:ext>
            </a:extLst>
          </p:cNvPr>
          <p:cNvSpPr/>
          <p:nvPr/>
        </p:nvSpPr>
        <p:spPr>
          <a:xfrm>
            <a:off x="559103" y="32588151"/>
            <a:ext cx="4016499" cy="545381"/>
          </a:xfrm>
          <a:prstGeom prst="rect">
            <a:avLst/>
          </a:prstGeom>
          <a:noFill/>
          <a:ln/>
        </p:spPr>
        <p:txBody>
          <a:bodyPr wrap="square" lIns="0" tIns="0" rIns="0" bIns="0" rtlCol="0" anchor="t"/>
          <a:lstStyle/>
          <a:p>
            <a:pPr marL="0" indent="0" algn="l">
              <a:lnSpc>
                <a:spcPct val="125000"/>
              </a:lnSpc>
              <a:spcAft>
                <a:spcPts val="400"/>
              </a:spcAft>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Natural Kapital Foundation</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Update program, foto kegiatan, artikel pengetahuan, dan insight tata kelola lanskap dari tim YNKI.</a:t>
            </a:r>
            <a:endParaRPr lang="en-US" sz="900" dirty="0">
              <a:latin typeface="Leelawadee UI" panose="020B0502040204020203" pitchFamily="34" charset="-34"/>
              <a:cs typeface="Leelawadee UI" panose="020B0502040204020203" pitchFamily="34" charset="-34"/>
            </a:endParaRPr>
          </a:p>
        </p:txBody>
      </p:sp>
      <p:pic>
        <p:nvPicPr>
          <p:cNvPr id="130" name="Image 1" descr="preencoded.png">
            <a:hlinkClick r:id="rId5"/>
            <a:extLst>
              <a:ext uri="{FF2B5EF4-FFF2-40B4-BE49-F238E27FC236}">
                <a16:creationId xmlns:a16="http://schemas.microsoft.com/office/drawing/2014/main" id="{4085BC03-B60B-FA58-409A-F361AA26FB15}"/>
              </a:ext>
            </a:extLst>
          </p:cNvPr>
          <p:cNvPicPr>
            <a:picLocks noChangeAspect="1"/>
          </p:cNvPicPr>
          <p:nvPr/>
        </p:nvPicPr>
        <p:blipFill>
          <a:blip r:embed="rId18"/>
          <a:stretch>
            <a:fillRect/>
          </a:stretch>
        </p:blipFill>
        <p:spPr>
          <a:xfrm>
            <a:off x="559103" y="33240316"/>
            <a:ext cx="1167333" cy="298475"/>
          </a:xfrm>
          <a:prstGeom prst="rect">
            <a:avLst/>
          </a:prstGeom>
        </p:spPr>
      </p:pic>
      <p:pic>
        <p:nvPicPr>
          <p:cNvPr id="131" name="Image 2" descr="preencoded.png">
            <a:extLst>
              <a:ext uri="{FF2B5EF4-FFF2-40B4-BE49-F238E27FC236}">
                <a16:creationId xmlns:a16="http://schemas.microsoft.com/office/drawing/2014/main" id="{905B55CB-274F-014A-B4E1-9C13B290BA8B}"/>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698980" y="32238405"/>
            <a:ext cx="271314" cy="271314"/>
          </a:xfrm>
          <a:prstGeom prst="rect">
            <a:avLst/>
          </a:prstGeom>
        </p:spPr>
      </p:pic>
      <p:sp>
        <p:nvSpPr>
          <p:cNvPr id="132" name="Text 6">
            <a:extLst>
              <a:ext uri="{FF2B5EF4-FFF2-40B4-BE49-F238E27FC236}">
                <a16:creationId xmlns:a16="http://schemas.microsoft.com/office/drawing/2014/main" id="{1E9D42E6-4465-487A-DD6F-146C47B60880}"/>
              </a:ext>
            </a:extLst>
          </p:cNvPr>
          <p:cNvSpPr/>
          <p:nvPr/>
        </p:nvSpPr>
        <p:spPr>
          <a:xfrm>
            <a:off x="5082260" y="32285509"/>
            <a:ext cx="13567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Instagram</a:t>
            </a:r>
            <a:endParaRPr lang="en-US" sz="1100" dirty="0">
              <a:latin typeface="Leelawadee UI" panose="020B0502040204020203" pitchFamily="34" charset="-34"/>
              <a:cs typeface="Leelawadee UI" panose="020B0502040204020203" pitchFamily="34" charset="-34"/>
            </a:endParaRPr>
          </a:p>
        </p:txBody>
      </p:sp>
      <p:sp>
        <p:nvSpPr>
          <p:cNvPr id="133" name="Text 7">
            <a:extLst>
              <a:ext uri="{FF2B5EF4-FFF2-40B4-BE49-F238E27FC236}">
                <a16:creationId xmlns:a16="http://schemas.microsoft.com/office/drawing/2014/main" id="{B9F70406-5A55-9AAD-75BE-BA53CF74FEB5}"/>
              </a:ext>
            </a:extLst>
          </p:cNvPr>
          <p:cNvSpPr/>
          <p:nvPr/>
        </p:nvSpPr>
        <p:spPr>
          <a:xfrm>
            <a:off x="4694292" y="32588151"/>
            <a:ext cx="3684363" cy="545381"/>
          </a:xfrm>
          <a:prstGeom prst="rect">
            <a:avLst/>
          </a:prstGeom>
          <a:noFill/>
          <a:ln/>
        </p:spPr>
        <p:txBody>
          <a:bodyPr wrap="square" lIns="0" tIns="0" rIns="0" bIns="0" rtlCol="0" anchor="t"/>
          <a:lstStyle/>
          <a:p>
            <a:pPr marL="0" indent="0" algn="l">
              <a:lnSpc>
                <a:spcPct val="125000"/>
              </a:lnSpc>
              <a:spcAft>
                <a:spcPts val="400"/>
              </a:spcAft>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@yayasannaturalkapital</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Foto dan video kegiatan lapangan, momen komunitas, dan kisah inspiratif dari berbagai program YNKI.</a:t>
            </a:r>
            <a:endParaRPr lang="en-US" sz="900" dirty="0">
              <a:latin typeface="Leelawadee UI" panose="020B0502040204020203" pitchFamily="34" charset="-34"/>
              <a:cs typeface="Leelawadee UI" panose="020B0502040204020203" pitchFamily="34" charset="-34"/>
            </a:endParaRPr>
          </a:p>
        </p:txBody>
      </p:sp>
      <p:pic>
        <p:nvPicPr>
          <p:cNvPr id="134" name="Image 3" descr="preencoded.png">
            <a:hlinkClick r:id="" action="ppaction://noaction"/>
            <a:extLst>
              <a:ext uri="{FF2B5EF4-FFF2-40B4-BE49-F238E27FC236}">
                <a16:creationId xmlns:a16="http://schemas.microsoft.com/office/drawing/2014/main" id="{3A76E58F-04E3-6F18-5114-FF3D2E2188A0}"/>
              </a:ext>
            </a:extLst>
          </p:cNvPr>
          <p:cNvPicPr>
            <a:picLocks noChangeAspect="1"/>
          </p:cNvPicPr>
          <p:nvPr/>
        </p:nvPicPr>
        <p:blipFill>
          <a:blip r:embed="rId20"/>
          <a:stretch>
            <a:fillRect/>
          </a:stretch>
        </p:blipFill>
        <p:spPr>
          <a:xfrm>
            <a:off x="4694292" y="33240316"/>
            <a:ext cx="1250677" cy="298475"/>
          </a:xfrm>
          <a:prstGeom prst="rect">
            <a:avLst/>
          </a:prstGeom>
        </p:spPr>
      </p:pic>
      <p:sp>
        <p:nvSpPr>
          <p:cNvPr id="135" name="Shape 8">
            <a:extLst>
              <a:ext uri="{FF2B5EF4-FFF2-40B4-BE49-F238E27FC236}">
                <a16:creationId xmlns:a16="http://schemas.microsoft.com/office/drawing/2014/main" id="{CDBEAF6A-096E-962E-7A7D-5E2742B20DF8}"/>
              </a:ext>
            </a:extLst>
          </p:cNvPr>
          <p:cNvSpPr/>
          <p:nvPr/>
        </p:nvSpPr>
        <p:spPr>
          <a:xfrm>
            <a:off x="553373" y="33595345"/>
            <a:ext cx="244153" cy="271314"/>
          </a:xfrm>
          <a:prstGeom prst="roundRect">
            <a:avLst>
              <a:gd name="adj" fmla="val 14044"/>
            </a:avLst>
          </a:prstGeom>
          <a:solidFill>
            <a:srgbClr val="DFDFE0"/>
          </a:solidFill>
          <a:ln/>
        </p:spPr>
      </p:sp>
      <p:pic>
        <p:nvPicPr>
          <p:cNvPr id="136" name="Image 4" descr="preencoded.png">
            <a:extLst>
              <a:ext uri="{FF2B5EF4-FFF2-40B4-BE49-F238E27FC236}">
                <a16:creationId xmlns:a16="http://schemas.microsoft.com/office/drawing/2014/main" id="{E1B08AF4-6A85-02BC-662C-07564898A043}"/>
              </a:ext>
            </a:extLst>
          </p:cNvPr>
          <p:cNvPicPr>
            <a:picLocks noChangeAspect="1"/>
          </p:cNvPicPr>
          <p:nvPr/>
        </p:nvPicPr>
        <p:blipFill>
          <a:blip r:embed="rId17"/>
          <a:stretch>
            <a:fillRect/>
          </a:stretch>
        </p:blipFill>
        <p:spPr>
          <a:xfrm>
            <a:off x="607621" y="33673704"/>
            <a:ext cx="135657" cy="108496"/>
          </a:xfrm>
          <a:prstGeom prst="rect">
            <a:avLst/>
          </a:prstGeom>
        </p:spPr>
      </p:pic>
      <p:sp>
        <p:nvSpPr>
          <p:cNvPr id="137" name="Text 9">
            <a:extLst>
              <a:ext uri="{FF2B5EF4-FFF2-40B4-BE49-F238E27FC236}">
                <a16:creationId xmlns:a16="http://schemas.microsoft.com/office/drawing/2014/main" id="{29B1A2FA-A144-6481-DB09-7C7C1F019F5D}"/>
              </a:ext>
            </a:extLst>
          </p:cNvPr>
          <p:cNvSpPr/>
          <p:nvPr/>
        </p:nvSpPr>
        <p:spPr>
          <a:xfrm>
            <a:off x="923110" y="33642450"/>
            <a:ext cx="13567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YouTube</a:t>
            </a:r>
            <a:endParaRPr lang="en-US" sz="1100" dirty="0">
              <a:latin typeface="Leelawadee UI" panose="020B0502040204020203" pitchFamily="34" charset="-34"/>
              <a:cs typeface="Leelawadee UI" panose="020B0502040204020203" pitchFamily="34" charset="-34"/>
            </a:endParaRPr>
          </a:p>
        </p:txBody>
      </p:sp>
      <p:sp>
        <p:nvSpPr>
          <p:cNvPr id="138" name="Text 10">
            <a:extLst>
              <a:ext uri="{FF2B5EF4-FFF2-40B4-BE49-F238E27FC236}">
                <a16:creationId xmlns:a16="http://schemas.microsoft.com/office/drawing/2014/main" id="{E7181C09-7B9A-EA03-D06A-E2AEF21B629B}"/>
              </a:ext>
            </a:extLst>
          </p:cNvPr>
          <p:cNvSpPr/>
          <p:nvPr/>
        </p:nvSpPr>
        <p:spPr>
          <a:xfrm>
            <a:off x="539830" y="34015755"/>
            <a:ext cx="4016499" cy="545381"/>
          </a:xfrm>
          <a:prstGeom prst="rect">
            <a:avLst/>
          </a:prstGeom>
          <a:noFill/>
          <a:ln/>
        </p:spPr>
        <p:txBody>
          <a:bodyPr wrap="square" lIns="0" tIns="0" rIns="0" bIns="0" rtlCol="0" anchor="t"/>
          <a:lstStyle/>
          <a:p>
            <a:pPr marL="0" indent="0" algn="l">
              <a:lnSpc>
                <a:spcPct val="125000"/>
              </a:lnSpc>
              <a:spcAft>
                <a:spcPts val="400"/>
              </a:spcAft>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Video dokumenter kegiatan lapangan, wawancara masyarakat, dan film pendek tentang dampak program YNKI.</a:t>
            </a:r>
            <a:endParaRPr lang="en-US" sz="900" dirty="0">
              <a:latin typeface="Leelawadee UI" panose="020B0502040204020203" pitchFamily="34" charset="-34"/>
              <a:cs typeface="Leelawadee UI" panose="020B0502040204020203" pitchFamily="34" charset="-34"/>
            </a:endParaRPr>
          </a:p>
        </p:txBody>
      </p:sp>
      <p:pic>
        <p:nvPicPr>
          <p:cNvPr id="139" name="Image 5" descr="preencoded.png">
            <a:hlinkClick r:id="" action="ppaction://noaction"/>
            <a:extLst>
              <a:ext uri="{FF2B5EF4-FFF2-40B4-BE49-F238E27FC236}">
                <a16:creationId xmlns:a16="http://schemas.microsoft.com/office/drawing/2014/main" id="{B9567DFA-1F51-E546-1C22-54A7F4F07B55}"/>
              </a:ext>
            </a:extLst>
          </p:cNvPr>
          <p:cNvPicPr>
            <a:picLocks noChangeAspect="1"/>
          </p:cNvPicPr>
          <p:nvPr/>
        </p:nvPicPr>
        <p:blipFill>
          <a:blip r:embed="rId21"/>
          <a:stretch>
            <a:fillRect/>
          </a:stretch>
        </p:blipFill>
        <p:spPr>
          <a:xfrm>
            <a:off x="539830" y="34667919"/>
            <a:ext cx="1319510" cy="298475"/>
          </a:xfrm>
          <a:prstGeom prst="rect">
            <a:avLst/>
          </a:prstGeom>
        </p:spPr>
      </p:pic>
      <p:sp>
        <p:nvSpPr>
          <p:cNvPr id="140" name="Shape 11">
            <a:extLst>
              <a:ext uri="{FF2B5EF4-FFF2-40B4-BE49-F238E27FC236}">
                <a16:creationId xmlns:a16="http://schemas.microsoft.com/office/drawing/2014/main" id="{46FC7FBF-CF90-00AE-C518-E6CC3F70838C}"/>
              </a:ext>
            </a:extLst>
          </p:cNvPr>
          <p:cNvSpPr/>
          <p:nvPr/>
        </p:nvSpPr>
        <p:spPr>
          <a:xfrm>
            <a:off x="4688562" y="33595345"/>
            <a:ext cx="244153" cy="271314"/>
          </a:xfrm>
          <a:prstGeom prst="roundRect">
            <a:avLst>
              <a:gd name="adj" fmla="val 14044"/>
            </a:avLst>
          </a:prstGeom>
          <a:solidFill>
            <a:srgbClr val="DFDFE0"/>
          </a:solidFill>
          <a:ln/>
        </p:spPr>
      </p:sp>
      <p:pic>
        <p:nvPicPr>
          <p:cNvPr id="141" name="Image 6" descr="preencoded.png">
            <a:extLst>
              <a:ext uri="{FF2B5EF4-FFF2-40B4-BE49-F238E27FC236}">
                <a16:creationId xmlns:a16="http://schemas.microsoft.com/office/drawing/2014/main" id="{C60E1A63-FD75-0E25-4AF0-3906990E354D}"/>
              </a:ext>
            </a:extLst>
          </p:cNvPr>
          <p:cNvPicPr>
            <a:picLocks noChangeAspect="1"/>
          </p:cNvPicPr>
          <p:nvPr/>
        </p:nvPicPr>
        <p:blipFill>
          <a:blip r:embed="rId17"/>
          <a:stretch>
            <a:fillRect/>
          </a:stretch>
        </p:blipFill>
        <p:spPr>
          <a:xfrm>
            <a:off x="4742810" y="33673704"/>
            <a:ext cx="135657" cy="108496"/>
          </a:xfrm>
          <a:prstGeom prst="rect">
            <a:avLst/>
          </a:prstGeom>
        </p:spPr>
      </p:pic>
      <p:sp>
        <p:nvSpPr>
          <p:cNvPr id="142" name="Text 12">
            <a:extLst>
              <a:ext uri="{FF2B5EF4-FFF2-40B4-BE49-F238E27FC236}">
                <a16:creationId xmlns:a16="http://schemas.microsoft.com/office/drawing/2014/main" id="{FD361BC4-C102-96E7-9929-2C6CF559C5E1}"/>
              </a:ext>
            </a:extLst>
          </p:cNvPr>
          <p:cNvSpPr/>
          <p:nvPr/>
        </p:nvSpPr>
        <p:spPr>
          <a:xfrm>
            <a:off x="5058299" y="33642450"/>
            <a:ext cx="1356717" cy="169515"/>
          </a:xfrm>
          <a:prstGeom prst="rect">
            <a:avLst/>
          </a:prstGeom>
          <a:noFill/>
          <a:ln/>
        </p:spPr>
        <p:txBody>
          <a:bodyPr wrap="none" lIns="0" tIns="0" rIns="0" bIns="0" rtlCol="0" anchor="t"/>
          <a:lstStyle/>
          <a:p>
            <a:pPr marL="0" indent="0" algn="l">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Facebook</a:t>
            </a:r>
            <a:endParaRPr lang="en-US" sz="1100" dirty="0">
              <a:latin typeface="Leelawadee UI" panose="020B0502040204020203" pitchFamily="34" charset="-34"/>
              <a:cs typeface="Leelawadee UI" panose="020B0502040204020203" pitchFamily="34" charset="-34"/>
            </a:endParaRPr>
          </a:p>
        </p:txBody>
      </p:sp>
      <p:sp>
        <p:nvSpPr>
          <p:cNvPr id="143" name="Text 13">
            <a:extLst>
              <a:ext uri="{FF2B5EF4-FFF2-40B4-BE49-F238E27FC236}">
                <a16:creationId xmlns:a16="http://schemas.microsoft.com/office/drawing/2014/main" id="{C33CB06F-2579-FCF6-53DC-740540E6869A}"/>
              </a:ext>
            </a:extLst>
          </p:cNvPr>
          <p:cNvSpPr/>
          <p:nvPr/>
        </p:nvSpPr>
        <p:spPr>
          <a:xfrm>
            <a:off x="4675020" y="34015755"/>
            <a:ext cx="3589336" cy="545381"/>
          </a:xfrm>
          <a:prstGeom prst="rect">
            <a:avLst/>
          </a:prstGeom>
          <a:noFill/>
          <a:ln/>
        </p:spPr>
        <p:txBody>
          <a:bodyPr wrap="square" lIns="0" tIns="0" rIns="0" bIns="0" rtlCol="0" anchor="t"/>
          <a:lstStyle/>
          <a:p>
            <a:pPr marL="0" indent="0" algn="l">
              <a:lnSpc>
                <a:spcPct val="125000"/>
              </a:lnSpc>
              <a:spcAft>
                <a:spcPts val="400"/>
              </a:spcAft>
              <a:buNone/>
            </a:pPr>
            <a:r>
              <a:rPr lang="en-US" sz="900" b="1" dirty="0">
                <a:solidFill>
                  <a:srgbClr val="161613"/>
                </a:solidFill>
                <a:latin typeface="Leelawadee UI" panose="020B0502040204020203" pitchFamily="34" charset="-34"/>
                <a:ea typeface="Inter" pitchFamily="34" charset="-122"/>
                <a:cs typeface="Leelawadee UI" panose="020B0502040204020203" pitchFamily="34" charset="-34"/>
              </a:rPr>
              <a:t>Yayasan Natural Kapital Indonesia</a:t>
            </a:r>
            <a:endParaRPr lang="en-US" sz="900" dirty="0">
              <a:latin typeface="Leelawadee UI" panose="020B0502040204020203" pitchFamily="34" charset="-34"/>
              <a:cs typeface="Leelawadee UI" panose="020B0502040204020203" pitchFamily="34" charset="-34"/>
            </a:endParaRPr>
          </a:p>
          <a:p>
            <a:pPr marL="0" indent="0" algn="l">
              <a:lnSpc>
                <a:spcPct val="125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Update kegiatan, berita terbaru, dan koneksi dengan komunitas pendukung tata kelola lanskap Indonesia.</a:t>
            </a:r>
            <a:endParaRPr lang="en-US" sz="900" dirty="0">
              <a:latin typeface="Leelawadee UI" panose="020B0502040204020203" pitchFamily="34" charset="-34"/>
              <a:cs typeface="Leelawadee UI" panose="020B0502040204020203" pitchFamily="34" charset="-34"/>
            </a:endParaRPr>
          </a:p>
        </p:txBody>
      </p:sp>
      <p:pic>
        <p:nvPicPr>
          <p:cNvPr id="144" name="Image 7" descr="preencoded.png">
            <a:hlinkClick r:id="" action="ppaction://noaction"/>
            <a:extLst>
              <a:ext uri="{FF2B5EF4-FFF2-40B4-BE49-F238E27FC236}">
                <a16:creationId xmlns:a16="http://schemas.microsoft.com/office/drawing/2014/main" id="{4CE0910B-247B-9258-6A7E-3FFB655678D5}"/>
              </a:ext>
            </a:extLst>
          </p:cNvPr>
          <p:cNvPicPr>
            <a:picLocks noChangeAspect="1"/>
          </p:cNvPicPr>
          <p:nvPr/>
        </p:nvPicPr>
        <p:blipFill>
          <a:blip r:embed="rId22"/>
          <a:stretch>
            <a:fillRect/>
          </a:stretch>
        </p:blipFill>
        <p:spPr>
          <a:xfrm>
            <a:off x="4675019" y="34667919"/>
            <a:ext cx="1236538" cy="298475"/>
          </a:xfrm>
          <a:prstGeom prst="rect">
            <a:avLst/>
          </a:prstGeom>
        </p:spPr>
      </p:pic>
      <p:sp>
        <p:nvSpPr>
          <p:cNvPr id="145" name="Text 0">
            <a:extLst>
              <a:ext uri="{FF2B5EF4-FFF2-40B4-BE49-F238E27FC236}">
                <a16:creationId xmlns:a16="http://schemas.microsoft.com/office/drawing/2014/main" id="{3E09497C-D187-C1C9-14BD-13B62748AD4B}"/>
              </a:ext>
            </a:extLst>
          </p:cNvPr>
          <p:cNvSpPr/>
          <p:nvPr/>
        </p:nvSpPr>
        <p:spPr>
          <a:xfrm>
            <a:off x="489696" y="35562575"/>
            <a:ext cx="2007766" cy="193849"/>
          </a:xfrm>
          <a:prstGeom prst="rect">
            <a:avLst/>
          </a:prstGeom>
          <a:noFill/>
          <a:ln/>
        </p:spPr>
        <p:txBody>
          <a:bodyPr wrap="none" lIns="0" tIns="0" rIns="0" bIns="0" rtlCol="0" anchor="t"/>
          <a:lstStyle/>
          <a:p>
            <a:pPr marL="0" indent="0">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Bagikan Kisah Anda</a:t>
            </a:r>
            <a:endParaRPr lang="en-US" sz="1200" dirty="0">
              <a:latin typeface="Leelawadee UI" panose="020B0502040204020203" pitchFamily="34" charset="-34"/>
              <a:cs typeface="Leelawadee UI" panose="020B0502040204020203" pitchFamily="34" charset="-34"/>
            </a:endParaRPr>
          </a:p>
        </p:txBody>
      </p:sp>
      <p:sp>
        <p:nvSpPr>
          <p:cNvPr id="146" name="Text 1">
            <a:extLst>
              <a:ext uri="{FF2B5EF4-FFF2-40B4-BE49-F238E27FC236}">
                <a16:creationId xmlns:a16="http://schemas.microsoft.com/office/drawing/2014/main" id="{5B443B44-14E6-68F9-0130-333707D6160E}"/>
              </a:ext>
            </a:extLst>
          </p:cNvPr>
          <p:cNvSpPr/>
          <p:nvPr/>
        </p:nvSpPr>
        <p:spPr>
          <a:xfrm>
            <a:off x="2729650" y="35740791"/>
            <a:ext cx="3715271" cy="310083"/>
          </a:xfrm>
          <a:prstGeom prst="rect">
            <a:avLst/>
          </a:prstGeom>
          <a:noFill/>
          <a:ln/>
        </p:spPr>
        <p:txBody>
          <a:bodyPr wrap="none" lIns="0" tIns="0" rIns="0" bIns="0" rtlCol="0" anchor="t"/>
          <a:lstStyle/>
          <a:p>
            <a:pPr marL="0" indent="0" algn="ctr">
              <a:lnSpc>
                <a:spcPct val="104000"/>
              </a:lnSpc>
              <a:buNone/>
            </a:pPr>
            <a:r>
              <a:rPr lang="en-US" sz="2000" dirty="0">
                <a:solidFill>
                  <a:srgbClr val="161613"/>
                </a:solidFill>
                <a:latin typeface="Leelawadee UI" panose="020B0502040204020203" pitchFamily="34" charset="-34"/>
                <a:ea typeface="DM Sans Medium" pitchFamily="34" charset="-122"/>
                <a:cs typeface="Leelawadee UI" panose="020B0502040204020203" pitchFamily="34" charset="-34"/>
              </a:rPr>
              <a:t>Bagikan Foto &amp; Cerita Anda!</a:t>
            </a:r>
            <a:endParaRPr lang="en-US" sz="2000" dirty="0">
              <a:latin typeface="Leelawadee UI" panose="020B0502040204020203" pitchFamily="34" charset="-34"/>
              <a:cs typeface="Leelawadee UI" panose="020B0502040204020203" pitchFamily="34" charset="-34"/>
            </a:endParaRPr>
          </a:p>
        </p:txBody>
      </p:sp>
      <p:sp>
        <p:nvSpPr>
          <p:cNvPr id="147" name="Text 2">
            <a:extLst>
              <a:ext uri="{FF2B5EF4-FFF2-40B4-BE49-F238E27FC236}">
                <a16:creationId xmlns:a16="http://schemas.microsoft.com/office/drawing/2014/main" id="{F5178204-CD1C-37D1-2A26-6BB7A8714296}"/>
              </a:ext>
            </a:extLst>
          </p:cNvPr>
          <p:cNvSpPr/>
          <p:nvPr/>
        </p:nvSpPr>
        <p:spPr>
          <a:xfrm>
            <a:off x="511442" y="36236910"/>
            <a:ext cx="8151763" cy="595387"/>
          </a:xfrm>
          <a:prstGeom prst="rect">
            <a:avLst/>
          </a:prstGeom>
          <a:noFill/>
          <a:ln/>
        </p:spPr>
        <p:txBody>
          <a:bodyPr wrap="square" lIns="0" tIns="0" rIns="0" bIns="0" rtlCol="0" anchor="t">
            <a:normAutofit/>
          </a:bodyPr>
          <a:lstStyle/>
          <a:p>
            <a:pPr marL="0" indent="0" algn="ctr">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mengundang masyarakat, mitra, dan seluruh pemangku kepentingan untuk berbagi foto dan cerita tentang perubahan yang terjadi di desa atau lanskap Anda. Setiap momen perubahan layak untuk diabadikan dan dibagikan kepada dunia. Kirimkan dokumentasi Anda dan jadilah bagian dari galeri perubahan YNKI yang terus berkembang.</a:t>
            </a:r>
            <a:endParaRPr lang="en-US" sz="1000" dirty="0">
              <a:latin typeface="Leelawadee UI" panose="020B0502040204020203" pitchFamily="34" charset="-34"/>
              <a:cs typeface="Leelawadee UI" panose="020B0502040204020203" pitchFamily="34" charset="-34"/>
            </a:endParaRPr>
          </a:p>
        </p:txBody>
      </p:sp>
      <p:sp>
        <p:nvSpPr>
          <p:cNvPr id="148" name="Shape 3">
            <a:extLst>
              <a:ext uri="{FF2B5EF4-FFF2-40B4-BE49-F238E27FC236}">
                <a16:creationId xmlns:a16="http://schemas.microsoft.com/office/drawing/2014/main" id="{A0F1FA47-873F-CE62-FC13-FEE1172785F4}"/>
              </a:ext>
            </a:extLst>
          </p:cNvPr>
          <p:cNvSpPr/>
          <p:nvPr/>
        </p:nvSpPr>
        <p:spPr>
          <a:xfrm>
            <a:off x="422145" y="36971823"/>
            <a:ext cx="4103191" cy="2364358"/>
          </a:xfrm>
          <a:prstGeom prst="roundRect">
            <a:avLst>
              <a:gd name="adj" fmla="val 787"/>
            </a:avLst>
          </a:prstGeom>
          <a:solidFill>
            <a:srgbClr val="28282F"/>
          </a:solidFill>
          <a:ln/>
        </p:spPr>
      </p:sp>
      <p:sp>
        <p:nvSpPr>
          <p:cNvPr id="149" name="Text 4">
            <a:extLst>
              <a:ext uri="{FF2B5EF4-FFF2-40B4-BE49-F238E27FC236}">
                <a16:creationId xmlns:a16="http://schemas.microsoft.com/office/drawing/2014/main" id="{962FA9C0-FBB6-F9B0-EBF8-71CEE648D49E}"/>
              </a:ext>
            </a:extLst>
          </p:cNvPr>
          <p:cNvSpPr/>
          <p:nvPr/>
        </p:nvSpPr>
        <p:spPr>
          <a:xfrm>
            <a:off x="546119" y="37095797"/>
            <a:ext cx="2296195" cy="193849"/>
          </a:xfrm>
          <a:prstGeom prst="rect">
            <a:avLst/>
          </a:prstGeom>
          <a:noFill/>
          <a:ln/>
        </p:spPr>
        <p:txBody>
          <a:bodyPr wrap="none" lIns="0" tIns="0" rIns="0" bIns="0" rtlCol="0" anchor="t"/>
          <a:lstStyle/>
          <a:p>
            <a:pPr marL="0" indent="0" algn="l">
              <a:lnSpc>
                <a:spcPct val="104000"/>
              </a:lnSpc>
              <a:buNone/>
            </a:pP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Mengapa Berbagi Cerita?</a:t>
            </a:r>
            <a:endParaRPr lang="en-US" sz="1400" dirty="0">
              <a:latin typeface="Leelawadee UI" panose="020B0502040204020203" pitchFamily="34" charset="-34"/>
              <a:cs typeface="Leelawadee UI" panose="020B0502040204020203" pitchFamily="34" charset="-34"/>
            </a:endParaRPr>
          </a:p>
        </p:txBody>
      </p:sp>
      <p:sp>
        <p:nvSpPr>
          <p:cNvPr id="150" name="Text 5">
            <a:extLst>
              <a:ext uri="{FF2B5EF4-FFF2-40B4-BE49-F238E27FC236}">
                <a16:creationId xmlns:a16="http://schemas.microsoft.com/office/drawing/2014/main" id="{7EE825E3-0B91-7427-0248-6CFB619069A1}"/>
              </a:ext>
            </a:extLst>
          </p:cNvPr>
          <p:cNvSpPr/>
          <p:nvPr/>
        </p:nvSpPr>
        <p:spPr>
          <a:xfrm>
            <a:off x="546119" y="37413619"/>
            <a:ext cx="3855244"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Memperkuat dokumentasi perubahan di tingkat desa</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Menginspirasi komunitas lain di seluruh Kalimantan Barat</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Berkontribusi pada arsip pengetahuan tata kelola lanskap</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Menjadi bagian dari gerakan perubahan yang lebih besar</a:t>
            </a:r>
            <a:endParaRPr lang="en-US" sz="1000" dirty="0">
              <a:latin typeface="Leelawadee UI" panose="020B0502040204020203" pitchFamily="34" charset="-34"/>
              <a:cs typeface="Leelawadee UI" panose="020B0502040204020203" pitchFamily="34" charset="-34"/>
            </a:endParaRPr>
          </a:p>
        </p:txBody>
      </p:sp>
      <p:sp>
        <p:nvSpPr>
          <p:cNvPr id="151" name="Text 6">
            <a:extLst>
              <a:ext uri="{FF2B5EF4-FFF2-40B4-BE49-F238E27FC236}">
                <a16:creationId xmlns:a16="http://schemas.microsoft.com/office/drawing/2014/main" id="{BD7D6CE8-7A2E-93BE-6854-34042EC7F402}"/>
              </a:ext>
            </a:extLst>
          </p:cNvPr>
          <p:cNvSpPr/>
          <p:nvPr/>
        </p:nvSpPr>
        <p:spPr>
          <a:xfrm>
            <a:off x="4743369" y="37095797"/>
            <a:ext cx="2330797"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Cara Mengirimkan Konten</a:t>
            </a:r>
            <a:endParaRPr lang="en-US" sz="1400" dirty="0">
              <a:latin typeface="Leelawadee UI" panose="020B0502040204020203" pitchFamily="34" charset="-34"/>
              <a:cs typeface="Leelawadee UI" panose="020B0502040204020203" pitchFamily="34" charset="-34"/>
            </a:endParaRPr>
          </a:p>
        </p:txBody>
      </p:sp>
      <p:sp>
        <p:nvSpPr>
          <p:cNvPr id="152" name="Text 7">
            <a:extLst>
              <a:ext uri="{FF2B5EF4-FFF2-40B4-BE49-F238E27FC236}">
                <a16:creationId xmlns:a16="http://schemas.microsoft.com/office/drawing/2014/main" id="{1CB8CBD2-BDA6-87CA-23AC-77BA2541BDC1}"/>
              </a:ext>
            </a:extLst>
          </p:cNvPr>
          <p:cNvSpPr/>
          <p:nvPr/>
        </p:nvSpPr>
        <p:spPr>
          <a:xfrm>
            <a:off x="4743369" y="37413619"/>
            <a:ext cx="3924598" cy="1302395"/>
          </a:xfrm>
          <a:prstGeom prst="rect">
            <a:avLst/>
          </a:prstGeom>
          <a:noFill/>
          <a:ln/>
        </p:spPr>
        <p:txBody>
          <a:bodyPr wrap="square" lIns="0" tIns="0" rIns="0" bIns="0" rtlCol="0" anchor="t">
            <a:normAutofit lnSpcReduction="10000"/>
          </a:bodyPr>
          <a:lstStyle/>
          <a:p>
            <a:pPr marL="0" indent="0" algn="l">
              <a:lnSpc>
                <a:spcPct val="133000"/>
              </a:lnSpc>
              <a:spcAft>
                <a:spcPts val="850"/>
              </a:spcAft>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Anda dapat mengirimkan foto, video, atau cerita singkat dari kegiatan di desa atau komunitas Anda melalui formulir pengiriman atau melalui email resmi YNKI. Tim kami akan meninjau dan memuat konten Anda di galeri ini.</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Sertakan: nama lokasi, tahun kegiatan, dan deskripsi singkat tentang momen yang diabadikan.</a:t>
            </a:r>
            <a:endParaRPr lang="en-US" sz="1000" dirty="0">
              <a:latin typeface="Leelawadee UI" panose="020B0502040204020203" pitchFamily="34" charset="-34"/>
              <a:cs typeface="Leelawadee UI" panose="020B0502040204020203" pitchFamily="34" charset="-34"/>
            </a:endParaRPr>
          </a:p>
        </p:txBody>
      </p:sp>
      <p:pic>
        <p:nvPicPr>
          <p:cNvPr id="153" name="Image 0" descr="preencoded.png">
            <a:hlinkClick r:id="" action="ppaction://noaction"/>
            <a:extLst>
              <a:ext uri="{FF2B5EF4-FFF2-40B4-BE49-F238E27FC236}">
                <a16:creationId xmlns:a16="http://schemas.microsoft.com/office/drawing/2014/main" id="{08429CD9-043A-3729-5664-085003421E5C}"/>
              </a:ext>
            </a:extLst>
          </p:cNvPr>
          <p:cNvPicPr>
            <a:picLocks noChangeAspect="1"/>
          </p:cNvPicPr>
          <p:nvPr/>
        </p:nvPicPr>
        <p:blipFill>
          <a:blip r:embed="rId23"/>
          <a:stretch>
            <a:fillRect/>
          </a:stretch>
        </p:blipFill>
        <p:spPr>
          <a:xfrm>
            <a:off x="4743369" y="38855540"/>
            <a:ext cx="1363787" cy="341114"/>
          </a:xfrm>
          <a:prstGeom prst="rect">
            <a:avLst/>
          </a:prstGeom>
        </p:spPr>
      </p:pic>
      <p:pic>
        <p:nvPicPr>
          <p:cNvPr id="154" name="Image 1" descr="preencoded.png">
            <a:hlinkClick r:id="" action="ppaction://noaction"/>
            <a:extLst>
              <a:ext uri="{FF2B5EF4-FFF2-40B4-BE49-F238E27FC236}">
                <a16:creationId xmlns:a16="http://schemas.microsoft.com/office/drawing/2014/main" id="{070546AF-A3EA-2903-8048-B9254227B691}"/>
              </a:ext>
            </a:extLst>
          </p:cNvPr>
          <p:cNvPicPr>
            <a:picLocks noChangeAspect="1"/>
          </p:cNvPicPr>
          <p:nvPr/>
        </p:nvPicPr>
        <p:blipFill>
          <a:blip r:embed="rId24"/>
          <a:stretch>
            <a:fillRect/>
          </a:stretch>
        </p:blipFill>
        <p:spPr>
          <a:xfrm>
            <a:off x="6169143" y="38855540"/>
            <a:ext cx="1561281" cy="341114"/>
          </a:xfrm>
          <a:prstGeom prst="rect">
            <a:avLst/>
          </a:prstGeom>
        </p:spPr>
      </p:pic>
      <p:sp>
        <p:nvSpPr>
          <p:cNvPr id="155" name="Shape 0">
            <a:extLst>
              <a:ext uri="{FF2B5EF4-FFF2-40B4-BE49-F238E27FC236}">
                <a16:creationId xmlns:a16="http://schemas.microsoft.com/office/drawing/2014/main" id="{9D0CA4E6-3BD5-D4D4-ADE7-5B1B6CFB80DE}"/>
              </a:ext>
            </a:extLst>
          </p:cNvPr>
          <p:cNvSpPr/>
          <p:nvPr/>
        </p:nvSpPr>
        <p:spPr>
          <a:xfrm>
            <a:off x="414682" y="39942138"/>
            <a:ext cx="1989609" cy="2881982"/>
          </a:xfrm>
          <a:prstGeom prst="roundRect">
            <a:avLst>
              <a:gd name="adj" fmla="val 935"/>
            </a:avLst>
          </a:prstGeom>
          <a:solidFill>
            <a:srgbClr val="28282F"/>
          </a:solidFill>
          <a:ln/>
        </p:spPr>
      </p:sp>
      <p:sp>
        <p:nvSpPr>
          <p:cNvPr id="156" name="Text 1">
            <a:extLst>
              <a:ext uri="{FF2B5EF4-FFF2-40B4-BE49-F238E27FC236}">
                <a16:creationId xmlns:a16="http://schemas.microsoft.com/office/drawing/2014/main" id="{04C4B709-4A42-B8A7-061B-3B567C30DB97}"/>
              </a:ext>
            </a:extLst>
          </p:cNvPr>
          <p:cNvSpPr/>
          <p:nvPr/>
        </p:nvSpPr>
        <p:spPr>
          <a:xfrm>
            <a:off x="538656" y="40066112"/>
            <a:ext cx="1741661" cy="387697"/>
          </a:xfrm>
          <a:prstGeom prst="rect">
            <a:avLst/>
          </a:prstGeom>
          <a:noFill/>
          <a:ln/>
        </p:spPr>
        <p:txBody>
          <a:bodyPr wrap="square" lIns="0" tIns="0" rIns="0" bIns="0" rtlCol="0" anchor="t">
            <a:noAutofit/>
          </a:bodyPr>
          <a:lstStyle/>
          <a:p>
            <a:pPr marL="0" indent="0" algn="l">
              <a:lnSpc>
                <a:spcPct val="104000"/>
              </a:lnSpc>
              <a:buNone/>
            </a:pPr>
            <a:r>
              <a:rPr lang="en-US" sz="14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400" dirty="0">
                <a:solidFill>
                  <a:srgbClr val="FFFFFF"/>
                </a:solidFill>
                <a:latin typeface="Leelawadee UI" panose="020B0502040204020203" pitchFamily="34" charset="-34"/>
                <a:ea typeface="DM Sans Medium" pitchFamily="34" charset="-122"/>
                <a:cs typeface="Leelawadee UI" panose="020B0502040204020203" pitchFamily="34" charset="-34"/>
              </a:rPr>
              <a:t> Yayasan Natural Kapital Indonesia</a:t>
            </a:r>
            <a:endParaRPr lang="en-US" sz="1400" dirty="0">
              <a:latin typeface="Leelawadee UI" panose="020B0502040204020203" pitchFamily="34" charset="-34"/>
              <a:cs typeface="Leelawadee UI" panose="020B0502040204020203" pitchFamily="34" charset="-34"/>
            </a:endParaRPr>
          </a:p>
        </p:txBody>
      </p:sp>
      <p:sp>
        <p:nvSpPr>
          <p:cNvPr id="157" name="Text 2">
            <a:extLst>
              <a:ext uri="{FF2B5EF4-FFF2-40B4-BE49-F238E27FC236}">
                <a16:creationId xmlns:a16="http://schemas.microsoft.com/office/drawing/2014/main" id="{E2716991-F346-1627-3361-4510759810EE}"/>
              </a:ext>
            </a:extLst>
          </p:cNvPr>
          <p:cNvSpPr/>
          <p:nvPr/>
        </p:nvSpPr>
        <p:spPr>
          <a:xfrm>
            <a:off x="538656" y="40577783"/>
            <a:ext cx="1741661" cy="2014165"/>
          </a:xfrm>
          <a:prstGeom prst="rect">
            <a:avLst/>
          </a:prstGeom>
          <a:noFill/>
          <a:ln/>
        </p:spPr>
        <p:txBody>
          <a:bodyPr wrap="square" lIns="0" tIns="0" rIns="0" bIns="0" rtlCol="0" anchor="t"/>
          <a:lstStyle/>
          <a:p>
            <a:pPr marL="0" indent="0" algn="l">
              <a:lnSpc>
                <a:spcPct val="133000"/>
              </a:lnSpc>
              <a:spcAft>
                <a:spcPts val="850"/>
              </a:spcAft>
              <a:buNone/>
            </a:pPr>
            <a:r>
              <a:rPr lang="en-US" sz="1000" b="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100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1000" i="1"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 Jalan Karna Sosial, Pontianak</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1000" dirty="0">
              <a:latin typeface="Leelawadee UI" panose="020B0502040204020203" pitchFamily="34" charset="-34"/>
              <a:cs typeface="Leelawadee UI" panose="020B0502040204020203" pitchFamily="34" charset="-34"/>
            </a:endParaRPr>
          </a:p>
        </p:txBody>
      </p:sp>
      <p:sp>
        <p:nvSpPr>
          <p:cNvPr id="158" name="Text 3">
            <a:extLst>
              <a:ext uri="{FF2B5EF4-FFF2-40B4-BE49-F238E27FC236}">
                <a16:creationId xmlns:a16="http://schemas.microsoft.com/office/drawing/2014/main" id="{AEF88BA4-4DBD-8375-F8DB-2AD26A2164CC}"/>
              </a:ext>
            </a:extLst>
          </p:cNvPr>
          <p:cNvSpPr/>
          <p:nvPr/>
        </p:nvSpPr>
        <p:spPr>
          <a:xfrm>
            <a:off x="2622324" y="40066112"/>
            <a:ext cx="20077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400" dirty="0">
              <a:latin typeface="Leelawadee UI" panose="020B0502040204020203" pitchFamily="34" charset="-34"/>
              <a:cs typeface="Leelawadee UI" panose="020B0502040204020203" pitchFamily="34" charset="-34"/>
            </a:endParaRPr>
          </a:p>
        </p:txBody>
      </p:sp>
      <p:sp>
        <p:nvSpPr>
          <p:cNvPr id="159" name="Text 4">
            <a:extLst>
              <a:ext uri="{FF2B5EF4-FFF2-40B4-BE49-F238E27FC236}">
                <a16:creationId xmlns:a16="http://schemas.microsoft.com/office/drawing/2014/main" id="{EB1F6289-7108-E3B4-66EE-19C98557E688}"/>
              </a:ext>
            </a:extLst>
          </p:cNvPr>
          <p:cNvSpPr/>
          <p:nvPr/>
        </p:nvSpPr>
        <p:spPr>
          <a:xfrm>
            <a:off x="2622324" y="40383934"/>
            <a:ext cx="1811015" cy="923999"/>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100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1000" dirty="0">
              <a:latin typeface="Leelawadee UI" panose="020B0502040204020203" pitchFamily="34" charset="-34"/>
              <a:cs typeface="Leelawadee UI" panose="020B0502040204020203" pitchFamily="34" charset="-34"/>
            </a:endParaRPr>
          </a:p>
        </p:txBody>
      </p:sp>
      <p:sp>
        <p:nvSpPr>
          <p:cNvPr id="160" name="Text 5">
            <a:extLst>
              <a:ext uri="{FF2B5EF4-FFF2-40B4-BE49-F238E27FC236}">
                <a16:creationId xmlns:a16="http://schemas.microsoft.com/office/drawing/2014/main" id="{B67E289B-4F86-7CFC-685A-26102D8A1FBD}"/>
              </a:ext>
            </a:extLst>
          </p:cNvPr>
          <p:cNvSpPr/>
          <p:nvPr/>
        </p:nvSpPr>
        <p:spPr>
          <a:xfrm>
            <a:off x="4740669" y="40066112"/>
            <a:ext cx="20077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400" dirty="0">
              <a:latin typeface="Leelawadee UI" panose="020B0502040204020203" pitchFamily="34" charset="-34"/>
              <a:cs typeface="Leelawadee UI" panose="020B0502040204020203" pitchFamily="34" charset="-34"/>
            </a:endParaRPr>
          </a:p>
        </p:txBody>
      </p:sp>
      <p:sp>
        <p:nvSpPr>
          <p:cNvPr id="161" name="Text 6">
            <a:extLst>
              <a:ext uri="{FF2B5EF4-FFF2-40B4-BE49-F238E27FC236}">
                <a16:creationId xmlns:a16="http://schemas.microsoft.com/office/drawing/2014/main" id="{33CC9BBB-B961-0FA9-C350-2D18615C2BA9}"/>
              </a:ext>
            </a:extLst>
          </p:cNvPr>
          <p:cNvSpPr/>
          <p:nvPr/>
        </p:nvSpPr>
        <p:spPr>
          <a:xfrm>
            <a:off x="4740669" y="40383934"/>
            <a:ext cx="1811015" cy="1743149"/>
          </a:xfrm>
          <a:prstGeom prst="rect">
            <a:avLst/>
          </a:prstGeom>
          <a:noFill/>
          <a:ln/>
        </p:spPr>
        <p:txBody>
          <a:bodyPr wrap="square" lIns="0" tIns="0" rIns="0" bIns="0" rtlCol="0" anchor="t"/>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(Placeholder Nomor Telepon)</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a:t>
            </a: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rId5">
                  <a:extLst>
                    <a:ext uri="{A12FA001-AC4F-418D-AE19-62706E023703}">
                      <ahyp:hlinkClr xmlns:ahyp="http://schemas.microsoft.com/office/drawing/2018/hyperlinkcolor" val="tx"/>
                    </a:ext>
                  </a:extLst>
                </a:hlinkClick>
              </a:rPr>
              <a:t>LinkedIn: Natural Kapital Foundation</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Instagram: @yayasannaturalkapital</a:t>
            </a:r>
            <a:endParaRPr lang="en-US" sz="1000" dirty="0">
              <a:latin typeface="Leelawadee UI" panose="020B0502040204020203" pitchFamily="34" charset="-34"/>
              <a:cs typeface="Leelawadee UI" panose="020B0502040204020203" pitchFamily="34" charset="-34"/>
            </a:endParaRPr>
          </a:p>
        </p:txBody>
      </p:sp>
      <p:sp>
        <p:nvSpPr>
          <p:cNvPr id="162" name="Text 7">
            <a:extLst>
              <a:ext uri="{FF2B5EF4-FFF2-40B4-BE49-F238E27FC236}">
                <a16:creationId xmlns:a16="http://schemas.microsoft.com/office/drawing/2014/main" id="{B7CFA879-D70C-AEFF-7F8A-28A16A5F021A}"/>
              </a:ext>
            </a:extLst>
          </p:cNvPr>
          <p:cNvSpPr/>
          <p:nvPr/>
        </p:nvSpPr>
        <p:spPr>
          <a:xfrm>
            <a:off x="6859014" y="40066112"/>
            <a:ext cx="20077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Media Sosial</a:t>
            </a:r>
            <a:endParaRPr lang="en-US" sz="1400" dirty="0">
              <a:latin typeface="Leelawadee UI" panose="020B0502040204020203" pitchFamily="34" charset="-34"/>
              <a:cs typeface="Leelawadee UI" panose="020B0502040204020203" pitchFamily="34" charset="-34"/>
            </a:endParaRPr>
          </a:p>
        </p:txBody>
      </p:sp>
      <p:sp>
        <p:nvSpPr>
          <p:cNvPr id="163" name="Shape 8">
            <a:extLst>
              <a:ext uri="{FF2B5EF4-FFF2-40B4-BE49-F238E27FC236}">
                <a16:creationId xmlns:a16="http://schemas.microsoft.com/office/drawing/2014/main" id="{7C928E68-FC1E-A97D-176F-A92D08F3F80C}"/>
              </a:ext>
            </a:extLst>
          </p:cNvPr>
          <p:cNvSpPr/>
          <p:nvPr/>
        </p:nvSpPr>
        <p:spPr>
          <a:xfrm>
            <a:off x="6859014" y="40399487"/>
            <a:ext cx="1811015" cy="441796"/>
          </a:xfrm>
          <a:prstGeom prst="roundRect">
            <a:avLst>
              <a:gd name="adj" fmla="val 4212"/>
            </a:avLst>
          </a:prstGeom>
          <a:solidFill>
            <a:srgbClr val="EDEBE3"/>
          </a:solidFill>
          <a:ln/>
        </p:spPr>
      </p:sp>
      <p:sp>
        <p:nvSpPr>
          <p:cNvPr id="164" name="Text 9">
            <a:extLst>
              <a:ext uri="{FF2B5EF4-FFF2-40B4-BE49-F238E27FC236}">
                <a16:creationId xmlns:a16="http://schemas.microsoft.com/office/drawing/2014/main" id="{9CB38029-A2ED-029E-342E-F40F0B509E05}"/>
              </a:ext>
            </a:extLst>
          </p:cNvPr>
          <p:cNvSpPr/>
          <p:nvPr/>
        </p:nvSpPr>
        <p:spPr>
          <a:xfrm>
            <a:off x="6982988" y="40523460"/>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LinkedIn</a:t>
            </a:r>
            <a:endParaRPr lang="en-US" sz="1400" dirty="0">
              <a:latin typeface="Leelawadee UI" panose="020B0502040204020203" pitchFamily="34" charset="-34"/>
              <a:cs typeface="Leelawadee UI" panose="020B0502040204020203" pitchFamily="34" charset="-34"/>
            </a:endParaRPr>
          </a:p>
        </p:txBody>
      </p:sp>
      <p:sp>
        <p:nvSpPr>
          <p:cNvPr id="165" name="Shape 10">
            <a:extLst>
              <a:ext uri="{FF2B5EF4-FFF2-40B4-BE49-F238E27FC236}">
                <a16:creationId xmlns:a16="http://schemas.microsoft.com/office/drawing/2014/main" id="{1591AC7C-77D8-79B1-DC66-124136E1C127}"/>
              </a:ext>
            </a:extLst>
          </p:cNvPr>
          <p:cNvSpPr/>
          <p:nvPr/>
        </p:nvSpPr>
        <p:spPr>
          <a:xfrm>
            <a:off x="6859014" y="40965257"/>
            <a:ext cx="1811015" cy="441796"/>
          </a:xfrm>
          <a:prstGeom prst="roundRect">
            <a:avLst>
              <a:gd name="adj" fmla="val 4212"/>
            </a:avLst>
          </a:prstGeom>
          <a:solidFill>
            <a:srgbClr val="EDEBE3"/>
          </a:solidFill>
          <a:ln/>
        </p:spPr>
      </p:sp>
      <p:sp>
        <p:nvSpPr>
          <p:cNvPr id="166" name="Text 11">
            <a:extLst>
              <a:ext uri="{FF2B5EF4-FFF2-40B4-BE49-F238E27FC236}">
                <a16:creationId xmlns:a16="http://schemas.microsoft.com/office/drawing/2014/main" id="{6594B33C-3491-18E4-D2CA-D249EDC7AB6E}"/>
              </a:ext>
            </a:extLst>
          </p:cNvPr>
          <p:cNvSpPr/>
          <p:nvPr/>
        </p:nvSpPr>
        <p:spPr>
          <a:xfrm>
            <a:off x="6982988" y="41089230"/>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YouTube</a:t>
            </a:r>
            <a:endParaRPr lang="en-US" sz="1400" dirty="0">
              <a:latin typeface="Leelawadee UI" panose="020B0502040204020203" pitchFamily="34" charset="-34"/>
              <a:cs typeface="Leelawadee UI" panose="020B0502040204020203" pitchFamily="34" charset="-34"/>
            </a:endParaRPr>
          </a:p>
        </p:txBody>
      </p:sp>
      <p:sp>
        <p:nvSpPr>
          <p:cNvPr id="167" name="Shape 12">
            <a:extLst>
              <a:ext uri="{FF2B5EF4-FFF2-40B4-BE49-F238E27FC236}">
                <a16:creationId xmlns:a16="http://schemas.microsoft.com/office/drawing/2014/main" id="{0EAA55C3-FF1B-6377-64AE-77762597B455}"/>
              </a:ext>
            </a:extLst>
          </p:cNvPr>
          <p:cNvSpPr/>
          <p:nvPr/>
        </p:nvSpPr>
        <p:spPr>
          <a:xfrm>
            <a:off x="6859014" y="41531027"/>
            <a:ext cx="1811015" cy="441796"/>
          </a:xfrm>
          <a:prstGeom prst="roundRect">
            <a:avLst>
              <a:gd name="adj" fmla="val 4212"/>
            </a:avLst>
          </a:prstGeom>
          <a:solidFill>
            <a:srgbClr val="EDEBE3"/>
          </a:solidFill>
          <a:ln/>
        </p:spPr>
      </p:sp>
      <p:sp>
        <p:nvSpPr>
          <p:cNvPr id="168" name="Text 13">
            <a:extLst>
              <a:ext uri="{FF2B5EF4-FFF2-40B4-BE49-F238E27FC236}">
                <a16:creationId xmlns:a16="http://schemas.microsoft.com/office/drawing/2014/main" id="{83DA5784-0CCB-AA56-FE9D-73DFDD418BC5}"/>
              </a:ext>
            </a:extLst>
          </p:cNvPr>
          <p:cNvSpPr/>
          <p:nvPr/>
        </p:nvSpPr>
        <p:spPr>
          <a:xfrm>
            <a:off x="6982988" y="41655001"/>
            <a:ext cx="1550566" cy="193849"/>
          </a:xfrm>
          <a:prstGeom prst="rect">
            <a:avLst/>
          </a:prstGeom>
          <a:noFill/>
          <a:ln/>
        </p:spPr>
        <p:txBody>
          <a:bodyPr wrap="none" lIns="0" tIns="0" rIns="0" bIns="0" rtlCol="0" anchor="t"/>
          <a:lstStyle/>
          <a:p>
            <a:pPr marL="0" indent="0" algn="l">
              <a:lnSpc>
                <a:spcPct val="104000"/>
              </a:lnSpc>
              <a:buNone/>
            </a:pPr>
            <a:r>
              <a:rPr lang="en-US" sz="1400" dirty="0">
                <a:solidFill>
                  <a:srgbClr val="161613"/>
                </a:solidFill>
                <a:latin typeface="Leelawadee UI" panose="020B0502040204020203" pitchFamily="34" charset="-34"/>
                <a:ea typeface="DM Sans Medium" pitchFamily="34" charset="-122"/>
                <a:cs typeface="Leelawadee UI" panose="020B0502040204020203" pitchFamily="34" charset="-34"/>
              </a:rPr>
              <a:t>Instagram</a:t>
            </a:r>
            <a:endParaRPr lang="en-US" sz="1400" dirty="0">
              <a:latin typeface="Leelawadee UI" panose="020B0502040204020203" pitchFamily="34" charset="-34"/>
              <a:cs typeface="Leelawadee UI" panose="020B0502040204020203" pitchFamily="34" charset="-34"/>
            </a:endParaRPr>
          </a:p>
        </p:txBody>
      </p:sp>
      <p:sp>
        <p:nvSpPr>
          <p:cNvPr id="169" name="Text 14">
            <a:extLst>
              <a:ext uri="{FF2B5EF4-FFF2-40B4-BE49-F238E27FC236}">
                <a16:creationId xmlns:a16="http://schemas.microsoft.com/office/drawing/2014/main" id="{6256EB49-F53A-6266-B32D-0555E8B4AEC6}"/>
              </a:ext>
            </a:extLst>
          </p:cNvPr>
          <p:cNvSpPr/>
          <p:nvPr/>
        </p:nvSpPr>
        <p:spPr>
          <a:xfrm>
            <a:off x="6859014" y="42112349"/>
            <a:ext cx="1811015" cy="600149"/>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1000" dirty="0">
              <a:latin typeface="Leelawadee UI" panose="020B0502040204020203" pitchFamily="34" charset="-34"/>
              <a:cs typeface="Leelawadee UI" panose="020B0502040204020203" pitchFamily="34" charset="-34"/>
            </a:endParaRPr>
          </a:p>
          <a:p>
            <a:pPr marL="0" indent="0" algn="l">
              <a:lnSpc>
                <a:spcPct val="133000"/>
              </a:lnSpc>
              <a:buNone/>
            </a:pPr>
            <a:r>
              <a:rPr lang="en-US" sz="100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100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402799033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TotalTime>
  <Words>1256</Words>
  <Application>Microsoft Office PowerPoint</Application>
  <PresentationFormat>Custom</PresentationFormat>
  <Paragraphs>123</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3</cp:revision>
  <dcterms:created xsi:type="dcterms:W3CDTF">2026-06-22T15:53:06Z</dcterms:created>
  <dcterms:modified xsi:type="dcterms:W3CDTF">2026-06-22T16:12:49Z</dcterms:modified>
</cp:coreProperties>
</file>