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70" d="100"/>
          <a:sy n="70" d="100"/>
        </p:scale>
        <p:origin x="318" y="-113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891626"/>
            <a:ext cx="7649607" cy="1253324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8908198"/>
            <a:ext cx="6749654" cy="869160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4520BE-A5C5-4A2A-B3B2-C3A857756B40}"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22225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4520BE-A5C5-4A2A-B3B2-C3A857756B40}"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243788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974945"/>
            <a:ext cx="7762102" cy="1497488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4091502"/>
            <a:ext cx="7762102" cy="787494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4520BE-A5C5-4A2A-B3B2-C3A857756B40}"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3549989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4520BE-A5C5-4A2A-B3B2-C3A857756B40}"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449896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916661"/>
            <a:ext cx="7762102"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8824938"/>
            <a:ext cx="380722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149904"/>
            <a:ext cx="380722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8824938"/>
            <a:ext cx="382597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149904"/>
            <a:ext cx="382597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4520BE-A5C5-4A2A-B3B2-C3A857756B40}"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3517922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4520BE-A5C5-4A2A-B3B2-C3A857756B40}"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2624976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4520BE-A5C5-4A2A-B3B2-C3A857756B40}"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2396317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183304"/>
            <a:ext cx="4556016" cy="25583147"/>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AC4520BE-A5C5-4A2A-B3B2-C3A857756B40}"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858488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183304"/>
            <a:ext cx="4556016" cy="25583147"/>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AC4520BE-A5C5-4A2A-B3B2-C3A857756B40}"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388299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4520BE-A5C5-4A2A-B3B2-C3A857756B40}"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3117984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916653"/>
            <a:ext cx="194052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916653"/>
            <a:ext cx="5709082"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4520BE-A5C5-4A2A-B3B2-C3A857756B40}"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FDC39D0C-B139-47FD-A371-28AD594EB2BC}" type="slidenum">
              <a:rPr lang="en-ID" smtClean="0"/>
              <a:t>‹#›</a:t>
            </a:fld>
            <a:endParaRPr lang="en-ID"/>
          </a:p>
        </p:txBody>
      </p:sp>
    </p:spTree>
    <p:extLst>
      <p:ext uri="{BB962C8B-B14F-4D97-AF65-F5344CB8AC3E}">
        <p14:creationId xmlns:p14="http://schemas.microsoft.com/office/powerpoint/2010/main" val="1455376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916661"/>
            <a:ext cx="7762102"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9583264"/>
            <a:ext cx="7762102"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3366432"/>
            <a:ext cx="2024896" cy="1916653"/>
          </a:xfrm>
          <a:prstGeom prst="rect">
            <a:avLst/>
          </a:prstGeom>
        </p:spPr>
        <p:txBody>
          <a:bodyPr vert="horz" lIns="91440" tIns="45720" rIns="91440" bIns="45720" rtlCol="0" anchor="ctr"/>
          <a:lstStyle>
            <a:lvl1pPr algn="l">
              <a:defRPr sz="1181">
                <a:solidFill>
                  <a:schemeClr val="tx1">
                    <a:tint val="75000"/>
                  </a:schemeClr>
                </a:solidFill>
              </a:defRPr>
            </a:lvl1pPr>
          </a:lstStyle>
          <a:p>
            <a:fld id="{AC4520BE-A5C5-4A2A-B3B2-C3A857756B40}" type="datetimeFigureOut">
              <a:rPr lang="en-ID" smtClean="0"/>
              <a:t>22/06/2026</a:t>
            </a:fld>
            <a:endParaRPr lang="en-ID"/>
          </a:p>
        </p:txBody>
      </p:sp>
      <p:sp>
        <p:nvSpPr>
          <p:cNvPr id="5" name="Footer Placeholder 4"/>
          <p:cNvSpPr>
            <a:spLocks noGrp="1"/>
          </p:cNvSpPr>
          <p:nvPr>
            <p:ph type="ftr" sz="quarter" idx="3"/>
          </p:nvPr>
        </p:nvSpPr>
        <p:spPr>
          <a:xfrm>
            <a:off x="2981097" y="33366432"/>
            <a:ext cx="3037344" cy="1916653"/>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3366432"/>
            <a:ext cx="2024896" cy="1916653"/>
          </a:xfrm>
          <a:prstGeom prst="rect">
            <a:avLst/>
          </a:prstGeom>
        </p:spPr>
        <p:txBody>
          <a:bodyPr vert="horz" lIns="91440" tIns="45720" rIns="91440" bIns="45720" rtlCol="0" anchor="ctr"/>
          <a:lstStyle>
            <a:lvl1pPr algn="r">
              <a:defRPr sz="1181">
                <a:solidFill>
                  <a:schemeClr val="tx1">
                    <a:tint val="75000"/>
                  </a:schemeClr>
                </a:solidFill>
              </a:defRPr>
            </a:lvl1pPr>
          </a:lstStyle>
          <a:p>
            <a:fld id="{FDC39D0C-B139-47FD-A371-28AD594EB2BC}" type="slidenum">
              <a:rPr lang="en-ID" smtClean="0"/>
              <a:t>‹#›</a:t>
            </a:fld>
            <a:endParaRPr lang="en-ID"/>
          </a:p>
        </p:txBody>
      </p:sp>
    </p:spTree>
    <p:extLst>
      <p:ext uri="{BB962C8B-B14F-4D97-AF65-F5344CB8AC3E}">
        <p14:creationId xmlns:p14="http://schemas.microsoft.com/office/powerpoint/2010/main" val="13064085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hyperlink" Target="https://naturalkapital.or.id/perspektif-budaya/harmoni-musik-keselarasan-perbedaan/" TargetMode="External"/><Relationship Id="rId18" Type="http://schemas.openxmlformats.org/officeDocument/2006/relationships/image" Target="../media/image11.png"/><Relationship Id="rId26" Type="http://schemas.openxmlformats.org/officeDocument/2006/relationships/image" Target="../media/image15.png"/><Relationship Id="rId21" Type="http://schemas.openxmlformats.org/officeDocument/2006/relationships/hyperlink" Target="https://naturalkapital.or.id/perspektif-budaya/nilai-intrinsik-ekosistem/" TargetMode="External"/><Relationship Id="rId34" Type="http://schemas.openxmlformats.org/officeDocument/2006/relationships/image" Target="../media/image19.png"/><Relationship Id="rId7" Type="http://schemas.openxmlformats.org/officeDocument/2006/relationships/image" Target="../media/image4.svg"/><Relationship Id="rId12" Type="http://schemas.openxmlformats.org/officeDocument/2006/relationships/image" Target="../media/image8.png"/><Relationship Id="rId17" Type="http://schemas.openxmlformats.org/officeDocument/2006/relationships/hyperlink" Target="https://naturalkapital.or.id/perspektif-budaya/otak-pria-tiga-sistem-cinta/" TargetMode="External"/><Relationship Id="rId25" Type="http://schemas.openxmlformats.org/officeDocument/2006/relationships/hyperlink" Target="https://naturalkapital.or.id/perspektif-budaya/teori-ekonomi-kehidupan-bumi/" TargetMode="External"/><Relationship Id="rId33" Type="http://schemas.openxmlformats.org/officeDocument/2006/relationships/hyperlink" Target="https://naturalkapital.or.id/kontak/" TargetMode="External"/><Relationship Id="rId2" Type="http://schemas.openxmlformats.org/officeDocument/2006/relationships/image" Target="../media/image1.png"/><Relationship Id="rId16" Type="http://schemas.openxmlformats.org/officeDocument/2006/relationships/image" Target="../media/image10.png"/><Relationship Id="rId20" Type="http://schemas.openxmlformats.org/officeDocument/2006/relationships/image" Target="../media/image12.png"/><Relationship Id="rId29"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png"/><Relationship Id="rId24" Type="http://schemas.openxmlformats.org/officeDocument/2006/relationships/image" Target="../media/image14.png"/><Relationship Id="rId32" Type="http://schemas.openxmlformats.org/officeDocument/2006/relationships/image" Target="../media/image18.png"/><Relationship Id="rId37" Type="http://schemas.openxmlformats.org/officeDocument/2006/relationships/hyperlink" Target="https://naturalkapital.or.id/kebijakan-privasi/" TargetMode="External"/><Relationship Id="rId5" Type="http://schemas.openxmlformats.org/officeDocument/2006/relationships/hyperlink" Target="https://naturalkapital.or.id" TargetMode="External"/><Relationship Id="rId15" Type="http://schemas.openxmlformats.org/officeDocument/2006/relationships/hyperlink" Target="https://naturalkapital.or.id/perspektif-budaya/pabrik-ijazah-atau-rumah-peradaban/" TargetMode="External"/><Relationship Id="rId23" Type="http://schemas.openxmlformats.org/officeDocument/2006/relationships/hyperlink" Target="https://naturalkapital.or.id/perspektif-budaya/ruang-publik-cermin-peradaban/" TargetMode="External"/><Relationship Id="rId28" Type="http://schemas.openxmlformats.org/officeDocument/2006/relationships/hyperlink" Target="https://naturalkapital.or.id/kategori/perspektif-budaya/page/2/" TargetMode="External"/><Relationship Id="rId36" Type="http://schemas.openxmlformats.org/officeDocument/2006/relationships/image" Target="../media/image20.png"/><Relationship Id="rId10" Type="http://schemas.openxmlformats.org/officeDocument/2006/relationships/hyperlink" Target="https://naturalkapital.or.id/perspektif-budaya/kehidupan-petani-kecil-dipertaruhkan/" TargetMode="External"/><Relationship Id="rId19" Type="http://schemas.openxmlformats.org/officeDocument/2006/relationships/hyperlink" Target="https://naturalkapital.or.id/perspektif-budaya/empat-luka-suriah/" TargetMode="External"/><Relationship Id="rId31" Type="http://schemas.openxmlformats.org/officeDocument/2006/relationships/hyperlink" Target="https://naturalkapital.or.id/pustaka-pengetahuan/" TargetMode="External"/><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hyperlink" Target="https://naturalkapital.or.id/perspektif-budaya/paradoks-renaisans/" TargetMode="External"/><Relationship Id="rId30" Type="http://schemas.openxmlformats.org/officeDocument/2006/relationships/image" Target="../media/image17.png"/><Relationship Id="rId35" Type="http://schemas.openxmlformats.org/officeDocument/2006/relationships/hyperlink" Target="https://www.instagram.com/naturalkapital/" TargetMode="External"/><Relationship Id="rId8" Type="http://schemas.openxmlformats.org/officeDocument/2006/relationships/image" Target="../media/image5.png"/><Relationship Id="rId3" Type="http://schemas.openxmlformats.org/officeDocument/2006/relationships/hyperlink" Target="https://naturalkapital.or.id/kategori/perspektif-buday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AD3C5632-81B4-5DB5-24F9-1DA100C4A580}"/>
              </a:ext>
            </a:extLst>
          </p:cNvPr>
          <p:cNvPicPr>
            <a:picLocks noChangeAspect="1"/>
          </p:cNvPicPr>
          <p:nvPr/>
        </p:nvPicPr>
        <p:blipFill>
          <a:blip r:embed="rId2"/>
          <a:stretch>
            <a:fillRect/>
          </a:stretch>
        </p:blipFill>
        <p:spPr>
          <a:xfrm>
            <a:off x="6352928" y="0"/>
            <a:ext cx="2646610" cy="3969915"/>
          </a:xfrm>
          <a:prstGeom prst="rect">
            <a:avLst/>
          </a:prstGeom>
        </p:spPr>
      </p:pic>
      <p:sp>
        <p:nvSpPr>
          <p:cNvPr id="5" name="Shape 0">
            <a:extLst>
              <a:ext uri="{FF2B5EF4-FFF2-40B4-BE49-F238E27FC236}">
                <a16:creationId xmlns:a16="http://schemas.microsoft.com/office/drawing/2014/main" id="{87B0F966-4F2E-3E08-0C3A-1A207AF91887}"/>
              </a:ext>
            </a:extLst>
          </p:cNvPr>
          <p:cNvSpPr/>
          <p:nvPr/>
        </p:nvSpPr>
        <p:spPr>
          <a:xfrm>
            <a:off x="496119" y="1014785"/>
            <a:ext cx="3721039" cy="291899"/>
          </a:xfrm>
          <a:prstGeom prst="roundRect">
            <a:avLst>
              <a:gd name="adj" fmla="val 6132"/>
            </a:avLst>
          </a:prstGeom>
          <a:noFill/>
          <a:ln w="4763">
            <a:solidFill>
              <a:srgbClr val="28282F"/>
            </a:solidFill>
            <a:prstDash val="solid"/>
          </a:ln>
        </p:spPr>
      </p:sp>
      <p:sp>
        <p:nvSpPr>
          <p:cNvPr id="6" name="Text 1">
            <a:extLst>
              <a:ext uri="{FF2B5EF4-FFF2-40B4-BE49-F238E27FC236}">
                <a16:creationId xmlns:a16="http://schemas.microsoft.com/office/drawing/2014/main" id="{FABD17DF-921E-A900-DD2F-256AC8AB06C6}"/>
              </a:ext>
            </a:extLst>
          </p:cNvPr>
          <p:cNvSpPr/>
          <p:nvPr/>
        </p:nvSpPr>
        <p:spPr>
          <a:xfrm>
            <a:off x="560892" y="1072648"/>
            <a:ext cx="3445446"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BERANDA / PUSTAKA &amp; PENGETAHUAN / PERSPEKTIF BUDAYA</a:t>
            </a:r>
            <a:endParaRPr lang="en-US" sz="100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D1C85B89-A709-2EF1-CC44-792A08877DA8}"/>
              </a:ext>
            </a:extLst>
          </p:cNvPr>
          <p:cNvSpPr/>
          <p:nvPr/>
        </p:nvSpPr>
        <p:spPr>
          <a:xfrm>
            <a:off x="496119" y="1307083"/>
            <a:ext cx="4722763" cy="1162645"/>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Perspektif Budaya: Merenungkan Hubungan Manusia, Alam, dan Kebudayaan</a:t>
            </a:r>
            <a:endParaRPr lang="en-US" sz="2400" dirty="0">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71C7B83F-BAAC-984E-487D-1B56D87ED51B}"/>
              </a:ext>
            </a:extLst>
          </p:cNvPr>
          <p:cNvSpPr/>
          <p:nvPr/>
        </p:nvSpPr>
        <p:spPr>
          <a:xfrm>
            <a:off x="496119" y="2561257"/>
            <a:ext cx="5466531" cy="99231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percaya bahwa keberlanjutan tidak hanya tentang ekologi dan ekonomi, tetapi juga tentang budaya dan nilai-nilai yang membentuk cara kita memandang dunia. Kategori ini menghadirkan esai, refleksi, dan tulisan filosofis yang menggali perspektif budaya dalam pengelolaan lanskap, hubungan manusia dengan alam, dan tantangan peradaban kontemporer.</a:t>
            </a:r>
            <a:endParaRPr lang="en-US" sz="1000" dirty="0">
              <a:latin typeface="Leelawadee UI" panose="020B0502040204020203" pitchFamily="34" charset="-34"/>
              <a:cs typeface="Leelawadee UI" panose="020B0502040204020203" pitchFamily="34" charset="-34"/>
            </a:endParaRPr>
          </a:p>
        </p:txBody>
      </p:sp>
      <p:pic>
        <p:nvPicPr>
          <p:cNvPr id="9" name="Image 1" descr="preencoded.png">
            <a:hlinkClick r:id="rId3"/>
            <a:extLst>
              <a:ext uri="{FF2B5EF4-FFF2-40B4-BE49-F238E27FC236}">
                <a16:creationId xmlns:a16="http://schemas.microsoft.com/office/drawing/2014/main" id="{64E0E3B3-1B65-50DD-1754-B9EC62BEC31D}"/>
              </a:ext>
            </a:extLst>
          </p:cNvPr>
          <p:cNvPicPr>
            <a:picLocks noChangeAspect="1"/>
          </p:cNvPicPr>
          <p:nvPr/>
        </p:nvPicPr>
        <p:blipFill>
          <a:blip r:embed="rId4"/>
          <a:stretch>
            <a:fillRect/>
          </a:stretch>
        </p:blipFill>
        <p:spPr>
          <a:xfrm>
            <a:off x="480045" y="3474541"/>
            <a:ext cx="1612553" cy="341114"/>
          </a:xfrm>
          <a:prstGeom prst="rect">
            <a:avLst/>
          </a:prstGeom>
        </p:spPr>
      </p:pic>
      <p:pic>
        <p:nvPicPr>
          <p:cNvPr id="10" name="Image 2" descr="preencoded.png">
            <a:hlinkClick r:id="rId5"/>
            <a:extLst>
              <a:ext uri="{FF2B5EF4-FFF2-40B4-BE49-F238E27FC236}">
                <a16:creationId xmlns:a16="http://schemas.microsoft.com/office/drawing/2014/main" id="{D01F9E01-BD69-0059-00C2-733D13AA20C9}"/>
              </a:ext>
            </a:extLst>
          </p:cNvPr>
          <p:cNvPicPr>
            <a:picLocks noChangeAspect="1"/>
          </p:cNvPicPr>
          <p:nvPr/>
        </p:nvPicPr>
        <p:blipFill>
          <a:blip r:embed="rId6"/>
          <a:stretch>
            <a:fillRect/>
          </a:stretch>
        </p:blipFill>
        <p:spPr>
          <a:xfrm>
            <a:off x="2154584" y="3474541"/>
            <a:ext cx="1073572" cy="341114"/>
          </a:xfrm>
          <a:prstGeom prst="rect">
            <a:avLst/>
          </a:prstGeom>
        </p:spPr>
      </p:pic>
      <p:sp>
        <p:nvSpPr>
          <p:cNvPr id="20" name="Shape 0">
            <a:extLst>
              <a:ext uri="{FF2B5EF4-FFF2-40B4-BE49-F238E27FC236}">
                <a16:creationId xmlns:a16="http://schemas.microsoft.com/office/drawing/2014/main" id="{825F06FF-D77A-E300-F3EC-0492F5FC2041}"/>
              </a:ext>
            </a:extLst>
          </p:cNvPr>
          <p:cNvSpPr/>
          <p:nvPr/>
        </p:nvSpPr>
        <p:spPr>
          <a:xfrm>
            <a:off x="496118" y="4286349"/>
            <a:ext cx="777701" cy="301832"/>
          </a:xfrm>
          <a:prstGeom prst="roundRect">
            <a:avLst>
              <a:gd name="adj" fmla="val 6560"/>
            </a:avLst>
          </a:prstGeom>
          <a:solidFill>
            <a:srgbClr val="E3E3E8"/>
          </a:solidFill>
          <a:ln/>
        </p:spPr>
      </p:sp>
      <p:pic>
        <p:nvPicPr>
          <p:cNvPr id="21" name="Image 0" descr="preencoded.png">
            <a:extLst>
              <a:ext uri="{FF2B5EF4-FFF2-40B4-BE49-F238E27FC236}">
                <a16:creationId xmlns:a16="http://schemas.microsoft.com/office/drawing/2014/main" id="{C46B864B-3435-7298-96C6-087D33D46D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4728" y="4345211"/>
            <a:ext cx="91455" cy="91455"/>
          </a:xfrm>
          <a:prstGeom prst="rect">
            <a:avLst/>
          </a:prstGeom>
        </p:spPr>
      </p:pic>
      <p:sp>
        <p:nvSpPr>
          <p:cNvPr id="22" name="Text 1">
            <a:extLst>
              <a:ext uri="{FF2B5EF4-FFF2-40B4-BE49-F238E27FC236}">
                <a16:creationId xmlns:a16="http://schemas.microsoft.com/office/drawing/2014/main" id="{C0AF9FAD-7161-A8A3-B3B4-B1A20F794362}"/>
              </a:ext>
            </a:extLst>
          </p:cNvPr>
          <p:cNvSpPr/>
          <p:nvPr/>
        </p:nvSpPr>
        <p:spPr>
          <a:xfrm>
            <a:off x="828899" y="4349533"/>
            <a:ext cx="777701" cy="140568"/>
          </a:xfrm>
          <a:prstGeom prst="rect">
            <a:avLst/>
          </a:prstGeom>
          <a:noFill/>
          <a:ln/>
        </p:spPr>
        <p:txBody>
          <a:bodyPr wrap="none" lIns="0" tIns="0" rIns="0" bIns="0" rtlCol="0" anchor="t"/>
          <a:lstStyle/>
          <a:p>
            <a:pPr marL="0" indent="0" algn="l">
              <a:lnSpc>
                <a:spcPct val="128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ESENSI</a:t>
            </a:r>
            <a:endParaRPr lang="en-US" sz="1000" dirty="0">
              <a:latin typeface="Leelawadee UI" panose="020B0502040204020203" pitchFamily="34" charset="-34"/>
              <a:cs typeface="Leelawadee UI" panose="020B0502040204020203" pitchFamily="34" charset="-34"/>
            </a:endParaRPr>
          </a:p>
        </p:txBody>
      </p:sp>
      <p:sp>
        <p:nvSpPr>
          <p:cNvPr id="23" name="Text 2">
            <a:extLst>
              <a:ext uri="{FF2B5EF4-FFF2-40B4-BE49-F238E27FC236}">
                <a16:creationId xmlns:a16="http://schemas.microsoft.com/office/drawing/2014/main" id="{02211159-5ABB-67F6-D600-DF8CB0480120}"/>
              </a:ext>
            </a:extLst>
          </p:cNvPr>
          <p:cNvSpPr/>
          <p:nvPr/>
        </p:nvSpPr>
        <p:spPr>
          <a:xfrm>
            <a:off x="496119" y="4619533"/>
            <a:ext cx="4322266" cy="285824"/>
          </a:xfrm>
          <a:prstGeom prst="rect">
            <a:avLst/>
          </a:prstGeom>
          <a:noFill/>
          <a:ln/>
        </p:spPr>
        <p:txBody>
          <a:bodyPr wrap="none" lIns="0" tIns="0" rIns="0" bIns="0" rtlCol="0" anchor="t"/>
          <a:lstStyle/>
          <a:p>
            <a:pPr marL="0" indent="0" algn="l">
              <a:lnSpc>
                <a:spcPct val="104000"/>
              </a:lnSpc>
              <a:buNone/>
            </a:pPr>
            <a:r>
              <a:rPr lang="en-US" sz="2000" dirty="0" err="1">
                <a:solidFill>
                  <a:srgbClr val="161613"/>
                </a:solidFill>
                <a:latin typeface="Leelawadee UI" panose="020B0502040204020203" pitchFamily="34" charset="-34"/>
                <a:ea typeface="DM Sans Medium" pitchFamily="34" charset="-122"/>
                <a:cs typeface="Leelawadee UI" panose="020B0502040204020203" pitchFamily="34" charset="-34"/>
              </a:rPr>
              <a:t>Tentang</a:t>
            </a: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 </a:t>
            </a:r>
            <a:r>
              <a:rPr lang="en-US" sz="2000" dirty="0" err="1">
                <a:solidFill>
                  <a:srgbClr val="161613"/>
                </a:solidFill>
                <a:latin typeface="Leelawadee UI" panose="020B0502040204020203" pitchFamily="34" charset="-34"/>
                <a:ea typeface="DM Sans Medium" pitchFamily="34" charset="-122"/>
                <a:cs typeface="Leelawadee UI" panose="020B0502040204020203" pitchFamily="34" charset="-34"/>
              </a:rPr>
              <a:t>Perspektif</a:t>
            </a: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 </a:t>
            </a:r>
            <a:r>
              <a:rPr lang="en-US" sz="2000" dirty="0" err="1">
                <a:solidFill>
                  <a:srgbClr val="161613"/>
                </a:solidFill>
                <a:latin typeface="Leelawadee UI" panose="020B0502040204020203" pitchFamily="34" charset="-34"/>
                <a:ea typeface="DM Sans Medium" pitchFamily="34" charset="-122"/>
                <a:cs typeface="Leelawadee UI" panose="020B0502040204020203" pitchFamily="34" charset="-34"/>
              </a:rPr>
              <a:t>Budaya</a:t>
            </a:r>
            <a:endParaRPr lang="en-US" sz="2000" dirty="0">
              <a:latin typeface="Leelawadee UI" panose="020B0502040204020203" pitchFamily="34" charset="-34"/>
              <a:cs typeface="Leelawadee UI" panose="020B0502040204020203" pitchFamily="34" charset="-34"/>
            </a:endParaRPr>
          </a:p>
        </p:txBody>
      </p:sp>
      <p:sp>
        <p:nvSpPr>
          <p:cNvPr id="24" name="Shape 3">
            <a:extLst>
              <a:ext uri="{FF2B5EF4-FFF2-40B4-BE49-F238E27FC236}">
                <a16:creationId xmlns:a16="http://schemas.microsoft.com/office/drawing/2014/main" id="{264805AD-0533-52D1-EA40-4569244AB0FD}"/>
              </a:ext>
            </a:extLst>
          </p:cNvPr>
          <p:cNvSpPr/>
          <p:nvPr/>
        </p:nvSpPr>
        <p:spPr>
          <a:xfrm>
            <a:off x="480045" y="5134413"/>
            <a:ext cx="4522515" cy="2276037"/>
          </a:xfrm>
          <a:prstGeom prst="roundRect">
            <a:avLst>
              <a:gd name="adj" fmla="val 457"/>
            </a:avLst>
          </a:prstGeom>
          <a:solidFill>
            <a:srgbClr val="28282F"/>
          </a:solidFill>
          <a:ln/>
        </p:spPr>
      </p:sp>
      <p:sp>
        <p:nvSpPr>
          <p:cNvPr id="25" name="Shape 4">
            <a:extLst>
              <a:ext uri="{FF2B5EF4-FFF2-40B4-BE49-F238E27FC236}">
                <a16:creationId xmlns:a16="http://schemas.microsoft.com/office/drawing/2014/main" id="{08C36343-751F-A3BC-3912-5393995B54A3}"/>
              </a:ext>
            </a:extLst>
          </p:cNvPr>
          <p:cNvSpPr/>
          <p:nvPr/>
        </p:nvSpPr>
        <p:spPr>
          <a:xfrm>
            <a:off x="594345" y="5252954"/>
            <a:ext cx="14288" cy="717203"/>
          </a:xfrm>
          <a:prstGeom prst="roundRect">
            <a:avLst>
              <a:gd name="adj" fmla="val 59998"/>
            </a:avLst>
          </a:prstGeom>
          <a:solidFill>
            <a:srgbClr val="28282F"/>
          </a:solidFill>
          <a:ln/>
        </p:spPr>
      </p:sp>
      <p:sp>
        <p:nvSpPr>
          <p:cNvPr id="26" name="Text 5">
            <a:extLst>
              <a:ext uri="{FF2B5EF4-FFF2-40B4-BE49-F238E27FC236}">
                <a16:creationId xmlns:a16="http://schemas.microsoft.com/office/drawing/2014/main" id="{B79CBA28-2067-0216-5FFD-9E21D536D2CA}"/>
              </a:ext>
            </a:extLst>
          </p:cNvPr>
          <p:cNvSpPr/>
          <p:nvPr/>
        </p:nvSpPr>
        <p:spPr>
          <a:xfrm>
            <a:off x="765869" y="5347832"/>
            <a:ext cx="4122390" cy="527521"/>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Perspektif budaya adalah jendela untuk memahami bagaimana masyarakat memaknai hubungannya dengan alam, tanah, dan sesama. Tanpa memahami kebudayaan, kita hanya melihat separuh dari kenyataan.</a:t>
            </a:r>
            <a:endParaRPr lang="en-US" sz="950" dirty="0">
              <a:latin typeface="Leelawadee UI" panose="020B0502040204020203" pitchFamily="34" charset="-34"/>
              <a:cs typeface="Leelawadee UI" panose="020B0502040204020203" pitchFamily="34" charset="-34"/>
            </a:endParaRPr>
          </a:p>
        </p:txBody>
      </p:sp>
      <p:sp>
        <p:nvSpPr>
          <p:cNvPr id="27" name="Text 6">
            <a:extLst>
              <a:ext uri="{FF2B5EF4-FFF2-40B4-BE49-F238E27FC236}">
                <a16:creationId xmlns:a16="http://schemas.microsoft.com/office/drawing/2014/main" id="{6235E6E5-E4E8-D0A3-F0B1-A50AB2934E81}"/>
              </a:ext>
            </a:extLst>
          </p:cNvPr>
          <p:cNvSpPr/>
          <p:nvPr/>
        </p:nvSpPr>
        <p:spPr>
          <a:xfrm>
            <a:off x="594345" y="6088773"/>
            <a:ext cx="4293915" cy="879202"/>
          </a:xfrm>
          <a:prstGeom prst="rect">
            <a:avLst/>
          </a:prstGeom>
          <a:noFill/>
          <a:ln/>
        </p:spPr>
        <p:txBody>
          <a:bodyPr wrap="square" lIns="0" tIns="0" rIns="0" bIns="0" rtlCol="0" anchor="t">
            <a:noAutofit/>
          </a:bodyPr>
          <a:lstStyle/>
          <a:p>
            <a:pPr marL="0" indent="0" algn="l">
              <a:lnSpc>
                <a:spcPct val="128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Tulisan-tulisan dalam kategori ini mengajak pembaca untuk merenungkan berbagai isu—dari kebijakan ekonomi yang mempengaruhi petani kecil, hingga refleksi filosofis tentang harmoni, peradaban, dan krisis ekologi. YNKI menghadirkan ruang ini sebagai wadah untuk berpikir kritis dan membangun kesadaran kolektif tentang masa depan lanskap dan masyarakat.</a:t>
            </a:r>
            <a:endParaRPr lang="en-US" sz="950" dirty="0">
              <a:latin typeface="Leelawadee UI" panose="020B0502040204020203" pitchFamily="34" charset="-34"/>
              <a:cs typeface="Leelawadee UI" panose="020B0502040204020203" pitchFamily="34" charset="-34"/>
            </a:endParaRPr>
          </a:p>
        </p:txBody>
      </p:sp>
      <p:pic>
        <p:nvPicPr>
          <p:cNvPr id="28" name="Image 1" descr="preencoded.png">
            <a:extLst>
              <a:ext uri="{FF2B5EF4-FFF2-40B4-BE49-F238E27FC236}">
                <a16:creationId xmlns:a16="http://schemas.microsoft.com/office/drawing/2014/main" id="{2A82EBC9-BC30-BB68-B2B4-403C1BE6DD45}"/>
              </a:ext>
            </a:extLst>
          </p:cNvPr>
          <p:cNvPicPr>
            <a:picLocks noChangeAspect="1"/>
          </p:cNvPicPr>
          <p:nvPr/>
        </p:nvPicPr>
        <p:blipFill>
          <a:blip r:embed="rId8"/>
          <a:srcRect b="26313"/>
          <a:stretch>
            <a:fillRect/>
          </a:stretch>
        </p:blipFill>
        <p:spPr>
          <a:xfrm>
            <a:off x="5484664" y="4820468"/>
            <a:ext cx="3514874" cy="2589982"/>
          </a:xfrm>
          <a:prstGeom prst="rect">
            <a:avLst/>
          </a:prstGeom>
        </p:spPr>
      </p:pic>
      <p:sp>
        <p:nvSpPr>
          <p:cNvPr id="29" name="Text 0">
            <a:extLst>
              <a:ext uri="{FF2B5EF4-FFF2-40B4-BE49-F238E27FC236}">
                <a16:creationId xmlns:a16="http://schemas.microsoft.com/office/drawing/2014/main" id="{4C2EE1AC-77DA-C6F0-1036-38D2C206766F}"/>
              </a:ext>
            </a:extLst>
          </p:cNvPr>
          <p:cNvSpPr/>
          <p:nvPr/>
        </p:nvSpPr>
        <p:spPr>
          <a:xfrm>
            <a:off x="459284" y="7966090"/>
            <a:ext cx="1147316"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KOLEKSI KAMI</a:t>
            </a:r>
            <a:endParaRPr lang="en-US" sz="1000" dirty="0">
              <a:latin typeface="Leelawadee UI" panose="020B0502040204020203" pitchFamily="34" charset="-34"/>
              <a:cs typeface="Leelawadee UI" panose="020B0502040204020203" pitchFamily="34" charset="-34"/>
            </a:endParaRPr>
          </a:p>
        </p:txBody>
      </p:sp>
      <p:sp>
        <p:nvSpPr>
          <p:cNvPr id="30" name="Text 1">
            <a:extLst>
              <a:ext uri="{FF2B5EF4-FFF2-40B4-BE49-F238E27FC236}">
                <a16:creationId xmlns:a16="http://schemas.microsoft.com/office/drawing/2014/main" id="{D4404D0D-B8C0-A1DE-B180-5BD1FCDB8048}"/>
              </a:ext>
            </a:extLst>
          </p:cNvPr>
          <p:cNvSpPr/>
          <p:nvPr/>
        </p:nvSpPr>
        <p:spPr>
          <a:xfrm>
            <a:off x="2518395" y="8211656"/>
            <a:ext cx="4033465" cy="310083"/>
          </a:xfrm>
          <a:prstGeom prst="rect">
            <a:avLst/>
          </a:prstGeom>
          <a:noFill/>
          <a:ln/>
        </p:spPr>
        <p:txBody>
          <a:bodyPr wrap="none" lIns="0" tIns="0" rIns="0" bIns="0" rtlCol="0" anchor="t"/>
          <a:lstStyle/>
          <a:p>
            <a:pPr marL="0" indent="0" algn="ctr">
              <a:lnSpc>
                <a:spcPct val="104000"/>
              </a:lnSpc>
              <a:buNone/>
            </a:pPr>
            <a:r>
              <a:rPr lang="en-US" sz="1950" dirty="0">
                <a:solidFill>
                  <a:srgbClr val="161613"/>
                </a:solidFill>
                <a:latin typeface="Leelawadee UI" panose="020B0502040204020203" pitchFamily="34" charset="-34"/>
                <a:ea typeface="DM Sans Medium" pitchFamily="34" charset="-122"/>
                <a:cs typeface="Leelawadee UI" panose="020B0502040204020203" pitchFamily="34" charset="-34"/>
              </a:rPr>
              <a:t>Koleksi Perspektif Budaya YNKI</a:t>
            </a:r>
            <a:endParaRPr lang="en-US" sz="1950" dirty="0">
              <a:latin typeface="Leelawadee UI" panose="020B0502040204020203" pitchFamily="34" charset="-34"/>
              <a:cs typeface="Leelawadee UI" panose="020B0502040204020203" pitchFamily="34" charset="-34"/>
            </a:endParaRPr>
          </a:p>
        </p:txBody>
      </p:sp>
      <p:sp>
        <p:nvSpPr>
          <p:cNvPr id="31" name="Text 2">
            <a:extLst>
              <a:ext uri="{FF2B5EF4-FFF2-40B4-BE49-F238E27FC236}">
                <a16:creationId xmlns:a16="http://schemas.microsoft.com/office/drawing/2014/main" id="{35CE2335-CE43-7192-46A3-86DAAF5C2E7F}"/>
              </a:ext>
            </a:extLst>
          </p:cNvPr>
          <p:cNvSpPr/>
          <p:nvPr/>
        </p:nvSpPr>
        <p:spPr>
          <a:xfrm>
            <a:off x="459284" y="8707775"/>
            <a:ext cx="8151763" cy="396925"/>
          </a:xfrm>
          <a:prstGeom prst="rect">
            <a:avLst/>
          </a:prstGeom>
          <a:noFill/>
          <a:ln/>
        </p:spPr>
        <p:txBody>
          <a:bodyPr wrap="square" lIns="0" tIns="0" rIns="0" bIns="0" rtlCol="0" anchor="t">
            <a:normAutofit/>
          </a:bodyPr>
          <a:lstStyle/>
          <a:p>
            <a:pPr marL="0" indent="0" algn="ctr">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Hingga saat ini, YNKI telah menerbitkan berbagai esai dan tulisan reflektif yang menggali perspektif budaya dalam pengelolaan lanskap dan kehidupan masyarakat.</a:t>
            </a:r>
            <a:endParaRPr lang="en-US" sz="1000" dirty="0">
              <a:latin typeface="Leelawadee UI" panose="020B0502040204020203" pitchFamily="34" charset="-34"/>
              <a:cs typeface="Leelawadee UI" panose="020B0502040204020203" pitchFamily="34" charset="-34"/>
            </a:endParaRPr>
          </a:p>
        </p:txBody>
      </p:sp>
      <p:sp>
        <p:nvSpPr>
          <p:cNvPr id="32" name="Text 3">
            <a:extLst>
              <a:ext uri="{FF2B5EF4-FFF2-40B4-BE49-F238E27FC236}">
                <a16:creationId xmlns:a16="http://schemas.microsoft.com/office/drawing/2014/main" id="{BCEACF09-752F-08E0-0148-4B41C377081A}"/>
              </a:ext>
            </a:extLst>
          </p:cNvPr>
          <p:cNvSpPr/>
          <p:nvPr/>
        </p:nvSpPr>
        <p:spPr>
          <a:xfrm>
            <a:off x="459284" y="9306213"/>
            <a:ext cx="2613868" cy="409352"/>
          </a:xfrm>
          <a:prstGeom prst="rect">
            <a:avLst/>
          </a:prstGeom>
          <a:noFill/>
          <a:ln/>
        </p:spPr>
        <p:txBody>
          <a:bodyPr wrap="none" lIns="0" tIns="0" rIns="0" bIns="0" rtlCol="0" anchor="t"/>
          <a:lstStyle/>
          <a:p>
            <a:pPr marL="0" indent="0" algn="ctr">
              <a:lnSpc>
                <a:spcPct val="83000"/>
              </a:lnSpc>
              <a:buNone/>
            </a:pPr>
            <a:r>
              <a:rPr lang="en-US" sz="3200" dirty="0">
                <a:solidFill>
                  <a:srgbClr val="161613"/>
                </a:solidFill>
                <a:latin typeface="Leelawadee UI" panose="020B0502040204020203" pitchFamily="34" charset="-34"/>
                <a:ea typeface="DM Sans Medium" pitchFamily="34" charset="-122"/>
                <a:cs typeface="Leelawadee UI" panose="020B0502040204020203" pitchFamily="34" charset="-34"/>
              </a:rPr>
              <a:t>12</a:t>
            </a:r>
            <a:endParaRPr lang="en-US" sz="3200" dirty="0">
              <a:latin typeface="Leelawadee UI" panose="020B0502040204020203" pitchFamily="34" charset="-34"/>
              <a:cs typeface="Leelawadee UI" panose="020B0502040204020203" pitchFamily="34" charset="-34"/>
            </a:endParaRPr>
          </a:p>
        </p:txBody>
      </p:sp>
      <p:sp>
        <p:nvSpPr>
          <p:cNvPr id="33" name="Text 4">
            <a:extLst>
              <a:ext uri="{FF2B5EF4-FFF2-40B4-BE49-F238E27FC236}">
                <a16:creationId xmlns:a16="http://schemas.microsoft.com/office/drawing/2014/main" id="{BF6522E3-F82B-8A78-D2DC-27F577BA3A44}"/>
              </a:ext>
            </a:extLst>
          </p:cNvPr>
          <p:cNvSpPr/>
          <p:nvPr/>
        </p:nvSpPr>
        <p:spPr>
          <a:xfrm>
            <a:off x="990898" y="9870569"/>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Total Artikel</a:t>
            </a:r>
            <a:endParaRPr lang="en-US" sz="1200" dirty="0">
              <a:latin typeface="Leelawadee UI" panose="020B0502040204020203" pitchFamily="34" charset="-34"/>
              <a:cs typeface="Leelawadee UI" panose="020B0502040204020203" pitchFamily="34" charset="-34"/>
            </a:endParaRPr>
          </a:p>
        </p:txBody>
      </p:sp>
      <p:sp>
        <p:nvSpPr>
          <p:cNvPr id="34" name="Text 5">
            <a:extLst>
              <a:ext uri="{FF2B5EF4-FFF2-40B4-BE49-F238E27FC236}">
                <a16:creationId xmlns:a16="http://schemas.microsoft.com/office/drawing/2014/main" id="{23260203-ACE1-4B04-A4F3-D14AAE352BDC}"/>
              </a:ext>
            </a:extLst>
          </p:cNvPr>
          <p:cNvSpPr/>
          <p:nvPr/>
        </p:nvSpPr>
        <p:spPr>
          <a:xfrm>
            <a:off x="459284" y="10138832"/>
            <a:ext cx="2613868" cy="595387"/>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Esai dan refleksi budaya yang telah diterbitkan dalam kategori Perspektif Budaya</a:t>
            </a:r>
            <a:endParaRPr lang="en-US" sz="950" dirty="0">
              <a:latin typeface="Leelawadee UI" panose="020B0502040204020203" pitchFamily="34" charset="-34"/>
              <a:cs typeface="Leelawadee UI" panose="020B0502040204020203" pitchFamily="34" charset="-34"/>
            </a:endParaRPr>
          </a:p>
        </p:txBody>
      </p:sp>
      <p:sp>
        <p:nvSpPr>
          <p:cNvPr id="35" name="Text 6">
            <a:extLst>
              <a:ext uri="{FF2B5EF4-FFF2-40B4-BE49-F238E27FC236}">
                <a16:creationId xmlns:a16="http://schemas.microsoft.com/office/drawing/2014/main" id="{7AFB447B-35AF-40F4-0596-B7EE93C8870D}"/>
              </a:ext>
            </a:extLst>
          </p:cNvPr>
          <p:cNvSpPr/>
          <p:nvPr/>
        </p:nvSpPr>
        <p:spPr>
          <a:xfrm>
            <a:off x="3228156" y="9306213"/>
            <a:ext cx="2613943" cy="409352"/>
          </a:xfrm>
          <a:prstGeom prst="rect">
            <a:avLst/>
          </a:prstGeom>
          <a:noFill/>
          <a:ln/>
        </p:spPr>
        <p:txBody>
          <a:bodyPr wrap="none" lIns="0" tIns="0" rIns="0" bIns="0" rtlCol="0" anchor="t"/>
          <a:lstStyle/>
          <a:p>
            <a:pPr marL="0" indent="0" algn="ctr">
              <a:lnSpc>
                <a:spcPct val="83000"/>
              </a:lnSpc>
              <a:buNone/>
            </a:pPr>
            <a:r>
              <a:rPr lang="en-US" sz="3200" dirty="0">
                <a:solidFill>
                  <a:srgbClr val="161613"/>
                </a:solidFill>
                <a:latin typeface="Leelawadee UI" panose="020B0502040204020203" pitchFamily="34" charset="-34"/>
                <a:ea typeface="DM Sans Medium" pitchFamily="34" charset="-122"/>
                <a:cs typeface="Leelawadee UI" panose="020B0502040204020203" pitchFamily="34" charset="-34"/>
              </a:rPr>
              <a:t>2026</a:t>
            </a:r>
            <a:endParaRPr lang="en-US" sz="3200" dirty="0">
              <a:latin typeface="Leelawadee UI" panose="020B0502040204020203" pitchFamily="34" charset="-34"/>
              <a:cs typeface="Leelawadee UI" panose="020B0502040204020203" pitchFamily="34" charset="-34"/>
            </a:endParaRPr>
          </a:p>
        </p:txBody>
      </p:sp>
      <p:sp>
        <p:nvSpPr>
          <p:cNvPr id="36" name="Text 7">
            <a:extLst>
              <a:ext uri="{FF2B5EF4-FFF2-40B4-BE49-F238E27FC236}">
                <a16:creationId xmlns:a16="http://schemas.microsoft.com/office/drawing/2014/main" id="{E4CFE631-9BC5-F9ED-E043-F35EC44B0975}"/>
              </a:ext>
            </a:extLst>
          </p:cNvPr>
          <p:cNvSpPr/>
          <p:nvPr/>
        </p:nvSpPr>
        <p:spPr>
          <a:xfrm>
            <a:off x="3677543" y="9870569"/>
            <a:ext cx="1715170" cy="193849"/>
          </a:xfrm>
          <a:prstGeom prst="rect">
            <a:avLst/>
          </a:prstGeom>
          <a:noFill/>
          <a:ln/>
        </p:spPr>
        <p:txBody>
          <a:bodyPr wrap="none" lIns="0" tIns="0" rIns="0" bIns="0" rtlCol="0" anchor="t"/>
          <a:lstStyle/>
          <a:p>
            <a:pPr marL="0" indent="0" algn="ctr">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Tahun Publikasi Terbaru</a:t>
            </a:r>
            <a:endParaRPr lang="en-US" sz="1200" dirty="0">
              <a:latin typeface="Leelawadee UI" panose="020B0502040204020203" pitchFamily="34" charset="-34"/>
              <a:cs typeface="Leelawadee UI" panose="020B0502040204020203" pitchFamily="34" charset="-34"/>
            </a:endParaRPr>
          </a:p>
        </p:txBody>
      </p:sp>
      <p:sp>
        <p:nvSpPr>
          <p:cNvPr id="37" name="Text 8">
            <a:extLst>
              <a:ext uri="{FF2B5EF4-FFF2-40B4-BE49-F238E27FC236}">
                <a16:creationId xmlns:a16="http://schemas.microsoft.com/office/drawing/2014/main" id="{B5299D89-85AE-25F8-6F03-EA57B3A882A5}"/>
              </a:ext>
            </a:extLst>
          </p:cNvPr>
          <p:cNvSpPr/>
          <p:nvPr/>
        </p:nvSpPr>
        <p:spPr>
          <a:xfrm>
            <a:off x="3228156" y="10138832"/>
            <a:ext cx="2613943"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Tulisan terbaru dipublikasikan pada Juni 2026, terus diperbarui secara berkala</a:t>
            </a:r>
            <a:endParaRPr lang="en-US" sz="950" dirty="0">
              <a:latin typeface="Leelawadee UI" panose="020B0502040204020203" pitchFamily="34" charset="-34"/>
              <a:cs typeface="Leelawadee UI" panose="020B0502040204020203" pitchFamily="34" charset="-34"/>
            </a:endParaRPr>
          </a:p>
        </p:txBody>
      </p:sp>
      <p:sp>
        <p:nvSpPr>
          <p:cNvPr id="38" name="Text 9">
            <a:extLst>
              <a:ext uri="{FF2B5EF4-FFF2-40B4-BE49-F238E27FC236}">
                <a16:creationId xmlns:a16="http://schemas.microsoft.com/office/drawing/2014/main" id="{1F93095E-0968-09DD-FFBA-09E89BA50396}"/>
              </a:ext>
            </a:extLst>
          </p:cNvPr>
          <p:cNvSpPr/>
          <p:nvPr/>
        </p:nvSpPr>
        <p:spPr>
          <a:xfrm>
            <a:off x="5997104" y="9306213"/>
            <a:ext cx="2613943" cy="409352"/>
          </a:xfrm>
          <a:prstGeom prst="rect">
            <a:avLst/>
          </a:prstGeom>
          <a:noFill/>
          <a:ln/>
        </p:spPr>
        <p:txBody>
          <a:bodyPr wrap="none" lIns="0" tIns="0" rIns="0" bIns="0" rtlCol="0" anchor="t"/>
          <a:lstStyle/>
          <a:p>
            <a:pPr marL="0" indent="0" algn="ctr">
              <a:lnSpc>
                <a:spcPct val="83000"/>
              </a:lnSpc>
              <a:buNone/>
            </a:pPr>
            <a:r>
              <a:rPr lang="en-US" sz="3200" dirty="0">
                <a:solidFill>
                  <a:srgbClr val="161613"/>
                </a:solidFill>
                <a:latin typeface="Leelawadee UI" panose="020B0502040204020203" pitchFamily="34" charset="-34"/>
                <a:ea typeface="DM Sans Medium" pitchFamily="34" charset="-122"/>
                <a:cs typeface="Leelawadee UI" panose="020B0502040204020203" pitchFamily="34" charset="-34"/>
              </a:rPr>
              <a:t>8+</a:t>
            </a:r>
            <a:endParaRPr lang="en-US" sz="3200" dirty="0">
              <a:latin typeface="Leelawadee UI" panose="020B0502040204020203" pitchFamily="34" charset="-34"/>
              <a:cs typeface="Leelawadee UI" panose="020B0502040204020203" pitchFamily="34" charset="-34"/>
            </a:endParaRPr>
          </a:p>
        </p:txBody>
      </p:sp>
      <p:sp>
        <p:nvSpPr>
          <p:cNvPr id="39" name="Text 10">
            <a:extLst>
              <a:ext uri="{FF2B5EF4-FFF2-40B4-BE49-F238E27FC236}">
                <a16:creationId xmlns:a16="http://schemas.microsoft.com/office/drawing/2014/main" id="{6CAC690B-02A6-B9A0-F9FD-8DF6322ED596}"/>
              </a:ext>
            </a:extLst>
          </p:cNvPr>
          <p:cNvSpPr/>
          <p:nvPr/>
        </p:nvSpPr>
        <p:spPr>
          <a:xfrm>
            <a:off x="6528792" y="9870569"/>
            <a:ext cx="1550566" cy="193849"/>
          </a:xfrm>
          <a:prstGeom prst="rect">
            <a:avLst/>
          </a:prstGeom>
          <a:noFill/>
          <a:ln/>
        </p:spPr>
        <p:txBody>
          <a:bodyPr wrap="none" lIns="0" tIns="0" rIns="0" bIns="0" rtlCol="0" anchor="t"/>
          <a:lstStyle/>
          <a:p>
            <a:pPr marL="0" indent="0" algn="ctr">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Kontributor Penulis</a:t>
            </a:r>
            <a:endParaRPr lang="en-US" sz="1200" dirty="0">
              <a:latin typeface="Leelawadee UI" panose="020B0502040204020203" pitchFamily="34" charset="-34"/>
              <a:cs typeface="Leelawadee UI" panose="020B0502040204020203" pitchFamily="34" charset="-34"/>
            </a:endParaRPr>
          </a:p>
        </p:txBody>
      </p:sp>
      <p:sp>
        <p:nvSpPr>
          <p:cNvPr id="40" name="Text 11">
            <a:extLst>
              <a:ext uri="{FF2B5EF4-FFF2-40B4-BE49-F238E27FC236}">
                <a16:creationId xmlns:a16="http://schemas.microsoft.com/office/drawing/2014/main" id="{5148E468-B7AE-AC26-0219-6E7143B7F153}"/>
              </a:ext>
            </a:extLst>
          </p:cNvPr>
          <p:cNvSpPr/>
          <p:nvPr/>
        </p:nvSpPr>
        <p:spPr>
          <a:xfrm>
            <a:off x="5997104" y="10138832"/>
            <a:ext cx="2613943" cy="396925"/>
          </a:xfrm>
          <a:prstGeom prst="rect">
            <a:avLst/>
          </a:prstGeom>
          <a:noFill/>
          <a:ln/>
        </p:spPr>
        <p:txBody>
          <a:bodyPr wrap="square" lIns="0" tIns="0" rIns="0" bIns="0" rtlCol="0" anchor="t">
            <a:normAutofit/>
          </a:bodyPr>
          <a:lstStyle/>
          <a:p>
            <a:pPr marL="0" indent="0" algn="ctr">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Beragam penulis dengan latar belakang akademisi, aktivis, dan praktisi lapangan</a:t>
            </a:r>
            <a:endParaRPr lang="en-US" sz="950" dirty="0">
              <a:latin typeface="Leelawadee UI" panose="020B0502040204020203" pitchFamily="34" charset="-34"/>
              <a:cs typeface="Leelawadee UI" panose="020B0502040204020203" pitchFamily="34" charset="-34"/>
            </a:endParaRPr>
          </a:p>
        </p:txBody>
      </p:sp>
      <p:sp>
        <p:nvSpPr>
          <p:cNvPr id="41" name="Shape 0">
            <a:extLst>
              <a:ext uri="{FF2B5EF4-FFF2-40B4-BE49-F238E27FC236}">
                <a16:creationId xmlns:a16="http://schemas.microsoft.com/office/drawing/2014/main" id="{4939050F-0309-B436-8251-0A6E9DF23F8C}"/>
              </a:ext>
            </a:extLst>
          </p:cNvPr>
          <p:cNvSpPr/>
          <p:nvPr/>
        </p:nvSpPr>
        <p:spPr>
          <a:xfrm>
            <a:off x="609848" y="11290927"/>
            <a:ext cx="1211212" cy="265065"/>
          </a:xfrm>
          <a:prstGeom prst="roundRect">
            <a:avLst>
              <a:gd name="adj" fmla="val 6383"/>
            </a:avLst>
          </a:prstGeom>
          <a:solidFill>
            <a:srgbClr val="E3E3E8"/>
          </a:solidFill>
          <a:ln/>
        </p:spPr>
      </p:sp>
      <p:sp>
        <p:nvSpPr>
          <p:cNvPr id="42" name="Text 1">
            <a:extLst>
              <a:ext uri="{FF2B5EF4-FFF2-40B4-BE49-F238E27FC236}">
                <a16:creationId xmlns:a16="http://schemas.microsoft.com/office/drawing/2014/main" id="{F889300E-B6C1-8685-F9B1-0E8BEB69F440}"/>
              </a:ext>
            </a:extLst>
          </p:cNvPr>
          <p:cNvSpPr/>
          <p:nvPr/>
        </p:nvSpPr>
        <p:spPr>
          <a:xfrm>
            <a:off x="684263" y="11328135"/>
            <a:ext cx="1228799" cy="158800"/>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NAVIGASI TEMA</a:t>
            </a:r>
            <a:endParaRPr lang="en-US" sz="1000" dirty="0">
              <a:latin typeface="Leelawadee UI" panose="020B0502040204020203" pitchFamily="34" charset="-34"/>
              <a:cs typeface="Leelawadee UI" panose="020B0502040204020203" pitchFamily="34" charset="-34"/>
            </a:endParaRPr>
          </a:p>
        </p:txBody>
      </p:sp>
      <p:sp>
        <p:nvSpPr>
          <p:cNvPr id="43" name="Text 2">
            <a:extLst>
              <a:ext uri="{FF2B5EF4-FFF2-40B4-BE49-F238E27FC236}">
                <a16:creationId xmlns:a16="http://schemas.microsoft.com/office/drawing/2014/main" id="{718E1F29-9DA4-9FF4-B65F-EBA006D9E60B}"/>
              </a:ext>
            </a:extLst>
          </p:cNvPr>
          <p:cNvSpPr/>
          <p:nvPr/>
        </p:nvSpPr>
        <p:spPr>
          <a:xfrm>
            <a:off x="609849" y="11573701"/>
            <a:ext cx="4411191" cy="310083"/>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Jelajahi Tulisan Berdasarkan Tema</a:t>
            </a:r>
            <a:endParaRPr lang="en-US" sz="2400" dirty="0">
              <a:latin typeface="Leelawadee UI" panose="020B0502040204020203" pitchFamily="34" charset="-34"/>
              <a:cs typeface="Leelawadee UI" panose="020B0502040204020203" pitchFamily="34" charset="-34"/>
            </a:endParaRPr>
          </a:p>
        </p:txBody>
      </p:sp>
      <p:sp>
        <p:nvSpPr>
          <p:cNvPr id="44" name="Text 3">
            <a:extLst>
              <a:ext uri="{FF2B5EF4-FFF2-40B4-BE49-F238E27FC236}">
                <a16:creationId xmlns:a16="http://schemas.microsoft.com/office/drawing/2014/main" id="{3EA2C41D-9FF8-A937-59F2-A8196D6B52FB}"/>
              </a:ext>
            </a:extLst>
          </p:cNvPr>
          <p:cNvSpPr/>
          <p:nvPr/>
        </p:nvSpPr>
        <p:spPr>
          <a:xfrm>
            <a:off x="609849" y="12069820"/>
            <a:ext cx="8151763"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Temukan esai dan refleksi yang sesuai dengan minat dan kebutuhan intelektual Anda. Setiap tema mencerminkan salah satu dimensi pemikiran budaya yang menjadi fokus YNKI dalam memahami lanskap dan kehidupan masyarakat.</a:t>
            </a:r>
            <a:endParaRPr lang="en-US" sz="1050" dirty="0">
              <a:latin typeface="Leelawadee UI" panose="020B0502040204020203" pitchFamily="34" charset="-34"/>
              <a:cs typeface="Leelawadee UI" panose="020B0502040204020203" pitchFamily="34" charset="-34"/>
            </a:endParaRPr>
          </a:p>
        </p:txBody>
      </p:sp>
      <p:sp>
        <p:nvSpPr>
          <p:cNvPr id="45" name="Shape 4">
            <a:extLst>
              <a:ext uri="{FF2B5EF4-FFF2-40B4-BE49-F238E27FC236}">
                <a16:creationId xmlns:a16="http://schemas.microsoft.com/office/drawing/2014/main" id="{339BAEC6-5664-BBA9-247A-AD7A9EA9EB00}"/>
              </a:ext>
            </a:extLst>
          </p:cNvPr>
          <p:cNvSpPr/>
          <p:nvPr/>
        </p:nvSpPr>
        <p:spPr>
          <a:xfrm>
            <a:off x="609849" y="12606271"/>
            <a:ext cx="4013895" cy="913135"/>
          </a:xfrm>
          <a:prstGeom prst="roundRect">
            <a:avLst>
              <a:gd name="adj" fmla="val 2038"/>
            </a:avLst>
          </a:prstGeom>
          <a:solidFill>
            <a:srgbClr val="EDEBE3"/>
          </a:solidFill>
          <a:ln/>
        </p:spPr>
      </p:sp>
      <p:sp>
        <p:nvSpPr>
          <p:cNvPr id="46" name="Text 5">
            <a:extLst>
              <a:ext uri="{FF2B5EF4-FFF2-40B4-BE49-F238E27FC236}">
                <a16:creationId xmlns:a16="http://schemas.microsoft.com/office/drawing/2014/main" id="{E7157B84-B145-7E82-19C4-632B4DB21FFB}"/>
              </a:ext>
            </a:extLst>
          </p:cNvPr>
          <p:cNvSpPr/>
          <p:nvPr/>
        </p:nvSpPr>
        <p:spPr>
          <a:xfrm>
            <a:off x="733822" y="12730245"/>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 Semua Tulisan</a:t>
            </a:r>
            <a:endParaRPr lang="en-US" sz="1600" dirty="0">
              <a:latin typeface="Leelawadee UI" panose="020B0502040204020203" pitchFamily="34" charset="-34"/>
              <a:cs typeface="Leelawadee UI" panose="020B0502040204020203" pitchFamily="34" charset="-34"/>
            </a:endParaRPr>
          </a:p>
        </p:txBody>
      </p:sp>
      <p:sp>
        <p:nvSpPr>
          <p:cNvPr id="47" name="Text 6">
            <a:extLst>
              <a:ext uri="{FF2B5EF4-FFF2-40B4-BE49-F238E27FC236}">
                <a16:creationId xmlns:a16="http://schemas.microsoft.com/office/drawing/2014/main" id="{DC7FB353-35BE-1AE6-56D6-8068C52327B0}"/>
              </a:ext>
            </a:extLst>
          </p:cNvPr>
          <p:cNvSpPr/>
          <p:nvPr/>
        </p:nvSpPr>
        <p:spPr>
          <a:xfrm>
            <a:off x="733822" y="12998508"/>
            <a:ext cx="3765947"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Seluruh koleksi esai dan refleksi budaya dari YNKI</a:t>
            </a:r>
            <a:endParaRPr lang="en-US" sz="1050" dirty="0">
              <a:latin typeface="Leelawadee UI" panose="020B0502040204020203" pitchFamily="34" charset="-34"/>
              <a:cs typeface="Leelawadee UI" panose="020B0502040204020203" pitchFamily="34" charset="-34"/>
            </a:endParaRPr>
          </a:p>
        </p:txBody>
      </p:sp>
      <p:sp>
        <p:nvSpPr>
          <p:cNvPr id="48" name="Shape 7">
            <a:extLst>
              <a:ext uri="{FF2B5EF4-FFF2-40B4-BE49-F238E27FC236}">
                <a16:creationId xmlns:a16="http://schemas.microsoft.com/office/drawing/2014/main" id="{B69F567B-0E75-BD63-9B9E-00CB40D03F80}"/>
              </a:ext>
            </a:extLst>
          </p:cNvPr>
          <p:cNvSpPr/>
          <p:nvPr/>
        </p:nvSpPr>
        <p:spPr>
          <a:xfrm>
            <a:off x="4747717" y="12606271"/>
            <a:ext cx="4013895" cy="913135"/>
          </a:xfrm>
          <a:prstGeom prst="roundRect">
            <a:avLst>
              <a:gd name="adj" fmla="val 2038"/>
            </a:avLst>
          </a:prstGeom>
          <a:solidFill>
            <a:srgbClr val="EDEBE3"/>
          </a:solidFill>
          <a:ln/>
        </p:spPr>
      </p:sp>
      <p:sp>
        <p:nvSpPr>
          <p:cNvPr id="49" name="Text 8">
            <a:extLst>
              <a:ext uri="{FF2B5EF4-FFF2-40B4-BE49-F238E27FC236}">
                <a16:creationId xmlns:a16="http://schemas.microsoft.com/office/drawing/2014/main" id="{DF3C7E79-499D-4570-A79C-E0B6DC819AD4}"/>
              </a:ext>
            </a:extLst>
          </p:cNvPr>
          <p:cNvSpPr/>
          <p:nvPr/>
        </p:nvSpPr>
        <p:spPr>
          <a:xfrm>
            <a:off x="4871691" y="12730245"/>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 Filosofi &amp; Refleksi</a:t>
            </a:r>
            <a:endParaRPr lang="en-US" sz="1600" dirty="0">
              <a:latin typeface="Leelawadee UI" panose="020B0502040204020203" pitchFamily="34" charset="-34"/>
              <a:cs typeface="Leelawadee UI" panose="020B0502040204020203" pitchFamily="34" charset="-34"/>
            </a:endParaRPr>
          </a:p>
        </p:txBody>
      </p:sp>
      <p:sp>
        <p:nvSpPr>
          <p:cNvPr id="50" name="Text 9">
            <a:extLst>
              <a:ext uri="{FF2B5EF4-FFF2-40B4-BE49-F238E27FC236}">
                <a16:creationId xmlns:a16="http://schemas.microsoft.com/office/drawing/2014/main" id="{E098E652-0BF6-63F3-BDD5-1B618A85E3BC}"/>
              </a:ext>
            </a:extLst>
          </p:cNvPr>
          <p:cNvSpPr/>
          <p:nvPr/>
        </p:nvSpPr>
        <p:spPr>
          <a:xfrm>
            <a:off x="4871691" y="12998508"/>
            <a:ext cx="3765947"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Renungan mendalam tentang makna, eksistensi, dan peradaban manusia</a:t>
            </a:r>
            <a:endParaRPr lang="en-US" sz="1050" dirty="0">
              <a:latin typeface="Leelawadee UI" panose="020B0502040204020203" pitchFamily="34" charset="-34"/>
              <a:cs typeface="Leelawadee UI" panose="020B0502040204020203" pitchFamily="34" charset="-34"/>
            </a:endParaRPr>
          </a:p>
        </p:txBody>
      </p:sp>
      <p:sp>
        <p:nvSpPr>
          <p:cNvPr id="51" name="Shape 10">
            <a:extLst>
              <a:ext uri="{FF2B5EF4-FFF2-40B4-BE49-F238E27FC236}">
                <a16:creationId xmlns:a16="http://schemas.microsoft.com/office/drawing/2014/main" id="{A6AEC3E4-2ECD-9533-983E-7B547BA5FD90}"/>
              </a:ext>
            </a:extLst>
          </p:cNvPr>
          <p:cNvSpPr/>
          <p:nvPr/>
        </p:nvSpPr>
        <p:spPr>
          <a:xfrm>
            <a:off x="609849" y="13643380"/>
            <a:ext cx="4013895" cy="913135"/>
          </a:xfrm>
          <a:prstGeom prst="roundRect">
            <a:avLst>
              <a:gd name="adj" fmla="val 2038"/>
            </a:avLst>
          </a:prstGeom>
          <a:solidFill>
            <a:srgbClr val="EDEBE3"/>
          </a:solidFill>
          <a:ln/>
        </p:spPr>
      </p:sp>
      <p:sp>
        <p:nvSpPr>
          <p:cNvPr id="52" name="Text 11">
            <a:extLst>
              <a:ext uri="{FF2B5EF4-FFF2-40B4-BE49-F238E27FC236}">
                <a16:creationId xmlns:a16="http://schemas.microsoft.com/office/drawing/2014/main" id="{4C66F120-1E43-9933-3F71-8E602F5F5EB6}"/>
              </a:ext>
            </a:extLst>
          </p:cNvPr>
          <p:cNvSpPr/>
          <p:nvPr/>
        </p:nvSpPr>
        <p:spPr>
          <a:xfrm>
            <a:off x="733822" y="13767354"/>
            <a:ext cx="1746647" cy="19384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 Ekonomi &amp; Kebijakan</a:t>
            </a:r>
            <a:endParaRPr lang="en-US" sz="1600" dirty="0">
              <a:latin typeface="Leelawadee UI" panose="020B0502040204020203" pitchFamily="34" charset="-34"/>
              <a:cs typeface="Leelawadee UI" panose="020B0502040204020203" pitchFamily="34" charset="-34"/>
            </a:endParaRPr>
          </a:p>
        </p:txBody>
      </p:sp>
      <p:sp>
        <p:nvSpPr>
          <p:cNvPr id="53" name="Text 12">
            <a:extLst>
              <a:ext uri="{FF2B5EF4-FFF2-40B4-BE49-F238E27FC236}">
                <a16:creationId xmlns:a16="http://schemas.microsoft.com/office/drawing/2014/main" id="{E98D4BF4-2D6A-19D4-38FD-CF338901F60D}"/>
              </a:ext>
            </a:extLst>
          </p:cNvPr>
          <p:cNvSpPr/>
          <p:nvPr/>
        </p:nvSpPr>
        <p:spPr>
          <a:xfrm>
            <a:off x="733822" y="14035616"/>
            <a:ext cx="3765947"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Analisis dampak kebijakan terhadap masyarakat petani dan pedesaan</a:t>
            </a:r>
            <a:endParaRPr lang="en-US" sz="1050" dirty="0">
              <a:latin typeface="Leelawadee UI" panose="020B0502040204020203" pitchFamily="34" charset="-34"/>
              <a:cs typeface="Leelawadee UI" panose="020B0502040204020203" pitchFamily="34" charset="-34"/>
            </a:endParaRPr>
          </a:p>
        </p:txBody>
      </p:sp>
      <p:sp>
        <p:nvSpPr>
          <p:cNvPr id="54" name="Shape 13">
            <a:extLst>
              <a:ext uri="{FF2B5EF4-FFF2-40B4-BE49-F238E27FC236}">
                <a16:creationId xmlns:a16="http://schemas.microsoft.com/office/drawing/2014/main" id="{1F56C632-4A33-9201-D725-CDE68A5C0D4D}"/>
              </a:ext>
            </a:extLst>
          </p:cNvPr>
          <p:cNvSpPr/>
          <p:nvPr/>
        </p:nvSpPr>
        <p:spPr>
          <a:xfrm>
            <a:off x="4747717" y="13643380"/>
            <a:ext cx="4013895" cy="913135"/>
          </a:xfrm>
          <a:prstGeom prst="roundRect">
            <a:avLst>
              <a:gd name="adj" fmla="val 2038"/>
            </a:avLst>
          </a:prstGeom>
          <a:solidFill>
            <a:srgbClr val="EDEBE3"/>
          </a:solidFill>
          <a:ln/>
        </p:spPr>
      </p:sp>
      <p:sp>
        <p:nvSpPr>
          <p:cNvPr id="55" name="Text 14">
            <a:extLst>
              <a:ext uri="{FF2B5EF4-FFF2-40B4-BE49-F238E27FC236}">
                <a16:creationId xmlns:a16="http://schemas.microsoft.com/office/drawing/2014/main" id="{B5477B31-832D-0CAA-D5A3-F184087A35C3}"/>
              </a:ext>
            </a:extLst>
          </p:cNvPr>
          <p:cNvSpPr/>
          <p:nvPr/>
        </p:nvSpPr>
        <p:spPr>
          <a:xfrm>
            <a:off x="4871691" y="13767354"/>
            <a:ext cx="1550566" cy="19384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 Budaya &amp; Tradisi</a:t>
            </a:r>
            <a:endParaRPr lang="en-US" sz="1600" dirty="0">
              <a:latin typeface="Leelawadee UI" panose="020B0502040204020203" pitchFamily="34" charset="-34"/>
              <a:cs typeface="Leelawadee UI" panose="020B0502040204020203" pitchFamily="34" charset="-34"/>
            </a:endParaRPr>
          </a:p>
        </p:txBody>
      </p:sp>
      <p:sp>
        <p:nvSpPr>
          <p:cNvPr id="56" name="Text 15">
            <a:extLst>
              <a:ext uri="{FF2B5EF4-FFF2-40B4-BE49-F238E27FC236}">
                <a16:creationId xmlns:a16="http://schemas.microsoft.com/office/drawing/2014/main" id="{2C0570B6-B5B0-611B-BF56-F998F8275805}"/>
              </a:ext>
            </a:extLst>
          </p:cNvPr>
          <p:cNvSpPr/>
          <p:nvPr/>
        </p:nvSpPr>
        <p:spPr>
          <a:xfrm>
            <a:off x="4871691" y="14035616"/>
            <a:ext cx="3765947"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Eksplorasi warisan budaya, seni, dan kearifan lokal Nusantara</a:t>
            </a:r>
            <a:endParaRPr lang="en-US" sz="1050" dirty="0">
              <a:latin typeface="Leelawadee UI" panose="020B0502040204020203" pitchFamily="34" charset="-34"/>
              <a:cs typeface="Leelawadee UI" panose="020B0502040204020203" pitchFamily="34" charset="-34"/>
            </a:endParaRPr>
          </a:p>
        </p:txBody>
      </p:sp>
      <p:sp>
        <p:nvSpPr>
          <p:cNvPr id="57" name="Shape 16">
            <a:extLst>
              <a:ext uri="{FF2B5EF4-FFF2-40B4-BE49-F238E27FC236}">
                <a16:creationId xmlns:a16="http://schemas.microsoft.com/office/drawing/2014/main" id="{3E39FBB2-4A80-6A0A-3176-BCADF3D900F3}"/>
              </a:ext>
            </a:extLst>
          </p:cNvPr>
          <p:cNvSpPr/>
          <p:nvPr/>
        </p:nvSpPr>
        <p:spPr>
          <a:xfrm>
            <a:off x="609849" y="14680489"/>
            <a:ext cx="4013895" cy="913135"/>
          </a:xfrm>
          <a:prstGeom prst="roundRect">
            <a:avLst>
              <a:gd name="adj" fmla="val 2038"/>
            </a:avLst>
          </a:prstGeom>
          <a:solidFill>
            <a:srgbClr val="EDEBE3"/>
          </a:solidFill>
          <a:ln/>
        </p:spPr>
      </p:sp>
      <p:sp>
        <p:nvSpPr>
          <p:cNvPr id="58" name="Text 17">
            <a:extLst>
              <a:ext uri="{FF2B5EF4-FFF2-40B4-BE49-F238E27FC236}">
                <a16:creationId xmlns:a16="http://schemas.microsoft.com/office/drawing/2014/main" id="{92A617D3-BDD0-5832-467C-C5D590852C38}"/>
              </a:ext>
            </a:extLst>
          </p:cNvPr>
          <p:cNvSpPr/>
          <p:nvPr/>
        </p:nvSpPr>
        <p:spPr>
          <a:xfrm>
            <a:off x="733822" y="14804462"/>
            <a:ext cx="1768822" cy="19384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 Lingkungan &amp; Ekologi</a:t>
            </a:r>
            <a:endParaRPr lang="en-US" sz="1600" dirty="0">
              <a:latin typeface="Leelawadee UI" panose="020B0502040204020203" pitchFamily="34" charset="-34"/>
              <a:cs typeface="Leelawadee UI" panose="020B0502040204020203" pitchFamily="34" charset="-34"/>
            </a:endParaRPr>
          </a:p>
        </p:txBody>
      </p:sp>
      <p:sp>
        <p:nvSpPr>
          <p:cNvPr id="59" name="Text 18">
            <a:extLst>
              <a:ext uri="{FF2B5EF4-FFF2-40B4-BE49-F238E27FC236}">
                <a16:creationId xmlns:a16="http://schemas.microsoft.com/office/drawing/2014/main" id="{C824A882-14AF-E110-DBB9-2F3E1D96817C}"/>
              </a:ext>
            </a:extLst>
          </p:cNvPr>
          <p:cNvSpPr/>
          <p:nvPr/>
        </p:nvSpPr>
        <p:spPr>
          <a:xfrm>
            <a:off x="733822" y="15072725"/>
            <a:ext cx="3765947" cy="396925"/>
          </a:xfrm>
          <a:prstGeom prst="rect">
            <a:avLst/>
          </a:prstGeom>
          <a:noFill/>
          <a:ln/>
        </p:spPr>
        <p:txBody>
          <a:bodyPr wrap="square" lIns="0" tIns="0" rIns="0" bIns="0" rtlCol="0" anchor="t">
            <a:noAutofit/>
          </a:bodyPr>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Hubungan intrinsik antara nilai ekosistem dan kehidupan manusia</a:t>
            </a:r>
            <a:endParaRPr lang="en-US" sz="1050" dirty="0">
              <a:latin typeface="Leelawadee UI" panose="020B0502040204020203" pitchFamily="34" charset="-34"/>
              <a:cs typeface="Leelawadee UI" panose="020B0502040204020203" pitchFamily="34" charset="-34"/>
            </a:endParaRPr>
          </a:p>
        </p:txBody>
      </p:sp>
      <p:sp>
        <p:nvSpPr>
          <p:cNvPr id="60" name="Shape 19">
            <a:extLst>
              <a:ext uri="{FF2B5EF4-FFF2-40B4-BE49-F238E27FC236}">
                <a16:creationId xmlns:a16="http://schemas.microsoft.com/office/drawing/2014/main" id="{306B416B-9836-0449-CEC8-E1757C22A8F3}"/>
              </a:ext>
            </a:extLst>
          </p:cNvPr>
          <p:cNvSpPr/>
          <p:nvPr/>
        </p:nvSpPr>
        <p:spPr>
          <a:xfrm>
            <a:off x="4747717" y="14680489"/>
            <a:ext cx="4013895" cy="913135"/>
          </a:xfrm>
          <a:prstGeom prst="roundRect">
            <a:avLst>
              <a:gd name="adj" fmla="val 2038"/>
            </a:avLst>
          </a:prstGeom>
          <a:solidFill>
            <a:srgbClr val="EDEBE3"/>
          </a:solidFill>
          <a:ln/>
        </p:spPr>
      </p:sp>
      <p:sp>
        <p:nvSpPr>
          <p:cNvPr id="61" name="Text 20">
            <a:extLst>
              <a:ext uri="{FF2B5EF4-FFF2-40B4-BE49-F238E27FC236}">
                <a16:creationId xmlns:a16="http://schemas.microsoft.com/office/drawing/2014/main" id="{02D628AB-4025-F9AA-5ACD-87DDBD4B1445}"/>
              </a:ext>
            </a:extLst>
          </p:cNvPr>
          <p:cNvSpPr/>
          <p:nvPr/>
        </p:nvSpPr>
        <p:spPr>
          <a:xfrm>
            <a:off x="4871691" y="14804462"/>
            <a:ext cx="1690241" cy="193849"/>
          </a:xfrm>
          <a:prstGeom prst="rect">
            <a:avLst/>
          </a:prstGeom>
          <a:noFill/>
          <a:ln/>
        </p:spPr>
        <p:txBody>
          <a:bodyPr wrap="none" lIns="0" tIns="0" rIns="0" bIns="0" rtlCol="0" anchor="t"/>
          <a:lstStyle/>
          <a:p>
            <a:pPr marL="0" indent="0" algn="l">
              <a:lnSpc>
                <a:spcPct val="104000"/>
              </a:lnSpc>
              <a:buNone/>
            </a:pPr>
            <a:r>
              <a:rPr lang="en-US" sz="16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600" dirty="0">
                <a:solidFill>
                  <a:srgbClr val="161613"/>
                </a:solidFill>
                <a:latin typeface="Leelawadee UI" panose="020B0502040204020203" pitchFamily="34" charset="-34"/>
                <a:ea typeface="DM Sans Medium" pitchFamily="34" charset="-122"/>
                <a:cs typeface="Leelawadee UI" panose="020B0502040204020203" pitchFamily="34" charset="-34"/>
              </a:rPr>
              <a:t> Sosial &amp; Masyarakat</a:t>
            </a:r>
            <a:endParaRPr lang="en-US" sz="1600" dirty="0">
              <a:latin typeface="Leelawadee UI" panose="020B0502040204020203" pitchFamily="34" charset="-34"/>
              <a:cs typeface="Leelawadee UI" panose="020B0502040204020203" pitchFamily="34" charset="-34"/>
            </a:endParaRPr>
          </a:p>
        </p:txBody>
      </p:sp>
      <p:sp>
        <p:nvSpPr>
          <p:cNvPr id="62" name="Text 21">
            <a:extLst>
              <a:ext uri="{FF2B5EF4-FFF2-40B4-BE49-F238E27FC236}">
                <a16:creationId xmlns:a16="http://schemas.microsoft.com/office/drawing/2014/main" id="{C0BCCCC5-C2F1-51EC-EEBF-88F1770C0099}"/>
              </a:ext>
            </a:extLst>
          </p:cNvPr>
          <p:cNvSpPr/>
          <p:nvPr/>
        </p:nvSpPr>
        <p:spPr>
          <a:xfrm>
            <a:off x="4871691" y="15072725"/>
            <a:ext cx="3765947"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Dinamika ruang publik, komunitas, dan kohesi sosial</a:t>
            </a:r>
            <a:endParaRPr lang="en-US" sz="1050" dirty="0">
              <a:latin typeface="Leelawadee UI" panose="020B0502040204020203" pitchFamily="34" charset="-34"/>
              <a:cs typeface="Leelawadee UI" panose="020B0502040204020203" pitchFamily="34" charset="-34"/>
            </a:endParaRPr>
          </a:p>
        </p:txBody>
      </p:sp>
      <p:sp>
        <p:nvSpPr>
          <p:cNvPr id="63" name="Text 0">
            <a:extLst>
              <a:ext uri="{FF2B5EF4-FFF2-40B4-BE49-F238E27FC236}">
                <a16:creationId xmlns:a16="http://schemas.microsoft.com/office/drawing/2014/main" id="{3B6FDA29-B83D-DF2D-F503-C3B43284020B}"/>
              </a:ext>
            </a:extLst>
          </p:cNvPr>
          <p:cNvSpPr/>
          <p:nvPr/>
        </p:nvSpPr>
        <p:spPr>
          <a:xfrm>
            <a:off x="605805" y="15861886"/>
            <a:ext cx="1371005"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TULISAN TERBARU</a:t>
            </a:r>
            <a:endParaRPr lang="en-US" sz="1000" dirty="0">
              <a:latin typeface="Leelawadee UI" panose="020B0502040204020203" pitchFamily="34" charset="-34"/>
              <a:cs typeface="Leelawadee UI" panose="020B0502040204020203" pitchFamily="34" charset="-34"/>
            </a:endParaRPr>
          </a:p>
        </p:txBody>
      </p:sp>
      <p:sp>
        <p:nvSpPr>
          <p:cNvPr id="64" name="Text 1">
            <a:extLst>
              <a:ext uri="{FF2B5EF4-FFF2-40B4-BE49-F238E27FC236}">
                <a16:creationId xmlns:a16="http://schemas.microsoft.com/office/drawing/2014/main" id="{5E417966-93D1-F1BA-3F95-E7DB51C9612D}"/>
              </a:ext>
            </a:extLst>
          </p:cNvPr>
          <p:cNvSpPr/>
          <p:nvPr/>
        </p:nvSpPr>
        <p:spPr>
          <a:xfrm>
            <a:off x="605805" y="16107452"/>
            <a:ext cx="4174108" cy="310083"/>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Artikel Perspektif Budaya</a:t>
            </a:r>
            <a:endParaRPr lang="en-US" sz="2400" dirty="0">
              <a:latin typeface="Leelawadee UI" panose="020B0502040204020203" pitchFamily="34" charset="-34"/>
              <a:cs typeface="Leelawadee UI" panose="020B0502040204020203" pitchFamily="34" charset="-34"/>
            </a:endParaRPr>
          </a:p>
        </p:txBody>
      </p:sp>
      <p:sp>
        <p:nvSpPr>
          <p:cNvPr id="65" name="Text 2">
            <a:extLst>
              <a:ext uri="{FF2B5EF4-FFF2-40B4-BE49-F238E27FC236}">
                <a16:creationId xmlns:a16="http://schemas.microsoft.com/office/drawing/2014/main" id="{2A598936-6B5B-C2A2-474A-D9A2EA9A7058}"/>
              </a:ext>
            </a:extLst>
          </p:cNvPr>
          <p:cNvSpPr/>
          <p:nvPr/>
        </p:nvSpPr>
        <p:spPr>
          <a:xfrm>
            <a:off x="605805" y="16603571"/>
            <a:ext cx="8151763" cy="396925"/>
          </a:xfrm>
          <a:prstGeom prst="rect">
            <a:avLst/>
          </a:prstGeom>
          <a:noFill/>
          <a:ln/>
        </p:spPr>
        <p:txBody>
          <a:bodyPr wrap="square" lIns="0" tIns="0" rIns="0" bIns="0" rtlCol="0" anchor="t">
            <a:normAutofit lnSpcReduction="10000"/>
          </a:bodyPr>
          <a:lstStyle/>
          <a:p>
            <a:pPr marL="0" indent="0" algn="l">
              <a:lnSpc>
                <a:spcPct val="133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Berikut adalah kumpulan esai dan tulisan reflektif dari YNKI, disusun dari yang terbaru ke yang terlama. Setiap tulisan mengajak Anda untuk berhenti sejenak, merenungkan, dan melihat dunia dari sudut pandang yang lebih dalam.</a:t>
            </a:r>
            <a:endParaRPr lang="en-US" sz="1100" dirty="0">
              <a:latin typeface="Leelawadee UI" panose="020B0502040204020203" pitchFamily="34" charset="-34"/>
              <a:cs typeface="Leelawadee UI" panose="020B0502040204020203" pitchFamily="34" charset="-34"/>
            </a:endParaRPr>
          </a:p>
        </p:txBody>
      </p:sp>
      <p:pic>
        <p:nvPicPr>
          <p:cNvPr id="66" name="Image 0" descr="preencoded.png">
            <a:extLst>
              <a:ext uri="{FF2B5EF4-FFF2-40B4-BE49-F238E27FC236}">
                <a16:creationId xmlns:a16="http://schemas.microsoft.com/office/drawing/2014/main" id="{C311530C-CA8A-3564-FAD4-A7EE91D8B209}"/>
              </a:ext>
            </a:extLst>
          </p:cNvPr>
          <p:cNvPicPr>
            <a:picLocks noChangeAspect="1"/>
          </p:cNvPicPr>
          <p:nvPr/>
        </p:nvPicPr>
        <p:blipFill>
          <a:blip r:embed="rId9"/>
          <a:stretch>
            <a:fillRect/>
          </a:stretch>
        </p:blipFill>
        <p:spPr>
          <a:xfrm>
            <a:off x="605805" y="17140022"/>
            <a:ext cx="1516038" cy="936947"/>
          </a:xfrm>
          <a:prstGeom prst="rect">
            <a:avLst/>
          </a:prstGeom>
        </p:spPr>
      </p:pic>
      <p:sp>
        <p:nvSpPr>
          <p:cNvPr id="67" name="Shape 3">
            <a:extLst>
              <a:ext uri="{FF2B5EF4-FFF2-40B4-BE49-F238E27FC236}">
                <a16:creationId xmlns:a16="http://schemas.microsoft.com/office/drawing/2014/main" id="{E1B67027-0AC8-89A9-A909-055A97E46E29}"/>
              </a:ext>
            </a:extLst>
          </p:cNvPr>
          <p:cNvSpPr/>
          <p:nvPr/>
        </p:nvSpPr>
        <p:spPr>
          <a:xfrm>
            <a:off x="605805" y="18231974"/>
            <a:ext cx="1486793" cy="250329"/>
          </a:xfrm>
          <a:prstGeom prst="roundRect">
            <a:avLst>
              <a:gd name="adj" fmla="val 6132"/>
            </a:avLst>
          </a:prstGeom>
          <a:noFill/>
          <a:ln w="4763">
            <a:solidFill>
              <a:srgbClr val="28282F"/>
            </a:solidFill>
            <a:prstDash val="solid"/>
          </a:ln>
        </p:spPr>
      </p:sp>
      <p:sp>
        <p:nvSpPr>
          <p:cNvPr id="68" name="Text 4">
            <a:extLst>
              <a:ext uri="{FF2B5EF4-FFF2-40B4-BE49-F238E27FC236}">
                <a16:creationId xmlns:a16="http://schemas.microsoft.com/office/drawing/2014/main" id="{7F29BDD7-5D37-4545-BA1A-53C7C2E15B33}"/>
              </a:ext>
            </a:extLst>
          </p:cNvPr>
          <p:cNvSpPr/>
          <p:nvPr/>
        </p:nvSpPr>
        <p:spPr>
          <a:xfrm>
            <a:off x="684981" y="18273943"/>
            <a:ext cx="1136079"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EKONOMI &amp; KEBIJAKAN</a:t>
            </a:r>
            <a:endParaRPr lang="en-US" sz="1000" dirty="0">
              <a:latin typeface="Leelawadee UI" panose="020B0502040204020203" pitchFamily="34" charset="-34"/>
              <a:cs typeface="Leelawadee UI" panose="020B0502040204020203" pitchFamily="34" charset="-34"/>
            </a:endParaRPr>
          </a:p>
        </p:txBody>
      </p:sp>
      <p:sp>
        <p:nvSpPr>
          <p:cNvPr id="69" name="Text 5">
            <a:extLst>
              <a:ext uri="{FF2B5EF4-FFF2-40B4-BE49-F238E27FC236}">
                <a16:creationId xmlns:a16="http://schemas.microsoft.com/office/drawing/2014/main" id="{42B6300B-B2DA-38CC-4D67-704A4355F173}"/>
              </a:ext>
            </a:extLst>
          </p:cNvPr>
          <p:cNvSpPr/>
          <p:nvPr/>
        </p:nvSpPr>
        <p:spPr>
          <a:xfrm>
            <a:off x="605805" y="18578864"/>
            <a:ext cx="2613868" cy="581546"/>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Kehidupan Petani Kecil Dipertaruhkan: Dari Cultuurstelsel hingga DHE SDA Indonesia</a:t>
            </a:r>
            <a:endParaRPr lang="en-US" sz="1200" dirty="0">
              <a:latin typeface="Leelawadee UI" panose="020B0502040204020203" pitchFamily="34" charset="-34"/>
              <a:cs typeface="Leelawadee UI" panose="020B0502040204020203" pitchFamily="34" charset="-34"/>
            </a:endParaRPr>
          </a:p>
        </p:txBody>
      </p:sp>
      <p:sp>
        <p:nvSpPr>
          <p:cNvPr id="70" name="Text 6">
            <a:extLst>
              <a:ext uri="{FF2B5EF4-FFF2-40B4-BE49-F238E27FC236}">
                <a16:creationId xmlns:a16="http://schemas.microsoft.com/office/drawing/2014/main" id="{BE4F481B-B27D-23BD-BF0D-FCDFCAB1989D}"/>
              </a:ext>
            </a:extLst>
          </p:cNvPr>
          <p:cNvSpPr/>
          <p:nvPr/>
        </p:nvSpPr>
        <p:spPr>
          <a:xfrm>
            <a:off x="605805" y="19234824"/>
            <a:ext cx="2613868"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Selasa, 16 Juni 2026</a:t>
            </a:r>
            <a:endParaRPr lang="en-US" sz="950" dirty="0">
              <a:latin typeface="Leelawadee UI" panose="020B0502040204020203" pitchFamily="34" charset="-34"/>
              <a:cs typeface="Leelawadee UI" panose="020B0502040204020203" pitchFamily="34" charset="-34"/>
            </a:endParaRPr>
          </a:p>
        </p:txBody>
      </p:sp>
      <p:pic>
        <p:nvPicPr>
          <p:cNvPr id="71" name="Image 1" descr="preencoded.png">
            <a:hlinkClick r:id="rId10"/>
            <a:extLst>
              <a:ext uri="{FF2B5EF4-FFF2-40B4-BE49-F238E27FC236}">
                <a16:creationId xmlns:a16="http://schemas.microsoft.com/office/drawing/2014/main" id="{54FA743C-B251-19FC-CA47-37008A95EC53}"/>
              </a:ext>
            </a:extLst>
          </p:cNvPr>
          <p:cNvPicPr>
            <a:picLocks noChangeAspect="1"/>
          </p:cNvPicPr>
          <p:nvPr/>
        </p:nvPicPr>
        <p:blipFill>
          <a:blip r:embed="rId11"/>
          <a:stretch>
            <a:fillRect/>
          </a:stretch>
        </p:blipFill>
        <p:spPr>
          <a:xfrm>
            <a:off x="605805" y="19572813"/>
            <a:ext cx="1575346" cy="341114"/>
          </a:xfrm>
          <a:prstGeom prst="rect">
            <a:avLst/>
          </a:prstGeom>
        </p:spPr>
      </p:pic>
      <p:pic>
        <p:nvPicPr>
          <p:cNvPr id="72" name="Image 2" descr="preencoded.png">
            <a:extLst>
              <a:ext uri="{FF2B5EF4-FFF2-40B4-BE49-F238E27FC236}">
                <a16:creationId xmlns:a16="http://schemas.microsoft.com/office/drawing/2014/main" id="{371986C2-B364-56BD-C30C-4E44BC539414}"/>
              </a:ext>
            </a:extLst>
          </p:cNvPr>
          <p:cNvPicPr>
            <a:picLocks noChangeAspect="1"/>
          </p:cNvPicPr>
          <p:nvPr/>
        </p:nvPicPr>
        <p:blipFill>
          <a:blip r:embed="rId12"/>
          <a:stretch>
            <a:fillRect/>
          </a:stretch>
        </p:blipFill>
        <p:spPr>
          <a:xfrm>
            <a:off x="3374677" y="17140022"/>
            <a:ext cx="1516038" cy="936947"/>
          </a:xfrm>
          <a:prstGeom prst="rect">
            <a:avLst/>
          </a:prstGeom>
        </p:spPr>
      </p:pic>
      <p:sp>
        <p:nvSpPr>
          <p:cNvPr id="73" name="Shape 7">
            <a:extLst>
              <a:ext uri="{FF2B5EF4-FFF2-40B4-BE49-F238E27FC236}">
                <a16:creationId xmlns:a16="http://schemas.microsoft.com/office/drawing/2014/main" id="{CE1781CB-F3AF-4650-9F5E-7206C0AFDB29}"/>
              </a:ext>
            </a:extLst>
          </p:cNvPr>
          <p:cNvSpPr/>
          <p:nvPr/>
        </p:nvSpPr>
        <p:spPr>
          <a:xfrm>
            <a:off x="3374677" y="18231974"/>
            <a:ext cx="1513582" cy="250329"/>
          </a:xfrm>
          <a:prstGeom prst="roundRect">
            <a:avLst>
              <a:gd name="adj" fmla="val 6132"/>
            </a:avLst>
          </a:prstGeom>
          <a:noFill/>
          <a:ln w="4763">
            <a:solidFill>
              <a:srgbClr val="28282F"/>
            </a:solidFill>
            <a:prstDash val="solid"/>
          </a:ln>
        </p:spPr>
      </p:sp>
      <p:sp>
        <p:nvSpPr>
          <p:cNvPr id="74" name="Text 8">
            <a:extLst>
              <a:ext uri="{FF2B5EF4-FFF2-40B4-BE49-F238E27FC236}">
                <a16:creationId xmlns:a16="http://schemas.microsoft.com/office/drawing/2014/main" id="{3314351F-FE8B-66E7-4462-E9E75ECA5FD2}"/>
              </a:ext>
            </a:extLst>
          </p:cNvPr>
          <p:cNvSpPr/>
          <p:nvPr/>
        </p:nvSpPr>
        <p:spPr>
          <a:xfrm>
            <a:off x="3453854" y="18273943"/>
            <a:ext cx="901005"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BUDAYA &amp; TRADISI</a:t>
            </a:r>
            <a:endParaRPr lang="en-US" sz="1000" dirty="0">
              <a:latin typeface="Leelawadee UI" panose="020B0502040204020203" pitchFamily="34" charset="-34"/>
              <a:cs typeface="Leelawadee UI" panose="020B0502040204020203" pitchFamily="34" charset="-34"/>
            </a:endParaRPr>
          </a:p>
        </p:txBody>
      </p:sp>
      <p:sp>
        <p:nvSpPr>
          <p:cNvPr id="75" name="Text 9">
            <a:extLst>
              <a:ext uri="{FF2B5EF4-FFF2-40B4-BE49-F238E27FC236}">
                <a16:creationId xmlns:a16="http://schemas.microsoft.com/office/drawing/2014/main" id="{FC7370E6-2FC0-25DE-C144-EA9F2A5350A9}"/>
              </a:ext>
            </a:extLst>
          </p:cNvPr>
          <p:cNvSpPr/>
          <p:nvPr/>
        </p:nvSpPr>
        <p:spPr>
          <a:xfrm>
            <a:off x="3374677" y="18578864"/>
            <a:ext cx="261394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Harmoni Musik: Keselarasan Perbedaan, Keselarasan Kehidupan</a:t>
            </a:r>
            <a:endParaRPr lang="en-US" sz="1200" dirty="0">
              <a:latin typeface="Leelawadee UI" panose="020B0502040204020203" pitchFamily="34" charset="-34"/>
              <a:cs typeface="Leelawadee UI" panose="020B0502040204020203" pitchFamily="34" charset="-34"/>
            </a:endParaRPr>
          </a:p>
        </p:txBody>
      </p:sp>
      <p:sp>
        <p:nvSpPr>
          <p:cNvPr id="76" name="Text 10">
            <a:extLst>
              <a:ext uri="{FF2B5EF4-FFF2-40B4-BE49-F238E27FC236}">
                <a16:creationId xmlns:a16="http://schemas.microsoft.com/office/drawing/2014/main" id="{2E998CAE-9988-26F5-A353-1D9E0D61BC3D}"/>
              </a:ext>
            </a:extLst>
          </p:cNvPr>
          <p:cNvSpPr/>
          <p:nvPr/>
        </p:nvSpPr>
        <p:spPr>
          <a:xfrm>
            <a:off x="3374677" y="19040975"/>
            <a:ext cx="2613943"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Sabtu, 13 Juni 2026</a:t>
            </a:r>
            <a:endParaRPr lang="en-US" sz="950" dirty="0">
              <a:latin typeface="Leelawadee UI" panose="020B0502040204020203" pitchFamily="34" charset="-34"/>
              <a:cs typeface="Leelawadee UI" panose="020B0502040204020203" pitchFamily="34" charset="-34"/>
            </a:endParaRPr>
          </a:p>
        </p:txBody>
      </p:sp>
      <p:pic>
        <p:nvPicPr>
          <p:cNvPr id="77" name="Image 3" descr="preencoded.png">
            <a:hlinkClick r:id="rId13"/>
            <a:extLst>
              <a:ext uri="{FF2B5EF4-FFF2-40B4-BE49-F238E27FC236}">
                <a16:creationId xmlns:a16="http://schemas.microsoft.com/office/drawing/2014/main" id="{AFC2CEDD-D912-A6B6-F1F6-EB5A7E918F12}"/>
              </a:ext>
            </a:extLst>
          </p:cNvPr>
          <p:cNvPicPr>
            <a:picLocks noChangeAspect="1"/>
          </p:cNvPicPr>
          <p:nvPr/>
        </p:nvPicPr>
        <p:blipFill>
          <a:blip r:embed="rId11"/>
          <a:stretch>
            <a:fillRect/>
          </a:stretch>
        </p:blipFill>
        <p:spPr>
          <a:xfrm>
            <a:off x="3374677" y="19378964"/>
            <a:ext cx="1575346" cy="341114"/>
          </a:xfrm>
          <a:prstGeom prst="rect">
            <a:avLst/>
          </a:prstGeom>
        </p:spPr>
      </p:pic>
      <p:pic>
        <p:nvPicPr>
          <p:cNvPr id="78" name="Image 4" descr="preencoded.png">
            <a:extLst>
              <a:ext uri="{FF2B5EF4-FFF2-40B4-BE49-F238E27FC236}">
                <a16:creationId xmlns:a16="http://schemas.microsoft.com/office/drawing/2014/main" id="{D5039694-F863-8AB9-089A-CD1BDAC9C8DA}"/>
              </a:ext>
            </a:extLst>
          </p:cNvPr>
          <p:cNvPicPr>
            <a:picLocks noChangeAspect="1"/>
          </p:cNvPicPr>
          <p:nvPr/>
        </p:nvPicPr>
        <p:blipFill>
          <a:blip r:embed="rId14"/>
          <a:stretch>
            <a:fillRect/>
          </a:stretch>
        </p:blipFill>
        <p:spPr>
          <a:xfrm>
            <a:off x="6143625" y="17140022"/>
            <a:ext cx="1516038" cy="936947"/>
          </a:xfrm>
          <a:prstGeom prst="rect">
            <a:avLst/>
          </a:prstGeom>
        </p:spPr>
      </p:pic>
      <p:sp>
        <p:nvSpPr>
          <p:cNvPr id="79" name="Shape 11">
            <a:extLst>
              <a:ext uri="{FF2B5EF4-FFF2-40B4-BE49-F238E27FC236}">
                <a16:creationId xmlns:a16="http://schemas.microsoft.com/office/drawing/2014/main" id="{CC930E8C-CD58-580E-A8DE-F7BD440A4B43}"/>
              </a:ext>
            </a:extLst>
          </p:cNvPr>
          <p:cNvSpPr/>
          <p:nvPr/>
        </p:nvSpPr>
        <p:spPr>
          <a:xfrm>
            <a:off x="6143624" y="18231975"/>
            <a:ext cx="1513581" cy="250328"/>
          </a:xfrm>
          <a:prstGeom prst="roundRect">
            <a:avLst>
              <a:gd name="adj" fmla="val 6132"/>
            </a:avLst>
          </a:prstGeom>
          <a:noFill/>
          <a:ln w="4763">
            <a:solidFill>
              <a:srgbClr val="28282F"/>
            </a:solidFill>
            <a:prstDash val="solid"/>
          </a:ln>
        </p:spPr>
      </p:sp>
      <p:sp>
        <p:nvSpPr>
          <p:cNvPr id="80" name="Text 12">
            <a:extLst>
              <a:ext uri="{FF2B5EF4-FFF2-40B4-BE49-F238E27FC236}">
                <a16:creationId xmlns:a16="http://schemas.microsoft.com/office/drawing/2014/main" id="{51BC26DD-4FFD-F15E-A1B3-524F3F72C9D7}"/>
              </a:ext>
            </a:extLst>
          </p:cNvPr>
          <p:cNvSpPr/>
          <p:nvPr/>
        </p:nvSpPr>
        <p:spPr>
          <a:xfrm>
            <a:off x="6222801" y="18273943"/>
            <a:ext cx="1012403"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FILOSOFI &amp; REFLEKSI</a:t>
            </a:r>
            <a:endParaRPr lang="en-US" sz="1000" dirty="0">
              <a:latin typeface="Leelawadee UI" panose="020B0502040204020203" pitchFamily="34" charset="-34"/>
              <a:cs typeface="Leelawadee UI" panose="020B0502040204020203" pitchFamily="34" charset="-34"/>
            </a:endParaRPr>
          </a:p>
        </p:txBody>
      </p:sp>
      <p:sp>
        <p:nvSpPr>
          <p:cNvPr id="81" name="Text 13">
            <a:extLst>
              <a:ext uri="{FF2B5EF4-FFF2-40B4-BE49-F238E27FC236}">
                <a16:creationId xmlns:a16="http://schemas.microsoft.com/office/drawing/2014/main" id="{8F1C25D5-6748-EB7C-89DF-75B5B8FF9FA2}"/>
              </a:ext>
            </a:extLst>
          </p:cNvPr>
          <p:cNvSpPr/>
          <p:nvPr/>
        </p:nvSpPr>
        <p:spPr>
          <a:xfrm>
            <a:off x="6143625" y="18578864"/>
            <a:ext cx="261394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Pabrik Ijazah atau Rumah Peradaban?</a:t>
            </a:r>
            <a:endParaRPr lang="en-US" sz="1200" dirty="0">
              <a:latin typeface="Leelawadee UI" panose="020B0502040204020203" pitchFamily="34" charset="-34"/>
              <a:cs typeface="Leelawadee UI" panose="020B0502040204020203" pitchFamily="34" charset="-34"/>
            </a:endParaRPr>
          </a:p>
        </p:txBody>
      </p:sp>
      <p:sp>
        <p:nvSpPr>
          <p:cNvPr id="82" name="Text 14">
            <a:extLst>
              <a:ext uri="{FF2B5EF4-FFF2-40B4-BE49-F238E27FC236}">
                <a16:creationId xmlns:a16="http://schemas.microsoft.com/office/drawing/2014/main" id="{B4C9B789-A3A0-7334-8F72-636E9D145B1D}"/>
              </a:ext>
            </a:extLst>
          </p:cNvPr>
          <p:cNvSpPr/>
          <p:nvPr/>
        </p:nvSpPr>
        <p:spPr>
          <a:xfrm>
            <a:off x="6143625" y="19040975"/>
            <a:ext cx="2613943"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Jumat, 5 Juni 2026</a:t>
            </a:r>
            <a:endParaRPr lang="en-US" sz="950" dirty="0">
              <a:latin typeface="Leelawadee UI" panose="020B0502040204020203" pitchFamily="34" charset="-34"/>
              <a:cs typeface="Leelawadee UI" panose="020B0502040204020203" pitchFamily="34" charset="-34"/>
            </a:endParaRPr>
          </a:p>
        </p:txBody>
      </p:sp>
      <p:pic>
        <p:nvPicPr>
          <p:cNvPr id="83" name="Image 5" descr="preencoded.png">
            <a:hlinkClick r:id="rId15"/>
            <a:extLst>
              <a:ext uri="{FF2B5EF4-FFF2-40B4-BE49-F238E27FC236}">
                <a16:creationId xmlns:a16="http://schemas.microsoft.com/office/drawing/2014/main" id="{DF5A57F1-9C12-9FC5-7E86-E30EC3394536}"/>
              </a:ext>
            </a:extLst>
          </p:cNvPr>
          <p:cNvPicPr>
            <a:picLocks noChangeAspect="1"/>
          </p:cNvPicPr>
          <p:nvPr/>
        </p:nvPicPr>
        <p:blipFill>
          <a:blip r:embed="rId11"/>
          <a:stretch>
            <a:fillRect/>
          </a:stretch>
        </p:blipFill>
        <p:spPr>
          <a:xfrm>
            <a:off x="6143625" y="19378964"/>
            <a:ext cx="1575346" cy="341114"/>
          </a:xfrm>
          <a:prstGeom prst="rect">
            <a:avLst/>
          </a:prstGeom>
        </p:spPr>
      </p:pic>
      <p:pic>
        <p:nvPicPr>
          <p:cNvPr id="84" name="Image 0" descr="preencoded.png">
            <a:extLst>
              <a:ext uri="{FF2B5EF4-FFF2-40B4-BE49-F238E27FC236}">
                <a16:creationId xmlns:a16="http://schemas.microsoft.com/office/drawing/2014/main" id="{BD3CF617-C713-2F39-8057-056CAE2C0F36}"/>
              </a:ext>
            </a:extLst>
          </p:cNvPr>
          <p:cNvPicPr>
            <a:picLocks noChangeAspect="1"/>
          </p:cNvPicPr>
          <p:nvPr/>
        </p:nvPicPr>
        <p:blipFill>
          <a:blip r:embed="rId16"/>
          <a:stretch>
            <a:fillRect/>
          </a:stretch>
        </p:blipFill>
        <p:spPr>
          <a:xfrm>
            <a:off x="594345" y="20180570"/>
            <a:ext cx="1516038" cy="936947"/>
          </a:xfrm>
          <a:prstGeom prst="rect">
            <a:avLst/>
          </a:prstGeom>
        </p:spPr>
      </p:pic>
      <p:sp>
        <p:nvSpPr>
          <p:cNvPr id="85" name="Shape 0">
            <a:extLst>
              <a:ext uri="{FF2B5EF4-FFF2-40B4-BE49-F238E27FC236}">
                <a16:creationId xmlns:a16="http://schemas.microsoft.com/office/drawing/2014/main" id="{64E153F1-A21E-7A84-040B-21916B37248A}"/>
              </a:ext>
            </a:extLst>
          </p:cNvPr>
          <p:cNvSpPr/>
          <p:nvPr/>
        </p:nvSpPr>
        <p:spPr>
          <a:xfrm>
            <a:off x="594345" y="21272522"/>
            <a:ext cx="1527498" cy="276150"/>
          </a:xfrm>
          <a:prstGeom prst="roundRect">
            <a:avLst>
              <a:gd name="adj" fmla="val 6132"/>
            </a:avLst>
          </a:prstGeom>
          <a:noFill/>
          <a:ln w="4763">
            <a:solidFill>
              <a:srgbClr val="28282F"/>
            </a:solidFill>
            <a:prstDash val="solid"/>
          </a:ln>
        </p:spPr>
      </p:sp>
      <p:sp>
        <p:nvSpPr>
          <p:cNvPr id="86" name="Text 1">
            <a:extLst>
              <a:ext uri="{FF2B5EF4-FFF2-40B4-BE49-F238E27FC236}">
                <a16:creationId xmlns:a16="http://schemas.microsoft.com/office/drawing/2014/main" id="{2F084B0E-30FA-0BF7-9248-99551B225443}"/>
              </a:ext>
            </a:extLst>
          </p:cNvPr>
          <p:cNvSpPr/>
          <p:nvPr/>
        </p:nvSpPr>
        <p:spPr>
          <a:xfrm>
            <a:off x="673521" y="21314492"/>
            <a:ext cx="1147093"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SOSIAL &amp; MASYARAKAT</a:t>
            </a:r>
            <a:endParaRPr lang="en-US" sz="1000" dirty="0">
              <a:latin typeface="Leelawadee UI" panose="020B0502040204020203" pitchFamily="34" charset="-34"/>
              <a:cs typeface="Leelawadee UI" panose="020B0502040204020203" pitchFamily="34" charset="-34"/>
            </a:endParaRPr>
          </a:p>
        </p:txBody>
      </p:sp>
      <p:sp>
        <p:nvSpPr>
          <p:cNvPr id="87" name="Text 2">
            <a:extLst>
              <a:ext uri="{FF2B5EF4-FFF2-40B4-BE49-F238E27FC236}">
                <a16:creationId xmlns:a16="http://schemas.microsoft.com/office/drawing/2014/main" id="{206028A3-0E47-238E-61C7-2CD06029F9F3}"/>
              </a:ext>
            </a:extLst>
          </p:cNvPr>
          <p:cNvSpPr/>
          <p:nvPr/>
        </p:nvSpPr>
        <p:spPr>
          <a:xfrm>
            <a:off x="594345" y="21605765"/>
            <a:ext cx="2613868" cy="581546"/>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Otak Pria, Tiga Sistem Cinta, dan Ketegangan Abadi Antara Perasaan dan Komitmen</a:t>
            </a:r>
            <a:endParaRPr lang="en-US" sz="1200" dirty="0">
              <a:latin typeface="Leelawadee UI" panose="020B0502040204020203" pitchFamily="34" charset="-34"/>
              <a:cs typeface="Leelawadee UI" panose="020B0502040204020203" pitchFamily="34" charset="-34"/>
            </a:endParaRPr>
          </a:p>
        </p:txBody>
      </p:sp>
      <p:sp>
        <p:nvSpPr>
          <p:cNvPr id="88" name="Text 3">
            <a:extLst>
              <a:ext uri="{FF2B5EF4-FFF2-40B4-BE49-F238E27FC236}">
                <a16:creationId xmlns:a16="http://schemas.microsoft.com/office/drawing/2014/main" id="{BDBA1C8C-EB3A-067F-8AE2-829E034B556A}"/>
              </a:ext>
            </a:extLst>
          </p:cNvPr>
          <p:cNvSpPr/>
          <p:nvPr/>
        </p:nvSpPr>
        <p:spPr>
          <a:xfrm>
            <a:off x="594345" y="22261725"/>
            <a:ext cx="2613868"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Senin, 1 Juni 2026</a:t>
            </a:r>
            <a:endParaRPr lang="en-US" sz="950" dirty="0">
              <a:latin typeface="Leelawadee UI" panose="020B0502040204020203" pitchFamily="34" charset="-34"/>
              <a:cs typeface="Leelawadee UI" panose="020B0502040204020203" pitchFamily="34" charset="-34"/>
            </a:endParaRPr>
          </a:p>
        </p:txBody>
      </p:sp>
      <p:pic>
        <p:nvPicPr>
          <p:cNvPr id="89" name="Image 1" descr="preencoded.png">
            <a:hlinkClick r:id="rId17"/>
            <a:extLst>
              <a:ext uri="{FF2B5EF4-FFF2-40B4-BE49-F238E27FC236}">
                <a16:creationId xmlns:a16="http://schemas.microsoft.com/office/drawing/2014/main" id="{17A3FBDF-D4ED-62B8-A929-67490BE4FDCE}"/>
              </a:ext>
            </a:extLst>
          </p:cNvPr>
          <p:cNvPicPr>
            <a:picLocks noChangeAspect="1"/>
          </p:cNvPicPr>
          <p:nvPr/>
        </p:nvPicPr>
        <p:blipFill>
          <a:blip r:embed="rId11"/>
          <a:stretch>
            <a:fillRect/>
          </a:stretch>
        </p:blipFill>
        <p:spPr>
          <a:xfrm>
            <a:off x="594345" y="22599713"/>
            <a:ext cx="1575346" cy="341114"/>
          </a:xfrm>
          <a:prstGeom prst="rect">
            <a:avLst/>
          </a:prstGeom>
        </p:spPr>
      </p:pic>
      <p:pic>
        <p:nvPicPr>
          <p:cNvPr id="90" name="Image 2" descr="preencoded.png">
            <a:extLst>
              <a:ext uri="{FF2B5EF4-FFF2-40B4-BE49-F238E27FC236}">
                <a16:creationId xmlns:a16="http://schemas.microsoft.com/office/drawing/2014/main" id="{E36CB40A-24C2-4172-AD90-DD3B7E71DEEC}"/>
              </a:ext>
            </a:extLst>
          </p:cNvPr>
          <p:cNvPicPr>
            <a:picLocks noChangeAspect="1"/>
          </p:cNvPicPr>
          <p:nvPr/>
        </p:nvPicPr>
        <p:blipFill>
          <a:blip r:embed="rId18"/>
          <a:stretch>
            <a:fillRect/>
          </a:stretch>
        </p:blipFill>
        <p:spPr>
          <a:xfrm>
            <a:off x="3363217" y="20180570"/>
            <a:ext cx="1516038" cy="936947"/>
          </a:xfrm>
          <a:prstGeom prst="rect">
            <a:avLst/>
          </a:prstGeom>
        </p:spPr>
      </p:pic>
      <p:sp>
        <p:nvSpPr>
          <p:cNvPr id="91" name="Shape 4">
            <a:extLst>
              <a:ext uri="{FF2B5EF4-FFF2-40B4-BE49-F238E27FC236}">
                <a16:creationId xmlns:a16="http://schemas.microsoft.com/office/drawing/2014/main" id="{8A85B43C-2F5D-3210-F691-472291230FE6}"/>
              </a:ext>
            </a:extLst>
          </p:cNvPr>
          <p:cNvSpPr/>
          <p:nvPr/>
        </p:nvSpPr>
        <p:spPr>
          <a:xfrm>
            <a:off x="3363217" y="21272522"/>
            <a:ext cx="1525042" cy="250329"/>
          </a:xfrm>
          <a:prstGeom prst="roundRect">
            <a:avLst>
              <a:gd name="adj" fmla="val 6132"/>
            </a:avLst>
          </a:prstGeom>
          <a:noFill/>
          <a:ln w="4763">
            <a:solidFill>
              <a:srgbClr val="28282F"/>
            </a:solidFill>
            <a:prstDash val="solid"/>
          </a:ln>
        </p:spPr>
      </p:sp>
      <p:sp>
        <p:nvSpPr>
          <p:cNvPr id="92" name="Text 5">
            <a:extLst>
              <a:ext uri="{FF2B5EF4-FFF2-40B4-BE49-F238E27FC236}">
                <a16:creationId xmlns:a16="http://schemas.microsoft.com/office/drawing/2014/main" id="{01702535-7030-3DCD-8BEC-C6F60A997576}"/>
              </a:ext>
            </a:extLst>
          </p:cNvPr>
          <p:cNvSpPr/>
          <p:nvPr/>
        </p:nvSpPr>
        <p:spPr>
          <a:xfrm>
            <a:off x="3442394" y="21314492"/>
            <a:ext cx="1012403"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FILOSOFI &amp; REFLEKSI</a:t>
            </a:r>
            <a:endParaRPr lang="en-US" sz="1000" dirty="0">
              <a:latin typeface="Leelawadee UI" panose="020B0502040204020203" pitchFamily="34" charset="-34"/>
              <a:cs typeface="Leelawadee UI" panose="020B0502040204020203" pitchFamily="34" charset="-34"/>
            </a:endParaRPr>
          </a:p>
        </p:txBody>
      </p:sp>
      <p:sp>
        <p:nvSpPr>
          <p:cNvPr id="93" name="Text 6">
            <a:extLst>
              <a:ext uri="{FF2B5EF4-FFF2-40B4-BE49-F238E27FC236}">
                <a16:creationId xmlns:a16="http://schemas.microsoft.com/office/drawing/2014/main" id="{C4711094-70E2-1656-DDD7-BCFB5BD24DF3}"/>
              </a:ext>
            </a:extLst>
          </p:cNvPr>
          <p:cNvSpPr/>
          <p:nvPr/>
        </p:nvSpPr>
        <p:spPr>
          <a:xfrm>
            <a:off x="3363217" y="2160576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Empat Luka Suriah</a:t>
            </a:r>
            <a:endParaRPr lang="en-US" sz="1200" dirty="0">
              <a:latin typeface="Leelawadee UI" panose="020B0502040204020203" pitchFamily="34" charset="-34"/>
              <a:cs typeface="Leelawadee UI" panose="020B0502040204020203" pitchFamily="34" charset="-34"/>
            </a:endParaRPr>
          </a:p>
        </p:txBody>
      </p:sp>
      <p:sp>
        <p:nvSpPr>
          <p:cNvPr id="94" name="Text 7">
            <a:extLst>
              <a:ext uri="{FF2B5EF4-FFF2-40B4-BE49-F238E27FC236}">
                <a16:creationId xmlns:a16="http://schemas.microsoft.com/office/drawing/2014/main" id="{5236B23B-BAEB-4F59-9D7A-BA0595820518}"/>
              </a:ext>
            </a:extLst>
          </p:cNvPr>
          <p:cNvSpPr/>
          <p:nvPr/>
        </p:nvSpPr>
        <p:spPr>
          <a:xfrm>
            <a:off x="3363217" y="21874027"/>
            <a:ext cx="2613943"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Rabu, 29 April 2026</a:t>
            </a:r>
            <a:endParaRPr lang="en-US" sz="950" dirty="0">
              <a:latin typeface="Leelawadee UI" panose="020B0502040204020203" pitchFamily="34" charset="-34"/>
              <a:cs typeface="Leelawadee UI" panose="020B0502040204020203" pitchFamily="34" charset="-34"/>
            </a:endParaRPr>
          </a:p>
        </p:txBody>
      </p:sp>
      <p:pic>
        <p:nvPicPr>
          <p:cNvPr id="95" name="Image 3" descr="preencoded.png">
            <a:hlinkClick r:id="rId19"/>
            <a:extLst>
              <a:ext uri="{FF2B5EF4-FFF2-40B4-BE49-F238E27FC236}">
                <a16:creationId xmlns:a16="http://schemas.microsoft.com/office/drawing/2014/main" id="{54501047-B9DC-506C-997E-7C89B54C8AD9}"/>
              </a:ext>
            </a:extLst>
          </p:cNvPr>
          <p:cNvPicPr>
            <a:picLocks noChangeAspect="1"/>
          </p:cNvPicPr>
          <p:nvPr/>
        </p:nvPicPr>
        <p:blipFill>
          <a:blip r:embed="rId11"/>
          <a:stretch>
            <a:fillRect/>
          </a:stretch>
        </p:blipFill>
        <p:spPr>
          <a:xfrm>
            <a:off x="3363217" y="22212016"/>
            <a:ext cx="1575346" cy="341114"/>
          </a:xfrm>
          <a:prstGeom prst="rect">
            <a:avLst/>
          </a:prstGeom>
        </p:spPr>
      </p:pic>
      <p:pic>
        <p:nvPicPr>
          <p:cNvPr id="96" name="Image 4" descr="preencoded.png">
            <a:extLst>
              <a:ext uri="{FF2B5EF4-FFF2-40B4-BE49-F238E27FC236}">
                <a16:creationId xmlns:a16="http://schemas.microsoft.com/office/drawing/2014/main" id="{51AAC807-DDCA-FAC4-F0C5-352D94D3900E}"/>
              </a:ext>
            </a:extLst>
          </p:cNvPr>
          <p:cNvPicPr>
            <a:picLocks noChangeAspect="1"/>
          </p:cNvPicPr>
          <p:nvPr/>
        </p:nvPicPr>
        <p:blipFill>
          <a:blip r:embed="rId20"/>
          <a:stretch>
            <a:fillRect/>
          </a:stretch>
        </p:blipFill>
        <p:spPr>
          <a:xfrm>
            <a:off x="6132165" y="20180570"/>
            <a:ext cx="1516038" cy="936947"/>
          </a:xfrm>
          <a:prstGeom prst="rect">
            <a:avLst/>
          </a:prstGeom>
        </p:spPr>
      </p:pic>
      <p:sp>
        <p:nvSpPr>
          <p:cNvPr id="97" name="Shape 8">
            <a:extLst>
              <a:ext uri="{FF2B5EF4-FFF2-40B4-BE49-F238E27FC236}">
                <a16:creationId xmlns:a16="http://schemas.microsoft.com/office/drawing/2014/main" id="{9961E1FC-941D-F6EA-A857-B6FE9493AB26}"/>
              </a:ext>
            </a:extLst>
          </p:cNvPr>
          <p:cNvSpPr/>
          <p:nvPr/>
        </p:nvSpPr>
        <p:spPr>
          <a:xfrm>
            <a:off x="6132165" y="21272522"/>
            <a:ext cx="1947193" cy="292299"/>
          </a:xfrm>
          <a:prstGeom prst="roundRect">
            <a:avLst>
              <a:gd name="adj" fmla="val 6132"/>
            </a:avLst>
          </a:prstGeom>
          <a:noFill/>
          <a:ln w="4763">
            <a:solidFill>
              <a:srgbClr val="28282F"/>
            </a:solidFill>
            <a:prstDash val="solid"/>
          </a:ln>
        </p:spPr>
      </p:sp>
      <p:sp>
        <p:nvSpPr>
          <p:cNvPr id="98" name="Text 9">
            <a:extLst>
              <a:ext uri="{FF2B5EF4-FFF2-40B4-BE49-F238E27FC236}">
                <a16:creationId xmlns:a16="http://schemas.microsoft.com/office/drawing/2014/main" id="{DEA98103-6AAC-A33E-0ADD-92437E7C67CB}"/>
              </a:ext>
            </a:extLst>
          </p:cNvPr>
          <p:cNvSpPr/>
          <p:nvPr/>
        </p:nvSpPr>
        <p:spPr>
          <a:xfrm>
            <a:off x="6211341" y="21314492"/>
            <a:ext cx="1209898"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LINGKUNGAN &amp; EKOLOGI</a:t>
            </a:r>
            <a:endParaRPr lang="en-US" sz="1000" dirty="0">
              <a:latin typeface="Leelawadee UI" panose="020B0502040204020203" pitchFamily="34" charset="-34"/>
              <a:cs typeface="Leelawadee UI" panose="020B0502040204020203" pitchFamily="34" charset="-34"/>
            </a:endParaRPr>
          </a:p>
        </p:txBody>
      </p:sp>
      <p:sp>
        <p:nvSpPr>
          <p:cNvPr id="99" name="Text 10">
            <a:extLst>
              <a:ext uri="{FF2B5EF4-FFF2-40B4-BE49-F238E27FC236}">
                <a16:creationId xmlns:a16="http://schemas.microsoft.com/office/drawing/2014/main" id="{0BCF2D8A-DA0E-A8DB-C65D-7F295E9FFA2E}"/>
              </a:ext>
            </a:extLst>
          </p:cNvPr>
          <p:cNvSpPr/>
          <p:nvPr/>
        </p:nvSpPr>
        <p:spPr>
          <a:xfrm>
            <a:off x="6132165" y="21605765"/>
            <a:ext cx="261394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Nilai Intrinsik Ekosistem vs Praktik Ekonomi Predator</a:t>
            </a:r>
            <a:endParaRPr lang="en-US" sz="1200" dirty="0">
              <a:latin typeface="Leelawadee UI" panose="020B0502040204020203" pitchFamily="34" charset="-34"/>
              <a:cs typeface="Leelawadee UI" panose="020B0502040204020203" pitchFamily="34" charset="-34"/>
            </a:endParaRPr>
          </a:p>
        </p:txBody>
      </p:sp>
      <p:sp>
        <p:nvSpPr>
          <p:cNvPr id="100" name="Text 11">
            <a:extLst>
              <a:ext uri="{FF2B5EF4-FFF2-40B4-BE49-F238E27FC236}">
                <a16:creationId xmlns:a16="http://schemas.microsoft.com/office/drawing/2014/main" id="{255630EE-0AA8-FE79-BB98-71E97649C7F7}"/>
              </a:ext>
            </a:extLst>
          </p:cNvPr>
          <p:cNvSpPr/>
          <p:nvPr/>
        </p:nvSpPr>
        <p:spPr>
          <a:xfrm>
            <a:off x="6132165" y="22067876"/>
            <a:ext cx="2613943"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Senin, 20 April 2026</a:t>
            </a:r>
            <a:endParaRPr lang="en-US" sz="950" dirty="0">
              <a:latin typeface="Leelawadee UI" panose="020B0502040204020203" pitchFamily="34" charset="-34"/>
              <a:cs typeface="Leelawadee UI" panose="020B0502040204020203" pitchFamily="34" charset="-34"/>
            </a:endParaRPr>
          </a:p>
        </p:txBody>
      </p:sp>
      <p:pic>
        <p:nvPicPr>
          <p:cNvPr id="101" name="Image 5" descr="preencoded.png">
            <a:hlinkClick r:id="rId21"/>
            <a:extLst>
              <a:ext uri="{FF2B5EF4-FFF2-40B4-BE49-F238E27FC236}">
                <a16:creationId xmlns:a16="http://schemas.microsoft.com/office/drawing/2014/main" id="{C079C0CD-9FCE-6FA8-C4CE-7CF3CAADD266}"/>
              </a:ext>
            </a:extLst>
          </p:cNvPr>
          <p:cNvPicPr>
            <a:picLocks noChangeAspect="1"/>
          </p:cNvPicPr>
          <p:nvPr/>
        </p:nvPicPr>
        <p:blipFill>
          <a:blip r:embed="rId11"/>
          <a:stretch>
            <a:fillRect/>
          </a:stretch>
        </p:blipFill>
        <p:spPr>
          <a:xfrm>
            <a:off x="6132165" y="22405865"/>
            <a:ext cx="1575346" cy="341114"/>
          </a:xfrm>
          <a:prstGeom prst="rect">
            <a:avLst/>
          </a:prstGeom>
        </p:spPr>
      </p:pic>
      <p:pic>
        <p:nvPicPr>
          <p:cNvPr id="102" name="Image 0" descr="preencoded.png">
            <a:extLst>
              <a:ext uri="{FF2B5EF4-FFF2-40B4-BE49-F238E27FC236}">
                <a16:creationId xmlns:a16="http://schemas.microsoft.com/office/drawing/2014/main" id="{7836D58F-FDC2-CC08-7F6C-8B9BE35DC73B}"/>
              </a:ext>
            </a:extLst>
          </p:cNvPr>
          <p:cNvPicPr>
            <a:picLocks noChangeAspect="1"/>
          </p:cNvPicPr>
          <p:nvPr/>
        </p:nvPicPr>
        <p:blipFill>
          <a:blip r:embed="rId22"/>
          <a:stretch>
            <a:fillRect/>
          </a:stretch>
        </p:blipFill>
        <p:spPr>
          <a:xfrm>
            <a:off x="562889" y="23116988"/>
            <a:ext cx="1516038" cy="936947"/>
          </a:xfrm>
          <a:prstGeom prst="rect">
            <a:avLst/>
          </a:prstGeom>
        </p:spPr>
      </p:pic>
      <p:sp>
        <p:nvSpPr>
          <p:cNvPr id="103" name="Shape 0">
            <a:extLst>
              <a:ext uri="{FF2B5EF4-FFF2-40B4-BE49-F238E27FC236}">
                <a16:creationId xmlns:a16="http://schemas.microsoft.com/office/drawing/2014/main" id="{5A99F7BE-EE05-41C0-BD75-988752B56B5E}"/>
              </a:ext>
            </a:extLst>
          </p:cNvPr>
          <p:cNvSpPr/>
          <p:nvPr/>
        </p:nvSpPr>
        <p:spPr>
          <a:xfrm>
            <a:off x="562889" y="24208940"/>
            <a:ext cx="1547494" cy="276150"/>
          </a:xfrm>
          <a:prstGeom prst="roundRect">
            <a:avLst>
              <a:gd name="adj" fmla="val 6132"/>
            </a:avLst>
          </a:prstGeom>
          <a:noFill/>
          <a:ln w="4763">
            <a:solidFill>
              <a:srgbClr val="28282F"/>
            </a:solidFill>
            <a:prstDash val="solid"/>
          </a:ln>
        </p:spPr>
      </p:sp>
      <p:sp>
        <p:nvSpPr>
          <p:cNvPr id="104" name="Text 1">
            <a:extLst>
              <a:ext uri="{FF2B5EF4-FFF2-40B4-BE49-F238E27FC236}">
                <a16:creationId xmlns:a16="http://schemas.microsoft.com/office/drawing/2014/main" id="{921D8483-74E0-E7AE-76F2-2CABDFA81221}"/>
              </a:ext>
            </a:extLst>
          </p:cNvPr>
          <p:cNvSpPr/>
          <p:nvPr/>
        </p:nvSpPr>
        <p:spPr>
          <a:xfrm>
            <a:off x="642065" y="24250910"/>
            <a:ext cx="1147093"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SOSIAL &amp; MASYARAKAT</a:t>
            </a:r>
            <a:endParaRPr lang="en-US" sz="1000" dirty="0">
              <a:latin typeface="Leelawadee UI" panose="020B0502040204020203" pitchFamily="34" charset="-34"/>
              <a:cs typeface="Leelawadee UI" panose="020B0502040204020203" pitchFamily="34" charset="-34"/>
            </a:endParaRPr>
          </a:p>
        </p:txBody>
      </p:sp>
      <p:sp>
        <p:nvSpPr>
          <p:cNvPr id="105" name="Text 2">
            <a:extLst>
              <a:ext uri="{FF2B5EF4-FFF2-40B4-BE49-F238E27FC236}">
                <a16:creationId xmlns:a16="http://schemas.microsoft.com/office/drawing/2014/main" id="{70A82F9B-B86D-69C9-5796-9F2684ADA05D}"/>
              </a:ext>
            </a:extLst>
          </p:cNvPr>
          <p:cNvSpPr/>
          <p:nvPr/>
        </p:nvSpPr>
        <p:spPr>
          <a:xfrm>
            <a:off x="562889" y="24555831"/>
            <a:ext cx="2613868" cy="581546"/>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Ruang Publik: Cermin Peradaban, Medan Kuasa, dan Hilangnya "Rasa Bersama"</a:t>
            </a:r>
            <a:endParaRPr lang="en-US" sz="1200" dirty="0">
              <a:latin typeface="Leelawadee UI" panose="020B0502040204020203" pitchFamily="34" charset="-34"/>
              <a:cs typeface="Leelawadee UI" panose="020B0502040204020203" pitchFamily="34" charset="-34"/>
            </a:endParaRPr>
          </a:p>
        </p:txBody>
      </p:sp>
      <p:sp>
        <p:nvSpPr>
          <p:cNvPr id="106" name="Text 3">
            <a:extLst>
              <a:ext uri="{FF2B5EF4-FFF2-40B4-BE49-F238E27FC236}">
                <a16:creationId xmlns:a16="http://schemas.microsoft.com/office/drawing/2014/main" id="{8DB5C501-36D0-92AC-89A3-106CF580DF99}"/>
              </a:ext>
            </a:extLst>
          </p:cNvPr>
          <p:cNvSpPr/>
          <p:nvPr/>
        </p:nvSpPr>
        <p:spPr>
          <a:xfrm>
            <a:off x="562889" y="25211791"/>
            <a:ext cx="2613868"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Jumat, 17 April 2026</a:t>
            </a:r>
            <a:endParaRPr lang="en-US" sz="950" dirty="0">
              <a:latin typeface="Leelawadee UI" panose="020B0502040204020203" pitchFamily="34" charset="-34"/>
              <a:cs typeface="Leelawadee UI" panose="020B0502040204020203" pitchFamily="34" charset="-34"/>
            </a:endParaRPr>
          </a:p>
        </p:txBody>
      </p:sp>
      <p:pic>
        <p:nvPicPr>
          <p:cNvPr id="107" name="Image 1" descr="preencoded.png">
            <a:hlinkClick r:id="rId23"/>
            <a:extLst>
              <a:ext uri="{FF2B5EF4-FFF2-40B4-BE49-F238E27FC236}">
                <a16:creationId xmlns:a16="http://schemas.microsoft.com/office/drawing/2014/main" id="{412E175C-1ECA-0D40-1A8B-333CB793C4D2}"/>
              </a:ext>
            </a:extLst>
          </p:cNvPr>
          <p:cNvPicPr>
            <a:picLocks noChangeAspect="1"/>
          </p:cNvPicPr>
          <p:nvPr/>
        </p:nvPicPr>
        <p:blipFill>
          <a:blip r:embed="rId11"/>
          <a:stretch>
            <a:fillRect/>
          </a:stretch>
        </p:blipFill>
        <p:spPr>
          <a:xfrm>
            <a:off x="562889" y="25549779"/>
            <a:ext cx="1575346" cy="341114"/>
          </a:xfrm>
          <a:prstGeom prst="rect">
            <a:avLst/>
          </a:prstGeom>
        </p:spPr>
      </p:pic>
      <p:pic>
        <p:nvPicPr>
          <p:cNvPr id="108" name="Image 2" descr="preencoded.png">
            <a:extLst>
              <a:ext uri="{FF2B5EF4-FFF2-40B4-BE49-F238E27FC236}">
                <a16:creationId xmlns:a16="http://schemas.microsoft.com/office/drawing/2014/main" id="{F6CA4AF0-1C00-5938-18A3-4E02DC01B200}"/>
              </a:ext>
            </a:extLst>
          </p:cNvPr>
          <p:cNvPicPr>
            <a:picLocks noChangeAspect="1"/>
          </p:cNvPicPr>
          <p:nvPr/>
        </p:nvPicPr>
        <p:blipFill>
          <a:blip r:embed="rId24"/>
          <a:stretch>
            <a:fillRect/>
          </a:stretch>
        </p:blipFill>
        <p:spPr>
          <a:xfrm>
            <a:off x="3331761" y="23116988"/>
            <a:ext cx="1516038" cy="936947"/>
          </a:xfrm>
          <a:prstGeom prst="rect">
            <a:avLst/>
          </a:prstGeom>
        </p:spPr>
      </p:pic>
      <p:sp>
        <p:nvSpPr>
          <p:cNvPr id="109" name="Shape 4">
            <a:extLst>
              <a:ext uri="{FF2B5EF4-FFF2-40B4-BE49-F238E27FC236}">
                <a16:creationId xmlns:a16="http://schemas.microsoft.com/office/drawing/2014/main" id="{F09A58CF-8873-2253-4DD1-94A89607EE91}"/>
              </a:ext>
            </a:extLst>
          </p:cNvPr>
          <p:cNvSpPr/>
          <p:nvPr/>
        </p:nvSpPr>
        <p:spPr>
          <a:xfrm>
            <a:off x="3331761" y="24208940"/>
            <a:ext cx="1887121" cy="250329"/>
          </a:xfrm>
          <a:prstGeom prst="roundRect">
            <a:avLst>
              <a:gd name="adj" fmla="val 6132"/>
            </a:avLst>
          </a:prstGeom>
          <a:noFill/>
          <a:ln w="4763">
            <a:solidFill>
              <a:srgbClr val="28282F"/>
            </a:solidFill>
            <a:prstDash val="solid"/>
          </a:ln>
        </p:spPr>
      </p:sp>
      <p:sp>
        <p:nvSpPr>
          <p:cNvPr id="110" name="Text 5">
            <a:extLst>
              <a:ext uri="{FF2B5EF4-FFF2-40B4-BE49-F238E27FC236}">
                <a16:creationId xmlns:a16="http://schemas.microsoft.com/office/drawing/2014/main" id="{D3D5CBF5-7B68-A1F9-555E-25DC9EFE04CB}"/>
              </a:ext>
            </a:extLst>
          </p:cNvPr>
          <p:cNvSpPr/>
          <p:nvPr/>
        </p:nvSpPr>
        <p:spPr>
          <a:xfrm>
            <a:off x="3410938" y="24250910"/>
            <a:ext cx="1136079"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EKONOMI &amp; KEBIJAKAN</a:t>
            </a:r>
            <a:endParaRPr lang="en-US" sz="1000" dirty="0">
              <a:latin typeface="Leelawadee UI" panose="020B0502040204020203" pitchFamily="34" charset="-34"/>
              <a:cs typeface="Leelawadee UI" panose="020B0502040204020203" pitchFamily="34" charset="-34"/>
            </a:endParaRPr>
          </a:p>
        </p:txBody>
      </p:sp>
      <p:sp>
        <p:nvSpPr>
          <p:cNvPr id="111" name="Text 6">
            <a:extLst>
              <a:ext uri="{FF2B5EF4-FFF2-40B4-BE49-F238E27FC236}">
                <a16:creationId xmlns:a16="http://schemas.microsoft.com/office/drawing/2014/main" id="{99A589CF-95B2-4B67-4F05-1864901B6BDA}"/>
              </a:ext>
            </a:extLst>
          </p:cNvPr>
          <p:cNvSpPr/>
          <p:nvPr/>
        </p:nvSpPr>
        <p:spPr>
          <a:xfrm>
            <a:off x="3331761" y="24555831"/>
            <a:ext cx="261394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Teori Ekonomi dan Status Terkini Kehidupan Bumi</a:t>
            </a:r>
            <a:endParaRPr lang="en-US" sz="1200" dirty="0">
              <a:latin typeface="Leelawadee UI" panose="020B0502040204020203" pitchFamily="34" charset="-34"/>
              <a:cs typeface="Leelawadee UI" panose="020B0502040204020203" pitchFamily="34" charset="-34"/>
            </a:endParaRPr>
          </a:p>
        </p:txBody>
      </p:sp>
      <p:sp>
        <p:nvSpPr>
          <p:cNvPr id="112" name="Text 7">
            <a:extLst>
              <a:ext uri="{FF2B5EF4-FFF2-40B4-BE49-F238E27FC236}">
                <a16:creationId xmlns:a16="http://schemas.microsoft.com/office/drawing/2014/main" id="{797A356A-857B-3F2B-0F63-5A2768413321}"/>
              </a:ext>
            </a:extLst>
          </p:cNvPr>
          <p:cNvSpPr/>
          <p:nvPr/>
        </p:nvSpPr>
        <p:spPr>
          <a:xfrm>
            <a:off x="3331761" y="25017942"/>
            <a:ext cx="2613943"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Kamis, 16 April 2026</a:t>
            </a:r>
            <a:endParaRPr lang="en-US" sz="950" dirty="0">
              <a:latin typeface="Leelawadee UI" panose="020B0502040204020203" pitchFamily="34" charset="-34"/>
              <a:cs typeface="Leelawadee UI" panose="020B0502040204020203" pitchFamily="34" charset="-34"/>
            </a:endParaRPr>
          </a:p>
        </p:txBody>
      </p:sp>
      <p:pic>
        <p:nvPicPr>
          <p:cNvPr id="113" name="Image 3" descr="preencoded.png">
            <a:hlinkClick r:id="rId25"/>
            <a:extLst>
              <a:ext uri="{FF2B5EF4-FFF2-40B4-BE49-F238E27FC236}">
                <a16:creationId xmlns:a16="http://schemas.microsoft.com/office/drawing/2014/main" id="{17959349-6452-5614-5D79-739ACCEC467F}"/>
              </a:ext>
            </a:extLst>
          </p:cNvPr>
          <p:cNvPicPr>
            <a:picLocks noChangeAspect="1"/>
          </p:cNvPicPr>
          <p:nvPr/>
        </p:nvPicPr>
        <p:blipFill>
          <a:blip r:embed="rId11"/>
          <a:stretch>
            <a:fillRect/>
          </a:stretch>
        </p:blipFill>
        <p:spPr>
          <a:xfrm>
            <a:off x="3331761" y="25355931"/>
            <a:ext cx="1575346" cy="341114"/>
          </a:xfrm>
          <a:prstGeom prst="rect">
            <a:avLst/>
          </a:prstGeom>
        </p:spPr>
      </p:pic>
      <p:pic>
        <p:nvPicPr>
          <p:cNvPr id="114" name="Image 4" descr="preencoded.png">
            <a:extLst>
              <a:ext uri="{FF2B5EF4-FFF2-40B4-BE49-F238E27FC236}">
                <a16:creationId xmlns:a16="http://schemas.microsoft.com/office/drawing/2014/main" id="{05EADC22-4CEA-DCE1-19EF-F509E6DF8579}"/>
              </a:ext>
            </a:extLst>
          </p:cNvPr>
          <p:cNvPicPr>
            <a:picLocks noChangeAspect="1"/>
          </p:cNvPicPr>
          <p:nvPr/>
        </p:nvPicPr>
        <p:blipFill>
          <a:blip r:embed="rId26"/>
          <a:stretch>
            <a:fillRect/>
          </a:stretch>
        </p:blipFill>
        <p:spPr>
          <a:xfrm>
            <a:off x="6100709" y="23116988"/>
            <a:ext cx="1516038" cy="936947"/>
          </a:xfrm>
          <a:prstGeom prst="rect">
            <a:avLst/>
          </a:prstGeom>
        </p:spPr>
      </p:pic>
      <p:sp>
        <p:nvSpPr>
          <p:cNvPr id="115" name="Shape 8">
            <a:extLst>
              <a:ext uri="{FF2B5EF4-FFF2-40B4-BE49-F238E27FC236}">
                <a16:creationId xmlns:a16="http://schemas.microsoft.com/office/drawing/2014/main" id="{E5F8FF1D-E149-E7C8-3AAF-BE3946A34AFE}"/>
              </a:ext>
            </a:extLst>
          </p:cNvPr>
          <p:cNvSpPr/>
          <p:nvPr/>
        </p:nvSpPr>
        <p:spPr>
          <a:xfrm>
            <a:off x="6100708" y="24208941"/>
            <a:ext cx="1978649" cy="217884"/>
          </a:xfrm>
          <a:prstGeom prst="roundRect">
            <a:avLst>
              <a:gd name="adj" fmla="val 6132"/>
            </a:avLst>
          </a:prstGeom>
          <a:noFill/>
          <a:ln w="4763">
            <a:solidFill>
              <a:srgbClr val="28282F"/>
            </a:solidFill>
            <a:prstDash val="solid"/>
          </a:ln>
        </p:spPr>
      </p:sp>
      <p:sp>
        <p:nvSpPr>
          <p:cNvPr id="116" name="Text 9">
            <a:extLst>
              <a:ext uri="{FF2B5EF4-FFF2-40B4-BE49-F238E27FC236}">
                <a16:creationId xmlns:a16="http://schemas.microsoft.com/office/drawing/2014/main" id="{E413A43C-3CED-A9B7-CACD-CBCC600AB619}"/>
              </a:ext>
            </a:extLst>
          </p:cNvPr>
          <p:cNvSpPr/>
          <p:nvPr/>
        </p:nvSpPr>
        <p:spPr>
          <a:xfrm>
            <a:off x="6179885" y="24250910"/>
            <a:ext cx="1012403" cy="158800"/>
          </a:xfrm>
          <a:prstGeom prst="rect">
            <a:avLst/>
          </a:prstGeom>
          <a:noFill/>
          <a:ln/>
        </p:spPr>
        <p:txBody>
          <a:bodyPr wrap="none" lIns="0" tIns="0" rIns="0" bIns="0" rtlCol="0" anchor="t"/>
          <a:lstStyle/>
          <a:p>
            <a:pPr marL="0" indent="0" algn="l">
              <a:lnSpc>
                <a:spcPct val="133000"/>
              </a:lnSpc>
              <a:buNone/>
            </a:pPr>
            <a:r>
              <a:rPr lang="en-US" sz="1000" dirty="0">
                <a:solidFill>
                  <a:srgbClr val="28282F"/>
                </a:solidFill>
                <a:latin typeface="Leelawadee UI" panose="020B0502040204020203" pitchFamily="34" charset="-34"/>
                <a:ea typeface="Inter" pitchFamily="34" charset="-122"/>
                <a:cs typeface="Leelawadee UI" panose="020B0502040204020203" pitchFamily="34" charset="-34"/>
              </a:rPr>
              <a:t>FILOSOFI &amp; REFLEKSI</a:t>
            </a:r>
            <a:endParaRPr lang="en-US" sz="1000" dirty="0">
              <a:latin typeface="Leelawadee UI" panose="020B0502040204020203" pitchFamily="34" charset="-34"/>
              <a:cs typeface="Leelawadee UI" panose="020B0502040204020203" pitchFamily="34" charset="-34"/>
            </a:endParaRPr>
          </a:p>
        </p:txBody>
      </p:sp>
      <p:sp>
        <p:nvSpPr>
          <p:cNvPr id="117" name="Text 10">
            <a:extLst>
              <a:ext uri="{FF2B5EF4-FFF2-40B4-BE49-F238E27FC236}">
                <a16:creationId xmlns:a16="http://schemas.microsoft.com/office/drawing/2014/main" id="{7D8A61B6-4CD0-1F3E-4F4B-6729CD376542}"/>
              </a:ext>
            </a:extLst>
          </p:cNvPr>
          <p:cNvSpPr/>
          <p:nvPr/>
        </p:nvSpPr>
        <p:spPr>
          <a:xfrm>
            <a:off x="6100709" y="24555831"/>
            <a:ext cx="261394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Paradoks Renaisans: Eksploitasi dan Dehumanisasi</a:t>
            </a:r>
            <a:endParaRPr lang="en-US" sz="1200" dirty="0">
              <a:latin typeface="Leelawadee UI" panose="020B0502040204020203" pitchFamily="34" charset="-34"/>
              <a:cs typeface="Leelawadee UI" panose="020B0502040204020203" pitchFamily="34" charset="-34"/>
            </a:endParaRPr>
          </a:p>
        </p:txBody>
      </p:sp>
      <p:sp>
        <p:nvSpPr>
          <p:cNvPr id="118" name="Text 11">
            <a:extLst>
              <a:ext uri="{FF2B5EF4-FFF2-40B4-BE49-F238E27FC236}">
                <a16:creationId xmlns:a16="http://schemas.microsoft.com/office/drawing/2014/main" id="{963FAA23-7907-559A-D45F-F823593F1FB7}"/>
              </a:ext>
            </a:extLst>
          </p:cNvPr>
          <p:cNvSpPr/>
          <p:nvPr/>
        </p:nvSpPr>
        <p:spPr>
          <a:xfrm>
            <a:off x="6100709" y="25017942"/>
            <a:ext cx="2613943" cy="198462"/>
          </a:xfrm>
          <a:prstGeom prst="rect">
            <a:avLst/>
          </a:prstGeom>
          <a:noFill/>
          <a:ln/>
        </p:spPr>
        <p:txBody>
          <a:bodyPr wrap="none" lIns="0" tIns="0" rIns="0" bIns="0" rtlCol="0" anchor="t"/>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Rabu, 15 April 2026</a:t>
            </a:r>
            <a:endParaRPr lang="en-US" sz="950" dirty="0">
              <a:latin typeface="Leelawadee UI" panose="020B0502040204020203" pitchFamily="34" charset="-34"/>
              <a:cs typeface="Leelawadee UI" panose="020B0502040204020203" pitchFamily="34" charset="-34"/>
            </a:endParaRPr>
          </a:p>
        </p:txBody>
      </p:sp>
      <p:pic>
        <p:nvPicPr>
          <p:cNvPr id="119" name="Image 5" descr="preencoded.png">
            <a:hlinkClick r:id="rId27"/>
            <a:extLst>
              <a:ext uri="{FF2B5EF4-FFF2-40B4-BE49-F238E27FC236}">
                <a16:creationId xmlns:a16="http://schemas.microsoft.com/office/drawing/2014/main" id="{FF163C73-CB4C-C890-ECE8-46D7F8B66732}"/>
              </a:ext>
            </a:extLst>
          </p:cNvPr>
          <p:cNvPicPr>
            <a:picLocks noChangeAspect="1"/>
          </p:cNvPicPr>
          <p:nvPr/>
        </p:nvPicPr>
        <p:blipFill>
          <a:blip r:embed="rId11"/>
          <a:stretch>
            <a:fillRect/>
          </a:stretch>
        </p:blipFill>
        <p:spPr>
          <a:xfrm>
            <a:off x="6100709" y="25355931"/>
            <a:ext cx="1575346" cy="341114"/>
          </a:xfrm>
          <a:prstGeom prst="rect">
            <a:avLst/>
          </a:prstGeom>
        </p:spPr>
      </p:pic>
      <p:sp>
        <p:nvSpPr>
          <p:cNvPr id="120" name="Shape 12">
            <a:extLst>
              <a:ext uri="{FF2B5EF4-FFF2-40B4-BE49-F238E27FC236}">
                <a16:creationId xmlns:a16="http://schemas.microsoft.com/office/drawing/2014/main" id="{F99A4BB2-250B-24FC-2E66-1D8EE2D6B41A}"/>
              </a:ext>
            </a:extLst>
          </p:cNvPr>
          <p:cNvSpPr/>
          <p:nvPr/>
        </p:nvSpPr>
        <p:spPr>
          <a:xfrm>
            <a:off x="562889" y="26061376"/>
            <a:ext cx="8151763" cy="15478"/>
          </a:xfrm>
          <a:prstGeom prst="roundRect">
            <a:avLst>
              <a:gd name="adj" fmla="val 120215"/>
            </a:avLst>
          </a:prstGeom>
          <a:solidFill>
            <a:srgbClr val="161613">
              <a:alpha val="50000"/>
            </a:srgbClr>
          </a:solidFill>
          <a:ln/>
        </p:spPr>
      </p:sp>
      <p:sp>
        <p:nvSpPr>
          <p:cNvPr id="121" name="Text 13">
            <a:extLst>
              <a:ext uri="{FF2B5EF4-FFF2-40B4-BE49-F238E27FC236}">
                <a16:creationId xmlns:a16="http://schemas.microsoft.com/office/drawing/2014/main" id="{0DB5D5E2-8DED-6BD6-B6C5-F7E6958EA2D6}"/>
              </a:ext>
            </a:extLst>
          </p:cNvPr>
          <p:cNvSpPr/>
          <p:nvPr/>
        </p:nvSpPr>
        <p:spPr>
          <a:xfrm>
            <a:off x="334289" y="26247337"/>
            <a:ext cx="8608963" cy="198462"/>
          </a:xfrm>
          <a:prstGeom prst="rect">
            <a:avLst/>
          </a:prstGeom>
          <a:noFill/>
          <a:ln/>
        </p:spPr>
        <p:txBody>
          <a:bodyPr wrap="none" lIns="0" tIns="0" rIns="0" bIns="0" rtlCol="0" anchor="t"/>
          <a:lstStyle/>
          <a:p>
            <a:pPr marL="0" indent="0" algn="ctr">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Menampilkan halaman </a:t>
            </a:r>
            <a:r>
              <a:rPr lang="en-US" sz="950" b="1" dirty="0">
                <a:solidFill>
                  <a:srgbClr val="161613"/>
                </a:solidFill>
                <a:latin typeface="Leelawadee UI" panose="020B0502040204020203" pitchFamily="34" charset="-34"/>
                <a:ea typeface="Inter" pitchFamily="34" charset="-122"/>
                <a:cs typeface="Leelawadee UI" panose="020B0502040204020203" pitchFamily="34" charset="-34"/>
              </a:rPr>
              <a:t>1 dari 2</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 9 dari 12 artikel</a:t>
            </a:r>
            <a:endParaRPr lang="en-US" sz="950" dirty="0">
              <a:latin typeface="Leelawadee UI" panose="020B0502040204020203" pitchFamily="34" charset="-34"/>
              <a:cs typeface="Leelawadee UI" panose="020B0502040204020203" pitchFamily="34" charset="-34"/>
            </a:endParaRPr>
          </a:p>
        </p:txBody>
      </p:sp>
      <p:pic>
        <p:nvPicPr>
          <p:cNvPr id="122" name="Image 6" descr="preencoded.png">
            <a:hlinkClick r:id="rId28"/>
            <a:extLst>
              <a:ext uri="{FF2B5EF4-FFF2-40B4-BE49-F238E27FC236}">
                <a16:creationId xmlns:a16="http://schemas.microsoft.com/office/drawing/2014/main" id="{9B20DF25-EF4D-EB4C-5664-F55F5B6FF3EB}"/>
              </a:ext>
            </a:extLst>
          </p:cNvPr>
          <p:cNvPicPr>
            <a:picLocks noChangeAspect="1"/>
          </p:cNvPicPr>
          <p:nvPr/>
        </p:nvPicPr>
        <p:blipFill>
          <a:blip r:embed="rId29"/>
          <a:stretch>
            <a:fillRect/>
          </a:stretch>
        </p:blipFill>
        <p:spPr>
          <a:xfrm>
            <a:off x="3702790" y="26585325"/>
            <a:ext cx="1871960" cy="341114"/>
          </a:xfrm>
          <a:prstGeom prst="rect">
            <a:avLst/>
          </a:prstGeom>
        </p:spPr>
      </p:pic>
      <p:pic>
        <p:nvPicPr>
          <p:cNvPr id="123" name="Image 0" descr="preencoded.png">
            <a:extLst>
              <a:ext uri="{FF2B5EF4-FFF2-40B4-BE49-F238E27FC236}">
                <a16:creationId xmlns:a16="http://schemas.microsoft.com/office/drawing/2014/main" id="{EBF573AE-6047-02EC-76EA-F9B731926CD5}"/>
              </a:ext>
            </a:extLst>
          </p:cNvPr>
          <p:cNvPicPr>
            <a:picLocks noChangeAspect="1"/>
          </p:cNvPicPr>
          <p:nvPr/>
        </p:nvPicPr>
        <p:blipFill>
          <a:blip r:embed="rId30"/>
          <a:stretch>
            <a:fillRect/>
          </a:stretch>
        </p:blipFill>
        <p:spPr>
          <a:xfrm>
            <a:off x="6837528" y="27162643"/>
            <a:ext cx="2158390" cy="3237585"/>
          </a:xfrm>
          <a:prstGeom prst="rect">
            <a:avLst/>
          </a:prstGeom>
        </p:spPr>
      </p:pic>
      <p:sp>
        <p:nvSpPr>
          <p:cNvPr id="124" name="Text 0">
            <a:extLst>
              <a:ext uri="{FF2B5EF4-FFF2-40B4-BE49-F238E27FC236}">
                <a16:creationId xmlns:a16="http://schemas.microsoft.com/office/drawing/2014/main" id="{473FEAF4-5447-DA25-8ABD-7F5A5B84E709}"/>
              </a:ext>
            </a:extLst>
          </p:cNvPr>
          <p:cNvSpPr/>
          <p:nvPr/>
        </p:nvSpPr>
        <p:spPr>
          <a:xfrm>
            <a:off x="496119" y="27633040"/>
            <a:ext cx="4216003" cy="310083"/>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Ikuti Refleksi dan Pemikiran YNKI</a:t>
            </a:r>
            <a:endParaRPr lang="en-US" sz="2400" dirty="0">
              <a:latin typeface="Leelawadee UI" panose="020B0502040204020203" pitchFamily="34" charset="-34"/>
              <a:cs typeface="Leelawadee UI" panose="020B0502040204020203" pitchFamily="34" charset="-34"/>
            </a:endParaRPr>
          </a:p>
        </p:txBody>
      </p:sp>
      <p:sp>
        <p:nvSpPr>
          <p:cNvPr id="125" name="Text 1">
            <a:extLst>
              <a:ext uri="{FF2B5EF4-FFF2-40B4-BE49-F238E27FC236}">
                <a16:creationId xmlns:a16="http://schemas.microsoft.com/office/drawing/2014/main" id="{CCEB80C8-8CB0-2535-CAE9-00C8A38CE513}"/>
              </a:ext>
            </a:extLst>
          </p:cNvPr>
          <p:cNvSpPr/>
          <p:nvPr/>
        </p:nvSpPr>
        <p:spPr>
          <a:xfrm>
            <a:off x="496119" y="28129157"/>
            <a:ext cx="5647505" cy="1431893"/>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Perspektif Budaya adalah ruang untuk merenungkan hubungan kita dengan alam, sesama, dan diri sendiri. Setiap esai adalah undangan untuk berpikir lebih dalam—tentang nilai-nilai yang kita warisi, pilihan yang kita buat, dan masa depan yang ingin kita wujudkan bersama. Ikuti terus tulisan-tulisan terbaru dari YNKI dan bagikan pemikiran Anda kepada orang-orang terdekat.</a:t>
            </a:r>
            <a:endParaRPr lang="en-US" sz="1100" dirty="0">
              <a:latin typeface="Leelawadee UI" panose="020B0502040204020203" pitchFamily="34" charset="-34"/>
              <a:cs typeface="Leelawadee UI" panose="020B0502040204020203" pitchFamily="34" charset="-34"/>
            </a:endParaRPr>
          </a:p>
        </p:txBody>
      </p:sp>
      <p:pic>
        <p:nvPicPr>
          <p:cNvPr id="126" name="Image 1" descr="preencoded.png">
            <a:hlinkClick r:id="rId31"/>
            <a:extLst>
              <a:ext uri="{FF2B5EF4-FFF2-40B4-BE49-F238E27FC236}">
                <a16:creationId xmlns:a16="http://schemas.microsoft.com/office/drawing/2014/main" id="{C72D2F90-B137-1875-AA62-8124CD943C8F}"/>
              </a:ext>
            </a:extLst>
          </p:cNvPr>
          <p:cNvPicPr>
            <a:picLocks noChangeAspect="1"/>
          </p:cNvPicPr>
          <p:nvPr/>
        </p:nvPicPr>
        <p:blipFill>
          <a:blip r:embed="rId32"/>
          <a:stretch>
            <a:fillRect/>
          </a:stretch>
        </p:blipFill>
        <p:spPr>
          <a:xfrm>
            <a:off x="453655" y="29571538"/>
            <a:ext cx="1561281" cy="341114"/>
          </a:xfrm>
          <a:prstGeom prst="rect">
            <a:avLst/>
          </a:prstGeom>
        </p:spPr>
      </p:pic>
      <p:pic>
        <p:nvPicPr>
          <p:cNvPr id="127" name="Image 2" descr="preencoded.png">
            <a:hlinkClick r:id="rId33"/>
            <a:extLst>
              <a:ext uri="{FF2B5EF4-FFF2-40B4-BE49-F238E27FC236}">
                <a16:creationId xmlns:a16="http://schemas.microsoft.com/office/drawing/2014/main" id="{60CE1DCC-CA8C-A357-7CF5-CA2FF939316B}"/>
              </a:ext>
            </a:extLst>
          </p:cNvPr>
          <p:cNvPicPr>
            <a:picLocks noChangeAspect="1"/>
          </p:cNvPicPr>
          <p:nvPr/>
        </p:nvPicPr>
        <p:blipFill>
          <a:blip r:embed="rId34"/>
          <a:stretch>
            <a:fillRect/>
          </a:stretch>
        </p:blipFill>
        <p:spPr>
          <a:xfrm>
            <a:off x="2076923" y="29571538"/>
            <a:ext cx="1188393" cy="341114"/>
          </a:xfrm>
          <a:prstGeom prst="rect">
            <a:avLst/>
          </a:prstGeom>
        </p:spPr>
      </p:pic>
      <p:pic>
        <p:nvPicPr>
          <p:cNvPr id="128" name="Image 3" descr="preencoded.png">
            <a:hlinkClick r:id="rId35"/>
            <a:extLst>
              <a:ext uri="{FF2B5EF4-FFF2-40B4-BE49-F238E27FC236}">
                <a16:creationId xmlns:a16="http://schemas.microsoft.com/office/drawing/2014/main" id="{9CB46E0C-2DE1-6AF9-675D-CDCBEF79E8C1}"/>
              </a:ext>
            </a:extLst>
          </p:cNvPr>
          <p:cNvPicPr>
            <a:picLocks noChangeAspect="1"/>
          </p:cNvPicPr>
          <p:nvPr/>
        </p:nvPicPr>
        <p:blipFill>
          <a:blip r:embed="rId36"/>
          <a:stretch>
            <a:fillRect/>
          </a:stretch>
        </p:blipFill>
        <p:spPr>
          <a:xfrm>
            <a:off x="3327302" y="29571538"/>
            <a:ext cx="1296442" cy="341114"/>
          </a:xfrm>
          <a:prstGeom prst="rect">
            <a:avLst/>
          </a:prstGeom>
        </p:spPr>
      </p:pic>
      <p:sp>
        <p:nvSpPr>
          <p:cNvPr id="129" name="Shape 0">
            <a:extLst>
              <a:ext uri="{FF2B5EF4-FFF2-40B4-BE49-F238E27FC236}">
                <a16:creationId xmlns:a16="http://schemas.microsoft.com/office/drawing/2014/main" id="{579A326A-51CE-A482-9697-2CCC8AB5C60B}"/>
              </a:ext>
            </a:extLst>
          </p:cNvPr>
          <p:cNvSpPr/>
          <p:nvPr/>
        </p:nvSpPr>
        <p:spPr>
          <a:xfrm>
            <a:off x="470371" y="31179270"/>
            <a:ext cx="2412281" cy="2359744"/>
          </a:xfrm>
          <a:prstGeom prst="roundRect">
            <a:avLst>
              <a:gd name="adj" fmla="val 789"/>
            </a:avLst>
          </a:prstGeom>
          <a:solidFill>
            <a:srgbClr val="28282F"/>
          </a:solidFill>
          <a:ln/>
        </p:spPr>
      </p:sp>
      <p:sp>
        <p:nvSpPr>
          <p:cNvPr id="130" name="Text 1">
            <a:extLst>
              <a:ext uri="{FF2B5EF4-FFF2-40B4-BE49-F238E27FC236}">
                <a16:creationId xmlns:a16="http://schemas.microsoft.com/office/drawing/2014/main" id="{4C11894C-D2AB-CD44-ABD3-F3CB655C9F43}"/>
              </a:ext>
            </a:extLst>
          </p:cNvPr>
          <p:cNvSpPr/>
          <p:nvPr/>
        </p:nvSpPr>
        <p:spPr>
          <a:xfrm>
            <a:off x="594345" y="31303243"/>
            <a:ext cx="216433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200" dirty="0">
              <a:latin typeface="Leelawadee UI" panose="020B0502040204020203" pitchFamily="34" charset="-34"/>
              <a:cs typeface="Leelawadee UI" panose="020B0502040204020203" pitchFamily="34" charset="-34"/>
            </a:endParaRPr>
          </a:p>
        </p:txBody>
      </p:sp>
      <p:sp>
        <p:nvSpPr>
          <p:cNvPr id="131" name="Text 2">
            <a:extLst>
              <a:ext uri="{FF2B5EF4-FFF2-40B4-BE49-F238E27FC236}">
                <a16:creationId xmlns:a16="http://schemas.microsoft.com/office/drawing/2014/main" id="{0565A400-B799-DECA-4885-3B59AFD1947B}"/>
              </a:ext>
            </a:extLst>
          </p:cNvPr>
          <p:cNvSpPr/>
          <p:nvPr/>
        </p:nvSpPr>
        <p:spPr>
          <a:xfrm>
            <a:off x="594345" y="31814915"/>
            <a:ext cx="2164333" cy="1612478"/>
          </a:xfrm>
          <a:prstGeom prst="rect">
            <a:avLst/>
          </a:prstGeom>
          <a:noFill/>
          <a:ln/>
        </p:spPr>
        <p:txBody>
          <a:bodyPr wrap="square" lIns="0" tIns="0" rIns="0" bIns="0" rtlCol="0" anchor="t"/>
          <a:lstStyle/>
          <a:p>
            <a:pPr marL="0" indent="0" algn="l">
              <a:lnSpc>
                <a:spcPct val="133000"/>
              </a:lnSpc>
              <a:spcAft>
                <a:spcPts val="850"/>
              </a:spcAft>
              <a:buNone/>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950" dirty="0">
              <a:latin typeface="Leelawadee UI" panose="020B0502040204020203" pitchFamily="34" charset="-34"/>
              <a:cs typeface="Leelawadee UI" panose="020B0502040204020203" pitchFamily="34" charset="-34"/>
            </a:endParaRPr>
          </a:p>
        </p:txBody>
      </p:sp>
      <p:sp>
        <p:nvSpPr>
          <p:cNvPr id="132" name="Text 3">
            <a:extLst>
              <a:ext uri="{FF2B5EF4-FFF2-40B4-BE49-F238E27FC236}">
                <a16:creationId xmlns:a16="http://schemas.microsoft.com/office/drawing/2014/main" id="{07B8E0C1-F9B4-4B9D-44AD-685CE666F314}"/>
              </a:ext>
            </a:extLst>
          </p:cNvPr>
          <p:cNvSpPr/>
          <p:nvPr/>
        </p:nvSpPr>
        <p:spPr>
          <a:xfrm>
            <a:off x="3100685" y="31303243"/>
            <a:ext cx="1845469"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133" name="Text 4">
            <a:extLst>
              <a:ext uri="{FF2B5EF4-FFF2-40B4-BE49-F238E27FC236}">
                <a16:creationId xmlns:a16="http://schemas.microsoft.com/office/drawing/2014/main" id="{2DD7165E-0110-7E9B-0112-45701C560915}"/>
              </a:ext>
            </a:extLst>
          </p:cNvPr>
          <p:cNvSpPr/>
          <p:nvPr/>
        </p:nvSpPr>
        <p:spPr>
          <a:xfrm>
            <a:off x="3100685" y="31621066"/>
            <a:ext cx="1388269" cy="136430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Perspektif Budaya</a:t>
            </a:r>
            <a:endParaRPr lang="en-US" sz="950" dirty="0">
              <a:latin typeface="Leelawadee UI" panose="020B0502040204020203" pitchFamily="34" charset="-34"/>
              <a:cs typeface="Leelawadee UI" panose="020B0502040204020203" pitchFamily="34" charset="-34"/>
            </a:endParaRPr>
          </a:p>
        </p:txBody>
      </p:sp>
      <p:sp>
        <p:nvSpPr>
          <p:cNvPr id="134" name="Text 5">
            <a:extLst>
              <a:ext uri="{FF2B5EF4-FFF2-40B4-BE49-F238E27FC236}">
                <a16:creationId xmlns:a16="http://schemas.microsoft.com/office/drawing/2014/main" id="{9CFDDCCF-CC1E-6D25-AB7C-C31AB3CC3695}"/>
              </a:ext>
            </a:extLst>
          </p:cNvPr>
          <p:cNvSpPr/>
          <p:nvPr/>
        </p:nvSpPr>
        <p:spPr>
          <a:xfrm>
            <a:off x="4796283" y="31303243"/>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200" dirty="0">
              <a:latin typeface="Leelawadee UI" panose="020B0502040204020203" pitchFamily="34" charset="-34"/>
              <a:cs typeface="Leelawadee UI" panose="020B0502040204020203" pitchFamily="34" charset="-34"/>
            </a:endParaRPr>
          </a:p>
        </p:txBody>
      </p:sp>
      <p:sp>
        <p:nvSpPr>
          <p:cNvPr id="135" name="Text 6">
            <a:extLst>
              <a:ext uri="{FF2B5EF4-FFF2-40B4-BE49-F238E27FC236}">
                <a16:creationId xmlns:a16="http://schemas.microsoft.com/office/drawing/2014/main" id="{25ED1FB4-8B17-A1B2-E066-415A625F1E94}"/>
              </a:ext>
            </a:extLst>
          </p:cNvPr>
          <p:cNvSpPr/>
          <p:nvPr/>
        </p:nvSpPr>
        <p:spPr>
          <a:xfrm>
            <a:off x="4796283" y="31621066"/>
            <a:ext cx="1811015" cy="1031379"/>
          </a:xfrm>
          <a:prstGeom prst="rect">
            <a:avLst/>
          </a:prstGeom>
          <a:noFill/>
          <a:ln/>
        </p:spPr>
        <p:txBody>
          <a:bodyPr wrap="square" lIns="0" tIns="0" rIns="0" bIns="0" rtlCol="0" anchor="t"/>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(Nomor telepon akan diperbarui)</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rId5">
                  <a:extLst>
                    <a:ext uri="{A12FA001-AC4F-418D-AE19-62706E023703}">
                      <ahyp:hlinkClr xmlns:ahyp="http://schemas.microsoft.com/office/drawing/2018/hyperlinkcolor" val="tx"/>
                    </a:ext>
                  </a:extLst>
                </a:hlinkClick>
              </a:rPr>
              <a:t>naturalkapital.or.id</a:t>
            </a:r>
            <a:endParaRPr lang="en-US" sz="950" dirty="0">
              <a:latin typeface="Leelawadee UI" panose="020B0502040204020203" pitchFamily="34" charset="-34"/>
              <a:cs typeface="Leelawadee UI" panose="020B0502040204020203" pitchFamily="34" charset="-34"/>
            </a:endParaRPr>
          </a:p>
        </p:txBody>
      </p:sp>
      <p:sp>
        <p:nvSpPr>
          <p:cNvPr id="136" name="Text 7">
            <a:extLst>
              <a:ext uri="{FF2B5EF4-FFF2-40B4-BE49-F238E27FC236}">
                <a16:creationId xmlns:a16="http://schemas.microsoft.com/office/drawing/2014/main" id="{5A40DBE7-58C7-FD6A-A5DA-18AE38190D54}"/>
              </a:ext>
            </a:extLst>
          </p:cNvPr>
          <p:cNvSpPr/>
          <p:nvPr/>
        </p:nvSpPr>
        <p:spPr>
          <a:xfrm>
            <a:off x="6629755" y="31316891"/>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Media Sosial</a:t>
            </a:r>
            <a:endParaRPr lang="en-US" sz="1200" dirty="0">
              <a:latin typeface="Leelawadee UI" panose="020B0502040204020203" pitchFamily="34" charset="-34"/>
              <a:cs typeface="Leelawadee UI" panose="020B0502040204020203" pitchFamily="34" charset="-34"/>
            </a:endParaRPr>
          </a:p>
        </p:txBody>
      </p:sp>
      <p:sp>
        <p:nvSpPr>
          <p:cNvPr id="137" name="Text 8">
            <a:extLst>
              <a:ext uri="{FF2B5EF4-FFF2-40B4-BE49-F238E27FC236}">
                <a16:creationId xmlns:a16="http://schemas.microsoft.com/office/drawing/2014/main" id="{20027067-DC20-1265-9661-F1368EF4E80B}"/>
              </a:ext>
            </a:extLst>
          </p:cNvPr>
          <p:cNvSpPr/>
          <p:nvPr/>
        </p:nvSpPr>
        <p:spPr>
          <a:xfrm>
            <a:off x="6409410" y="31552827"/>
            <a:ext cx="2079497" cy="1079078"/>
          </a:xfrm>
          <a:prstGeom prst="rect">
            <a:avLst/>
          </a:prstGeom>
          <a:noFill/>
          <a:ln/>
        </p:spPr>
        <p:txBody>
          <a:bodyPr wrap="square" lIns="0" tIns="0" rIns="0" bIns="0" rtlCol="0" anchor="t">
            <a:normAutofit/>
          </a:bodyPr>
          <a:lstStyle/>
          <a:p>
            <a:pPr marL="355600" indent="-1778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LinkedIn: Yayasan Natural Kapital Indonesia</a:t>
            </a:r>
            <a:endParaRPr lang="en-US" sz="950" dirty="0">
              <a:latin typeface="Leelawadee UI" panose="020B0502040204020203" pitchFamily="34" charset="-34"/>
              <a:cs typeface="Leelawadee UI" panose="020B0502040204020203" pitchFamily="34" charset="-34"/>
            </a:endParaRPr>
          </a:p>
          <a:p>
            <a:pPr marL="355600" indent="-1778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YouTube: Natural Kapital Indonesia</a:t>
            </a:r>
            <a:endParaRPr lang="en-US" sz="950" dirty="0">
              <a:latin typeface="Leelawadee UI" panose="020B0502040204020203" pitchFamily="34" charset="-34"/>
              <a:cs typeface="Leelawadee UI" panose="020B0502040204020203" pitchFamily="34" charset="-34"/>
            </a:endParaRPr>
          </a:p>
          <a:p>
            <a:pPr marL="355600" indent="-1778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Instagram: @naturalkapital</a:t>
            </a:r>
            <a:endParaRPr lang="en-US" sz="950" dirty="0">
              <a:latin typeface="Leelawadee UI" panose="020B0502040204020203" pitchFamily="34" charset="-34"/>
              <a:cs typeface="Leelawadee UI" panose="020B0502040204020203" pitchFamily="34" charset="-34"/>
            </a:endParaRPr>
          </a:p>
        </p:txBody>
      </p:sp>
      <p:sp>
        <p:nvSpPr>
          <p:cNvPr id="138" name="Text 9">
            <a:extLst>
              <a:ext uri="{FF2B5EF4-FFF2-40B4-BE49-F238E27FC236}">
                <a16:creationId xmlns:a16="http://schemas.microsoft.com/office/drawing/2014/main" id="{876313AE-9F77-88F8-924D-97A992AB7076}"/>
              </a:ext>
            </a:extLst>
          </p:cNvPr>
          <p:cNvSpPr/>
          <p:nvPr/>
        </p:nvSpPr>
        <p:spPr>
          <a:xfrm>
            <a:off x="6629755" y="32825413"/>
            <a:ext cx="1811015" cy="6001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 · </a:t>
            </a: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rId37">
                  <a:extLst>
                    <a:ext uri="{A12FA001-AC4F-418D-AE19-62706E023703}">
                      <ahyp:hlinkClr xmlns:ahyp="http://schemas.microsoft.com/office/drawing/2018/hyperlinkcolor" val="tx"/>
                    </a:ext>
                  </a:extLst>
                </a:hlinkClick>
              </a:rPr>
              <a:t>Kebijakan Privasi</a:t>
            </a:r>
            <a:endParaRPr lang="en-US" sz="9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18698284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TotalTime>
  <Words>700</Words>
  <Application>Microsoft Office PowerPoint</Application>
  <PresentationFormat>Custom</PresentationFormat>
  <Paragraphs>87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2026-06-22T15:11:54Z</dcterms:created>
  <dcterms:modified xsi:type="dcterms:W3CDTF">2026-06-22T15:27:34Z</dcterms:modified>
</cp:coreProperties>
</file>