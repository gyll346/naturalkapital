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Lst>
  <p:sldSz cx="8999538" cy="359997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4660"/>
  </p:normalViewPr>
  <p:slideViewPr>
    <p:cSldViewPr snapToGrid="0">
      <p:cViewPr>
        <p:scale>
          <a:sx n="70" d="100"/>
          <a:sy n="70" d="100"/>
        </p:scale>
        <p:origin x="277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74966" y="5891626"/>
            <a:ext cx="7649607" cy="12533242"/>
          </a:xfrm>
        </p:spPr>
        <p:txBody>
          <a:bodyPr anchor="b"/>
          <a:lstStyle>
            <a:lvl1pPr algn="ctr">
              <a:defRPr sz="5905"/>
            </a:lvl1pPr>
          </a:lstStyle>
          <a:p>
            <a:r>
              <a:rPr lang="en-US"/>
              <a:t>Click to edit Master title style</a:t>
            </a:r>
            <a:endParaRPr lang="en-US" dirty="0"/>
          </a:p>
        </p:txBody>
      </p:sp>
      <p:sp>
        <p:nvSpPr>
          <p:cNvPr id="3" name="Subtitle 2"/>
          <p:cNvSpPr>
            <a:spLocks noGrp="1"/>
          </p:cNvSpPr>
          <p:nvPr>
            <p:ph type="subTitle" idx="1"/>
          </p:nvPr>
        </p:nvSpPr>
        <p:spPr>
          <a:xfrm>
            <a:off x="1124942" y="18908198"/>
            <a:ext cx="6749654" cy="8691601"/>
          </a:xfrm>
        </p:spPr>
        <p:txBody>
          <a:bodyPr/>
          <a:lstStyle>
            <a:lvl1pPr marL="0" indent="0" algn="ctr">
              <a:buNone/>
              <a:defRPr sz="2362"/>
            </a:lvl1pPr>
            <a:lvl2pPr marL="449976" indent="0" algn="ctr">
              <a:buNone/>
              <a:defRPr sz="1968"/>
            </a:lvl2pPr>
            <a:lvl3pPr marL="899952" indent="0" algn="ctr">
              <a:buNone/>
              <a:defRPr sz="1772"/>
            </a:lvl3pPr>
            <a:lvl4pPr marL="1349929" indent="0" algn="ctr">
              <a:buNone/>
              <a:defRPr sz="1575"/>
            </a:lvl4pPr>
            <a:lvl5pPr marL="1799905" indent="0" algn="ctr">
              <a:buNone/>
              <a:defRPr sz="1575"/>
            </a:lvl5pPr>
            <a:lvl6pPr marL="2249881" indent="0" algn="ctr">
              <a:buNone/>
              <a:defRPr sz="1575"/>
            </a:lvl6pPr>
            <a:lvl7pPr marL="2699857" indent="0" algn="ctr">
              <a:buNone/>
              <a:defRPr sz="1575"/>
            </a:lvl7pPr>
            <a:lvl8pPr marL="3149834" indent="0" algn="ctr">
              <a:buNone/>
              <a:defRPr sz="1575"/>
            </a:lvl8pPr>
            <a:lvl9pPr marL="3599810" indent="0" algn="ctr">
              <a:buNone/>
              <a:defRPr sz="1575"/>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1265DC2-309F-49FC-A9FE-C8375F23AF49}"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79A083ED-FA95-476F-9FE2-78C18B526B43}" type="slidenum">
              <a:rPr lang="en-ID" smtClean="0"/>
              <a:t>‹#›</a:t>
            </a:fld>
            <a:endParaRPr lang="en-ID"/>
          </a:p>
        </p:txBody>
      </p:sp>
    </p:spTree>
    <p:extLst>
      <p:ext uri="{BB962C8B-B14F-4D97-AF65-F5344CB8AC3E}">
        <p14:creationId xmlns:p14="http://schemas.microsoft.com/office/powerpoint/2010/main" val="1384390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265DC2-309F-49FC-A9FE-C8375F23AF49}"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79A083ED-FA95-476F-9FE2-78C18B526B43}" type="slidenum">
              <a:rPr lang="en-ID" smtClean="0"/>
              <a:t>‹#›</a:t>
            </a:fld>
            <a:endParaRPr lang="en-ID"/>
          </a:p>
        </p:txBody>
      </p:sp>
    </p:spTree>
    <p:extLst>
      <p:ext uri="{BB962C8B-B14F-4D97-AF65-F5344CB8AC3E}">
        <p14:creationId xmlns:p14="http://schemas.microsoft.com/office/powerpoint/2010/main" val="3513337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14031" y="8974945"/>
            <a:ext cx="7762102" cy="14974888"/>
          </a:xfrm>
        </p:spPr>
        <p:txBody>
          <a:bodyPr anchor="b"/>
          <a:lstStyle>
            <a:lvl1pPr>
              <a:defRPr sz="5905"/>
            </a:lvl1pPr>
          </a:lstStyle>
          <a:p>
            <a:r>
              <a:rPr lang="en-US"/>
              <a:t>Click to edit Master title style</a:t>
            </a:r>
            <a:endParaRPr lang="en-US" dirty="0"/>
          </a:p>
        </p:txBody>
      </p:sp>
      <p:sp>
        <p:nvSpPr>
          <p:cNvPr id="3" name="Text Placeholder 2"/>
          <p:cNvSpPr>
            <a:spLocks noGrp="1"/>
          </p:cNvSpPr>
          <p:nvPr>
            <p:ph type="body" idx="1"/>
          </p:nvPr>
        </p:nvSpPr>
        <p:spPr>
          <a:xfrm>
            <a:off x="614031" y="24091502"/>
            <a:ext cx="7762102" cy="7874940"/>
          </a:xfrm>
        </p:spPr>
        <p:txBody>
          <a:bodyPr/>
          <a:lstStyle>
            <a:lvl1pPr marL="0" indent="0">
              <a:buNone/>
              <a:defRPr sz="2362">
                <a:solidFill>
                  <a:schemeClr val="tx1"/>
                </a:solidFill>
              </a:defRPr>
            </a:lvl1pPr>
            <a:lvl2pPr marL="449976" indent="0">
              <a:buNone/>
              <a:defRPr sz="1968">
                <a:solidFill>
                  <a:schemeClr val="tx1">
                    <a:tint val="75000"/>
                  </a:schemeClr>
                </a:solidFill>
              </a:defRPr>
            </a:lvl2pPr>
            <a:lvl3pPr marL="899952" indent="0">
              <a:buNone/>
              <a:defRPr sz="1772">
                <a:solidFill>
                  <a:schemeClr val="tx1">
                    <a:tint val="75000"/>
                  </a:schemeClr>
                </a:solidFill>
              </a:defRPr>
            </a:lvl3pPr>
            <a:lvl4pPr marL="1349929" indent="0">
              <a:buNone/>
              <a:defRPr sz="1575">
                <a:solidFill>
                  <a:schemeClr val="tx1">
                    <a:tint val="75000"/>
                  </a:schemeClr>
                </a:solidFill>
              </a:defRPr>
            </a:lvl4pPr>
            <a:lvl5pPr marL="1799905" indent="0">
              <a:buNone/>
              <a:defRPr sz="1575">
                <a:solidFill>
                  <a:schemeClr val="tx1">
                    <a:tint val="75000"/>
                  </a:schemeClr>
                </a:solidFill>
              </a:defRPr>
            </a:lvl5pPr>
            <a:lvl6pPr marL="2249881" indent="0">
              <a:buNone/>
              <a:defRPr sz="1575">
                <a:solidFill>
                  <a:schemeClr val="tx1">
                    <a:tint val="75000"/>
                  </a:schemeClr>
                </a:solidFill>
              </a:defRPr>
            </a:lvl6pPr>
            <a:lvl7pPr marL="2699857" indent="0">
              <a:buNone/>
              <a:defRPr sz="1575">
                <a:solidFill>
                  <a:schemeClr val="tx1">
                    <a:tint val="75000"/>
                  </a:schemeClr>
                </a:solidFill>
              </a:defRPr>
            </a:lvl7pPr>
            <a:lvl8pPr marL="3149834" indent="0">
              <a:buNone/>
              <a:defRPr sz="1575">
                <a:solidFill>
                  <a:schemeClr val="tx1">
                    <a:tint val="75000"/>
                  </a:schemeClr>
                </a:solidFill>
              </a:defRPr>
            </a:lvl8pPr>
            <a:lvl9pPr marL="3599810" indent="0">
              <a:buNone/>
              <a:defRPr sz="157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1265DC2-309F-49FC-A9FE-C8375F23AF49}"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79A083ED-FA95-476F-9FE2-78C18B526B43}" type="slidenum">
              <a:rPr lang="en-ID" smtClean="0"/>
              <a:t>‹#›</a:t>
            </a:fld>
            <a:endParaRPr lang="en-ID"/>
          </a:p>
        </p:txBody>
      </p:sp>
    </p:spTree>
    <p:extLst>
      <p:ext uri="{BB962C8B-B14F-4D97-AF65-F5344CB8AC3E}">
        <p14:creationId xmlns:p14="http://schemas.microsoft.com/office/powerpoint/2010/main" val="330668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18718" y="9583264"/>
            <a:ext cx="3824804" cy="228415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56016" y="9583264"/>
            <a:ext cx="3824804" cy="228415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1265DC2-309F-49FC-A9FE-C8375F23AF49}" type="datetimeFigureOut">
              <a:rPr lang="en-ID" smtClean="0"/>
              <a:t>22/06/2026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79A083ED-FA95-476F-9FE2-78C18B526B43}" type="slidenum">
              <a:rPr lang="en-ID" smtClean="0"/>
              <a:t>‹#›</a:t>
            </a:fld>
            <a:endParaRPr lang="en-ID"/>
          </a:p>
        </p:txBody>
      </p:sp>
    </p:spTree>
    <p:extLst>
      <p:ext uri="{BB962C8B-B14F-4D97-AF65-F5344CB8AC3E}">
        <p14:creationId xmlns:p14="http://schemas.microsoft.com/office/powerpoint/2010/main" val="6089625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9890" y="1916661"/>
            <a:ext cx="7762102" cy="6958285"/>
          </a:xfrm>
        </p:spPr>
        <p:txBody>
          <a:bodyPr/>
          <a:lstStyle/>
          <a:p>
            <a:r>
              <a:rPr lang="en-US"/>
              <a:t>Click to edit Master title style</a:t>
            </a:r>
            <a:endParaRPr lang="en-US" dirty="0"/>
          </a:p>
        </p:txBody>
      </p:sp>
      <p:sp>
        <p:nvSpPr>
          <p:cNvPr id="3" name="Text Placeholder 2"/>
          <p:cNvSpPr>
            <a:spLocks noGrp="1"/>
          </p:cNvSpPr>
          <p:nvPr>
            <p:ph type="body" idx="1"/>
          </p:nvPr>
        </p:nvSpPr>
        <p:spPr>
          <a:xfrm>
            <a:off x="619891" y="8824938"/>
            <a:ext cx="3807226" cy="4324966"/>
          </a:xfrm>
        </p:spPr>
        <p:txBody>
          <a:bodyPr anchor="b"/>
          <a:lstStyle>
            <a:lvl1pPr marL="0" indent="0">
              <a:buNone/>
              <a:defRPr sz="2362" b="1"/>
            </a:lvl1pPr>
            <a:lvl2pPr marL="449976" indent="0">
              <a:buNone/>
              <a:defRPr sz="1968" b="1"/>
            </a:lvl2pPr>
            <a:lvl3pPr marL="899952" indent="0">
              <a:buNone/>
              <a:defRPr sz="1772" b="1"/>
            </a:lvl3pPr>
            <a:lvl4pPr marL="1349929" indent="0">
              <a:buNone/>
              <a:defRPr sz="1575" b="1"/>
            </a:lvl4pPr>
            <a:lvl5pPr marL="1799905" indent="0">
              <a:buNone/>
              <a:defRPr sz="1575" b="1"/>
            </a:lvl5pPr>
            <a:lvl6pPr marL="2249881" indent="0">
              <a:buNone/>
              <a:defRPr sz="1575" b="1"/>
            </a:lvl6pPr>
            <a:lvl7pPr marL="2699857" indent="0">
              <a:buNone/>
              <a:defRPr sz="1575" b="1"/>
            </a:lvl7pPr>
            <a:lvl8pPr marL="3149834" indent="0">
              <a:buNone/>
              <a:defRPr sz="1575" b="1"/>
            </a:lvl8pPr>
            <a:lvl9pPr marL="3599810" indent="0">
              <a:buNone/>
              <a:defRPr sz="1575" b="1"/>
            </a:lvl9pPr>
          </a:lstStyle>
          <a:p>
            <a:pPr lvl="0"/>
            <a:r>
              <a:rPr lang="en-US"/>
              <a:t>Click to edit Master text styles</a:t>
            </a:r>
          </a:p>
        </p:txBody>
      </p:sp>
      <p:sp>
        <p:nvSpPr>
          <p:cNvPr id="4" name="Content Placeholder 3"/>
          <p:cNvSpPr>
            <a:spLocks noGrp="1"/>
          </p:cNvSpPr>
          <p:nvPr>
            <p:ph sz="half" idx="2"/>
          </p:nvPr>
        </p:nvSpPr>
        <p:spPr>
          <a:xfrm>
            <a:off x="619891" y="13149904"/>
            <a:ext cx="3807226" cy="193415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56017" y="8824938"/>
            <a:ext cx="3825976" cy="4324966"/>
          </a:xfrm>
        </p:spPr>
        <p:txBody>
          <a:bodyPr anchor="b"/>
          <a:lstStyle>
            <a:lvl1pPr marL="0" indent="0">
              <a:buNone/>
              <a:defRPr sz="2362" b="1"/>
            </a:lvl1pPr>
            <a:lvl2pPr marL="449976" indent="0">
              <a:buNone/>
              <a:defRPr sz="1968" b="1"/>
            </a:lvl2pPr>
            <a:lvl3pPr marL="899952" indent="0">
              <a:buNone/>
              <a:defRPr sz="1772" b="1"/>
            </a:lvl3pPr>
            <a:lvl4pPr marL="1349929" indent="0">
              <a:buNone/>
              <a:defRPr sz="1575" b="1"/>
            </a:lvl4pPr>
            <a:lvl5pPr marL="1799905" indent="0">
              <a:buNone/>
              <a:defRPr sz="1575" b="1"/>
            </a:lvl5pPr>
            <a:lvl6pPr marL="2249881" indent="0">
              <a:buNone/>
              <a:defRPr sz="1575" b="1"/>
            </a:lvl6pPr>
            <a:lvl7pPr marL="2699857" indent="0">
              <a:buNone/>
              <a:defRPr sz="1575" b="1"/>
            </a:lvl7pPr>
            <a:lvl8pPr marL="3149834" indent="0">
              <a:buNone/>
              <a:defRPr sz="1575" b="1"/>
            </a:lvl8pPr>
            <a:lvl9pPr marL="3599810" indent="0">
              <a:buNone/>
              <a:defRPr sz="1575" b="1"/>
            </a:lvl9pPr>
          </a:lstStyle>
          <a:p>
            <a:pPr lvl="0"/>
            <a:r>
              <a:rPr lang="en-US"/>
              <a:t>Click to edit Master text styles</a:t>
            </a:r>
          </a:p>
        </p:txBody>
      </p:sp>
      <p:sp>
        <p:nvSpPr>
          <p:cNvPr id="6" name="Content Placeholder 5"/>
          <p:cNvSpPr>
            <a:spLocks noGrp="1"/>
          </p:cNvSpPr>
          <p:nvPr>
            <p:ph sz="quarter" idx="4"/>
          </p:nvPr>
        </p:nvSpPr>
        <p:spPr>
          <a:xfrm>
            <a:off x="4556017" y="13149904"/>
            <a:ext cx="3825976" cy="193415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1265DC2-309F-49FC-A9FE-C8375F23AF49}" type="datetimeFigureOut">
              <a:rPr lang="en-ID" smtClean="0"/>
              <a:t>22/06/2026</a:t>
            </a:fld>
            <a:endParaRPr lang="en-ID"/>
          </a:p>
        </p:txBody>
      </p:sp>
      <p:sp>
        <p:nvSpPr>
          <p:cNvPr id="8" name="Footer Placeholder 7"/>
          <p:cNvSpPr>
            <a:spLocks noGrp="1"/>
          </p:cNvSpPr>
          <p:nvPr>
            <p:ph type="ftr" sz="quarter" idx="11"/>
          </p:nvPr>
        </p:nvSpPr>
        <p:spPr/>
        <p:txBody>
          <a:bodyPr/>
          <a:lstStyle/>
          <a:p>
            <a:endParaRPr lang="en-ID"/>
          </a:p>
        </p:txBody>
      </p:sp>
      <p:sp>
        <p:nvSpPr>
          <p:cNvPr id="9" name="Slide Number Placeholder 8"/>
          <p:cNvSpPr>
            <a:spLocks noGrp="1"/>
          </p:cNvSpPr>
          <p:nvPr>
            <p:ph type="sldNum" sz="quarter" idx="12"/>
          </p:nvPr>
        </p:nvSpPr>
        <p:spPr/>
        <p:txBody>
          <a:bodyPr/>
          <a:lstStyle/>
          <a:p>
            <a:fld id="{79A083ED-FA95-476F-9FE2-78C18B526B43}" type="slidenum">
              <a:rPr lang="en-ID" smtClean="0"/>
              <a:t>‹#›</a:t>
            </a:fld>
            <a:endParaRPr lang="en-ID"/>
          </a:p>
        </p:txBody>
      </p:sp>
    </p:spTree>
    <p:extLst>
      <p:ext uri="{BB962C8B-B14F-4D97-AF65-F5344CB8AC3E}">
        <p14:creationId xmlns:p14="http://schemas.microsoft.com/office/powerpoint/2010/main" val="30418427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1265DC2-309F-49FC-A9FE-C8375F23AF49}" type="datetimeFigureOut">
              <a:rPr lang="en-ID" smtClean="0"/>
              <a:t>22/06/2026</a:t>
            </a:fld>
            <a:endParaRPr lang="en-ID"/>
          </a:p>
        </p:txBody>
      </p:sp>
      <p:sp>
        <p:nvSpPr>
          <p:cNvPr id="4" name="Footer Placeholder 3"/>
          <p:cNvSpPr>
            <a:spLocks noGrp="1"/>
          </p:cNvSpPr>
          <p:nvPr>
            <p:ph type="ftr" sz="quarter" idx="11"/>
          </p:nvPr>
        </p:nvSpPr>
        <p:spPr/>
        <p:txBody>
          <a:bodyPr/>
          <a:lstStyle/>
          <a:p>
            <a:endParaRPr lang="en-ID"/>
          </a:p>
        </p:txBody>
      </p:sp>
      <p:sp>
        <p:nvSpPr>
          <p:cNvPr id="5" name="Slide Number Placeholder 4"/>
          <p:cNvSpPr>
            <a:spLocks noGrp="1"/>
          </p:cNvSpPr>
          <p:nvPr>
            <p:ph type="sldNum" sz="quarter" idx="12"/>
          </p:nvPr>
        </p:nvSpPr>
        <p:spPr/>
        <p:txBody>
          <a:bodyPr/>
          <a:lstStyle/>
          <a:p>
            <a:fld id="{79A083ED-FA95-476F-9FE2-78C18B526B43}" type="slidenum">
              <a:rPr lang="en-ID" smtClean="0"/>
              <a:t>‹#›</a:t>
            </a:fld>
            <a:endParaRPr lang="en-ID"/>
          </a:p>
        </p:txBody>
      </p:sp>
    </p:spTree>
    <p:extLst>
      <p:ext uri="{BB962C8B-B14F-4D97-AF65-F5344CB8AC3E}">
        <p14:creationId xmlns:p14="http://schemas.microsoft.com/office/powerpoint/2010/main" val="308265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265DC2-309F-49FC-A9FE-C8375F23AF49}" type="datetimeFigureOut">
              <a:rPr lang="en-ID" smtClean="0"/>
              <a:t>22/06/2026</a:t>
            </a:fld>
            <a:endParaRPr lang="en-ID"/>
          </a:p>
        </p:txBody>
      </p:sp>
      <p:sp>
        <p:nvSpPr>
          <p:cNvPr id="3" name="Footer Placeholder 2"/>
          <p:cNvSpPr>
            <a:spLocks noGrp="1"/>
          </p:cNvSpPr>
          <p:nvPr>
            <p:ph type="ftr" sz="quarter" idx="11"/>
          </p:nvPr>
        </p:nvSpPr>
        <p:spPr/>
        <p:txBody>
          <a:bodyPr/>
          <a:lstStyle/>
          <a:p>
            <a:endParaRPr lang="en-ID"/>
          </a:p>
        </p:txBody>
      </p:sp>
      <p:sp>
        <p:nvSpPr>
          <p:cNvPr id="4" name="Slide Number Placeholder 3"/>
          <p:cNvSpPr>
            <a:spLocks noGrp="1"/>
          </p:cNvSpPr>
          <p:nvPr>
            <p:ph type="sldNum" sz="quarter" idx="12"/>
          </p:nvPr>
        </p:nvSpPr>
        <p:spPr/>
        <p:txBody>
          <a:bodyPr/>
          <a:lstStyle/>
          <a:p>
            <a:fld id="{79A083ED-FA95-476F-9FE2-78C18B526B43}" type="slidenum">
              <a:rPr lang="en-ID" smtClean="0"/>
              <a:t>‹#›</a:t>
            </a:fld>
            <a:endParaRPr lang="en-ID"/>
          </a:p>
        </p:txBody>
      </p:sp>
    </p:spTree>
    <p:extLst>
      <p:ext uri="{BB962C8B-B14F-4D97-AF65-F5344CB8AC3E}">
        <p14:creationId xmlns:p14="http://schemas.microsoft.com/office/powerpoint/2010/main" val="25761642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9891" y="2399982"/>
            <a:ext cx="2902585" cy="8399939"/>
          </a:xfrm>
        </p:spPr>
        <p:txBody>
          <a:bodyPr anchor="b"/>
          <a:lstStyle>
            <a:lvl1pPr>
              <a:defRPr sz="3149"/>
            </a:lvl1pPr>
          </a:lstStyle>
          <a:p>
            <a:r>
              <a:rPr lang="en-US"/>
              <a:t>Click to edit Master title style</a:t>
            </a:r>
            <a:endParaRPr lang="en-US" dirty="0"/>
          </a:p>
        </p:txBody>
      </p:sp>
      <p:sp>
        <p:nvSpPr>
          <p:cNvPr id="3" name="Content Placeholder 2"/>
          <p:cNvSpPr>
            <a:spLocks noGrp="1"/>
          </p:cNvSpPr>
          <p:nvPr>
            <p:ph idx="1"/>
          </p:nvPr>
        </p:nvSpPr>
        <p:spPr>
          <a:xfrm>
            <a:off x="3825976" y="5183304"/>
            <a:ext cx="4556016" cy="25583147"/>
          </a:xfrm>
        </p:spPr>
        <p:txBody>
          <a:bodyPr/>
          <a:lstStyle>
            <a:lvl1pPr>
              <a:defRPr sz="3149"/>
            </a:lvl1pPr>
            <a:lvl2pPr>
              <a:defRPr sz="2756"/>
            </a:lvl2pPr>
            <a:lvl3pPr>
              <a:defRPr sz="2362"/>
            </a:lvl3pPr>
            <a:lvl4pPr>
              <a:defRPr sz="1968"/>
            </a:lvl4pPr>
            <a:lvl5pPr>
              <a:defRPr sz="1968"/>
            </a:lvl5pPr>
            <a:lvl6pPr>
              <a:defRPr sz="1968"/>
            </a:lvl6pPr>
            <a:lvl7pPr>
              <a:defRPr sz="1968"/>
            </a:lvl7pPr>
            <a:lvl8pPr>
              <a:defRPr sz="1968"/>
            </a:lvl8pPr>
            <a:lvl9pPr>
              <a:defRPr sz="196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19891" y="10799922"/>
            <a:ext cx="2902585" cy="20008190"/>
          </a:xfrm>
        </p:spPr>
        <p:txBody>
          <a:bodyPr/>
          <a:lstStyle>
            <a:lvl1pPr marL="0" indent="0">
              <a:buNone/>
              <a:defRPr sz="1575"/>
            </a:lvl1pPr>
            <a:lvl2pPr marL="449976" indent="0">
              <a:buNone/>
              <a:defRPr sz="1378"/>
            </a:lvl2pPr>
            <a:lvl3pPr marL="899952" indent="0">
              <a:buNone/>
              <a:defRPr sz="1181"/>
            </a:lvl3pPr>
            <a:lvl4pPr marL="1349929" indent="0">
              <a:buNone/>
              <a:defRPr sz="984"/>
            </a:lvl4pPr>
            <a:lvl5pPr marL="1799905" indent="0">
              <a:buNone/>
              <a:defRPr sz="984"/>
            </a:lvl5pPr>
            <a:lvl6pPr marL="2249881" indent="0">
              <a:buNone/>
              <a:defRPr sz="984"/>
            </a:lvl6pPr>
            <a:lvl7pPr marL="2699857" indent="0">
              <a:buNone/>
              <a:defRPr sz="984"/>
            </a:lvl7pPr>
            <a:lvl8pPr marL="3149834" indent="0">
              <a:buNone/>
              <a:defRPr sz="984"/>
            </a:lvl8pPr>
            <a:lvl9pPr marL="3599810" indent="0">
              <a:buNone/>
              <a:defRPr sz="984"/>
            </a:lvl9pPr>
          </a:lstStyle>
          <a:p>
            <a:pPr lvl="0"/>
            <a:r>
              <a:rPr lang="en-US"/>
              <a:t>Click to edit Master text styles</a:t>
            </a:r>
          </a:p>
        </p:txBody>
      </p:sp>
      <p:sp>
        <p:nvSpPr>
          <p:cNvPr id="5" name="Date Placeholder 4"/>
          <p:cNvSpPr>
            <a:spLocks noGrp="1"/>
          </p:cNvSpPr>
          <p:nvPr>
            <p:ph type="dt" sz="half" idx="10"/>
          </p:nvPr>
        </p:nvSpPr>
        <p:spPr/>
        <p:txBody>
          <a:bodyPr/>
          <a:lstStyle/>
          <a:p>
            <a:fld id="{91265DC2-309F-49FC-A9FE-C8375F23AF49}" type="datetimeFigureOut">
              <a:rPr lang="en-ID" smtClean="0"/>
              <a:t>22/06/2026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79A083ED-FA95-476F-9FE2-78C18B526B43}" type="slidenum">
              <a:rPr lang="en-ID" smtClean="0"/>
              <a:t>‹#›</a:t>
            </a:fld>
            <a:endParaRPr lang="en-ID"/>
          </a:p>
        </p:txBody>
      </p:sp>
    </p:spTree>
    <p:extLst>
      <p:ext uri="{BB962C8B-B14F-4D97-AF65-F5344CB8AC3E}">
        <p14:creationId xmlns:p14="http://schemas.microsoft.com/office/powerpoint/2010/main" val="1489072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9891" y="2399982"/>
            <a:ext cx="2902585" cy="8399939"/>
          </a:xfrm>
        </p:spPr>
        <p:txBody>
          <a:bodyPr anchor="b"/>
          <a:lstStyle>
            <a:lvl1pPr>
              <a:defRPr sz="3149"/>
            </a:lvl1pPr>
          </a:lstStyle>
          <a:p>
            <a:r>
              <a:rPr lang="en-US"/>
              <a:t>Click to edit Master title style</a:t>
            </a:r>
            <a:endParaRPr lang="en-US" dirty="0"/>
          </a:p>
        </p:txBody>
      </p:sp>
      <p:sp>
        <p:nvSpPr>
          <p:cNvPr id="3" name="Picture Placeholder 2"/>
          <p:cNvSpPr>
            <a:spLocks noGrp="1" noChangeAspect="1"/>
          </p:cNvSpPr>
          <p:nvPr>
            <p:ph type="pic" idx="1"/>
          </p:nvPr>
        </p:nvSpPr>
        <p:spPr>
          <a:xfrm>
            <a:off x="3825976" y="5183304"/>
            <a:ext cx="4556016" cy="25583147"/>
          </a:xfrm>
        </p:spPr>
        <p:txBody>
          <a:bodyPr anchor="t"/>
          <a:lstStyle>
            <a:lvl1pPr marL="0" indent="0">
              <a:buNone/>
              <a:defRPr sz="3149"/>
            </a:lvl1pPr>
            <a:lvl2pPr marL="449976" indent="0">
              <a:buNone/>
              <a:defRPr sz="2756"/>
            </a:lvl2pPr>
            <a:lvl3pPr marL="899952" indent="0">
              <a:buNone/>
              <a:defRPr sz="2362"/>
            </a:lvl3pPr>
            <a:lvl4pPr marL="1349929" indent="0">
              <a:buNone/>
              <a:defRPr sz="1968"/>
            </a:lvl4pPr>
            <a:lvl5pPr marL="1799905" indent="0">
              <a:buNone/>
              <a:defRPr sz="1968"/>
            </a:lvl5pPr>
            <a:lvl6pPr marL="2249881" indent="0">
              <a:buNone/>
              <a:defRPr sz="1968"/>
            </a:lvl6pPr>
            <a:lvl7pPr marL="2699857" indent="0">
              <a:buNone/>
              <a:defRPr sz="1968"/>
            </a:lvl7pPr>
            <a:lvl8pPr marL="3149834" indent="0">
              <a:buNone/>
              <a:defRPr sz="1968"/>
            </a:lvl8pPr>
            <a:lvl9pPr marL="3599810" indent="0">
              <a:buNone/>
              <a:defRPr sz="1968"/>
            </a:lvl9pPr>
          </a:lstStyle>
          <a:p>
            <a:r>
              <a:rPr lang="en-US"/>
              <a:t>Click icon to add picture</a:t>
            </a:r>
            <a:endParaRPr lang="en-US" dirty="0"/>
          </a:p>
        </p:txBody>
      </p:sp>
      <p:sp>
        <p:nvSpPr>
          <p:cNvPr id="4" name="Text Placeholder 3"/>
          <p:cNvSpPr>
            <a:spLocks noGrp="1"/>
          </p:cNvSpPr>
          <p:nvPr>
            <p:ph type="body" sz="half" idx="2"/>
          </p:nvPr>
        </p:nvSpPr>
        <p:spPr>
          <a:xfrm>
            <a:off x="619891" y="10799922"/>
            <a:ext cx="2902585" cy="20008190"/>
          </a:xfrm>
        </p:spPr>
        <p:txBody>
          <a:bodyPr/>
          <a:lstStyle>
            <a:lvl1pPr marL="0" indent="0">
              <a:buNone/>
              <a:defRPr sz="1575"/>
            </a:lvl1pPr>
            <a:lvl2pPr marL="449976" indent="0">
              <a:buNone/>
              <a:defRPr sz="1378"/>
            </a:lvl2pPr>
            <a:lvl3pPr marL="899952" indent="0">
              <a:buNone/>
              <a:defRPr sz="1181"/>
            </a:lvl3pPr>
            <a:lvl4pPr marL="1349929" indent="0">
              <a:buNone/>
              <a:defRPr sz="984"/>
            </a:lvl4pPr>
            <a:lvl5pPr marL="1799905" indent="0">
              <a:buNone/>
              <a:defRPr sz="984"/>
            </a:lvl5pPr>
            <a:lvl6pPr marL="2249881" indent="0">
              <a:buNone/>
              <a:defRPr sz="984"/>
            </a:lvl6pPr>
            <a:lvl7pPr marL="2699857" indent="0">
              <a:buNone/>
              <a:defRPr sz="984"/>
            </a:lvl7pPr>
            <a:lvl8pPr marL="3149834" indent="0">
              <a:buNone/>
              <a:defRPr sz="984"/>
            </a:lvl8pPr>
            <a:lvl9pPr marL="3599810" indent="0">
              <a:buNone/>
              <a:defRPr sz="984"/>
            </a:lvl9pPr>
          </a:lstStyle>
          <a:p>
            <a:pPr lvl="0"/>
            <a:r>
              <a:rPr lang="en-US"/>
              <a:t>Click to edit Master text styles</a:t>
            </a:r>
          </a:p>
        </p:txBody>
      </p:sp>
      <p:sp>
        <p:nvSpPr>
          <p:cNvPr id="5" name="Date Placeholder 4"/>
          <p:cNvSpPr>
            <a:spLocks noGrp="1"/>
          </p:cNvSpPr>
          <p:nvPr>
            <p:ph type="dt" sz="half" idx="10"/>
          </p:nvPr>
        </p:nvSpPr>
        <p:spPr/>
        <p:txBody>
          <a:bodyPr/>
          <a:lstStyle/>
          <a:p>
            <a:fld id="{91265DC2-309F-49FC-A9FE-C8375F23AF49}" type="datetimeFigureOut">
              <a:rPr lang="en-ID" smtClean="0"/>
              <a:t>22/06/2026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79A083ED-FA95-476F-9FE2-78C18B526B43}" type="slidenum">
              <a:rPr lang="en-ID" smtClean="0"/>
              <a:t>‹#›</a:t>
            </a:fld>
            <a:endParaRPr lang="en-ID"/>
          </a:p>
        </p:txBody>
      </p:sp>
    </p:spTree>
    <p:extLst>
      <p:ext uri="{BB962C8B-B14F-4D97-AF65-F5344CB8AC3E}">
        <p14:creationId xmlns:p14="http://schemas.microsoft.com/office/powerpoint/2010/main" val="1561032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265DC2-309F-49FC-A9FE-C8375F23AF49}"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79A083ED-FA95-476F-9FE2-78C18B526B43}" type="slidenum">
              <a:rPr lang="en-ID" smtClean="0"/>
              <a:t>‹#›</a:t>
            </a:fld>
            <a:endParaRPr lang="en-ID"/>
          </a:p>
        </p:txBody>
      </p:sp>
    </p:spTree>
    <p:extLst>
      <p:ext uri="{BB962C8B-B14F-4D97-AF65-F5344CB8AC3E}">
        <p14:creationId xmlns:p14="http://schemas.microsoft.com/office/powerpoint/2010/main" val="42934577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40295" y="1916653"/>
            <a:ext cx="1940525" cy="3050811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18719" y="1916653"/>
            <a:ext cx="5709082" cy="3050811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265DC2-309F-49FC-A9FE-C8375F23AF49}"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79A083ED-FA95-476F-9FE2-78C18B526B43}" type="slidenum">
              <a:rPr lang="en-ID" smtClean="0"/>
              <a:t>‹#›</a:t>
            </a:fld>
            <a:endParaRPr lang="en-ID"/>
          </a:p>
        </p:txBody>
      </p:sp>
    </p:spTree>
    <p:extLst>
      <p:ext uri="{BB962C8B-B14F-4D97-AF65-F5344CB8AC3E}">
        <p14:creationId xmlns:p14="http://schemas.microsoft.com/office/powerpoint/2010/main" val="34949082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8718" y="1916661"/>
            <a:ext cx="7762102" cy="695828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18718" y="9583264"/>
            <a:ext cx="7762102" cy="2284150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18718" y="33366432"/>
            <a:ext cx="2024896" cy="1916653"/>
          </a:xfrm>
          <a:prstGeom prst="rect">
            <a:avLst/>
          </a:prstGeom>
        </p:spPr>
        <p:txBody>
          <a:bodyPr vert="horz" lIns="91440" tIns="45720" rIns="91440" bIns="45720" rtlCol="0" anchor="ctr"/>
          <a:lstStyle>
            <a:lvl1pPr algn="l">
              <a:defRPr sz="1181">
                <a:solidFill>
                  <a:schemeClr val="tx1">
                    <a:tint val="75000"/>
                  </a:schemeClr>
                </a:solidFill>
              </a:defRPr>
            </a:lvl1pPr>
          </a:lstStyle>
          <a:p>
            <a:fld id="{91265DC2-309F-49FC-A9FE-C8375F23AF49}" type="datetimeFigureOut">
              <a:rPr lang="en-ID" smtClean="0"/>
              <a:t>22/06/2026</a:t>
            </a:fld>
            <a:endParaRPr lang="en-ID"/>
          </a:p>
        </p:txBody>
      </p:sp>
      <p:sp>
        <p:nvSpPr>
          <p:cNvPr id="5" name="Footer Placeholder 4"/>
          <p:cNvSpPr>
            <a:spLocks noGrp="1"/>
          </p:cNvSpPr>
          <p:nvPr>
            <p:ph type="ftr" sz="quarter" idx="3"/>
          </p:nvPr>
        </p:nvSpPr>
        <p:spPr>
          <a:xfrm>
            <a:off x="2981097" y="33366432"/>
            <a:ext cx="3037344" cy="1916653"/>
          </a:xfrm>
          <a:prstGeom prst="rect">
            <a:avLst/>
          </a:prstGeom>
        </p:spPr>
        <p:txBody>
          <a:bodyPr vert="horz" lIns="91440" tIns="45720" rIns="91440" bIns="45720" rtlCol="0" anchor="ctr"/>
          <a:lstStyle>
            <a:lvl1pPr algn="ctr">
              <a:defRPr sz="1181">
                <a:solidFill>
                  <a:schemeClr val="tx1">
                    <a:tint val="75000"/>
                  </a:schemeClr>
                </a:solidFill>
              </a:defRPr>
            </a:lvl1pPr>
          </a:lstStyle>
          <a:p>
            <a:endParaRPr lang="en-ID"/>
          </a:p>
        </p:txBody>
      </p:sp>
      <p:sp>
        <p:nvSpPr>
          <p:cNvPr id="6" name="Slide Number Placeholder 5"/>
          <p:cNvSpPr>
            <a:spLocks noGrp="1"/>
          </p:cNvSpPr>
          <p:nvPr>
            <p:ph type="sldNum" sz="quarter" idx="4"/>
          </p:nvPr>
        </p:nvSpPr>
        <p:spPr>
          <a:xfrm>
            <a:off x="6355924" y="33366432"/>
            <a:ext cx="2024896" cy="1916653"/>
          </a:xfrm>
          <a:prstGeom prst="rect">
            <a:avLst/>
          </a:prstGeom>
        </p:spPr>
        <p:txBody>
          <a:bodyPr vert="horz" lIns="91440" tIns="45720" rIns="91440" bIns="45720" rtlCol="0" anchor="ctr"/>
          <a:lstStyle>
            <a:lvl1pPr algn="r">
              <a:defRPr sz="1181">
                <a:solidFill>
                  <a:schemeClr val="tx1">
                    <a:tint val="75000"/>
                  </a:schemeClr>
                </a:solidFill>
              </a:defRPr>
            </a:lvl1pPr>
          </a:lstStyle>
          <a:p>
            <a:fld id="{79A083ED-FA95-476F-9FE2-78C18B526B43}" type="slidenum">
              <a:rPr lang="en-ID" smtClean="0"/>
              <a:t>‹#›</a:t>
            </a:fld>
            <a:endParaRPr lang="en-ID"/>
          </a:p>
        </p:txBody>
      </p:sp>
    </p:spTree>
    <p:extLst>
      <p:ext uri="{BB962C8B-B14F-4D97-AF65-F5344CB8AC3E}">
        <p14:creationId xmlns:p14="http://schemas.microsoft.com/office/powerpoint/2010/main" val="2955319552"/>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899952" rtl="0" eaLnBrk="1" latinLnBrk="0" hangingPunct="1">
        <a:lnSpc>
          <a:spcPct val="90000"/>
        </a:lnSpc>
        <a:spcBef>
          <a:spcPct val="0"/>
        </a:spcBef>
        <a:buNone/>
        <a:defRPr sz="4330" kern="1200">
          <a:solidFill>
            <a:schemeClr val="tx1"/>
          </a:solidFill>
          <a:latin typeface="+mj-lt"/>
          <a:ea typeface="+mj-ea"/>
          <a:cs typeface="+mj-cs"/>
        </a:defRPr>
      </a:lvl1pPr>
    </p:titleStyle>
    <p:bodyStyle>
      <a:lvl1pPr marL="224988" indent="-224988" algn="l" defTabSz="899952" rtl="0" eaLnBrk="1" latinLnBrk="0" hangingPunct="1">
        <a:lnSpc>
          <a:spcPct val="90000"/>
        </a:lnSpc>
        <a:spcBef>
          <a:spcPts val="984"/>
        </a:spcBef>
        <a:buFont typeface="Arial" panose="020B0604020202020204" pitchFamily="34" charset="0"/>
        <a:buChar char="•"/>
        <a:defRPr sz="2756" kern="1200">
          <a:solidFill>
            <a:schemeClr val="tx1"/>
          </a:solidFill>
          <a:latin typeface="+mn-lt"/>
          <a:ea typeface="+mn-ea"/>
          <a:cs typeface="+mn-cs"/>
        </a:defRPr>
      </a:lvl1pPr>
      <a:lvl2pPr marL="674964" indent="-224988" algn="l" defTabSz="899952" rtl="0" eaLnBrk="1" latinLnBrk="0" hangingPunct="1">
        <a:lnSpc>
          <a:spcPct val="90000"/>
        </a:lnSpc>
        <a:spcBef>
          <a:spcPts val="492"/>
        </a:spcBef>
        <a:buFont typeface="Arial" panose="020B0604020202020204" pitchFamily="34" charset="0"/>
        <a:buChar char="•"/>
        <a:defRPr sz="2362" kern="1200">
          <a:solidFill>
            <a:schemeClr val="tx1"/>
          </a:solidFill>
          <a:latin typeface="+mn-lt"/>
          <a:ea typeface="+mn-ea"/>
          <a:cs typeface="+mn-cs"/>
        </a:defRPr>
      </a:lvl2pPr>
      <a:lvl3pPr marL="1124941" indent="-224988" algn="l" defTabSz="899952" rtl="0" eaLnBrk="1" latinLnBrk="0" hangingPunct="1">
        <a:lnSpc>
          <a:spcPct val="90000"/>
        </a:lnSpc>
        <a:spcBef>
          <a:spcPts val="492"/>
        </a:spcBef>
        <a:buFont typeface="Arial" panose="020B0604020202020204" pitchFamily="34" charset="0"/>
        <a:buChar char="•"/>
        <a:defRPr sz="1968" kern="1200">
          <a:solidFill>
            <a:schemeClr val="tx1"/>
          </a:solidFill>
          <a:latin typeface="+mn-lt"/>
          <a:ea typeface="+mn-ea"/>
          <a:cs typeface="+mn-cs"/>
        </a:defRPr>
      </a:lvl3pPr>
      <a:lvl4pPr marL="1574917"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4pPr>
      <a:lvl5pPr marL="2024893"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5pPr>
      <a:lvl6pPr marL="2474869"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6pPr>
      <a:lvl7pPr marL="2924846"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7pPr>
      <a:lvl8pPr marL="3374822"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8pPr>
      <a:lvl9pPr marL="3824798"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9pPr>
    </p:bodyStyle>
    <p:otherStyle>
      <a:defPPr>
        <a:defRPr lang="en-US"/>
      </a:defPPr>
      <a:lvl1pPr marL="0" algn="l" defTabSz="899952" rtl="0" eaLnBrk="1" latinLnBrk="0" hangingPunct="1">
        <a:defRPr sz="1772" kern="1200">
          <a:solidFill>
            <a:schemeClr val="tx1"/>
          </a:solidFill>
          <a:latin typeface="+mn-lt"/>
          <a:ea typeface="+mn-ea"/>
          <a:cs typeface="+mn-cs"/>
        </a:defRPr>
      </a:lvl1pPr>
      <a:lvl2pPr marL="449976" algn="l" defTabSz="899952" rtl="0" eaLnBrk="1" latinLnBrk="0" hangingPunct="1">
        <a:defRPr sz="1772" kern="1200">
          <a:solidFill>
            <a:schemeClr val="tx1"/>
          </a:solidFill>
          <a:latin typeface="+mn-lt"/>
          <a:ea typeface="+mn-ea"/>
          <a:cs typeface="+mn-cs"/>
        </a:defRPr>
      </a:lvl2pPr>
      <a:lvl3pPr marL="899952" algn="l" defTabSz="899952" rtl="0" eaLnBrk="1" latinLnBrk="0" hangingPunct="1">
        <a:defRPr sz="1772" kern="1200">
          <a:solidFill>
            <a:schemeClr val="tx1"/>
          </a:solidFill>
          <a:latin typeface="+mn-lt"/>
          <a:ea typeface="+mn-ea"/>
          <a:cs typeface="+mn-cs"/>
        </a:defRPr>
      </a:lvl3pPr>
      <a:lvl4pPr marL="1349929" algn="l" defTabSz="899952" rtl="0" eaLnBrk="1" latinLnBrk="0" hangingPunct="1">
        <a:defRPr sz="1772" kern="1200">
          <a:solidFill>
            <a:schemeClr val="tx1"/>
          </a:solidFill>
          <a:latin typeface="+mn-lt"/>
          <a:ea typeface="+mn-ea"/>
          <a:cs typeface="+mn-cs"/>
        </a:defRPr>
      </a:lvl4pPr>
      <a:lvl5pPr marL="1799905" algn="l" defTabSz="899952" rtl="0" eaLnBrk="1" latinLnBrk="0" hangingPunct="1">
        <a:defRPr sz="1772" kern="1200">
          <a:solidFill>
            <a:schemeClr val="tx1"/>
          </a:solidFill>
          <a:latin typeface="+mn-lt"/>
          <a:ea typeface="+mn-ea"/>
          <a:cs typeface="+mn-cs"/>
        </a:defRPr>
      </a:lvl5pPr>
      <a:lvl6pPr marL="2249881" algn="l" defTabSz="899952" rtl="0" eaLnBrk="1" latinLnBrk="0" hangingPunct="1">
        <a:defRPr sz="1772" kern="1200">
          <a:solidFill>
            <a:schemeClr val="tx1"/>
          </a:solidFill>
          <a:latin typeface="+mn-lt"/>
          <a:ea typeface="+mn-ea"/>
          <a:cs typeface="+mn-cs"/>
        </a:defRPr>
      </a:lvl6pPr>
      <a:lvl7pPr marL="2699857" algn="l" defTabSz="899952" rtl="0" eaLnBrk="1" latinLnBrk="0" hangingPunct="1">
        <a:defRPr sz="1772" kern="1200">
          <a:solidFill>
            <a:schemeClr val="tx1"/>
          </a:solidFill>
          <a:latin typeface="+mn-lt"/>
          <a:ea typeface="+mn-ea"/>
          <a:cs typeface="+mn-cs"/>
        </a:defRPr>
      </a:lvl7pPr>
      <a:lvl8pPr marL="3149834" algn="l" defTabSz="899952" rtl="0" eaLnBrk="1" latinLnBrk="0" hangingPunct="1">
        <a:defRPr sz="1772" kern="1200">
          <a:solidFill>
            <a:schemeClr val="tx1"/>
          </a:solidFill>
          <a:latin typeface="+mn-lt"/>
          <a:ea typeface="+mn-ea"/>
          <a:cs typeface="+mn-cs"/>
        </a:defRPr>
      </a:lvl8pPr>
      <a:lvl9pPr marL="3599810" algn="l" defTabSz="899952" rtl="0" eaLnBrk="1" latinLnBrk="0" hangingPunct="1">
        <a:defRPr sz="177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svg"/><Relationship Id="rId18" Type="http://schemas.openxmlformats.org/officeDocument/2006/relationships/image" Target="../media/image16.svg"/><Relationship Id="rId26" Type="http://schemas.openxmlformats.org/officeDocument/2006/relationships/image" Target="../media/image24.png"/><Relationship Id="rId3" Type="http://schemas.microsoft.com/office/2007/relationships/hdphoto" Target="../media/hdphoto1.wdp"/><Relationship Id="rId21" Type="http://schemas.openxmlformats.org/officeDocument/2006/relationships/image" Target="../media/image19.png"/><Relationship Id="rId7" Type="http://schemas.openxmlformats.org/officeDocument/2006/relationships/image" Target="../media/image5.svg"/><Relationship Id="rId12" Type="http://schemas.openxmlformats.org/officeDocument/2006/relationships/image" Target="../media/image10.svg"/><Relationship Id="rId17" Type="http://schemas.openxmlformats.org/officeDocument/2006/relationships/image" Target="../media/image15.svg"/><Relationship Id="rId25" Type="http://schemas.openxmlformats.org/officeDocument/2006/relationships/image" Target="../media/image23.svg"/><Relationship Id="rId2" Type="http://schemas.openxmlformats.org/officeDocument/2006/relationships/image" Target="../media/image1.png"/><Relationship Id="rId16" Type="http://schemas.openxmlformats.org/officeDocument/2006/relationships/image" Target="../media/image14.svg"/><Relationship Id="rId20"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4.svg"/><Relationship Id="rId11" Type="http://schemas.openxmlformats.org/officeDocument/2006/relationships/image" Target="../media/image9.svg"/><Relationship Id="rId24" Type="http://schemas.openxmlformats.org/officeDocument/2006/relationships/image" Target="../media/image22.svg"/><Relationship Id="rId5" Type="http://schemas.openxmlformats.org/officeDocument/2006/relationships/image" Target="../media/image3.png"/><Relationship Id="rId15" Type="http://schemas.openxmlformats.org/officeDocument/2006/relationships/image" Target="../media/image13.svg"/><Relationship Id="rId23" Type="http://schemas.openxmlformats.org/officeDocument/2006/relationships/image" Target="../media/image21.png"/><Relationship Id="rId28" Type="http://schemas.openxmlformats.org/officeDocument/2006/relationships/image" Target="../media/image26.png"/><Relationship Id="rId10" Type="http://schemas.openxmlformats.org/officeDocument/2006/relationships/image" Target="../media/image8.svg"/><Relationship Id="rId19" Type="http://schemas.openxmlformats.org/officeDocument/2006/relationships/image" Target="../media/image17.svg"/><Relationship Id="rId4" Type="http://schemas.openxmlformats.org/officeDocument/2006/relationships/image" Target="../media/image2.png"/><Relationship Id="rId9" Type="http://schemas.openxmlformats.org/officeDocument/2006/relationships/image" Target="../media/image7.svg"/><Relationship Id="rId14" Type="http://schemas.openxmlformats.org/officeDocument/2006/relationships/image" Target="../media/image12.svg"/><Relationship Id="rId22" Type="http://schemas.openxmlformats.org/officeDocument/2006/relationships/image" Target="../media/image20.png"/><Relationship Id="rId27"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Image 0" descr="preencoded.png">
            <a:extLst>
              <a:ext uri="{FF2B5EF4-FFF2-40B4-BE49-F238E27FC236}">
                <a16:creationId xmlns:a16="http://schemas.microsoft.com/office/drawing/2014/main" id="{BA035223-FC59-17E1-333A-51EC4918800A}"/>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a14:imgEffect>
                  </a14:imgLayer>
                </a14:imgProps>
              </a:ext>
            </a:extLst>
          </a:blip>
          <a:stretch>
            <a:fillRect/>
          </a:stretch>
        </p:blipFill>
        <p:spPr>
          <a:xfrm>
            <a:off x="0" y="0"/>
            <a:ext cx="9006630" cy="5066229"/>
          </a:xfrm>
          <a:prstGeom prst="rect">
            <a:avLst/>
          </a:prstGeom>
        </p:spPr>
      </p:pic>
      <p:sp>
        <p:nvSpPr>
          <p:cNvPr id="35" name="Shape 1">
            <a:extLst>
              <a:ext uri="{FF2B5EF4-FFF2-40B4-BE49-F238E27FC236}">
                <a16:creationId xmlns:a16="http://schemas.microsoft.com/office/drawing/2014/main" id="{EBBDC7FB-47B8-B8AA-B535-8A20DDEFC3DB}"/>
              </a:ext>
            </a:extLst>
          </p:cNvPr>
          <p:cNvSpPr/>
          <p:nvPr/>
        </p:nvSpPr>
        <p:spPr>
          <a:xfrm>
            <a:off x="401007" y="500902"/>
            <a:ext cx="3427363" cy="242739"/>
          </a:xfrm>
          <a:prstGeom prst="roundRect">
            <a:avLst>
              <a:gd name="adj" fmla="val 6132"/>
            </a:avLst>
          </a:prstGeom>
          <a:noFill/>
          <a:ln w="4763">
            <a:solidFill>
              <a:srgbClr val="28282F"/>
            </a:solidFill>
            <a:prstDash val="solid"/>
          </a:ln>
        </p:spPr>
      </p:sp>
      <p:sp>
        <p:nvSpPr>
          <p:cNvPr id="36" name="Text 2">
            <a:extLst>
              <a:ext uri="{FF2B5EF4-FFF2-40B4-BE49-F238E27FC236}">
                <a16:creationId xmlns:a16="http://schemas.microsoft.com/office/drawing/2014/main" id="{3D08B233-280D-DFAA-F8A3-FDC3F5DE01FC}"/>
              </a:ext>
            </a:extLst>
          </p:cNvPr>
          <p:cNvSpPr/>
          <p:nvPr/>
        </p:nvSpPr>
        <p:spPr>
          <a:xfrm>
            <a:off x="480179" y="542869"/>
            <a:ext cx="3726210" cy="158800"/>
          </a:xfrm>
          <a:prstGeom prst="rect">
            <a:avLst/>
          </a:prstGeom>
          <a:noFill/>
          <a:ln/>
        </p:spPr>
        <p:txBody>
          <a:bodyPr wrap="none" lIns="0" tIns="0" rIns="0" bIns="0" rtlCol="0" anchor="t"/>
          <a:lstStyle/>
          <a:p>
            <a:pPr>
              <a:lnSpc>
                <a:spcPct val="133000"/>
              </a:lnSpc>
            </a:pPr>
            <a:r>
              <a:rPr lang="en-US" sz="800" dirty="0">
                <a:solidFill>
                  <a:schemeClr val="bg1"/>
                </a:solidFill>
                <a:latin typeface="Leelawadee UI" panose="020B0502040204020203" pitchFamily="34" charset="-34"/>
                <a:ea typeface="Inter" pitchFamily="34" charset="-122"/>
                <a:cs typeface="Leelawadee UI" panose="020B0502040204020203" pitchFamily="34" charset="-34"/>
              </a:rPr>
              <a:t>BERANDA / PROGRAM KAMI / LANDSCAPE GOVERNANCE PROGRAM</a:t>
            </a:r>
            <a:endParaRPr lang="en-US" sz="800" dirty="0">
              <a:solidFill>
                <a:schemeClr val="bg1"/>
              </a:solidFill>
              <a:latin typeface="Leelawadee UI" panose="020B0502040204020203" pitchFamily="34" charset="-34"/>
              <a:cs typeface="Leelawadee UI" panose="020B0502040204020203" pitchFamily="34" charset="-34"/>
            </a:endParaRPr>
          </a:p>
        </p:txBody>
      </p:sp>
      <p:sp>
        <p:nvSpPr>
          <p:cNvPr id="37" name="Text 3">
            <a:extLst>
              <a:ext uri="{FF2B5EF4-FFF2-40B4-BE49-F238E27FC236}">
                <a16:creationId xmlns:a16="http://schemas.microsoft.com/office/drawing/2014/main" id="{C69C5FDA-7E81-EF2A-444D-138576497AFF}"/>
              </a:ext>
            </a:extLst>
          </p:cNvPr>
          <p:cNvSpPr/>
          <p:nvPr/>
        </p:nvSpPr>
        <p:spPr>
          <a:xfrm>
            <a:off x="339020" y="2928185"/>
            <a:ext cx="8151763" cy="775097"/>
          </a:xfrm>
          <a:prstGeom prst="rect">
            <a:avLst/>
          </a:prstGeom>
          <a:noFill/>
          <a:ln/>
        </p:spPr>
        <p:txBody>
          <a:bodyPr wrap="square" lIns="0" tIns="0" rIns="0" bIns="0" rtlCol="0" anchor="t">
            <a:noAutofit/>
          </a:bodyPr>
          <a:lstStyle/>
          <a:p>
            <a:pPr>
              <a:lnSpc>
                <a:spcPct val="104000"/>
              </a:lnSpc>
            </a:pPr>
            <a:r>
              <a:rPr lang="en-US" sz="2800" dirty="0">
                <a:solidFill>
                  <a:schemeClr val="bg1"/>
                </a:solidFill>
                <a:latin typeface="Leelawadee UI" panose="020B0502040204020203" pitchFamily="34" charset="-34"/>
                <a:ea typeface="DM Sans Medium" pitchFamily="34" charset="-122"/>
                <a:cs typeface="Leelawadee UI" panose="020B0502040204020203" pitchFamily="34" charset="-34"/>
              </a:rPr>
              <a:t>Landscape Governance Program: Memperkuat Tata Kelola Lanskap yang Inklusif dan Kolaboratif</a:t>
            </a:r>
            <a:endParaRPr lang="en-US" sz="2800" dirty="0">
              <a:solidFill>
                <a:schemeClr val="bg1"/>
              </a:solidFill>
              <a:latin typeface="Leelawadee UI" panose="020B0502040204020203" pitchFamily="34" charset="-34"/>
              <a:cs typeface="Leelawadee UI" panose="020B0502040204020203" pitchFamily="34" charset="-34"/>
            </a:endParaRPr>
          </a:p>
        </p:txBody>
      </p:sp>
      <p:sp>
        <p:nvSpPr>
          <p:cNvPr id="38" name="Text 4">
            <a:extLst>
              <a:ext uri="{FF2B5EF4-FFF2-40B4-BE49-F238E27FC236}">
                <a16:creationId xmlns:a16="http://schemas.microsoft.com/office/drawing/2014/main" id="{C72B2F84-894B-ED52-B090-D4B672CC7ED6}"/>
              </a:ext>
            </a:extLst>
          </p:cNvPr>
          <p:cNvSpPr/>
          <p:nvPr/>
        </p:nvSpPr>
        <p:spPr>
          <a:xfrm>
            <a:off x="381137" y="3873405"/>
            <a:ext cx="8151763" cy="595387"/>
          </a:xfrm>
          <a:prstGeom prst="rect">
            <a:avLst/>
          </a:prstGeom>
          <a:noFill/>
          <a:ln/>
        </p:spPr>
        <p:txBody>
          <a:bodyPr wrap="square" lIns="0" tIns="0" rIns="0" bIns="0" rtlCol="0" anchor="t">
            <a:noAutofit/>
          </a:bodyPr>
          <a:lstStyle/>
          <a:p>
            <a:pPr>
              <a:lnSpc>
                <a:spcPct val="133000"/>
              </a:lnSpc>
            </a:pPr>
            <a:r>
              <a:rPr lang="en-US" sz="1050" dirty="0">
                <a:solidFill>
                  <a:schemeClr val="bg1"/>
                </a:solidFill>
                <a:latin typeface="Leelawadee UI" panose="020B0502040204020203" pitchFamily="34" charset="-34"/>
                <a:ea typeface="Inter" pitchFamily="34" charset="-122"/>
                <a:cs typeface="Leelawadee UI" panose="020B0502040204020203" pitchFamily="34" charset="-34"/>
              </a:rPr>
              <a:t>Program ini dirancang untuk memperkuat tata kelola lanskap yang inklusif, kolaboratif, dan berbasis bukti melalui keterlibatan aktif pemerintah, masyarakat, sektor swasta, dan pemangku kepentingan lainnya. Sebagian besar konflik dan degradasi lanskap terjadi bukan karena kurangnya sumber daya, melainkan karena lemahnya tata kelola dan koordinasi antar aktor.</a:t>
            </a:r>
            <a:endParaRPr lang="en-US" sz="1050" dirty="0">
              <a:solidFill>
                <a:schemeClr val="bg1"/>
              </a:solidFill>
              <a:latin typeface="Leelawadee UI" panose="020B0502040204020203" pitchFamily="34" charset="-34"/>
              <a:cs typeface="Leelawadee UI" panose="020B0502040204020203" pitchFamily="34" charset="-34"/>
            </a:endParaRPr>
          </a:p>
        </p:txBody>
      </p:sp>
      <p:pic>
        <p:nvPicPr>
          <p:cNvPr id="39" name="Image 1" descr="preencoded.png">
            <a:hlinkClick r:id="" action="ppaction://noaction"/>
            <a:extLst>
              <a:ext uri="{FF2B5EF4-FFF2-40B4-BE49-F238E27FC236}">
                <a16:creationId xmlns:a16="http://schemas.microsoft.com/office/drawing/2014/main" id="{97D2E859-7306-43A1-6755-CE441E61BAF5}"/>
              </a:ext>
            </a:extLst>
          </p:cNvPr>
          <p:cNvPicPr>
            <a:picLocks noChangeAspect="1"/>
          </p:cNvPicPr>
          <p:nvPr/>
        </p:nvPicPr>
        <p:blipFill>
          <a:blip r:embed="rId4"/>
          <a:stretch>
            <a:fillRect/>
          </a:stretch>
        </p:blipFill>
        <p:spPr>
          <a:xfrm>
            <a:off x="339020" y="4634210"/>
            <a:ext cx="1748061" cy="341114"/>
          </a:xfrm>
          <a:prstGeom prst="rect">
            <a:avLst/>
          </a:prstGeom>
        </p:spPr>
      </p:pic>
      <p:pic>
        <p:nvPicPr>
          <p:cNvPr id="40" name="Image 2" descr="preencoded.png">
            <a:hlinkClick r:id="" action="ppaction://noaction"/>
            <a:extLst>
              <a:ext uri="{FF2B5EF4-FFF2-40B4-BE49-F238E27FC236}">
                <a16:creationId xmlns:a16="http://schemas.microsoft.com/office/drawing/2014/main" id="{098579DB-DB5E-061D-4F8C-E47C0359E083}"/>
              </a:ext>
            </a:extLst>
          </p:cNvPr>
          <p:cNvPicPr>
            <a:picLocks noChangeAspect="1"/>
          </p:cNvPicPr>
          <p:nvPr/>
        </p:nvPicPr>
        <p:blipFill>
          <a:blip r:embed="rId5"/>
          <a:stretch>
            <a:fillRect/>
          </a:stretch>
        </p:blipFill>
        <p:spPr>
          <a:xfrm>
            <a:off x="2149063" y="4634210"/>
            <a:ext cx="1260202" cy="341114"/>
          </a:xfrm>
          <a:prstGeom prst="rect">
            <a:avLst/>
          </a:prstGeom>
        </p:spPr>
      </p:pic>
      <p:sp>
        <p:nvSpPr>
          <p:cNvPr id="41" name="Shape 0">
            <a:extLst>
              <a:ext uri="{FF2B5EF4-FFF2-40B4-BE49-F238E27FC236}">
                <a16:creationId xmlns:a16="http://schemas.microsoft.com/office/drawing/2014/main" id="{0D5C1724-1C7C-6D71-4EB3-5A95F83F9680}"/>
              </a:ext>
            </a:extLst>
          </p:cNvPr>
          <p:cNvSpPr/>
          <p:nvPr/>
        </p:nvSpPr>
        <p:spPr>
          <a:xfrm>
            <a:off x="480178" y="5173899"/>
            <a:ext cx="1240414" cy="287758"/>
          </a:xfrm>
          <a:prstGeom prst="roundRect">
            <a:avLst>
              <a:gd name="adj" fmla="val 6383"/>
            </a:avLst>
          </a:prstGeom>
          <a:solidFill>
            <a:srgbClr val="E3E3E8"/>
          </a:solidFill>
          <a:ln/>
        </p:spPr>
      </p:sp>
      <p:sp>
        <p:nvSpPr>
          <p:cNvPr id="42" name="Text 1">
            <a:extLst>
              <a:ext uri="{FF2B5EF4-FFF2-40B4-BE49-F238E27FC236}">
                <a16:creationId xmlns:a16="http://schemas.microsoft.com/office/drawing/2014/main" id="{05A9D4FF-43C4-43E9-8924-3F5075B5F5EB}"/>
              </a:ext>
            </a:extLst>
          </p:cNvPr>
          <p:cNvSpPr/>
          <p:nvPr/>
        </p:nvSpPr>
        <p:spPr>
          <a:xfrm>
            <a:off x="554592" y="5211106"/>
            <a:ext cx="1393552" cy="158800"/>
          </a:xfrm>
          <a:prstGeom prst="rect">
            <a:avLst/>
          </a:prstGeom>
          <a:noFill/>
          <a:ln/>
        </p:spPr>
        <p:txBody>
          <a:bodyPr wrap="none" lIns="0" tIns="0" rIns="0" bIns="0" rtlCol="0" anchor="t"/>
          <a:lstStyle/>
          <a:p>
            <a:pPr>
              <a:lnSpc>
                <a:spcPct val="133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TUJUAN PROGRAM</a:t>
            </a:r>
            <a:endParaRPr lang="en-US" sz="1000" dirty="0">
              <a:latin typeface="Leelawadee UI" panose="020B0502040204020203" pitchFamily="34" charset="-34"/>
              <a:cs typeface="Leelawadee UI" panose="020B0502040204020203" pitchFamily="34" charset="-34"/>
            </a:endParaRPr>
          </a:p>
        </p:txBody>
      </p:sp>
      <p:sp>
        <p:nvSpPr>
          <p:cNvPr id="43" name="Text 2">
            <a:extLst>
              <a:ext uri="{FF2B5EF4-FFF2-40B4-BE49-F238E27FC236}">
                <a16:creationId xmlns:a16="http://schemas.microsoft.com/office/drawing/2014/main" id="{02999062-AA70-C8BB-8CEC-D82CA6D267F2}"/>
              </a:ext>
            </a:extLst>
          </p:cNvPr>
          <p:cNvSpPr/>
          <p:nvPr/>
        </p:nvSpPr>
        <p:spPr>
          <a:xfrm>
            <a:off x="482476" y="5528257"/>
            <a:ext cx="6074718" cy="333004"/>
          </a:xfrm>
          <a:prstGeom prst="rect">
            <a:avLst/>
          </a:prstGeom>
          <a:noFill/>
          <a:ln/>
        </p:spPr>
        <p:txBody>
          <a:bodyPr wrap="none" lIns="0" tIns="0" rIns="0" bIns="0" rtlCol="0" anchor="t"/>
          <a:lstStyle/>
          <a:p>
            <a:pPr>
              <a:lnSpc>
                <a:spcPct val="104000"/>
              </a:lnSpc>
            </a:pPr>
            <a:r>
              <a:rPr lang="en-US" sz="2400" dirty="0" err="1">
                <a:solidFill>
                  <a:srgbClr val="161613"/>
                </a:solidFill>
                <a:latin typeface="Leelawadee UI" panose="020B0502040204020203" pitchFamily="34" charset="-34"/>
                <a:ea typeface="DM Sans Medium" pitchFamily="34" charset="-122"/>
                <a:cs typeface="Leelawadee UI" panose="020B0502040204020203" pitchFamily="34" charset="-34"/>
              </a:rPr>
              <a:t>Menargetkan</a:t>
            </a: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 Tata Kelola </a:t>
            </a:r>
            <a:r>
              <a:rPr lang="en-US" sz="2400" dirty="0" err="1">
                <a:solidFill>
                  <a:srgbClr val="161613"/>
                </a:solidFill>
                <a:latin typeface="Leelawadee UI" panose="020B0502040204020203" pitchFamily="34" charset="-34"/>
                <a:ea typeface="DM Sans Medium" pitchFamily="34" charset="-122"/>
                <a:cs typeface="Leelawadee UI" panose="020B0502040204020203" pitchFamily="34" charset="-34"/>
              </a:rPr>
              <a:t>Lanskap</a:t>
            </a:r>
            <a:endParaRPr lang="en-US" sz="2400" dirty="0">
              <a:latin typeface="Leelawadee UI" panose="020B0502040204020203" pitchFamily="34" charset="-34"/>
              <a:cs typeface="Leelawadee UI" panose="020B0502040204020203" pitchFamily="34" charset="-34"/>
            </a:endParaRPr>
          </a:p>
        </p:txBody>
      </p:sp>
      <p:sp>
        <p:nvSpPr>
          <p:cNvPr id="44" name="Shape 3">
            <a:extLst>
              <a:ext uri="{FF2B5EF4-FFF2-40B4-BE49-F238E27FC236}">
                <a16:creationId xmlns:a16="http://schemas.microsoft.com/office/drawing/2014/main" id="{5231435B-57F1-4234-2939-8F63E2968B3E}"/>
              </a:ext>
            </a:extLst>
          </p:cNvPr>
          <p:cNvSpPr/>
          <p:nvPr/>
        </p:nvSpPr>
        <p:spPr>
          <a:xfrm>
            <a:off x="480179" y="6089124"/>
            <a:ext cx="14288" cy="1220242"/>
          </a:xfrm>
          <a:prstGeom prst="roundRect">
            <a:avLst>
              <a:gd name="adj" fmla="val 59998"/>
            </a:avLst>
          </a:prstGeom>
          <a:solidFill>
            <a:srgbClr val="28282F"/>
          </a:solidFill>
          <a:ln/>
        </p:spPr>
      </p:sp>
      <p:sp>
        <p:nvSpPr>
          <p:cNvPr id="45" name="Text 4">
            <a:extLst>
              <a:ext uri="{FF2B5EF4-FFF2-40B4-BE49-F238E27FC236}">
                <a16:creationId xmlns:a16="http://schemas.microsoft.com/office/drawing/2014/main" id="{A33D137F-12E3-F939-E413-9A8D52BF5EF3}"/>
              </a:ext>
            </a:extLst>
          </p:cNvPr>
          <p:cNvSpPr/>
          <p:nvPr/>
        </p:nvSpPr>
        <p:spPr>
          <a:xfrm>
            <a:off x="666215" y="6116489"/>
            <a:ext cx="4161234" cy="997074"/>
          </a:xfrm>
          <a:prstGeom prst="rect">
            <a:avLst/>
          </a:prstGeom>
          <a:noFill/>
          <a:ln/>
        </p:spPr>
        <p:txBody>
          <a:bodyPr wrap="square" lIns="0" tIns="0" rIns="0" bIns="0" rtlCol="0" anchor="t">
            <a:normAutofit/>
          </a:bodyPr>
          <a:lstStyle/>
          <a:p>
            <a:pPr>
              <a:lnSpc>
                <a:spcPct val="133000"/>
              </a:lnSpc>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a:t>
            </a:r>
            <a:r>
              <a:rPr lang="en-US" sz="1000" b="1" dirty="0">
                <a:solidFill>
                  <a:srgbClr val="161613"/>
                </a:solidFill>
                <a:latin typeface="Leelawadee UI" panose="020B0502040204020203" pitchFamily="34" charset="-34"/>
                <a:ea typeface="Inter" pitchFamily="34" charset="-122"/>
                <a:cs typeface="Leelawadee UI" panose="020B0502040204020203" pitchFamily="34" charset="-34"/>
              </a:rPr>
              <a:t>Tujuan Program</a:t>
            </a:r>
            <a:endParaRPr lang="en-US" sz="1000" dirty="0">
              <a:latin typeface="Leelawadee UI" panose="020B0502040204020203" pitchFamily="34" charset="-34"/>
              <a:cs typeface="Leelawadee UI" panose="020B0502040204020203" pitchFamily="34" charset="-34"/>
            </a:endParaRPr>
          </a:p>
          <a:p>
            <a:pPr>
              <a:lnSpc>
                <a:spcPct val="133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Memperkuat tata kelola lanskap yang inklusif, kolaboratif, dan berbasis bukti melalui keterlibatan aktif pemerintah, masyarakat, sektor swasta, dan pemangku kepentingan lainnya dalam pengambilan keputusan pengelolaan lanskap.</a:t>
            </a:r>
            <a:endParaRPr lang="en-US" sz="1000" dirty="0">
              <a:latin typeface="Leelawadee UI" panose="020B0502040204020203" pitchFamily="34" charset="-34"/>
              <a:cs typeface="Leelawadee UI" panose="020B0502040204020203" pitchFamily="34" charset="-34"/>
            </a:endParaRPr>
          </a:p>
        </p:txBody>
      </p:sp>
      <p:sp>
        <p:nvSpPr>
          <p:cNvPr id="46" name="Text 5">
            <a:extLst>
              <a:ext uri="{FF2B5EF4-FFF2-40B4-BE49-F238E27FC236}">
                <a16:creationId xmlns:a16="http://schemas.microsoft.com/office/drawing/2014/main" id="{9ED301AB-DDAB-5C61-538D-D78C39C87032}"/>
              </a:ext>
            </a:extLst>
          </p:cNvPr>
          <p:cNvSpPr/>
          <p:nvPr/>
        </p:nvSpPr>
        <p:spPr>
          <a:xfrm>
            <a:off x="480179" y="7448966"/>
            <a:ext cx="4347270" cy="1190774"/>
          </a:xfrm>
          <a:prstGeom prst="rect">
            <a:avLst/>
          </a:prstGeom>
          <a:noFill/>
          <a:ln/>
        </p:spPr>
        <p:txBody>
          <a:bodyPr wrap="square" lIns="0" tIns="0" rIns="0" bIns="0" rtlCol="0" anchor="t">
            <a:noAutofit/>
          </a:bodyPr>
          <a:lstStyle/>
          <a:p>
            <a:pPr>
              <a:lnSpc>
                <a:spcPct val="133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Program Landscape Governance YNKI berangkat dari keyakinan bahwa perubahan nyata hanya dapat terjadi ketika seluruh pemangku kepentingan hadir, didengar, dan dilibatkan secara bermakna. Dengan membangun ruang dialog yang inklusif dan mekanisme koordinasi yang efektif, program ini menjadi tulang punggung pengelolaan lanskap berkelanjutan di Kalimantan Barat.</a:t>
            </a:r>
            <a:endParaRPr lang="en-US" sz="1000" dirty="0">
              <a:latin typeface="Leelawadee UI" panose="020B0502040204020203" pitchFamily="34" charset="-34"/>
              <a:cs typeface="Leelawadee UI" panose="020B0502040204020203" pitchFamily="34" charset="-34"/>
            </a:endParaRPr>
          </a:p>
        </p:txBody>
      </p:sp>
      <p:sp>
        <p:nvSpPr>
          <p:cNvPr id="47" name="Shape 6">
            <a:extLst>
              <a:ext uri="{FF2B5EF4-FFF2-40B4-BE49-F238E27FC236}">
                <a16:creationId xmlns:a16="http://schemas.microsoft.com/office/drawing/2014/main" id="{4333F2F1-7C6B-05FA-9F7E-2A339882D4D2}"/>
              </a:ext>
            </a:extLst>
          </p:cNvPr>
          <p:cNvSpPr/>
          <p:nvPr/>
        </p:nvSpPr>
        <p:spPr>
          <a:xfrm>
            <a:off x="5045482" y="6200745"/>
            <a:ext cx="3680445" cy="2243346"/>
          </a:xfrm>
          <a:prstGeom prst="roundRect">
            <a:avLst>
              <a:gd name="adj" fmla="val 664"/>
            </a:avLst>
          </a:prstGeom>
          <a:solidFill>
            <a:srgbClr val="28282F"/>
          </a:solidFill>
          <a:ln/>
        </p:spPr>
      </p:sp>
      <p:sp>
        <p:nvSpPr>
          <p:cNvPr id="48" name="Text 7">
            <a:extLst>
              <a:ext uri="{FF2B5EF4-FFF2-40B4-BE49-F238E27FC236}">
                <a16:creationId xmlns:a16="http://schemas.microsoft.com/office/drawing/2014/main" id="{4943F4DF-1F0C-AF8C-7EEA-ADED0E4C2963}"/>
              </a:ext>
            </a:extLst>
          </p:cNvPr>
          <p:cNvSpPr/>
          <p:nvPr/>
        </p:nvSpPr>
        <p:spPr>
          <a:xfrm>
            <a:off x="5194611" y="6598824"/>
            <a:ext cx="2007766" cy="193849"/>
          </a:xfrm>
          <a:prstGeom prst="rect">
            <a:avLst/>
          </a:prstGeom>
          <a:noFill/>
          <a:ln/>
        </p:spPr>
        <p:txBody>
          <a:bodyPr wrap="none" lIns="0" tIns="0" rIns="0" bIns="0" rtlCol="0" anchor="t"/>
          <a:lstStyle/>
          <a:p>
            <a:pPr>
              <a:lnSpc>
                <a:spcPct val="104000"/>
              </a:lnSpc>
            </a:pPr>
            <a:r>
              <a:rPr lang="en-US" sz="1400" dirty="0">
                <a:solidFill>
                  <a:srgbClr val="FFFFFF"/>
                </a:solidFill>
                <a:latin typeface="Leelawadee UI" panose="020B0502040204020203" pitchFamily="34" charset="-34"/>
                <a:ea typeface="DM Sans Medium" pitchFamily="34" charset="-122"/>
                <a:cs typeface="Leelawadee UI" panose="020B0502040204020203" pitchFamily="34" charset="-34"/>
              </a:rPr>
              <a:t>Posisi Strategis YNKI</a:t>
            </a:r>
            <a:endParaRPr lang="en-US" sz="1400" dirty="0">
              <a:latin typeface="Leelawadee UI" panose="020B0502040204020203" pitchFamily="34" charset="-34"/>
              <a:cs typeface="Leelawadee UI" panose="020B0502040204020203" pitchFamily="34" charset="-34"/>
            </a:endParaRPr>
          </a:p>
        </p:txBody>
      </p:sp>
      <p:sp>
        <p:nvSpPr>
          <p:cNvPr id="49" name="Text 8">
            <a:extLst>
              <a:ext uri="{FF2B5EF4-FFF2-40B4-BE49-F238E27FC236}">
                <a16:creationId xmlns:a16="http://schemas.microsoft.com/office/drawing/2014/main" id="{1CE38FCA-AF38-8F2E-61E5-377B3F3D79B2}"/>
              </a:ext>
            </a:extLst>
          </p:cNvPr>
          <p:cNvSpPr/>
          <p:nvPr/>
        </p:nvSpPr>
        <p:spPr>
          <a:xfrm>
            <a:off x="5194612" y="6916647"/>
            <a:ext cx="3432497" cy="1302395"/>
          </a:xfrm>
          <a:prstGeom prst="rect">
            <a:avLst/>
          </a:prstGeom>
          <a:noFill/>
          <a:ln/>
        </p:spPr>
        <p:txBody>
          <a:bodyPr wrap="square" lIns="0" tIns="0" rIns="0" bIns="0" rtlCol="0" anchor="t">
            <a:normAutofit/>
          </a:bodyPr>
          <a:lstStyle/>
          <a:p>
            <a:pPr>
              <a:lnSpc>
                <a:spcPct val="133000"/>
              </a:lnSpc>
            </a:pPr>
            <a:r>
              <a:rPr lang="en-US" sz="1000" dirty="0">
                <a:solidFill>
                  <a:srgbClr val="FFFFFF"/>
                </a:solidFill>
                <a:latin typeface="Leelawadee UI" panose="020B0502040204020203" pitchFamily="34" charset="-34"/>
                <a:ea typeface="Inter" pitchFamily="34" charset="-122"/>
                <a:cs typeface="Leelawadee UI" panose="020B0502040204020203" pitchFamily="34" charset="-34"/>
              </a:rPr>
              <a:t>Sebagai </a:t>
            </a:r>
            <a:r>
              <a:rPr lang="en-US" sz="1000" b="1" dirty="0">
                <a:solidFill>
                  <a:srgbClr val="FFFFFF"/>
                </a:solidFill>
                <a:latin typeface="Leelawadee UI" panose="020B0502040204020203" pitchFamily="34" charset="-34"/>
                <a:ea typeface="Inter" pitchFamily="34" charset="-122"/>
                <a:cs typeface="Leelawadee UI" panose="020B0502040204020203" pitchFamily="34" charset="-34"/>
              </a:rPr>
              <a:t>Landscape Governance Backbone Organization</a:t>
            </a:r>
            <a:r>
              <a:rPr lang="en-US" sz="1000" dirty="0">
                <a:solidFill>
                  <a:srgbClr val="FFFFFF"/>
                </a:solidFill>
                <a:latin typeface="Leelawadee UI" panose="020B0502040204020203" pitchFamily="34" charset="-34"/>
                <a:ea typeface="Inter" pitchFamily="34" charset="-122"/>
                <a:cs typeface="Leelawadee UI" panose="020B0502040204020203" pitchFamily="34" charset="-34"/>
              </a:rPr>
              <a:t>, YNKI memainkan peran unik sebagai fasilitator netral yang menjembatani kepentingan berbagai pihak — dari komunitas adat hingga pemerintah daerah dan sektor swasta.</a:t>
            </a:r>
            <a:endParaRPr lang="en-US" sz="1000" dirty="0">
              <a:latin typeface="Leelawadee UI" panose="020B0502040204020203" pitchFamily="34" charset="-34"/>
              <a:cs typeface="Leelawadee UI" panose="020B0502040204020203" pitchFamily="34" charset="-34"/>
            </a:endParaRPr>
          </a:p>
          <a:p>
            <a:pPr>
              <a:lnSpc>
                <a:spcPct val="133000"/>
              </a:lnSpc>
            </a:pPr>
            <a:r>
              <a:rPr lang="en-US" sz="1000" i="1" dirty="0">
                <a:solidFill>
                  <a:srgbClr val="FFFFFF"/>
                </a:solidFill>
                <a:latin typeface="Leelawadee UI" panose="020B0502040204020203" pitchFamily="34" charset="-34"/>
                <a:ea typeface="Inter" pitchFamily="34" charset="-122"/>
                <a:cs typeface="Leelawadee UI" panose="020B0502040204020203" pitchFamily="34" charset="-34"/>
              </a:rPr>
              <a:t>"Nature for Life"</a:t>
            </a:r>
            <a:r>
              <a:rPr lang="en-US" sz="1000" dirty="0">
                <a:solidFill>
                  <a:srgbClr val="FFFFFF"/>
                </a:solidFill>
                <a:latin typeface="Leelawadee UI" panose="020B0502040204020203" pitchFamily="34" charset="-34"/>
                <a:ea typeface="Inter" pitchFamily="34" charset="-122"/>
                <a:cs typeface="Leelawadee UI" panose="020B0502040204020203" pitchFamily="34" charset="-34"/>
              </a:rPr>
              <a:t> — Yayasan Natural Kapital Indonesia</a:t>
            </a:r>
            <a:endParaRPr lang="en-US" sz="1000" dirty="0">
              <a:latin typeface="Leelawadee UI" panose="020B0502040204020203" pitchFamily="34" charset="-34"/>
              <a:cs typeface="Leelawadee UI" panose="020B0502040204020203" pitchFamily="34" charset="-34"/>
            </a:endParaRPr>
          </a:p>
        </p:txBody>
      </p:sp>
      <p:sp>
        <p:nvSpPr>
          <p:cNvPr id="50" name="Shape 0">
            <a:extLst>
              <a:ext uri="{FF2B5EF4-FFF2-40B4-BE49-F238E27FC236}">
                <a16:creationId xmlns:a16="http://schemas.microsoft.com/office/drawing/2014/main" id="{5E587FBA-8E7D-99EA-15BD-26342923E5F7}"/>
              </a:ext>
            </a:extLst>
          </p:cNvPr>
          <p:cNvSpPr/>
          <p:nvPr/>
        </p:nvSpPr>
        <p:spPr>
          <a:xfrm>
            <a:off x="381137" y="9211577"/>
            <a:ext cx="2093640" cy="270718"/>
          </a:xfrm>
          <a:prstGeom prst="roundRect">
            <a:avLst>
              <a:gd name="adj" fmla="val 6383"/>
            </a:avLst>
          </a:prstGeom>
          <a:solidFill>
            <a:srgbClr val="E3E3E8"/>
          </a:solidFill>
          <a:ln/>
        </p:spPr>
      </p:sp>
      <p:sp>
        <p:nvSpPr>
          <p:cNvPr id="51" name="Text 1">
            <a:extLst>
              <a:ext uri="{FF2B5EF4-FFF2-40B4-BE49-F238E27FC236}">
                <a16:creationId xmlns:a16="http://schemas.microsoft.com/office/drawing/2014/main" id="{3BE78227-4135-7E51-DC4A-FE14F0FED85F}"/>
              </a:ext>
            </a:extLst>
          </p:cNvPr>
          <p:cNvSpPr/>
          <p:nvPr/>
        </p:nvSpPr>
        <p:spPr>
          <a:xfrm>
            <a:off x="455551" y="9248784"/>
            <a:ext cx="2093640" cy="158800"/>
          </a:xfrm>
          <a:prstGeom prst="rect">
            <a:avLst/>
          </a:prstGeom>
          <a:noFill/>
          <a:ln/>
        </p:spPr>
        <p:txBody>
          <a:bodyPr wrap="none" lIns="0" tIns="0" rIns="0" bIns="0" rtlCol="0" anchor="t"/>
          <a:lstStyle/>
          <a:p>
            <a:pPr>
              <a:lnSpc>
                <a:spcPct val="133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MENGAPA PROGRAM INI PENTING</a:t>
            </a:r>
            <a:endParaRPr lang="en-US" sz="1000" dirty="0">
              <a:latin typeface="Leelawadee UI" panose="020B0502040204020203" pitchFamily="34" charset="-34"/>
              <a:cs typeface="Leelawadee UI" panose="020B0502040204020203" pitchFamily="34" charset="-34"/>
            </a:endParaRPr>
          </a:p>
        </p:txBody>
      </p:sp>
      <p:sp>
        <p:nvSpPr>
          <p:cNvPr id="52" name="Text 2">
            <a:extLst>
              <a:ext uri="{FF2B5EF4-FFF2-40B4-BE49-F238E27FC236}">
                <a16:creationId xmlns:a16="http://schemas.microsoft.com/office/drawing/2014/main" id="{6C126D34-6FCE-55B9-C8D1-FAA284C480BD}"/>
              </a:ext>
            </a:extLst>
          </p:cNvPr>
          <p:cNvSpPr/>
          <p:nvPr/>
        </p:nvSpPr>
        <p:spPr>
          <a:xfrm>
            <a:off x="381138" y="9494351"/>
            <a:ext cx="8151763" cy="775097"/>
          </a:xfrm>
          <a:prstGeom prst="rect">
            <a:avLst/>
          </a:prstGeom>
          <a:noFill/>
          <a:ln/>
        </p:spPr>
        <p:txBody>
          <a:bodyPr wrap="square" lIns="0" tIns="0" rIns="0" bIns="0" rtlCol="0" anchor="t">
            <a:noAutofit/>
          </a:bodyPr>
          <a:lstStyle/>
          <a:p>
            <a:pPr>
              <a:lnSpc>
                <a:spcPct val="104000"/>
              </a:lnSpc>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Akar Masalah: Lemahnya Tata Kelola, Bukan Kekurangan Sumber Daya</a:t>
            </a:r>
            <a:endParaRPr lang="en-US" sz="2400" dirty="0">
              <a:latin typeface="Leelawadee UI" panose="020B0502040204020203" pitchFamily="34" charset="-34"/>
              <a:cs typeface="Leelawadee UI" panose="020B0502040204020203" pitchFamily="34" charset="-34"/>
            </a:endParaRPr>
          </a:p>
        </p:txBody>
      </p:sp>
      <p:sp>
        <p:nvSpPr>
          <p:cNvPr id="53" name="Shape 3">
            <a:extLst>
              <a:ext uri="{FF2B5EF4-FFF2-40B4-BE49-F238E27FC236}">
                <a16:creationId xmlns:a16="http://schemas.microsoft.com/office/drawing/2014/main" id="{3E20932B-859D-CF1B-6B44-CBCC5F2EC5C2}"/>
              </a:ext>
            </a:extLst>
          </p:cNvPr>
          <p:cNvSpPr/>
          <p:nvPr/>
        </p:nvSpPr>
        <p:spPr>
          <a:xfrm>
            <a:off x="381138" y="10455482"/>
            <a:ext cx="2634555" cy="1310060"/>
          </a:xfrm>
          <a:prstGeom prst="roundRect">
            <a:avLst>
              <a:gd name="adj" fmla="val 1420"/>
            </a:avLst>
          </a:prstGeom>
          <a:solidFill>
            <a:srgbClr val="EDEBE3"/>
          </a:solidFill>
          <a:ln/>
        </p:spPr>
      </p:sp>
      <p:sp>
        <p:nvSpPr>
          <p:cNvPr id="54" name="Text 4">
            <a:extLst>
              <a:ext uri="{FF2B5EF4-FFF2-40B4-BE49-F238E27FC236}">
                <a16:creationId xmlns:a16="http://schemas.microsoft.com/office/drawing/2014/main" id="{FC65D8F8-5DB2-EEF1-4C16-D9BD4127E4CE}"/>
              </a:ext>
            </a:extLst>
          </p:cNvPr>
          <p:cNvSpPr/>
          <p:nvPr/>
        </p:nvSpPr>
        <p:spPr>
          <a:xfrm>
            <a:off x="505110" y="10579457"/>
            <a:ext cx="1877020" cy="193849"/>
          </a:xfrm>
          <a:prstGeom prst="rect">
            <a:avLst/>
          </a:prstGeom>
          <a:noFill/>
          <a:ln/>
        </p:spPr>
        <p:txBody>
          <a:bodyPr wrap="none" lIns="0" tIns="0" rIns="0" bIns="0" rtlCol="0" anchor="t"/>
          <a:lstStyle/>
          <a:p>
            <a:pPr>
              <a:lnSpc>
                <a:spcPct val="104000"/>
              </a:lnSpc>
            </a:pPr>
            <a:r>
              <a:rPr lang="en-US" sz="14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 Fragmentasi Kebijakan</a:t>
            </a:r>
            <a:endParaRPr lang="en-US" sz="1400" dirty="0">
              <a:latin typeface="Leelawadee UI" panose="020B0502040204020203" pitchFamily="34" charset="-34"/>
              <a:cs typeface="Leelawadee UI" panose="020B0502040204020203" pitchFamily="34" charset="-34"/>
            </a:endParaRPr>
          </a:p>
        </p:txBody>
      </p:sp>
      <p:sp>
        <p:nvSpPr>
          <p:cNvPr id="55" name="Text 5">
            <a:extLst>
              <a:ext uri="{FF2B5EF4-FFF2-40B4-BE49-F238E27FC236}">
                <a16:creationId xmlns:a16="http://schemas.microsoft.com/office/drawing/2014/main" id="{EA92380E-38FF-23C2-0EFE-FB418FD74089}"/>
              </a:ext>
            </a:extLst>
          </p:cNvPr>
          <p:cNvSpPr/>
          <p:nvPr/>
        </p:nvSpPr>
        <p:spPr>
          <a:xfrm>
            <a:off x="505110" y="10847720"/>
            <a:ext cx="2386608" cy="793849"/>
          </a:xfrm>
          <a:prstGeom prst="rect">
            <a:avLst/>
          </a:prstGeom>
          <a:noFill/>
          <a:ln/>
        </p:spPr>
        <p:txBody>
          <a:bodyPr wrap="square" lIns="0" tIns="0" rIns="0" bIns="0" rtlCol="0" anchor="t">
            <a:normAutofit/>
          </a:bodyPr>
          <a:lstStyle/>
          <a:p>
            <a:pPr>
              <a:lnSpc>
                <a:spcPct val="133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Kebijakan yang terfragmentasi antar sektor menyebabkan tumpang tindih kewenangan dan ketidakpastian hukum dalam pengelolaan kawasan.</a:t>
            </a:r>
            <a:endParaRPr lang="en-US" sz="1000" dirty="0">
              <a:latin typeface="Leelawadee UI" panose="020B0502040204020203" pitchFamily="34" charset="-34"/>
              <a:cs typeface="Leelawadee UI" panose="020B0502040204020203" pitchFamily="34" charset="-34"/>
            </a:endParaRPr>
          </a:p>
        </p:txBody>
      </p:sp>
      <p:sp>
        <p:nvSpPr>
          <p:cNvPr id="56" name="Shape 6">
            <a:extLst>
              <a:ext uri="{FF2B5EF4-FFF2-40B4-BE49-F238E27FC236}">
                <a16:creationId xmlns:a16="http://schemas.microsoft.com/office/drawing/2014/main" id="{8C0C512D-EADA-4F09-801B-1DC69373A1E1}"/>
              </a:ext>
            </a:extLst>
          </p:cNvPr>
          <p:cNvSpPr/>
          <p:nvPr/>
        </p:nvSpPr>
        <p:spPr>
          <a:xfrm>
            <a:off x="3139666" y="10455482"/>
            <a:ext cx="2634630" cy="1310060"/>
          </a:xfrm>
          <a:prstGeom prst="roundRect">
            <a:avLst>
              <a:gd name="adj" fmla="val 1420"/>
            </a:avLst>
          </a:prstGeom>
          <a:solidFill>
            <a:srgbClr val="EDEBE3"/>
          </a:solidFill>
          <a:ln/>
        </p:spPr>
      </p:sp>
      <p:sp>
        <p:nvSpPr>
          <p:cNvPr id="57" name="Text 7">
            <a:extLst>
              <a:ext uri="{FF2B5EF4-FFF2-40B4-BE49-F238E27FC236}">
                <a16:creationId xmlns:a16="http://schemas.microsoft.com/office/drawing/2014/main" id="{5003FB57-4092-C148-9FD5-F35F4377EA58}"/>
              </a:ext>
            </a:extLst>
          </p:cNvPr>
          <p:cNvSpPr/>
          <p:nvPr/>
        </p:nvSpPr>
        <p:spPr>
          <a:xfrm>
            <a:off x="3263641" y="10579457"/>
            <a:ext cx="2124075" cy="193849"/>
          </a:xfrm>
          <a:prstGeom prst="rect">
            <a:avLst/>
          </a:prstGeom>
          <a:noFill/>
          <a:ln/>
        </p:spPr>
        <p:txBody>
          <a:bodyPr wrap="none" lIns="0" tIns="0" rIns="0" bIns="0" rtlCol="0" anchor="t"/>
          <a:lstStyle/>
          <a:p>
            <a:pPr>
              <a:lnSpc>
                <a:spcPct val="104000"/>
              </a:lnSpc>
            </a:pPr>
            <a:r>
              <a:rPr lang="en-US" sz="14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 Konflik Penggunaan Lahan</a:t>
            </a:r>
            <a:endParaRPr lang="en-US" sz="1400" dirty="0">
              <a:latin typeface="Leelawadee UI" panose="020B0502040204020203" pitchFamily="34" charset="-34"/>
              <a:cs typeface="Leelawadee UI" panose="020B0502040204020203" pitchFamily="34" charset="-34"/>
            </a:endParaRPr>
          </a:p>
        </p:txBody>
      </p:sp>
      <p:sp>
        <p:nvSpPr>
          <p:cNvPr id="58" name="Text 8">
            <a:extLst>
              <a:ext uri="{FF2B5EF4-FFF2-40B4-BE49-F238E27FC236}">
                <a16:creationId xmlns:a16="http://schemas.microsoft.com/office/drawing/2014/main" id="{90C3294E-D886-75CC-8D5E-BD15B15D528E}"/>
              </a:ext>
            </a:extLst>
          </p:cNvPr>
          <p:cNvSpPr/>
          <p:nvPr/>
        </p:nvSpPr>
        <p:spPr>
          <a:xfrm>
            <a:off x="3263640" y="10847720"/>
            <a:ext cx="2386682" cy="793849"/>
          </a:xfrm>
          <a:prstGeom prst="rect">
            <a:avLst/>
          </a:prstGeom>
          <a:noFill/>
          <a:ln/>
        </p:spPr>
        <p:txBody>
          <a:bodyPr wrap="square" lIns="0" tIns="0" rIns="0" bIns="0" rtlCol="0" anchor="t">
            <a:normAutofit/>
          </a:bodyPr>
          <a:lstStyle/>
          <a:p>
            <a:pPr>
              <a:lnSpc>
                <a:spcPct val="133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Konflik tenurial dan penggunaan lahan meningkat ketika hak dan tanggung jawab para pihak tidak diakui atau tidak terdokumentasi dengan jelas.</a:t>
            </a:r>
            <a:endParaRPr lang="en-US" sz="1000" dirty="0">
              <a:latin typeface="Leelawadee UI" panose="020B0502040204020203" pitchFamily="34" charset="-34"/>
              <a:cs typeface="Leelawadee UI" panose="020B0502040204020203" pitchFamily="34" charset="-34"/>
            </a:endParaRPr>
          </a:p>
        </p:txBody>
      </p:sp>
      <p:sp>
        <p:nvSpPr>
          <p:cNvPr id="59" name="Shape 9">
            <a:extLst>
              <a:ext uri="{FF2B5EF4-FFF2-40B4-BE49-F238E27FC236}">
                <a16:creationId xmlns:a16="http://schemas.microsoft.com/office/drawing/2014/main" id="{CD024981-8BEC-81F2-6785-13095DA1C4A8}"/>
              </a:ext>
            </a:extLst>
          </p:cNvPr>
          <p:cNvSpPr/>
          <p:nvPr/>
        </p:nvSpPr>
        <p:spPr>
          <a:xfrm>
            <a:off x="5898271" y="10455482"/>
            <a:ext cx="2634555" cy="1310060"/>
          </a:xfrm>
          <a:prstGeom prst="roundRect">
            <a:avLst>
              <a:gd name="adj" fmla="val 1420"/>
            </a:avLst>
          </a:prstGeom>
          <a:solidFill>
            <a:srgbClr val="EDEBE3"/>
          </a:solidFill>
          <a:ln/>
        </p:spPr>
      </p:sp>
      <p:sp>
        <p:nvSpPr>
          <p:cNvPr id="60" name="Text 10">
            <a:extLst>
              <a:ext uri="{FF2B5EF4-FFF2-40B4-BE49-F238E27FC236}">
                <a16:creationId xmlns:a16="http://schemas.microsoft.com/office/drawing/2014/main" id="{3F1FEBE6-5B92-08BE-93D4-EECFB9DA8C77}"/>
              </a:ext>
            </a:extLst>
          </p:cNvPr>
          <p:cNvSpPr/>
          <p:nvPr/>
        </p:nvSpPr>
        <p:spPr>
          <a:xfrm>
            <a:off x="6022243" y="10579457"/>
            <a:ext cx="1839962" cy="193849"/>
          </a:xfrm>
          <a:prstGeom prst="rect">
            <a:avLst/>
          </a:prstGeom>
          <a:noFill/>
          <a:ln/>
        </p:spPr>
        <p:txBody>
          <a:bodyPr wrap="none" lIns="0" tIns="0" rIns="0" bIns="0" rtlCol="0" anchor="t"/>
          <a:lstStyle/>
          <a:p>
            <a:pPr>
              <a:lnSpc>
                <a:spcPct val="104000"/>
              </a:lnSpc>
            </a:pPr>
            <a:r>
              <a:rPr lang="en-US" sz="14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 Rendahnya Koordinasi</a:t>
            </a:r>
            <a:endParaRPr lang="en-US" sz="1400" dirty="0">
              <a:latin typeface="Leelawadee UI" panose="020B0502040204020203" pitchFamily="34" charset="-34"/>
              <a:cs typeface="Leelawadee UI" panose="020B0502040204020203" pitchFamily="34" charset="-34"/>
            </a:endParaRPr>
          </a:p>
        </p:txBody>
      </p:sp>
      <p:sp>
        <p:nvSpPr>
          <p:cNvPr id="61" name="Text 11">
            <a:extLst>
              <a:ext uri="{FF2B5EF4-FFF2-40B4-BE49-F238E27FC236}">
                <a16:creationId xmlns:a16="http://schemas.microsoft.com/office/drawing/2014/main" id="{D01BD76F-41C2-4B96-FE62-A2E3E2331F0C}"/>
              </a:ext>
            </a:extLst>
          </p:cNvPr>
          <p:cNvSpPr/>
          <p:nvPr/>
        </p:nvSpPr>
        <p:spPr>
          <a:xfrm>
            <a:off x="6022243" y="10847720"/>
            <a:ext cx="2386608" cy="793849"/>
          </a:xfrm>
          <a:prstGeom prst="rect">
            <a:avLst/>
          </a:prstGeom>
          <a:noFill/>
          <a:ln/>
        </p:spPr>
        <p:txBody>
          <a:bodyPr wrap="square" lIns="0" tIns="0" rIns="0" bIns="0" rtlCol="0" anchor="t">
            <a:normAutofit/>
          </a:bodyPr>
          <a:lstStyle/>
          <a:p>
            <a:pPr>
              <a:lnSpc>
                <a:spcPct val="133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Berbagai inisiatif pembangunan dan konservasi berjalan sendiri-sendiri tanpa sinergi, sehingga dampaknya menjadi terbatas dan tidak berkelanjutan.</a:t>
            </a:r>
            <a:endParaRPr lang="en-US" sz="1000" dirty="0">
              <a:latin typeface="Leelawadee UI" panose="020B0502040204020203" pitchFamily="34" charset="-34"/>
              <a:cs typeface="Leelawadee UI" panose="020B0502040204020203" pitchFamily="34" charset="-34"/>
            </a:endParaRPr>
          </a:p>
        </p:txBody>
      </p:sp>
      <p:sp>
        <p:nvSpPr>
          <p:cNvPr id="62" name="Text 12">
            <a:extLst>
              <a:ext uri="{FF2B5EF4-FFF2-40B4-BE49-F238E27FC236}">
                <a16:creationId xmlns:a16="http://schemas.microsoft.com/office/drawing/2014/main" id="{7BF5E6C8-DFB2-88E3-82EC-D359EF32C9E5}"/>
              </a:ext>
            </a:extLst>
          </p:cNvPr>
          <p:cNvSpPr/>
          <p:nvPr/>
        </p:nvSpPr>
        <p:spPr>
          <a:xfrm>
            <a:off x="381138" y="11905069"/>
            <a:ext cx="8151763" cy="396925"/>
          </a:xfrm>
          <a:prstGeom prst="rect">
            <a:avLst/>
          </a:prstGeom>
          <a:noFill/>
          <a:ln/>
        </p:spPr>
        <p:txBody>
          <a:bodyPr wrap="square" lIns="0" tIns="0" rIns="0" bIns="0" rtlCol="0" anchor="t">
            <a:normAutofit/>
          </a:bodyPr>
          <a:lstStyle/>
          <a:p>
            <a:pPr>
              <a:lnSpc>
                <a:spcPct val="133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Program Landscape Governance hadir untuk menjembatani kesenjangan tersebut dengan membangun mekanisme kolaborasi yang efektif di antara seluruh pemangku kepentingan dalam satu lanskap — menciptakan fondasi bagi pengelolaan yang adil, transparan, dan lestari.</a:t>
            </a:r>
            <a:endParaRPr lang="en-US" sz="1000" dirty="0">
              <a:latin typeface="Leelawadee UI" panose="020B0502040204020203" pitchFamily="34" charset="-34"/>
              <a:cs typeface="Leelawadee UI" panose="020B0502040204020203" pitchFamily="34" charset="-34"/>
            </a:endParaRPr>
          </a:p>
        </p:txBody>
      </p:sp>
      <p:sp>
        <p:nvSpPr>
          <p:cNvPr id="63" name="Shape 0">
            <a:extLst>
              <a:ext uri="{FF2B5EF4-FFF2-40B4-BE49-F238E27FC236}">
                <a16:creationId xmlns:a16="http://schemas.microsoft.com/office/drawing/2014/main" id="{1CBEDC83-06EA-C806-F53C-3477F95BE1AD}"/>
              </a:ext>
            </a:extLst>
          </p:cNvPr>
          <p:cNvSpPr/>
          <p:nvPr/>
        </p:nvSpPr>
        <p:spPr>
          <a:xfrm>
            <a:off x="475347" y="12809182"/>
            <a:ext cx="1206632" cy="300783"/>
          </a:xfrm>
          <a:prstGeom prst="roundRect">
            <a:avLst>
              <a:gd name="adj" fmla="val 6418"/>
            </a:avLst>
          </a:prstGeom>
          <a:solidFill>
            <a:srgbClr val="E3E3E8"/>
          </a:solidFill>
          <a:ln/>
        </p:spPr>
      </p:sp>
      <p:sp>
        <p:nvSpPr>
          <p:cNvPr id="64" name="Text 1">
            <a:extLst>
              <a:ext uri="{FF2B5EF4-FFF2-40B4-BE49-F238E27FC236}">
                <a16:creationId xmlns:a16="http://schemas.microsoft.com/office/drawing/2014/main" id="{E0C74B91-7BA3-3113-FB86-A64A654B1BC0}"/>
              </a:ext>
            </a:extLst>
          </p:cNvPr>
          <p:cNvSpPr/>
          <p:nvPr/>
        </p:nvSpPr>
        <p:spPr>
          <a:xfrm>
            <a:off x="548571" y="12845796"/>
            <a:ext cx="1299195" cy="155079"/>
          </a:xfrm>
          <a:prstGeom prst="rect">
            <a:avLst/>
          </a:prstGeom>
          <a:noFill/>
          <a:ln/>
        </p:spPr>
        <p:txBody>
          <a:bodyPr wrap="none" lIns="0" tIns="0" rIns="0" bIns="0" rtlCol="0" anchor="t"/>
          <a:lstStyle/>
          <a:p>
            <a:pPr>
              <a:lnSpc>
                <a:spcPct val="132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HASIL STRATEGIS</a:t>
            </a:r>
            <a:endParaRPr lang="en-US" sz="1000" dirty="0">
              <a:latin typeface="Leelawadee UI" panose="020B0502040204020203" pitchFamily="34" charset="-34"/>
              <a:cs typeface="Leelawadee UI" panose="020B0502040204020203" pitchFamily="34" charset="-34"/>
            </a:endParaRPr>
          </a:p>
        </p:txBody>
      </p:sp>
      <p:sp>
        <p:nvSpPr>
          <p:cNvPr id="65" name="Text 2">
            <a:extLst>
              <a:ext uri="{FF2B5EF4-FFF2-40B4-BE49-F238E27FC236}">
                <a16:creationId xmlns:a16="http://schemas.microsoft.com/office/drawing/2014/main" id="{AFD4C459-D25F-65BF-A1A4-C695ACC03046}"/>
              </a:ext>
            </a:extLst>
          </p:cNvPr>
          <p:cNvSpPr/>
          <p:nvPr/>
        </p:nvSpPr>
        <p:spPr>
          <a:xfrm>
            <a:off x="475347" y="13153201"/>
            <a:ext cx="5188000" cy="381521"/>
          </a:xfrm>
          <a:prstGeom prst="rect">
            <a:avLst/>
          </a:prstGeom>
          <a:noFill/>
          <a:ln/>
        </p:spPr>
        <p:txBody>
          <a:bodyPr wrap="none" lIns="0" tIns="0" rIns="0" bIns="0" rtlCol="0" anchor="t"/>
          <a:lstStyle/>
          <a:p>
            <a:pPr>
              <a:lnSpc>
                <a:spcPct val="104000"/>
              </a:lnSpc>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Hasil Strategis yang Ingin Dicapai</a:t>
            </a:r>
            <a:endParaRPr lang="en-US" sz="2400" dirty="0">
              <a:latin typeface="Leelawadee UI" panose="020B0502040204020203" pitchFamily="34" charset="-34"/>
              <a:cs typeface="Leelawadee UI" panose="020B0502040204020203" pitchFamily="34" charset="-34"/>
            </a:endParaRPr>
          </a:p>
        </p:txBody>
      </p:sp>
      <p:sp>
        <p:nvSpPr>
          <p:cNvPr id="66" name="Text 3">
            <a:extLst>
              <a:ext uri="{FF2B5EF4-FFF2-40B4-BE49-F238E27FC236}">
                <a16:creationId xmlns:a16="http://schemas.microsoft.com/office/drawing/2014/main" id="{E65B1532-F74B-B4D1-E5D4-B91D81A8B2FB}"/>
              </a:ext>
            </a:extLst>
          </p:cNvPr>
          <p:cNvSpPr/>
          <p:nvPr/>
        </p:nvSpPr>
        <p:spPr>
          <a:xfrm>
            <a:off x="475348" y="13647310"/>
            <a:ext cx="8151763" cy="387697"/>
          </a:xfrm>
          <a:prstGeom prst="rect">
            <a:avLst/>
          </a:prstGeom>
          <a:noFill/>
          <a:ln/>
        </p:spPr>
        <p:txBody>
          <a:bodyPr wrap="square" lIns="0" tIns="0" rIns="0" bIns="0" rtlCol="0" anchor="t">
            <a:normAutofit/>
          </a:bodyPr>
          <a:lstStyle/>
          <a:p>
            <a:pPr>
              <a:lnSpc>
                <a:spcPct val="132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Program ini mengarah pada lima perubahan sistemik yang saling memperkuat, membentuk ekosistem tata kelola yang tangguh dan inklusif di seluruh lanskap prioritas YNKI.</a:t>
            </a:r>
            <a:endParaRPr lang="en-US" sz="1000" dirty="0">
              <a:latin typeface="Leelawadee UI" panose="020B0502040204020203" pitchFamily="34" charset="-34"/>
              <a:cs typeface="Leelawadee UI" panose="020B0502040204020203" pitchFamily="34" charset="-34"/>
            </a:endParaRPr>
          </a:p>
        </p:txBody>
      </p:sp>
      <p:pic>
        <p:nvPicPr>
          <p:cNvPr id="67" name="Image 0" descr="preencoded.png">
            <a:extLst>
              <a:ext uri="{FF2B5EF4-FFF2-40B4-BE49-F238E27FC236}">
                <a16:creationId xmlns:a16="http://schemas.microsoft.com/office/drawing/2014/main" id="{8CA65C33-A341-ACF2-7340-1993B8BDE3C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5347" y="14170218"/>
            <a:ext cx="2637086" cy="1662931"/>
          </a:xfrm>
          <a:prstGeom prst="rect">
            <a:avLst/>
          </a:prstGeom>
        </p:spPr>
      </p:pic>
      <p:pic>
        <p:nvPicPr>
          <p:cNvPr id="68" name="Image 1" descr="preencoded.png">
            <a:extLst>
              <a:ext uri="{FF2B5EF4-FFF2-40B4-BE49-F238E27FC236}">
                <a16:creationId xmlns:a16="http://schemas.microsoft.com/office/drawing/2014/main" id="{8D688F8B-2698-0B80-09EC-F61E00F31DE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720592" y="14280053"/>
            <a:ext cx="146521" cy="146521"/>
          </a:xfrm>
          <a:prstGeom prst="rect">
            <a:avLst/>
          </a:prstGeom>
        </p:spPr>
      </p:pic>
      <p:sp>
        <p:nvSpPr>
          <p:cNvPr id="69" name="Text 4">
            <a:extLst>
              <a:ext uri="{FF2B5EF4-FFF2-40B4-BE49-F238E27FC236}">
                <a16:creationId xmlns:a16="http://schemas.microsoft.com/office/drawing/2014/main" id="{9C8AA112-B8B6-77DB-2205-47907F1DA457}"/>
              </a:ext>
            </a:extLst>
          </p:cNvPr>
          <p:cNvSpPr/>
          <p:nvPr/>
        </p:nvSpPr>
        <p:spPr>
          <a:xfrm>
            <a:off x="611674" y="14658597"/>
            <a:ext cx="1969517" cy="190723"/>
          </a:xfrm>
          <a:prstGeom prst="rect">
            <a:avLst/>
          </a:prstGeom>
          <a:noFill/>
          <a:ln/>
        </p:spPr>
        <p:txBody>
          <a:bodyPr wrap="none" lIns="0" tIns="0" rIns="0" bIns="0" rtlCol="0" anchor="t"/>
          <a:lstStyle/>
          <a:p>
            <a:pPr>
              <a:lnSpc>
                <a:spcPct val="104000"/>
              </a:lnSpc>
            </a:pPr>
            <a:r>
              <a:rPr lang="en-US" sz="14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 Forum Multipihak Efektif</a:t>
            </a:r>
            <a:endParaRPr lang="en-US" sz="1400" dirty="0">
              <a:latin typeface="Leelawadee UI" panose="020B0502040204020203" pitchFamily="34" charset="-34"/>
              <a:cs typeface="Leelawadee UI" panose="020B0502040204020203" pitchFamily="34" charset="-34"/>
            </a:endParaRPr>
          </a:p>
        </p:txBody>
      </p:sp>
      <p:sp>
        <p:nvSpPr>
          <p:cNvPr id="70" name="Text 5">
            <a:extLst>
              <a:ext uri="{FF2B5EF4-FFF2-40B4-BE49-F238E27FC236}">
                <a16:creationId xmlns:a16="http://schemas.microsoft.com/office/drawing/2014/main" id="{0B532696-45E6-F232-07EA-E076383E71DD}"/>
              </a:ext>
            </a:extLst>
          </p:cNvPr>
          <p:cNvSpPr/>
          <p:nvPr/>
        </p:nvSpPr>
        <p:spPr>
          <a:xfrm>
            <a:off x="611673" y="14921428"/>
            <a:ext cx="2364432" cy="775395"/>
          </a:xfrm>
          <a:prstGeom prst="rect">
            <a:avLst/>
          </a:prstGeom>
          <a:noFill/>
          <a:ln/>
        </p:spPr>
        <p:txBody>
          <a:bodyPr wrap="square" lIns="0" tIns="0" rIns="0" bIns="0" rtlCol="0" anchor="t">
            <a:normAutofit/>
          </a:bodyPr>
          <a:lstStyle/>
          <a:p>
            <a:pPr>
              <a:lnSpc>
                <a:spcPct val="132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Forum multipihak berfungsi sebagai ruang dialog dan pengambilan keputusan bersama yang inklusif dan akuntabel.</a:t>
            </a:r>
            <a:endParaRPr lang="en-US" sz="1000" dirty="0">
              <a:latin typeface="Leelawadee UI" panose="020B0502040204020203" pitchFamily="34" charset="-34"/>
              <a:cs typeface="Leelawadee UI" panose="020B0502040204020203" pitchFamily="34" charset="-34"/>
            </a:endParaRPr>
          </a:p>
        </p:txBody>
      </p:sp>
      <p:pic>
        <p:nvPicPr>
          <p:cNvPr id="71" name="Image 2" descr="preencoded.png">
            <a:extLst>
              <a:ext uri="{FF2B5EF4-FFF2-40B4-BE49-F238E27FC236}">
                <a16:creationId xmlns:a16="http://schemas.microsoft.com/office/drawing/2014/main" id="{BD4C6A97-1B70-90FE-932D-C36EA248853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232611" y="14170218"/>
            <a:ext cx="2637160" cy="1662931"/>
          </a:xfrm>
          <a:prstGeom prst="rect">
            <a:avLst/>
          </a:prstGeom>
        </p:spPr>
      </p:pic>
      <p:pic>
        <p:nvPicPr>
          <p:cNvPr id="72" name="Image 3" descr="preencoded.png">
            <a:extLst>
              <a:ext uri="{FF2B5EF4-FFF2-40B4-BE49-F238E27FC236}">
                <a16:creationId xmlns:a16="http://schemas.microsoft.com/office/drawing/2014/main" id="{D724CA3D-7318-26FA-9DD6-20753DD890D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477857" y="14280053"/>
            <a:ext cx="146521" cy="146521"/>
          </a:xfrm>
          <a:prstGeom prst="rect">
            <a:avLst/>
          </a:prstGeom>
        </p:spPr>
      </p:pic>
      <p:sp>
        <p:nvSpPr>
          <p:cNvPr id="73" name="Text 6">
            <a:extLst>
              <a:ext uri="{FF2B5EF4-FFF2-40B4-BE49-F238E27FC236}">
                <a16:creationId xmlns:a16="http://schemas.microsoft.com/office/drawing/2014/main" id="{0C489A86-ED85-AA98-9335-EB0C457FDB77}"/>
              </a:ext>
            </a:extLst>
          </p:cNvPr>
          <p:cNvSpPr/>
          <p:nvPr/>
        </p:nvSpPr>
        <p:spPr>
          <a:xfrm>
            <a:off x="3368938" y="14658596"/>
            <a:ext cx="2364507" cy="381446"/>
          </a:xfrm>
          <a:prstGeom prst="rect">
            <a:avLst/>
          </a:prstGeom>
          <a:noFill/>
          <a:ln/>
        </p:spPr>
        <p:txBody>
          <a:bodyPr wrap="square" lIns="0" tIns="0" rIns="0" bIns="0" rtlCol="0" anchor="t">
            <a:noAutofit/>
          </a:bodyPr>
          <a:lstStyle/>
          <a:p>
            <a:pPr>
              <a:lnSpc>
                <a:spcPct val="104000"/>
              </a:lnSpc>
            </a:pPr>
            <a:r>
              <a:rPr lang="en-US" sz="14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 Pendekatan Lanskap Terintegrasi</a:t>
            </a:r>
            <a:endParaRPr lang="en-US" sz="1400" dirty="0">
              <a:latin typeface="Leelawadee UI" panose="020B0502040204020203" pitchFamily="34" charset="-34"/>
              <a:cs typeface="Leelawadee UI" panose="020B0502040204020203" pitchFamily="34" charset="-34"/>
            </a:endParaRPr>
          </a:p>
        </p:txBody>
      </p:sp>
      <p:sp>
        <p:nvSpPr>
          <p:cNvPr id="74" name="Text 7">
            <a:extLst>
              <a:ext uri="{FF2B5EF4-FFF2-40B4-BE49-F238E27FC236}">
                <a16:creationId xmlns:a16="http://schemas.microsoft.com/office/drawing/2014/main" id="{A9DCBB1F-CF8C-3604-65D9-63187D69D951}"/>
              </a:ext>
            </a:extLst>
          </p:cNvPr>
          <p:cNvSpPr/>
          <p:nvPr/>
        </p:nvSpPr>
        <p:spPr>
          <a:xfrm>
            <a:off x="3368938" y="15112150"/>
            <a:ext cx="2364507" cy="581546"/>
          </a:xfrm>
          <a:prstGeom prst="rect">
            <a:avLst/>
          </a:prstGeom>
          <a:noFill/>
          <a:ln/>
        </p:spPr>
        <p:txBody>
          <a:bodyPr wrap="square" lIns="0" tIns="0" rIns="0" bIns="0" rtlCol="0" anchor="t">
            <a:noAutofit/>
          </a:bodyPr>
          <a:lstStyle/>
          <a:p>
            <a:pPr>
              <a:lnSpc>
                <a:spcPct val="132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Pendekatan lanskap terintegrasi dalam perencanaan pembangunan di tingkat desa, kabupaten, dan provinsi.</a:t>
            </a:r>
            <a:endParaRPr lang="en-US" sz="1000" dirty="0">
              <a:latin typeface="Leelawadee UI" panose="020B0502040204020203" pitchFamily="34" charset="-34"/>
              <a:cs typeface="Leelawadee UI" panose="020B0502040204020203" pitchFamily="34" charset="-34"/>
            </a:endParaRPr>
          </a:p>
        </p:txBody>
      </p:sp>
      <p:pic>
        <p:nvPicPr>
          <p:cNvPr id="75" name="Image 4" descr="preencoded.png">
            <a:extLst>
              <a:ext uri="{FF2B5EF4-FFF2-40B4-BE49-F238E27FC236}">
                <a16:creationId xmlns:a16="http://schemas.microsoft.com/office/drawing/2014/main" id="{70BA6453-7FA8-A989-5627-8DE8FEB96DA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98271" y="14170218"/>
            <a:ext cx="2728838" cy="1662931"/>
          </a:xfrm>
          <a:prstGeom prst="rect">
            <a:avLst/>
          </a:prstGeom>
        </p:spPr>
      </p:pic>
      <p:pic>
        <p:nvPicPr>
          <p:cNvPr id="76" name="Image 5" descr="preencoded.png">
            <a:extLst>
              <a:ext uri="{FF2B5EF4-FFF2-40B4-BE49-F238E27FC236}">
                <a16:creationId xmlns:a16="http://schemas.microsoft.com/office/drawing/2014/main" id="{AE5BB0FD-963D-A5AF-3873-057A0663848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235195" y="14280053"/>
            <a:ext cx="146521" cy="146521"/>
          </a:xfrm>
          <a:prstGeom prst="rect">
            <a:avLst/>
          </a:prstGeom>
        </p:spPr>
      </p:pic>
      <p:sp>
        <p:nvSpPr>
          <p:cNvPr id="77" name="Text 8">
            <a:extLst>
              <a:ext uri="{FF2B5EF4-FFF2-40B4-BE49-F238E27FC236}">
                <a16:creationId xmlns:a16="http://schemas.microsoft.com/office/drawing/2014/main" id="{19479887-5BCE-929C-5C04-070DC8EB0349}"/>
              </a:ext>
            </a:extLst>
          </p:cNvPr>
          <p:cNvSpPr/>
          <p:nvPr/>
        </p:nvSpPr>
        <p:spPr>
          <a:xfrm>
            <a:off x="6009313" y="14658597"/>
            <a:ext cx="2309366" cy="190723"/>
          </a:xfrm>
          <a:prstGeom prst="rect">
            <a:avLst/>
          </a:prstGeom>
          <a:noFill/>
          <a:ln/>
        </p:spPr>
        <p:txBody>
          <a:bodyPr wrap="none" lIns="0" tIns="0" rIns="0" bIns="0" rtlCol="0" anchor="t"/>
          <a:lstStyle/>
          <a:p>
            <a:pPr>
              <a:lnSpc>
                <a:spcPct val="104000"/>
              </a:lnSpc>
            </a:pPr>
            <a:r>
              <a:rPr lang="en-US" sz="14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 Mekanisme Co-Management</a:t>
            </a:r>
            <a:endParaRPr lang="en-US" sz="1400" dirty="0">
              <a:latin typeface="Leelawadee UI" panose="020B0502040204020203" pitchFamily="34" charset="-34"/>
              <a:cs typeface="Leelawadee UI" panose="020B0502040204020203" pitchFamily="34" charset="-34"/>
            </a:endParaRPr>
          </a:p>
        </p:txBody>
      </p:sp>
      <p:sp>
        <p:nvSpPr>
          <p:cNvPr id="78" name="Text 9">
            <a:extLst>
              <a:ext uri="{FF2B5EF4-FFF2-40B4-BE49-F238E27FC236}">
                <a16:creationId xmlns:a16="http://schemas.microsoft.com/office/drawing/2014/main" id="{8A6D7C45-D236-9910-260F-A30748BC859E}"/>
              </a:ext>
            </a:extLst>
          </p:cNvPr>
          <p:cNvSpPr/>
          <p:nvPr/>
        </p:nvSpPr>
        <p:spPr>
          <a:xfrm>
            <a:off x="6009314" y="14921428"/>
            <a:ext cx="2364507" cy="775395"/>
          </a:xfrm>
          <a:prstGeom prst="rect">
            <a:avLst/>
          </a:prstGeom>
          <a:noFill/>
          <a:ln/>
        </p:spPr>
        <p:txBody>
          <a:bodyPr wrap="square" lIns="0" tIns="0" rIns="0" bIns="0" rtlCol="0" anchor="t">
            <a:normAutofit/>
          </a:bodyPr>
          <a:lstStyle/>
          <a:p>
            <a:pPr>
              <a:lnSpc>
                <a:spcPct val="132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Mekanisme co-management berkembang antara masyarakat, pemerintah, dan sektor swasta secara proporsional.</a:t>
            </a:r>
            <a:endParaRPr lang="en-US" sz="1000" dirty="0">
              <a:latin typeface="Leelawadee UI" panose="020B0502040204020203" pitchFamily="34" charset="-34"/>
              <a:cs typeface="Leelawadee UI" panose="020B0502040204020203" pitchFamily="34" charset="-34"/>
            </a:endParaRPr>
          </a:p>
        </p:txBody>
      </p:sp>
      <p:pic>
        <p:nvPicPr>
          <p:cNvPr id="79" name="Image 6" descr="preencoded.png">
            <a:extLst>
              <a:ext uri="{FF2B5EF4-FFF2-40B4-BE49-F238E27FC236}">
                <a16:creationId xmlns:a16="http://schemas.microsoft.com/office/drawing/2014/main" id="{8CF64B33-B1C4-3634-ED80-774574CA9AB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75348" y="15953326"/>
            <a:ext cx="4015755" cy="1275234"/>
          </a:xfrm>
          <a:prstGeom prst="rect">
            <a:avLst/>
          </a:prstGeom>
        </p:spPr>
      </p:pic>
      <p:pic>
        <p:nvPicPr>
          <p:cNvPr id="80" name="Image 7" descr="preencoded.png">
            <a:extLst>
              <a:ext uri="{FF2B5EF4-FFF2-40B4-BE49-F238E27FC236}">
                <a16:creationId xmlns:a16="http://schemas.microsoft.com/office/drawing/2014/main" id="{D03DD373-8748-05E3-A888-F3CBD8132EB6}"/>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409890" y="16063163"/>
            <a:ext cx="146521" cy="146521"/>
          </a:xfrm>
          <a:prstGeom prst="rect">
            <a:avLst/>
          </a:prstGeom>
        </p:spPr>
      </p:pic>
      <p:sp>
        <p:nvSpPr>
          <p:cNvPr id="81" name="Text 10">
            <a:extLst>
              <a:ext uri="{FF2B5EF4-FFF2-40B4-BE49-F238E27FC236}">
                <a16:creationId xmlns:a16="http://schemas.microsoft.com/office/drawing/2014/main" id="{A9E6342C-A450-F795-417D-B63975AFAECA}"/>
              </a:ext>
            </a:extLst>
          </p:cNvPr>
          <p:cNvSpPr/>
          <p:nvPr/>
        </p:nvSpPr>
        <p:spPr>
          <a:xfrm>
            <a:off x="611674" y="16441707"/>
            <a:ext cx="1526307" cy="190723"/>
          </a:xfrm>
          <a:prstGeom prst="rect">
            <a:avLst/>
          </a:prstGeom>
          <a:noFill/>
          <a:ln/>
        </p:spPr>
        <p:txBody>
          <a:bodyPr wrap="none" lIns="0" tIns="0" rIns="0" bIns="0" rtlCol="0" anchor="t"/>
          <a:lstStyle/>
          <a:p>
            <a:pPr>
              <a:lnSpc>
                <a:spcPct val="104000"/>
              </a:lnSpc>
            </a:pPr>
            <a:r>
              <a:rPr lang="en-US" sz="14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 Konflik Berkurang</a:t>
            </a:r>
            <a:endParaRPr lang="en-US" sz="1400" dirty="0">
              <a:latin typeface="Leelawadee UI" panose="020B0502040204020203" pitchFamily="34" charset="-34"/>
              <a:cs typeface="Leelawadee UI" panose="020B0502040204020203" pitchFamily="34" charset="-34"/>
            </a:endParaRPr>
          </a:p>
        </p:txBody>
      </p:sp>
      <p:sp>
        <p:nvSpPr>
          <p:cNvPr id="82" name="Text 11">
            <a:extLst>
              <a:ext uri="{FF2B5EF4-FFF2-40B4-BE49-F238E27FC236}">
                <a16:creationId xmlns:a16="http://schemas.microsoft.com/office/drawing/2014/main" id="{3128E2DE-7252-256B-6D5E-B333015BA648}"/>
              </a:ext>
            </a:extLst>
          </p:cNvPr>
          <p:cNvSpPr/>
          <p:nvPr/>
        </p:nvSpPr>
        <p:spPr>
          <a:xfrm>
            <a:off x="611673" y="16704537"/>
            <a:ext cx="3743102" cy="387697"/>
          </a:xfrm>
          <a:prstGeom prst="rect">
            <a:avLst/>
          </a:prstGeom>
          <a:noFill/>
          <a:ln/>
        </p:spPr>
        <p:txBody>
          <a:bodyPr wrap="square" lIns="0" tIns="0" rIns="0" bIns="0" rtlCol="0" anchor="t">
            <a:normAutofit/>
          </a:bodyPr>
          <a:lstStyle/>
          <a:p>
            <a:pPr>
              <a:lnSpc>
                <a:spcPct val="132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Konflik sumber daya alam berkurang melalui mediasi dan penyelesaian berbasis dialog yang terstruktur.</a:t>
            </a:r>
            <a:endParaRPr lang="en-US" sz="1000" dirty="0">
              <a:latin typeface="Leelawadee UI" panose="020B0502040204020203" pitchFamily="34" charset="-34"/>
              <a:cs typeface="Leelawadee UI" panose="020B0502040204020203" pitchFamily="34" charset="-34"/>
            </a:endParaRPr>
          </a:p>
        </p:txBody>
      </p:sp>
      <p:pic>
        <p:nvPicPr>
          <p:cNvPr id="83" name="Image 8" descr="preencoded.png">
            <a:extLst>
              <a:ext uri="{FF2B5EF4-FFF2-40B4-BE49-F238E27FC236}">
                <a16:creationId xmlns:a16="http://schemas.microsoft.com/office/drawing/2014/main" id="{00820301-D71B-F4CF-CB06-656B754D0C32}"/>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611281" y="15953326"/>
            <a:ext cx="4015829" cy="1275234"/>
          </a:xfrm>
          <a:prstGeom prst="rect">
            <a:avLst/>
          </a:prstGeom>
        </p:spPr>
      </p:pic>
      <p:pic>
        <p:nvPicPr>
          <p:cNvPr id="84" name="Image 9" descr="preencoded.png">
            <a:extLst>
              <a:ext uri="{FF2B5EF4-FFF2-40B4-BE49-F238E27FC236}">
                <a16:creationId xmlns:a16="http://schemas.microsoft.com/office/drawing/2014/main" id="{59B499F5-963D-ACC4-BB91-6F9B8C7D78D5}"/>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545898" y="16063163"/>
            <a:ext cx="146521" cy="146521"/>
          </a:xfrm>
          <a:prstGeom prst="rect">
            <a:avLst/>
          </a:prstGeom>
        </p:spPr>
      </p:pic>
      <p:sp>
        <p:nvSpPr>
          <p:cNvPr id="85" name="Text 12">
            <a:extLst>
              <a:ext uri="{FF2B5EF4-FFF2-40B4-BE49-F238E27FC236}">
                <a16:creationId xmlns:a16="http://schemas.microsoft.com/office/drawing/2014/main" id="{DC6A6F9B-75E2-A09D-1F20-52B09B9953A7}"/>
              </a:ext>
            </a:extLst>
          </p:cNvPr>
          <p:cNvSpPr/>
          <p:nvPr/>
        </p:nvSpPr>
        <p:spPr>
          <a:xfrm>
            <a:off x="4747607" y="16441707"/>
            <a:ext cx="2285702" cy="190723"/>
          </a:xfrm>
          <a:prstGeom prst="rect">
            <a:avLst/>
          </a:prstGeom>
          <a:noFill/>
          <a:ln/>
        </p:spPr>
        <p:txBody>
          <a:bodyPr wrap="none" lIns="0" tIns="0" rIns="0" bIns="0" rtlCol="0" anchor="t"/>
          <a:lstStyle/>
          <a:p>
            <a:pPr>
              <a:lnSpc>
                <a:spcPct val="104000"/>
              </a:lnSpc>
            </a:pPr>
            <a:r>
              <a:rPr lang="en-US" sz="14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 Hak &amp; Tanggung Jawab Jelas</a:t>
            </a:r>
            <a:endParaRPr lang="en-US" sz="1400" dirty="0">
              <a:latin typeface="Leelawadee UI" panose="020B0502040204020203" pitchFamily="34" charset="-34"/>
              <a:cs typeface="Leelawadee UI" panose="020B0502040204020203" pitchFamily="34" charset="-34"/>
            </a:endParaRPr>
          </a:p>
        </p:txBody>
      </p:sp>
      <p:sp>
        <p:nvSpPr>
          <p:cNvPr id="86" name="Text 13">
            <a:extLst>
              <a:ext uri="{FF2B5EF4-FFF2-40B4-BE49-F238E27FC236}">
                <a16:creationId xmlns:a16="http://schemas.microsoft.com/office/drawing/2014/main" id="{7DF4B81F-697D-4B44-1F3C-72E34BD56776}"/>
              </a:ext>
            </a:extLst>
          </p:cNvPr>
          <p:cNvSpPr/>
          <p:nvPr/>
        </p:nvSpPr>
        <p:spPr>
          <a:xfrm>
            <a:off x="4747607" y="16704537"/>
            <a:ext cx="3743176" cy="387697"/>
          </a:xfrm>
          <a:prstGeom prst="rect">
            <a:avLst/>
          </a:prstGeom>
          <a:noFill/>
          <a:ln/>
        </p:spPr>
        <p:txBody>
          <a:bodyPr wrap="square" lIns="0" tIns="0" rIns="0" bIns="0" rtlCol="0" anchor="t">
            <a:normAutofit/>
          </a:bodyPr>
          <a:lstStyle/>
          <a:p>
            <a:pPr>
              <a:lnSpc>
                <a:spcPct val="132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Hak dan tanggung jawab para pihak dalam pengelolaan lanskap lebih jelas, diakui, dan terdokumentasi secara hukum.</a:t>
            </a:r>
            <a:endParaRPr lang="en-US" sz="1000" dirty="0">
              <a:latin typeface="Leelawadee UI" panose="020B0502040204020203" pitchFamily="34" charset="-34"/>
              <a:cs typeface="Leelawadee UI" panose="020B0502040204020203" pitchFamily="34" charset="-34"/>
            </a:endParaRPr>
          </a:p>
        </p:txBody>
      </p:sp>
      <p:sp>
        <p:nvSpPr>
          <p:cNvPr id="87" name="Shape 0">
            <a:extLst>
              <a:ext uri="{FF2B5EF4-FFF2-40B4-BE49-F238E27FC236}">
                <a16:creationId xmlns:a16="http://schemas.microsoft.com/office/drawing/2014/main" id="{68C27992-4BF7-8498-A58E-5EFDB1B53918}"/>
              </a:ext>
            </a:extLst>
          </p:cNvPr>
          <p:cNvSpPr/>
          <p:nvPr/>
        </p:nvSpPr>
        <p:spPr>
          <a:xfrm>
            <a:off x="486666" y="17662689"/>
            <a:ext cx="1132582" cy="221383"/>
          </a:xfrm>
          <a:prstGeom prst="roundRect">
            <a:avLst>
              <a:gd name="adj" fmla="val 6749"/>
            </a:avLst>
          </a:prstGeom>
          <a:solidFill>
            <a:srgbClr val="E3E3E8"/>
          </a:solidFill>
          <a:ln/>
        </p:spPr>
      </p:sp>
      <p:sp>
        <p:nvSpPr>
          <p:cNvPr id="88" name="Text 1">
            <a:extLst>
              <a:ext uri="{FF2B5EF4-FFF2-40B4-BE49-F238E27FC236}">
                <a16:creationId xmlns:a16="http://schemas.microsoft.com/office/drawing/2014/main" id="{2CCDB0A2-4814-DCFB-791F-07C63F5E315B}"/>
              </a:ext>
            </a:extLst>
          </p:cNvPr>
          <p:cNvSpPr/>
          <p:nvPr/>
        </p:nvSpPr>
        <p:spPr>
          <a:xfrm>
            <a:off x="549397" y="17694019"/>
            <a:ext cx="1132582" cy="123453"/>
          </a:xfrm>
          <a:prstGeom prst="rect">
            <a:avLst/>
          </a:prstGeom>
          <a:noFill/>
          <a:ln/>
        </p:spPr>
        <p:txBody>
          <a:bodyPr wrap="none" lIns="0" tIns="0" rIns="0" bIns="0" rtlCol="0" anchor="t"/>
          <a:lstStyle/>
          <a:p>
            <a:pPr>
              <a:lnSpc>
                <a:spcPct val="123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INTERVENSI INTI</a:t>
            </a:r>
            <a:endParaRPr lang="en-US" sz="1000" dirty="0">
              <a:latin typeface="Leelawadee UI" panose="020B0502040204020203" pitchFamily="34" charset="-34"/>
              <a:cs typeface="Leelawadee UI" panose="020B0502040204020203" pitchFamily="34" charset="-34"/>
            </a:endParaRPr>
          </a:p>
        </p:txBody>
      </p:sp>
      <p:sp>
        <p:nvSpPr>
          <p:cNvPr id="89" name="Text 2">
            <a:extLst>
              <a:ext uri="{FF2B5EF4-FFF2-40B4-BE49-F238E27FC236}">
                <a16:creationId xmlns:a16="http://schemas.microsoft.com/office/drawing/2014/main" id="{76FF8F8F-5642-1A90-2CF3-EF2174201F35}"/>
              </a:ext>
            </a:extLst>
          </p:cNvPr>
          <p:cNvSpPr/>
          <p:nvPr/>
        </p:nvSpPr>
        <p:spPr>
          <a:xfrm>
            <a:off x="486667" y="17884072"/>
            <a:ext cx="3954587" cy="327050"/>
          </a:xfrm>
          <a:prstGeom prst="rect">
            <a:avLst/>
          </a:prstGeom>
          <a:noFill/>
          <a:ln/>
        </p:spPr>
        <p:txBody>
          <a:bodyPr wrap="none" lIns="0" tIns="0" rIns="0" bIns="0" rtlCol="0" anchor="t"/>
          <a:lstStyle/>
          <a:p>
            <a:pPr>
              <a:lnSpc>
                <a:spcPct val="104000"/>
              </a:lnSpc>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Tujuh Intervensi Inti Program</a:t>
            </a:r>
            <a:endParaRPr lang="en-US" sz="2400" dirty="0">
              <a:latin typeface="Leelawadee UI" panose="020B0502040204020203" pitchFamily="34" charset="-34"/>
              <a:cs typeface="Leelawadee UI" panose="020B0502040204020203" pitchFamily="34" charset="-34"/>
            </a:endParaRPr>
          </a:p>
        </p:txBody>
      </p:sp>
      <p:sp>
        <p:nvSpPr>
          <p:cNvPr id="90" name="Text 3">
            <a:extLst>
              <a:ext uri="{FF2B5EF4-FFF2-40B4-BE49-F238E27FC236}">
                <a16:creationId xmlns:a16="http://schemas.microsoft.com/office/drawing/2014/main" id="{7E137440-D8FC-5185-B150-F4004B6BDAF0}"/>
              </a:ext>
            </a:extLst>
          </p:cNvPr>
          <p:cNvSpPr/>
          <p:nvPr/>
        </p:nvSpPr>
        <p:spPr>
          <a:xfrm>
            <a:off x="486667" y="18343579"/>
            <a:ext cx="8151763" cy="308818"/>
          </a:xfrm>
          <a:prstGeom prst="rect">
            <a:avLst/>
          </a:prstGeom>
          <a:noFill/>
          <a:ln/>
        </p:spPr>
        <p:txBody>
          <a:bodyPr wrap="square" lIns="0" tIns="0" rIns="0" bIns="0" rtlCol="0" anchor="t">
            <a:noAutofit/>
          </a:bodyPr>
          <a:lstStyle/>
          <a:p>
            <a:pPr>
              <a:lnSpc>
                <a:spcPct val="123000"/>
              </a:lnSpc>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Program Landscape Governance bekerja melalui tujuh jalur intervensi yang saling melengkapi — dari membangun platform dialog hingga mendorong pendekatan yurisdiksi dalam pengelolaan lanskap berkelanjutan.</a:t>
            </a:r>
            <a:endParaRPr lang="en-US" sz="900" dirty="0">
              <a:latin typeface="Leelawadee UI" panose="020B0502040204020203" pitchFamily="34" charset="-34"/>
              <a:cs typeface="Leelawadee UI" panose="020B0502040204020203" pitchFamily="34" charset="-34"/>
            </a:endParaRPr>
          </a:p>
        </p:txBody>
      </p:sp>
      <p:pic>
        <p:nvPicPr>
          <p:cNvPr id="91" name="Image 0" descr="preencoded.png">
            <a:extLst>
              <a:ext uri="{FF2B5EF4-FFF2-40B4-BE49-F238E27FC236}">
                <a16:creationId xmlns:a16="http://schemas.microsoft.com/office/drawing/2014/main" id="{2A5B0B45-8E73-AB34-9BFB-C8064E89F52E}"/>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86667" y="18751741"/>
            <a:ext cx="209327" cy="209327"/>
          </a:xfrm>
          <a:prstGeom prst="rect">
            <a:avLst/>
          </a:prstGeom>
        </p:spPr>
      </p:pic>
      <p:sp>
        <p:nvSpPr>
          <p:cNvPr id="92" name="Text 4">
            <a:extLst>
              <a:ext uri="{FF2B5EF4-FFF2-40B4-BE49-F238E27FC236}">
                <a16:creationId xmlns:a16="http://schemas.microsoft.com/office/drawing/2014/main" id="{E7024CDB-5595-A9F1-E2DE-B7439D0E1AF0}"/>
              </a:ext>
            </a:extLst>
          </p:cNvPr>
          <p:cNvSpPr/>
          <p:nvPr/>
        </p:nvSpPr>
        <p:spPr>
          <a:xfrm>
            <a:off x="486667" y="19071423"/>
            <a:ext cx="1738387" cy="163488"/>
          </a:xfrm>
          <a:prstGeom prst="rect">
            <a:avLst/>
          </a:prstGeom>
          <a:noFill/>
          <a:ln/>
        </p:spPr>
        <p:txBody>
          <a:bodyPr wrap="none" lIns="0" tIns="0" rIns="0" bIns="0" rtlCol="0" anchor="t"/>
          <a:lstStyle/>
          <a:p>
            <a:pPr>
              <a:lnSpc>
                <a:spcPct val="104000"/>
              </a:lnSpc>
            </a:pP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Multi-Stakeholder Platforms</a:t>
            </a:r>
            <a:endParaRPr lang="en-US" sz="1050" dirty="0">
              <a:latin typeface="Leelawadee UI" panose="020B0502040204020203" pitchFamily="34" charset="-34"/>
              <a:cs typeface="Leelawadee UI" panose="020B0502040204020203" pitchFamily="34" charset="-34"/>
            </a:endParaRPr>
          </a:p>
        </p:txBody>
      </p:sp>
      <p:sp>
        <p:nvSpPr>
          <p:cNvPr id="93" name="Text 5">
            <a:extLst>
              <a:ext uri="{FF2B5EF4-FFF2-40B4-BE49-F238E27FC236}">
                <a16:creationId xmlns:a16="http://schemas.microsoft.com/office/drawing/2014/main" id="{6FE07E19-A650-54AF-9DA6-B51743B4F541}"/>
              </a:ext>
            </a:extLst>
          </p:cNvPr>
          <p:cNvSpPr/>
          <p:nvPr/>
        </p:nvSpPr>
        <p:spPr>
          <a:xfrm>
            <a:off x="486666" y="19287893"/>
            <a:ext cx="2643634" cy="463228"/>
          </a:xfrm>
          <a:prstGeom prst="rect">
            <a:avLst/>
          </a:prstGeom>
          <a:noFill/>
          <a:ln/>
        </p:spPr>
        <p:txBody>
          <a:bodyPr wrap="square" lIns="0" tIns="0" rIns="0" bIns="0" rtlCol="0" anchor="t">
            <a:noAutofit/>
          </a:bodyPr>
          <a:lstStyle/>
          <a:p>
            <a:pPr>
              <a:lnSpc>
                <a:spcPct val="123000"/>
              </a:lnSpc>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Membangun dan memperkuat forum dialog multipihak di tingkat lanskap untuk koordinasi yang efektif.</a:t>
            </a:r>
            <a:endParaRPr lang="en-US" sz="900" dirty="0">
              <a:latin typeface="Leelawadee UI" panose="020B0502040204020203" pitchFamily="34" charset="-34"/>
              <a:cs typeface="Leelawadee UI" panose="020B0502040204020203" pitchFamily="34" charset="-34"/>
            </a:endParaRPr>
          </a:p>
        </p:txBody>
      </p:sp>
      <p:pic>
        <p:nvPicPr>
          <p:cNvPr id="94" name="Image 1" descr="preencoded.png">
            <a:extLst>
              <a:ext uri="{FF2B5EF4-FFF2-40B4-BE49-F238E27FC236}">
                <a16:creationId xmlns:a16="http://schemas.microsoft.com/office/drawing/2014/main" id="{6FF7CBDE-10C3-C67C-9C3F-5037E4C144E4}"/>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3240657" y="18751741"/>
            <a:ext cx="209327" cy="209327"/>
          </a:xfrm>
          <a:prstGeom prst="rect">
            <a:avLst/>
          </a:prstGeom>
        </p:spPr>
      </p:pic>
      <p:sp>
        <p:nvSpPr>
          <p:cNvPr id="95" name="Text 6">
            <a:extLst>
              <a:ext uri="{FF2B5EF4-FFF2-40B4-BE49-F238E27FC236}">
                <a16:creationId xmlns:a16="http://schemas.microsoft.com/office/drawing/2014/main" id="{B8327DB7-3760-3EC1-0C14-EBB6CD4AE85D}"/>
              </a:ext>
            </a:extLst>
          </p:cNvPr>
          <p:cNvSpPr/>
          <p:nvPr/>
        </p:nvSpPr>
        <p:spPr>
          <a:xfrm>
            <a:off x="3240657" y="19071423"/>
            <a:ext cx="1981795" cy="163488"/>
          </a:xfrm>
          <a:prstGeom prst="rect">
            <a:avLst/>
          </a:prstGeom>
          <a:noFill/>
          <a:ln/>
        </p:spPr>
        <p:txBody>
          <a:bodyPr wrap="none" lIns="0" tIns="0" rIns="0" bIns="0" rtlCol="0" anchor="t"/>
          <a:lstStyle/>
          <a:p>
            <a:pPr>
              <a:lnSpc>
                <a:spcPct val="104000"/>
              </a:lnSpc>
            </a:pP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FPIC &amp; Stakeholder Engagement</a:t>
            </a:r>
            <a:endParaRPr lang="en-US" sz="1050" dirty="0">
              <a:latin typeface="Leelawadee UI" panose="020B0502040204020203" pitchFamily="34" charset="-34"/>
              <a:cs typeface="Leelawadee UI" panose="020B0502040204020203" pitchFamily="34" charset="-34"/>
            </a:endParaRPr>
          </a:p>
        </p:txBody>
      </p:sp>
      <p:sp>
        <p:nvSpPr>
          <p:cNvPr id="96" name="Text 7">
            <a:extLst>
              <a:ext uri="{FF2B5EF4-FFF2-40B4-BE49-F238E27FC236}">
                <a16:creationId xmlns:a16="http://schemas.microsoft.com/office/drawing/2014/main" id="{9172739D-0172-683A-D95A-5254A4939642}"/>
              </a:ext>
            </a:extLst>
          </p:cNvPr>
          <p:cNvSpPr/>
          <p:nvPr/>
        </p:nvSpPr>
        <p:spPr>
          <a:xfrm>
            <a:off x="3240656" y="19287893"/>
            <a:ext cx="2643708" cy="463228"/>
          </a:xfrm>
          <a:prstGeom prst="rect">
            <a:avLst/>
          </a:prstGeom>
          <a:noFill/>
          <a:ln/>
        </p:spPr>
        <p:txBody>
          <a:bodyPr wrap="square" lIns="0" tIns="0" rIns="0" bIns="0" rtlCol="0" anchor="t">
            <a:noAutofit/>
          </a:bodyPr>
          <a:lstStyle/>
          <a:p>
            <a:pPr>
              <a:lnSpc>
                <a:spcPct val="123000"/>
              </a:lnSpc>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Memastikan proses Free Prior Informed Consent dan partisipasi bermakna seluruh pihak dalam keputusan strategis.</a:t>
            </a:r>
            <a:endParaRPr lang="en-US" sz="900" dirty="0">
              <a:latin typeface="Leelawadee UI" panose="020B0502040204020203" pitchFamily="34" charset="-34"/>
              <a:cs typeface="Leelawadee UI" panose="020B0502040204020203" pitchFamily="34" charset="-34"/>
            </a:endParaRPr>
          </a:p>
        </p:txBody>
      </p:sp>
      <p:pic>
        <p:nvPicPr>
          <p:cNvPr id="97" name="Image 2" descr="preencoded.png">
            <a:extLst>
              <a:ext uri="{FF2B5EF4-FFF2-40B4-BE49-F238E27FC236}">
                <a16:creationId xmlns:a16="http://schemas.microsoft.com/office/drawing/2014/main" id="{286F5980-D56D-C0BD-4A1E-2306259C3E24}"/>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5994721" y="18751741"/>
            <a:ext cx="209327" cy="209327"/>
          </a:xfrm>
          <a:prstGeom prst="rect">
            <a:avLst/>
          </a:prstGeom>
        </p:spPr>
      </p:pic>
      <p:sp>
        <p:nvSpPr>
          <p:cNvPr id="98" name="Text 8">
            <a:extLst>
              <a:ext uri="{FF2B5EF4-FFF2-40B4-BE49-F238E27FC236}">
                <a16:creationId xmlns:a16="http://schemas.microsoft.com/office/drawing/2014/main" id="{DF00C9E7-CA4C-A0AF-5387-4C0C27C4B37E}"/>
              </a:ext>
            </a:extLst>
          </p:cNvPr>
          <p:cNvSpPr/>
          <p:nvPr/>
        </p:nvSpPr>
        <p:spPr>
          <a:xfrm>
            <a:off x="5994720" y="19071423"/>
            <a:ext cx="1352476" cy="163488"/>
          </a:xfrm>
          <a:prstGeom prst="rect">
            <a:avLst/>
          </a:prstGeom>
          <a:noFill/>
          <a:ln/>
        </p:spPr>
        <p:txBody>
          <a:bodyPr wrap="none" lIns="0" tIns="0" rIns="0" bIns="0" rtlCol="0" anchor="t"/>
          <a:lstStyle/>
          <a:p>
            <a:pPr>
              <a:lnSpc>
                <a:spcPct val="104000"/>
              </a:lnSpc>
            </a:pP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Participatory Planning</a:t>
            </a:r>
            <a:endParaRPr lang="en-US" sz="1050" dirty="0">
              <a:latin typeface="Leelawadee UI" panose="020B0502040204020203" pitchFamily="34" charset="-34"/>
              <a:cs typeface="Leelawadee UI" panose="020B0502040204020203" pitchFamily="34" charset="-34"/>
            </a:endParaRPr>
          </a:p>
        </p:txBody>
      </p:sp>
      <p:sp>
        <p:nvSpPr>
          <p:cNvPr id="99" name="Text 9">
            <a:extLst>
              <a:ext uri="{FF2B5EF4-FFF2-40B4-BE49-F238E27FC236}">
                <a16:creationId xmlns:a16="http://schemas.microsoft.com/office/drawing/2014/main" id="{350B311A-AC52-012B-1C5C-83BE71CC1B2C}"/>
              </a:ext>
            </a:extLst>
          </p:cNvPr>
          <p:cNvSpPr/>
          <p:nvPr/>
        </p:nvSpPr>
        <p:spPr>
          <a:xfrm>
            <a:off x="5994720" y="19287893"/>
            <a:ext cx="2643708" cy="463228"/>
          </a:xfrm>
          <a:prstGeom prst="rect">
            <a:avLst/>
          </a:prstGeom>
          <a:noFill/>
          <a:ln/>
        </p:spPr>
        <p:txBody>
          <a:bodyPr wrap="square" lIns="0" tIns="0" rIns="0" bIns="0" rtlCol="0" anchor="t">
            <a:noAutofit/>
          </a:bodyPr>
          <a:lstStyle/>
          <a:p>
            <a:pPr>
              <a:lnSpc>
                <a:spcPct val="123000"/>
              </a:lnSpc>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Mendukung perencanaan partisipatif berbasis lanskap di tingkat desa dan kabupaten secara inklusif.</a:t>
            </a:r>
            <a:endParaRPr lang="en-US" sz="900" dirty="0">
              <a:latin typeface="Leelawadee UI" panose="020B0502040204020203" pitchFamily="34" charset="-34"/>
              <a:cs typeface="Leelawadee UI" panose="020B0502040204020203" pitchFamily="34" charset="-34"/>
            </a:endParaRPr>
          </a:p>
        </p:txBody>
      </p:sp>
      <p:pic>
        <p:nvPicPr>
          <p:cNvPr id="100" name="Image 3" descr="preencoded.png">
            <a:extLst>
              <a:ext uri="{FF2B5EF4-FFF2-40B4-BE49-F238E27FC236}">
                <a16:creationId xmlns:a16="http://schemas.microsoft.com/office/drawing/2014/main" id="{E8F6C502-365E-0BBB-144C-E6EA07F3A9B7}"/>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486667" y="19927706"/>
            <a:ext cx="209327" cy="209327"/>
          </a:xfrm>
          <a:prstGeom prst="rect">
            <a:avLst/>
          </a:prstGeom>
        </p:spPr>
      </p:pic>
      <p:sp>
        <p:nvSpPr>
          <p:cNvPr id="101" name="Text 10">
            <a:extLst>
              <a:ext uri="{FF2B5EF4-FFF2-40B4-BE49-F238E27FC236}">
                <a16:creationId xmlns:a16="http://schemas.microsoft.com/office/drawing/2014/main" id="{8A110219-B2BE-28A3-F3EB-EFE87587933C}"/>
              </a:ext>
            </a:extLst>
          </p:cNvPr>
          <p:cNvSpPr/>
          <p:nvPr/>
        </p:nvSpPr>
        <p:spPr>
          <a:xfrm>
            <a:off x="486666" y="20247388"/>
            <a:ext cx="1308274" cy="163488"/>
          </a:xfrm>
          <a:prstGeom prst="rect">
            <a:avLst/>
          </a:prstGeom>
          <a:noFill/>
          <a:ln/>
        </p:spPr>
        <p:txBody>
          <a:bodyPr wrap="none" lIns="0" tIns="0" rIns="0" bIns="0" rtlCol="0" anchor="t"/>
          <a:lstStyle/>
          <a:p>
            <a:pPr>
              <a:lnSpc>
                <a:spcPct val="104000"/>
              </a:lnSpc>
            </a:pP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Policy Support</a:t>
            </a:r>
            <a:endParaRPr lang="en-US" sz="1050" dirty="0">
              <a:latin typeface="Leelawadee UI" panose="020B0502040204020203" pitchFamily="34" charset="-34"/>
              <a:cs typeface="Leelawadee UI" panose="020B0502040204020203" pitchFamily="34" charset="-34"/>
            </a:endParaRPr>
          </a:p>
        </p:txBody>
      </p:sp>
      <p:sp>
        <p:nvSpPr>
          <p:cNvPr id="102" name="Text 11">
            <a:extLst>
              <a:ext uri="{FF2B5EF4-FFF2-40B4-BE49-F238E27FC236}">
                <a16:creationId xmlns:a16="http://schemas.microsoft.com/office/drawing/2014/main" id="{AAA4330F-9B32-E909-597C-129E7B0DC919}"/>
              </a:ext>
            </a:extLst>
          </p:cNvPr>
          <p:cNvSpPr/>
          <p:nvPr/>
        </p:nvSpPr>
        <p:spPr>
          <a:xfrm>
            <a:off x="486666" y="20463859"/>
            <a:ext cx="2643634" cy="463228"/>
          </a:xfrm>
          <a:prstGeom prst="rect">
            <a:avLst/>
          </a:prstGeom>
          <a:noFill/>
          <a:ln/>
        </p:spPr>
        <p:txBody>
          <a:bodyPr wrap="square" lIns="0" tIns="0" rIns="0" bIns="0" rtlCol="0" anchor="t">
            <a:noAutofit/>
          </a:bodyPr>
          <a:lstStyle/>
          <a:p>
            <a:pPr>
              <a:lnSpc>
                <a:spcPct val="123000"/>
              </a:lnSpc>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Memberikan dukungan teknis dan analisis kebijakan untuk penguatan tata kelola lanskap di semua tingkatan.</a:t>
            </a:r>
            <a:endParaRPr lang="en-US" sz="900" dirty="0">
              <a:latin typeface="Leelawadee UI" panose="020B0502040204020203" pitchFamily="34" charset="-34"/>
              <a:cs typeface="Leelawadee UI" panose="020B0502040204020203" pitchFamily="34" charset="-34"/>
            </a:endParaRPr>
          </a:p>
        </p:txBody>
      </p:sp>
      <p:pic>
        <p:nvPicPr>
          <p:cNvPr id="103" name="Image 4" descr="preencoded.png">
            <a:extLst>
              <a:ext uri="{FF2B5EF4-FFF2-40B4-BE49-F238E27FC236}">
                <a16:creationId xmlns:a16="http://schemas.microsoft.com/office/drawing/2014/main" id="{6A925276-5F0F-92B3-5E89-D48DF3D84BA1}"/>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3240657" y="19927706"/>
            <a:ext cx="209327" cy="209327"/>
          </a:xfrm>
          <a:prstGeom prst="rect">
            <a:avLst/>
          </a:prstGeom>
        </p:spPr>
      </p:pic>
      <p:sp>
        <p:nvSpPr>
          <p:cNvPr id="104" name="Text 12">
            <a:extLst>
              <a:ext uri="{FF2B5EF4-FFF2-40B4-BE49-F238E27FC236}">
                <a16:creationId xmlns:a16="http://schemas.microsoft.com/office/drawing/2014/main" id="{002A28F3-B9C0-CAAE-D350-49DEAB5FEC4F}"/>
              </a:ext>
            </a:extLst>
          </p:cNvPr>
          <p:cNvSpPr/>
          <p:nvPr/>
        </p:nvSpPr>
        <p:spPr>
          <a:xfrm>
            <a:off x="3240656" y="20247388"/>
            <a:ext cx="1536278" cy="163488"/>
          </a:xfrm>
          <a:prstGeom prst="rect">
            <a:avLst/>
          </a:prstGeom>
          <a:noFill/>
          <a:ln/>
        </p:spPr>
        <p:txBody>
          <a:bodyPr wrap="none" lIns="0" tIns="0" rIns="0" bIns="0" rtlCol="0" anchor="t"/>
          <a:lstStyle/>
          <a:p>
            <a:pPr>
              <a:lnSpc>
                <a:spcPct val="104000"/>
              </a:lnSpc>
            </a:pP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Governance Assessment</a:t>
            </a:r>
            <a:endParaRPr lang="en-US" sz="1050" dirty="0">
              <a:latin typeface="Leelawadee UI" panose="020B0502040204020203" pitchFamily="34" charset="-34"/>
              <a:cs typeface="Leelawadee UI" panose="020B0502040204020203" pitchFamily="34" charset="-34"/>
            </a:endParaRPr>
          </a:p>
        </p:txBody>
      </p:sp>
      <p:sp>
        <p:nvSpPr>
          <p:cNvPr id="105" name="Text 13">
            <a:extLst>
              <a:ext uri="{FF2B5EF4-FFF2-40B4-BE49-F238E27FC236}">
                <a16:creationId xmlns:a16="http://schemas.microsoft.com/office/drawing/2014/main" id="{953C2A7D-B131-5FB9-75B2-3347B25BE6EF}"/>
              </a:ext>
            </a:extLst>
          </p:cNvPr>
          <p:cNvSpPr/>
          <p:nvPr/>
        </p:nvSpPr>
        <p:spPr>
          <a:xfrm>
            <a:off x="3240656" y="20463859"/>
            <a:ext cx="2643708" cy="463228"/>
          </a:xfrm>
          <a:prstGeom prst="rect">
            <a:avLst/>
          </a:prstGeom>
          <a:noFill/>
          <a:ln/>
        </p:spPr>
        <p:txBody>
          <a:bodyPr wrap="square" lIns="0" tIns="0" rIns="0" bIns="0" rtlCol="0" anchor="t">
            <a:noAutofit/>
          </a:bodyPr>
          <a:lstStyle/>
          <a:p>
            <a:pPr>
              <a:lnSpc>
                <a:spcPct val="123000"/>
              </a:lnSpc>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Melakukan penilaian tata kelola untuk mengidentifikasi celah, peluang perbaikan, dan prioritas intervensi.</a:t>
            </a:r>
            <a:endParaRPr lang="en-US" sz="900" dirty="0">
              <a:latin typeface="Leelawadee UI" panose="020B0502040204020203" pitchFamily="34" charset="-34"/>
              <a:cs typeface="Leelawadee UI" panose="020B0502040204020203" pitchFamily="34" charset="-34"/>
            </a:endParaRPr>
          </a:p>
        </p:txBody>
      </p:sp>
      <p:pic>
        <p:nvPicPr>
          <p:cNvPr id="106" name="Image 5" descr="preencoded.png">
            <a:extLst>
              <a:ext uri="{FF2B5EF4-FFF2-40B4-BE49-F238E27FC236}">
                <a16:creationId xmlns:a16="http://schemas.microsoft.com/office/drawing/2014/main" id="{048DA00A-5148-0C6D-3E5A-4762D6D3CAE2}"/>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5994721" y="19927706"/>
            <a:ext cx="209327" cy="209327"/>
          </a:xfrm>
          <a:prstGeom prst="rect">
            <a:avLst/>
          </a:prstGeom>
        </p:spPr>
      </p:pic>
      <p:sp>
        <p:nvSpPr>
          <p:cNvPr id="107" name="Text 14">
            <a:extLst>
              <a:ext uri="{FF2B5EF4-FFF2-40B4-BE49-F238E27FC236}">
                <a16:creationId xmlns:a16="http://schemas.microsoft.com/office/drawing/2014/main" id="{882710D8-D811-52AD-7968-7242E4174BD0}"/>
              </a:ext>
            </a:extLst>
          </p:cNvPr>
          <p:cNvSpPr/>
          <p:nvPr/>
        </p:nvSpPr>
        <p:spPr>
          <a:xfrm>
            <a:off x="5994720" y="20247388"/>
            <a:ext cx="1308274" cy="163488"/>
          </a:xfrm>
          <a:prstGeom prst="rect">
            <a:avLst/>
          </a:prstGeom>
          <a:noFill/>
          <a:ln/>
        </p:spPr>
        <p:txBody>
          <a:bodyPr wrap="none" lIns="0" tIns="0" rIns="0" bIns="0" rtlCol="0" anchor="t"/>
          <a:lstStyle/>
          <a:p>
            <a:pPr>
              <a:lnSpc>
                <a:spcPct val="104000"/>
              </a:lnSpc>
            </a:pP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Conflict Resolution</a:t>
            </a:r>
            <a:endParaRPr lang="en-US" sz="1050" dirty="0">
              <a:latin typeface="Leelawadee UI" panose="020B0502040204020203" pitchFamily="34" charset="-34"/>
              <a:cs typeface="Leelawadee UI" panose="020B0502040204020203" pitchFamily="34" charset="-34"/>
            </a:endParaRPr>
          </a:p>
        </p:txBody>
      </p:sp>
      <p:sp>
        <p:nvSpPr>
          <p:cNvPr id="108" name="Text 15">
            <a:extLst>
              <a:ext uri="{FF2B5EF4-FFF2-40B4-BE49-F238E27FC236}">
                <a16:creationId xmlns:a16="http://schemas.microsoft.com/office/drawing/2014/main" id="{E4B872CF-E599-3EB8-4D30-78EB11203F04}"/>
              </a:ext>
            </a:extLst>
          </p:cNvPr>
          <p:cNvSpPr/>
          <p:nvPr/>
        </p:nvSpPr>
        <p:spPr>
          <a:xfrm>
            <a:off x="5994720" y="20463859"/>
            <a:ext cx="2643708" cy="463228"/>
          </a:xfrm>
          <a:prstGeom prst="rect">
            <a:avLst/>
          </a:prstGeom>
          <a:noFill/>
          <a:ln/>
        </p:spPr>
        <p:txBody>
          <a:bodyPr wrap="square" lIns="0" tIns="0" rIns="0" bIns="0" rtlCol="0" anchor="t">
            <a:noAutofit/>
          </a:bodyPr>
          <a:lstStyle/>
          <a:p>
            <a:pPr>
              <a:lnSpc>
                <a:spcPct val="123000"/>
              </a:lnSpc>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Memfasilitasi mediasi dan penyelesaian konflik sumber daya alam berbasis dialog yang adil dan damai.</a:t>
            </a:r>
            <a:endParaRPr lang="en-US" sz="900" dirty="0">
              <a:latin typeface="Leelawadee UI" panose="020B0502040204020203" pitchFamily="34" charset="-34"/>
              <a:cs typeface="Leelawadee UI" panose="020B0502040204020203" pitchFamily="34" charset="-34"/>
            </a:endParaRPr>
          </a:p>
        </p:txBody>
      </p:sp>
      <p:pic>
        <p:nvPicPr>
          <p:cNvPr id="109" name="Image 6" descr="preencoded.png">
            <a:extLst>
              <a:ext uri="{FF2B5EF4-FFF2-40B4-BE49-F238E27FC236}">
                <a16:creationId xmlns:a16="http://schemas.microsoft.com/office/drawing/2014/main" id="{A56CD8F4-9F3E-65B8-EE23-42D3C1C67467}"/>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486667" y="21103672"/>
            <a:ext cx="209327" cy="209327"/>
          </a:xfrm>
          <a:prstGeom prst="rect">
            <a:avLst/>
          </a:prstGeom>
        </p:spPr>
      </p:pic>
      <p:sp>
        <p:nvSpPr>
          <p:cNvPr id="110" name="Text 16">
            <a:extLst>
              <a:ext uri="{FF2B5EF4-FFF2-40B4-BE49-F238E27FC236}">
                <a16:creationId xmlns:a16="http://schemas.microsoft.com/office/drawing/2014/main" id="{AC6797C0-26BE-1A5E-736C-5363C1B37ABB}"/>
              </a:ext>
            </a:extLst>
          </p:cNvPr>
          <p:cNvSpPr/>
          <p:nvPr/>
        </p:nvSpPr>
        <p:spPr>
          <a:xfrm>
            <a:off x="486667" y="21423354"/>
            <a:ext cx="1612255" cy="163488"/>
          </a:xfrm>
          <a:prstGeom prst="rect">
            <a:avLst/>
          </a:prstGeom>
          <a:noFill/>
          <a:ln/>
        </p:spPr>
        <p:txBody>
          <a:bodyPr wrap="none" lIns="0" tIns="0" rIns="0" bIns="0" rtlCol="0" anchor="t"/>
          <a:lstStyle/>
          <a:p>
            <a:pPr>
              <a:lnSpc>
                <a:spcPct val="104000"/>
              </a:lnSpc>
            </a:pP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Jurisdictional Approaches</a:t>
            </a:r>
            <a:endParaRPr lang="en-US" sz="1050" dirty="0">
              <a:latin typeface="Leelawadee UI" panose="020B0502040204020203" pitchFamily="34" charset="-34"/>
              <a:cs typeface="Leelawadee UI" panose="020B0502040204020203" pitchFamily="34" charset="-34"/>
            </a:endParaRPr>
          </a:p>
        </p:txBody>
      </p:sp>
      <p:sp>
        <p:nvSpPr>
          <p:cNvPr id="111" name="Text 17">
            <a:extLst>
              <a:ext uri="{FF2B5EF4-FFF2-40B4-BE49-F238E27FC236}">
                <a16:creationId xmlns:a16="http://schemas.microsoft.com/office/drawing/2014/main" id="{96609E6A-352B-2183-CD70-DD19B8E61F7E}"/>
              </a:ext>
            </a:extLst>
          </p:cNvPr>
          <p:cNvSpPr/>
          <p:nvPr/>
        </p:nvSpPr>
        <p:spPr>
          <a:xfrm>
            <a:off x="486666" y="21639824"/>
            <a:ext cx="2643634" cy="463228"/>
          </a:xfrm>
          <a:prstGeom prst="rect">
            <a:avLst/>
          </a:prstGeom>
          <a:noFill/>
          <a:ln/>
        </p:spPr>
        <p:txBody>
          <a:bodyPr wrap="square" lIns="0" tIns="0" rIns="0" bIns="0" rtlCol="0" anchor="t">
            <a:noAutofit/>
          </a:bodyPr>
          <a:lstStyle/>
          <a:p>
            <a:pPr>
              <a:lnSpc>
                <a:spcPct val="123000"/>
              </a:lnSpc>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Mendorong pendekatan yurisdiksi dalam pengelolaan lanskap berkelanjutan lintas batas administratif.</a:t>
            </a:r>
            <a:endParaRPr lang="en-US" sz="900" dirty="0">
              <a:latin typeface="Leelawadee UI" panose="020B0502040204020203" pitchFamily="34" charset="-34"/>
              <a:cs typeface="Leelawadee UI" panose="020B0502040204020203" pitchFamily="34" charset="-34"/>
            </a:endParaRPr>
          </a:p>
        </p:txBody>
      </p:sp>
      <p:sp>
        <p:nvSpPr>
          <p:cNvPr id="112" name="Shape 0">
            <a:extLst>
              <a:ext uri="{FF2B5EF4-FFF2-40B4-BE49-F238E27FC236}">
                <a16:creationId xmlns:a16="http://schemas.microsoft.com/office/drawing/2014/main" id="{DAF04F13-DC65-B064-241B-E497D72AF6EC}"/>
              </a:ext>
            </a:extLst>
          </p:cNvPr>
          <p:cNvSpPr/>
          <p:nvPr/>
        </p:nvSpPr>
        <p:spPr>
          <a:xfrm>
            <a:off x="492935" y="22325866"/>
            <a:ext cx="1189044" cy="302121"/>
          </a:xfrm>
          <a:prstGeom prst="roundRect">
            <a:avLst>
              <a:gd name="adj" fmla="val 6383"/>
            </a:avLst>
          </a:prstGeom>
          <a:solidFill>
            <a:srgbClr val="E3E3E8"/>
          </a:solidFill>
          <a:ln/>
        </p:spPr>
      </p:sp>
      <p:sp>
        <p:nvSpPr>
          <p:cNvPr id="113" name="Text 1">
            <a:extLst>
              <a:ext uri="{FF2B5EF4-FFF2-40B4-BE49-F238E27FC236}">
                <a16:creationId xmlns:a16="http://schemas.microsoft.com/office/drawing/2014/main" id="{3811E4FB-9D10-82AA-EB59-75D84393F2A5}"/>
              </a:ext>
            </a:extLst>
          </p:cNvPr>
          <p:cNvSpPr/>
          <p:nvPr/>
        </p:nvSpPr>
        <p:spPr>
          <a:xfrm>
            <a:off x="567349" y="22363074"/>
            <a:ext cx="1346374" cy="158800"/>
          </a:xfrm>
          <a:prstGeom prst="rect">
            <a:avLst/>
          </a:prstGeom>
          <a:noFill/>
          <a:ln/>
        </p:spPr>
        <p:txBody>
          <a:bodyPr wrap="none" lIns="0" tIns="0" rIns="0" bIns="0" rtlCol="0" anchor="t"/>
          <a:lstStyle/>
          <a:p>
            <a:pPr>
              <a:lnSpc>
                <a:spcPct val="133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CONTOH INISIATIF</a:t>
            </a:r>
            <a:endParaRPr lang="en-US" sz="1000" dirty="0">
              <a:latin typeface="Leelawadee UI" panose="020B0502040204020203" pitchFamily="34" charset="-34"/>
              <a:cs typeface="Leelawadee UI" panose="020B0502040204020203" pitchFamily="34" charset="-34"/>
            </a:endParaRPr>
          </a:p>
        </p:txBody>
      </p:sp>
      <p:sp>
        <p:nvSpPr>
          <p:cNvPr id="114" name="Text 2">
            <a:extLst>
              <a:ext uri="{FF2B5EF4-FFF2-40B4-BE49-F238E27FC236}">
                <a16:creationId xmlns:a16="http://schemas.microsoft.com/office/drawing/2014/main" id="{F974AF9D-2C9B-2BA3-AAB2-F5A886A71E6B}"/>
              </a:ext>
            </a:extLst>
          </p:cNvPr>
          <p:cNvSpPr/>
          <p:nvPr/>
        </p:nvSpPr>
        <p:spPr>
          <a:xfrm>
            <a:off x="492935" y="22608640"/>
            <a:ext cx="8185472" cy="387548"/>
          </a:xfrm>
          <a:prstGeom prst="rect">
            <a:avLst/>
          </a:prstGeom>
          <a:noFill/>
          <a:ln/>
        </p:spPr>
        <p:txBody>
          <a:bodyPr wrap="none" lIns="0" tIns="0" rIns="0" bIns="0" rtlCol="0" anchor="t"/>
          <a:lstStyle/>
          <a:p>
            <a:pPr>
              <a:lnSpc>
                <a:spcPct val="104000"/>
              </a:lnSpc>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Program di Lapangan: Inisiatif Nyata, Dampak Terukur</a:t>
            </a:r>
            <a:endParaRPr lang="en-US" sz="2400" dirty="0">
              <a:latin typeface="Leelawadee UI" panose="020B0502040204020203" pitchFamily="34" charset="-34"/>
              <a:cs typeface="Leelawadee UI" panose="020B0502040204020203" pitchFamily="34" charset="-34"/>
            </a:endParaRPr>
          </a:p>
        </p:txBody>
      </p:sp>
      <p:pic>
        <p:nvPicPr>
          <p:cNvPr id="115" name="Image 0" descr="preencoded.png">
            <a:extLst>
              <a:ext uri="{FF2B5EF4-FFF2-40B4-BE49-F238E27FC236}">
                <a16:creationId xmlns:a16="http://schemas.microsoft.com/office/drawing/2014/main" id="{11D38F19-74FE-DFFC-6295-A116E729368B}"/>
              </a:ext>
            </a:extLst>
          </p:cNvPr>
          <p:cNvPicPr>
            <a:picLocks noChangeAspect="1"/>
          </p:cNvPicPr>
          <p:nvPr/>
        </p:nvPicPr>
        <p:blipFill>
          <a:blip r:embed="rId20"/>
          <a:stretch>
            <a:fillRect/>
          </a:stretch>
        </p:blipFill>
        <p:spPr>
          <a:xfrm>
            <a:off x="492936" y="23182225"/>
            <a:ext cx="1114499" cy="688777"/>
          </a:xfrm>
          <a:prstGeom prst="rect">
            <a:avLst/>
          </a:prstGeom>
        </p:spPr>
      </p:pic>
      <p:sp>
        <p:nvSpPr>
          <p:cNvPr id="116" name="Text 3">
            <a:extLst>
              <a:ext uri="{FF2B5EF4-FFF2-40B4-BE49-F238E27FC236}">
                <a16:creationId xmlns:a16="http://schemas.microsoft.com/office/drawing/2014/main" id="{9FC02CDB-D4A0-C62B-FDA2-0BFA72302B20}"/>
              </a:ext>
            </a:extLst>
          </p:cNvPr>
          <p:cNvSpPr/>
          <p:nvPr/>
        </p:nvSpPr>
        <p:spPr>
          <a:xfrm>
            <a:off x="492936" y="24026006"/>
            <a:ext cx="1921669" cy="387697"/>
          </a:xfrm>
          <a:prstGeom prst="rect">
            <a:avLst/>
          </a:prstGeom>
          <a:noFill/>
          <a:ln/>
        </p:spPr>
        <p:txBody>
          <a:bodyPr wrap="square" lIns="0" tIns="0" rIns="0" bIns="0" rtlCol="0" anchor="t">
            <a:noAutofit/>
          </a:bodyPr>
          <a:lstStyle/>
          <a:p>
            <a:pPr>
              <a:lnSpc>
                <a:spcPct val="104000"/>
              </a:lnSpc>
            </a:pP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Multi-Stakeholder Platform Lanskap Gambut</a:t>
            </a:r>
            <a:endParaRPr lang="en-US" sz="1400" dirty="0">
              <a:latin typeface="Leelawadee UI" panose="020B0502040204020203" pitchFamily="34" charset="-34"/>
              <a:cs typeface="Leelawadee UI" panose="020B0502040204020203" pitchFamily="34" charset="-34"/>
            </a:endParaRPr>
          </a:p>
        </p:txBody>
      </p:sp>
      <p:sp>
        <p:nvSpPr>
          <p:cNvPr id="117" name="Text 4">
            <a:extLst>
              <a:ext uri="{FF2B5EF4-FFF2-40B4-BE49-F238E27FC236}">
                <a16:creationId xmlns:a16="http://schemas.microsoft.com/office/drawing/2014/main" id="{33DDBE6A-0E71-92B4-E337-551BFD3EB113}"/>
              </a:ext>
            </a:extLst>
          </p:cNvPr>
          <p:cNvSpPr/>
          <p:nvPr/>
        </p:nvSpPr>
        <p:spPr>
          <a:xfrm>
            <a:off x="492936" y="24722037"/>
            <a:ext cx="1921669" cy="1587698"/>
          </a:xfrm>
          <a:prstGeom prst="rect">
            <a:avLst/>
          </a:prstGeom>
          <a:noFill/>
          <a:ln/>
        </p:spPr>
        <p:txBody>
          <a:bodyPr wrap="square" lIns="0" tIns="0" rIns="0" bIns="0" rtlCol="0" anchor="t">
            <a:normAutofit/>
          </a:bodyPr>
          <a:lstStyle/>
          <a:p>
            <a:pPr>
              <a:lnSpc>
                <a:spcPct val="133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Membangun forum kolaborasi multipihak di lanskap gambut Kubu Raya untuk mengkoordinasikan upaya restorasi, pencegahan kebakaran, dan peningkatan kesejahteraan masyarakat secara terpadu.</a:t>
            </a:r>
            <a:endParaRPr lang="en-US" sz="1000" dirty="0">
              <a:latin typeface="Leelawadee UI" panose="020B0502040204020203" pitchFamily="34" charset="-34"/>
              <a:cs typeface="Leelawadee UI" panose="020B0502040204020203" pitchFamily="34" charset="-34"/>
            </a:endParaRPr>
          </a:p>
        </p:txBody>
      </p:sp>
      <p:pic>
        <p:nvPicPr>
          <p:cNvPr id="118" name="Image 1" descr="preencoded.png">
            <a:extLst>
              <a:ext uri="{FF2B5EF4-FFF2-40B4-BE49-F238E27FC236}">
                <a16:creationId xmlns:a16="http://schemas.microsoft.com/office/drawing/2014/main" id="{4172195C-E7D5-17B8-185C-DF661BE5D12A}"/>
              </a:ext>
            </a:extLst>
          </p:cNvPr>
          <p:cNvPicPr>
            <a:picLocks noChangeAspect="1"/>
          </p:cNvPicPr>
          <p:nvPr/>
        </p:nvPicPr>
        <p:blipFill>
          <a:blip r:embed="rId21"/>
          <a:stretch>
            <a:fillRect/>
          </a:stretch>
        </p:blipFill>
        <p:spPr>
          <a:xfrm>
            <a:off x="2569609" y="23182225"/>
            <a:ext cx="1114499" cy="688777"/>
          </a:xfrm>
          <a:prstGeom prst="rect">
            <a:avLst/>
          </a:prstGeom>
        </p:spPr>
      </p:pic>
      <p:sp>
        <p:nvSpPr>
          <p:cNvPr id="119" name="Text 5">
            <a:extLst>
              <a:ext uri="{FF2B5EF4-FFF2-40B4-BE49-F238E27FC236}">
                <a16:creationId xmlns:a16="http://schemas.microsoft.com/office/drawing/2014/main" id="{3C6EE460-6230-F08E-C616-4D05C11DC087}"/>
              </a:ext>
            </a:extLst>
          </p:cNvPr>
          <p:cNvSpPr/>
          <p:nvPr/>
        </p:nvSpPr>
        <p:spPr>
          <a:xfrm>
            <a:off x="2569609" y="24026005"/>
            <a:ext cx="1921669" cy="581546"/>
          </a:xfrm>
          <a:prstGeom prst="rect">
            <a:avLst/>
          </a:prstGeom>
          <a:noFill/>
          <a:ln/>
        </p:spPr>
        <p:txBody>
          <a:bodyPr wrap="square" lIns="0" tIns="0" rIns="0" bIns="0" rtlCol="0" anchor="t">
            <a:noAutofit/>
          </a:bodyPr>
          <a:lstStyle/>
          <a:p>
            <a:pPr>
              <a:lnSpc>
                <a:spcPct val="104000"/>
              </a:lnSpc>
            </a:pP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Perencanaan Pembangunan Berbasis Lanskap</a:t>
            </a:r>
            <a:endParaRPr lang="en-US" sz="1400" dirty="0">
              <a:latin typeface="Leelawadee UI" panose="020B0502040204020203" pitchFamily="34" charset="-34"/>
              <a:cs typeface="Leelawadee UI" panose="020B0502040204020203" pitchFamily="34" charset="-34"/>
            </a:endParaRPr>
          </a:p>
        </p:txBody>
      </p:sp>
      <p:sp>
        <p:nvSpPr>
          <p:cNvPr id="120" name="Text 6">
            <a:extLst>
              <a:ext uri="{FF2B5EF4-FFF2-40B4-BE49-F238E27FC236}">
                <a16:creationId xmlns:a16="http://schemas.microsoft.com/office/drawing/2014/main" id="{E1DD5034-79D7-80C0-2204-E1A30A16F644}"/>
              </a:ext>
            </a:extLst>
          </p:cNvPr>
          <p:cNvSpPr/>
          <p:nvPr/>
        </p:nvSpPr>
        <p:spPr>
          <a:xfrm>
            <a:off x="2569609" y="24681965"/>
            <a:ext cx="1921669" cy="1389236"/>
          </a:xfrm>
          <a:prstGeom prst="rect">
            <a:avLst/>
          </a:prstGeom>
          <a:noFill/>
          <a:ln/>
        </p:spPr>
        <p:txBody>
          <a:bodyPr wrap="square" lIns="0" tIns="0" rIns="0" bIns="0" rtlCol="0" anchor="t">
            <a:noAutofit/>
          </a:bodyPr>
          <a:lstStyle/>
          <a:p>
            <a:pPr>
              <a:lnSpc>
                <a:spcPct val="133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Mendampingi tiga desa — Tanjung Pura, Mayak, dan Ulak Medang — dalam mengintegrasikan pendekatan lanskap ke dalam perencanaan pembangunan desa melalui program UNDP KalFor.</a:t>
            </a:r>
            <a:endParaRPr lang="en-US" sz="1000" dirty="0">
              <a:latin typeface="Leelawadee UI" panose="020B0502040204020203" pitchFamily="34" charset="-34"/>
              <a:cs typeface="Leelawadee UI" panose="020B0502040204020203" pitchFamily="34" charset="-34"/>
            </a:endParaRPr>
          </a:p>
        </p:txBody>
      </p:sp>
      <p:pic>
        <p:nvPicPr>
          <p:cNvPr id="121" name="Image 2" descr="preencoded.png">
            <a:extLst>
              <a:ext uri="{FF2B5EF4-FFF2-40B4-BE49-F238E27FC236}">
                <a16:creationId xmlns:a16="http://schemas.microsoft.com/office/drawing/2014/main" id="{001FB7AC-D5AA-E871-5356-836E19692EEC}"/>
              </a:ext>
            </a:extLst>
          </p:cNvPr>
          <p:cNvPicPr>
            <a:picLocks noChangeAspect="1"/>
          </p:cNvPicPr>
          <p:nvPr/>
        </p:nvPicPr>
        <p:blipFill>
          <a:blip r:embed="rId22"/>
          <a:stretch>
            <a:fillRect/>
          </a:stretch>
        </p:blipFill>
        <p:spPr>
          <a:xfrm>
            <a:off x="4646282" y="23182225"/>
            <a:ext cx="1114499" cy="688777"/>
          </a:xfrm>
          <a:prstGeom prst="rect">
            <a:avLst/>
          </a:prstGeom>
        </p:spPr>
      </p:pic>
      <p:sp>
        <p:nvSpPr>
          <p:cNvPr id="122" name="Text 7">
            <a:extLst>
              <a:ext uri="{FF2B5EF4-FFF2-40B4-BE49-F238E27FC236}">
                <a16:creationId xmlns:a16="http://schemas.microsoft.com/office/drawing/2014/main" id="{63762579-B2DD-551B-1337-8B3BCD32414E}"/>
              </a:ext>
            </a:extLst>
          </p:cNvPr>
          <p:cNvSpPr/>
          <p:nvPr/>
        </p:nvSpPr>
        <p:spPr>
          <a:xfrm>
            <a:off x="4646282" y="24026006"/>
            <a:ext cx="1921669" cy="387697"/>
          </a:xfrm>
          <a:prstGeom prst="rect">
            <a:avLst/>
          </a:prstGeom>
          <a:noFill/>
          <a:ln/>
        </p:spPr>
        <p:txBody>
          <a:bodyPr wrap="square" lIns="0" tIns="0" rIns="0" bIns="0" rtlCol="0" anchor="t">
            <a:noAutofit/>
          </a:bodyPr>
          <a:lstStyle/>
          <a:p>
            <a:pPr>
              <a:lnSpc>
                <a:spcPct val="104000"/>
              </a:lnSpc>
            </a:pP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Penguatan Tata Kelola Perhutanan Sosial</a:t>
            </a:r>
            <a:endParaRPr lang="en-US" sz="1400" dirty="0">
              <a:latin typeface="Leelawadee UI" panose="020B0502040204020203" pitchFamily="34" charset="-34"/>
              <a:cs typeface="Leelawadee UI" panose="020B0502040204020203" pitchFamily="34" charset="-34"/>
            </a:endParaRPr>
          </a:p>
        </p:txBody>
      </p:sp>
      <p:sp>
        <p:nvSpPr>
          <p:cNvPr id="123" name="Text 8">
            <a:extLst>
              <a:ext uri="{FF2B5EF4-FFF2-40B4-BE49-F238E27FC236}">
                <a16:creationId xmlns:a16="http://schemas.microsoft.com/office/drawing/2014/main" id="{5C578D8C-68CF-2090-A2E6-38B137C9879E}"/>
              </a:ext>
            </a:extLst>
          </p:cNvPr>
          <p:cNvSpPr/>
          <p:nvPr/>
        </p:nvSpPr>
        <p:spPr>
          <a:xfrm>
            <a:off x="4646282" y="24488116"/>
            <a:ext cx="1921669" cy="1389236"/>
          </a:xfrm>
          <a:prstGeom prst="rect">
            <a:avLst/>
          </a:prstGeom>
          <a:noFill/>
          <a:ln/>
        </p:spPr>
        <p:txBody>
          <a:bodyPr wrap="square" lIns="0" tIns="0" rIns="0" bIns="0" rtlCol="0" anchor="t">
            <a:noAutofit/>
          </a:bodyPr>
          <a:lstStyle/>
          <a:p>
            <a:pPr>
              <a:lnSpc>
                <a:spcPct val="133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Mendampingi Lembaga Desa Pengelola Hutan (LDPH) dalam penguatan kapasitas kelembagaan dan tata kelola hutan desa untuk memastikan pengelolaan yang berkelanjutan dan berkeadilan.</a:t>
            </a:r>
            <a:endParaRPr lang="en-US" sz="1000" dirty="0">
              <a:latin typeface="Leelawadee UI" panose="020B0502040204020203" pitchFamily="34" charset="-34"/>
              <a:cs typeface="Leelawadee UI" panose="020B0502040204020203" pitchFamily="34" charset="-34"/>
            </a:endParaRPr>
          </a:p>
        </p:txBody>
      </p:sp>
      <p:pic>
        <p:nvPicPr>
          <p:cNvPr id="124" name="Image 3" descr="preencoded.png">
            <a:extLst>
              <a:ext uri="{FF2B5EF4-FFF2-40B4-BE49-F238E27FC236}">
                <a16:creationId xmlns:a16="http://schemas.microsoft.com/office/drawing/2014/main" id="{DD686940-CB98-8E3C-AD9E-BCEABD10C0A2}"/>
              </a:ext>
            </a:extLst>
          </p:cNvPr>
          <p:cNvPicPr>
            <a:picLocks noChangeAspect="1"/>
          </p:cNvPicPr>
          <p:nvPr/>
        </p:nvPicPr>
        <p:blipFill>
          <a:blip r:embed="rId23"/>
          <a:stretch>
            <a:fillRect/>
          </a:stretch>
        </p:blipFill>
        <p:spPr>
          <a:xfrm>
            <a:off x="6722954" y="23182225"/>
            <a:ext cx="1114574" cy="688851"/>
          </a:xfrm>
          <a:prstGeom prst="rect">
            <a:avLst/>
          </a:prstGeom>
        </p:spPr>
      </p:pic>
      <p:sp>
        <p:nvSpPr>
          <p:cNvPr id="125" name="Text 9">
            <a:extLst>
              <a:ext uri="{FF2B5EF4-FFF2-40B4-BE49-F238E27FC236}">
                <a16:creationId xmlns:a16="http://schemas.microsoft.com/office/drawing/2014/main" id="{0BAD7293-D95D-36BF-C8D1-730FA6B7D56A}"/>
              </a:ext>
            </a:extLst>
          </p:cNvPr>
          <p:cNvSpPr/>
          <p:nvPr/>
        </p:nvSpPr>
        <p:spPr>
          <a:xfrm>
            <a:off x="6722955" y="24026080"/>
            <a:ext cx="1921743" cy="387697"/>
          </a:xfrm>
          <a:prstGeom prst="rect">
            <a:avLst/>
          </a:prstGeom>
          <a:noFill/>
          <a:ln/>
        </p:spPr>
        <p:txBody>
          <a:bodyPr wrap="square" lIns="0" tIns="0" rIns="0" bIns="0" rtlCol="0" anchor="t">
            <a:noAutofit/>
          </a:bodyPr>
          <a:lstStyle/>
          <a:p>
            <a:pPr>
              <a:lnSpc>
                <a:spcPct val="104000"/>
              </a:lnSpc>
            </a:pP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Fasilitasi Penyelesaian Konflik Tenurial</a:t>
            </a:r>
            <a:endParaRPr lang="en-US" sz="1400" dirty="0">
              <a:latin typeface="Leelawadee UI" panose="020B0502040204020203" pitchFamily="34" charset="-34"/>
              <a:cs typeface="Leelawadee UI" panose="020B0502040204020203" pitchFamily="34" charset="-34"/>
            </a:endParaRPr>
          </a:p>
        </p:txBody>
      </p:sp>
      <p:sp>
        <p:nvSpPr>
          <p:cNvPr id="126" name="Text 10">
            <a:extLst>
              <a:ext uri="{FF2B5EF4-FFF2-40B4-BE49-F238E27FC236}">
                <a16:creationId xmlns:a16="http://schemas.microsoft.com/office/drawing/2014/main" id="{6F8B829D-BDFA-8CC1-23DD-85B4FBA7F56C}"/>
              </a:ext>
            </a:extLst>
          </p:cNvPr>
          <p:cNvSpPr/>
          <p:nvPr/>
        </p:nvSpPr>
        <p:spPr>
          <a:xfrm>
            <a:off x="6722955" y="24488191"/>
            <a:ext cx="1921743" cy="1389236"/>
          </a:xfrm>
          <a:prstGeom prst="rect">
            <a:avLst/>
          </a:prstGeom>
          <a:noFill/>
          <a:ln/>
        </p:spPr>
        <p:txBody>
          <a:bodyPr wrap="square" lIns="0" tIns="0" rIns="0" bIns="0" rtlCol="0" anchor="t">
            <a:normAutofit/>
          </a:bodyPr>
          <a:lstStyle/>
          <a:p>
            <a:pPr>
              <a:lnSpc>
                <a:spcPct val="133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Memfasilitasi dialog dan mediasi antara masyarakat, pemerintah, dan sektor swasta dalam penyelesaian konflik penggunaan lahan di lanskap prioritas YNKI di Kalimantan Barat.</a:t>
            </a:r>
            <a:endParaRPr lang="en-US" sz="1000" dirty="0">
              <a:latin typeface="Leelawadee UI" panose="020B0502040204020203" pitchFamily="34" charset="-34"/>
              <a:cs typeface="Leelawadee UI" panose="020B0502040204020203" pitchFamily="34" charset="-34"/>
            </a:endParaRPr>
          </a:p>
        </p:txBody>
      </p:sp>
      <p:sp>
        <p:nvSpPr>
          <p:cNvPr id="127" name="Shape 0">
            <a:extLst>
              <a:ext uri="{FF2B5EF4-FFF2-40B4-BE49-F238E27FC236}">
                <a16:creationId xmlns:a16="http://schemas.microsoft.com/office/drawing/2014/main" id="{C8E8126B-FF81-3884-FDB3-7B93202B93AB}"/>
              </a:ext>
            </a:extLst>
          </p:cNvPr>
          <p:cNvSpPr/>
          <p:nvPr/>
        </p:nvSpPr>
        <p:spPr>
          <a:xfrm>
            <a:off x="486666" y="26449114"/>
            <a:ext cx="1600415" cy="209327"/>
          </a:xfrm>
          <a:prstGeom prst="roundRect">
            <a:avLst>
              <a:gd name="adj" fmla="val 6560"/>
            </a:avLst>
          </a:prstGeom>
          <a:solidFill>
            <a:srgbClr val="E3E3E8"/>
          </a:solidFill>
          <a:ln/>
        </p:spPr>
      </p:sp>
      <p:sp>
        <p:nvSpPr>
          <p:cNvPr id="128" name="Text 1">
            <a:extLst>
              <a:ext uri="{FF2B5EF4-FFF2-40B4-BE49-F238E27FC236}">
                <a16:creationId xmlns:a16="http://schemas.microsoft.com/office/drawing/2014/main" id="{A0A172C6-5545-A169-4DE9-24322912B353}"/>
              </a:ext>
            </a:extLst>
          </p:cNvPr>
          <p:cNvSpPr/>
          <p:nvPr/>
        </p:nvSpPr>
        <p:spPr>
          <a:xfrm>
            <a:off x="548571" y="26461634"/>
            <a:ext cx="1563737" cy="140568"/>
          </a:xfrm>
          <a:prstGeom prst="rect">
            <a:avLst/>
          </a:prstGeom>
          <a:noFill/>
          <a:ln/>
        </p:spPr>
        <p:txBody>
          <a:bodyPr wrap="none" lIns="0" tIns="0" rIns="0" bIns="0" rtlCol="0" anchor="t"/>
          <a:lstStyle/>
          <a:p>
            <a:pPr>
              <a:lnSpc>
                <a:spcPct val="128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KETERKAITAN PROGRAM</a:t>
            </a:r>
            <a:endParaRPr lang="en-US" sz="1000" dirty="0">
              <a:latin typeface="Leelawadee UI" panose="020B0502040204020203" pitchFamily="34" charset="-34"/>
              <a:cs typeface="Leelawadee UI" panose="020B0502040204020203" pitchFamily="34" charset="-34"/>
            </a:endParaRPr>
          </a:p>
        </p:txBody>
      </p:sp>
      <p:sp>
        <p:nvSpPr>
          <p:cNvPr id="129" name="Text 2">
            <a:extLst>
              <a:ext uri="{FF2B5EF4-FFF2-40B4-BE49-F238E27FC236}">
                <a16:creationId xmlns:a16="http://schemas.microsoft.com/office/drawing/2014/main" id="{EAEF3B11-FADE-F299-670E-EAA902E339F8}"/>
              </a:ext>
            </a:extLst>
          </p:cNvPr>
          <p:cNvSpPr/>
          <p:nvPr/>
        </p:nvSpPr>
        <p:spPr>
          <a:xfrm>
            <a:off x="486666" y="26659466"/>
            <a:ext cx="5626373" cy="357336"/>
          </a:xfrm>
          <a:prstGeom prst="rect">
            <a:avLst/>
          </a:prstGeom>
          <a:noFill/>
          <a:ln/>
        </p:spPr>
        <p:txBody>
          <a:bodyPr wrap="none" lIns="0" tIns="0" rIns="0" bIns="0" rtlCol="0" anchor="t"/>
          <a:lstStyle/>
          <a:p>
            <a:pPr>
              <a:lnSpc>
                <a:spcPct val="104000"/>
              </a:lnSpc>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Terintegrasi dengan Program Lain YNKI</a:t>
            </a:r>
            <a:endParaRPr lang="en-US" sz="2400" dirty="0">
              <a:latin typeface="Leelawadee UI" panose="020B0502040204020203" pitchFamily="34" charset="-34"/>
              <a:cs typeface="Leelawadee UI" panose="020B0502040204020203" pitchFamily="34" charset="-34"/>
            </a:endParaRPr>
          </a:p>
        </p:txBody>
      </p:sp>
      <p:sp>
        <p:nvSpPr>
          <p:cNvPr id="130" name="Text 3">
            <a:extLst>
              <a:ext uri="{FF2B5EF4-FFF2-40B4-BE49-F238E27FC236}">
                <a16:creationId xmlns:a16="http://schemas.microsoft.com/office/drawing/2014/main" id="{02D13BA6-D494-8230-A0D0-D3AB821632D0}"/>
              </a:ext>
            </a:extLst>
          </p:cNvPr>
          <p:cNvSpPr/>
          <p:nvPr/>
        </p:nvSpPr>
        <p:spPr>
          <a:xfrm>
            <a:off x="486666" y="27174933"/>
            <a:ext cx="8151763" cy="351681"/>
          </a:xfrm>
          <a:prstGeom prst="rect">
            <a:avLst/>
          </a:prstGeom>
          <a:noFill/>
          <a:ln/>
        </p:spPr>
        <p:txBody>
          <a:bodyPr wrap="square" lIns="0" tIns="0" rIns="0" bIns="0" rtlCol="0" anchor="t">
            <a:noAutofit/>
          </a:bodyPr>
          <a:lstStyle/>
          <a:p>
            <a:pPr>
              <a:lnSpc>
                <a:spcPct val="128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Program Landscape Governance tidak berdiri sendiri. Sebagai program backbone, ia menjadi fondasi yang menghubungkan dan memperkuat empat program strategis lainnya dalam portofolio YNKI — menciptakan sinergi yang jauh lebih besar dari sekadar jumlah bagian-bagiannya.</a:t>
            </a:r>
            <a:endParaRPr lang="en-US" sz="1000" dirty="0">
              <a:latin typeface="Leelawadee UI" panose="020B0502040204020203" pitchFamily="34" charset="-34"/>
              <a:cs typeface="Leelawadee UI" panose="020B0502040204020203" pitchFamily="34" charset="-34"/>
            </a:endParaRPr>
          </a:p>
        </p:txBody>
      </p:sp>
      <p:pic>
        <p:nvPicPr>
          <p:cNvPr id="131" name="Image 0" descr="preencoded.png">
            <a:extLst>
              <a:ext uri="{FF2B5EF4-FFF2-40B4-BE49-F238E27FC236}">
                <a16:creationId xmlns:a16="http://schemas.microsoft.com/office/drawing/2014/main" id="{8E28EBF8-4496-76DE-A907-D77975AA50EE}"/>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472377" y="27645156"/>
            <a:ext cx="4037484" cy="1202457"/>
          </a:xfrm>
          <a:prstGeom prst="rect">
            <a:avLst/>
          </a:prstGeom>
        </p:spPr>
      </p:pic>
      <p:sp>
        <p:nvSpPr>
          <p:cNvPr id="132" name="Text 4">
            <a:extLst>
              <a:ext uri="{FF2B5EF4-FFF2-40B4-BE49-F238E27FC236}">
                <a16:creationId xmlns:a16="http://schemas.microsoft.com/office/drawing/2014/main" id="{E09821ED-085C-5358-AA4C-694C988C811A}"/>
              </a:ext>
            </a:extLst>
          </p:cNvPr>
          <p:cNvSpPr/>
          <p:nvPr/>
        </p:nvSpPr>
        <p:spPr>
          <a:xfrm>
            <a:off x="658115" y="27773742"/>
            <a:ext cx="2772966" cy="178668"/>
          </a:xfrm>
          <a:prstGeom prst="rect">
            <a:avLst/>
          </a:prstGeom>
          <a:noFill/>
          <a:ln/>
        </p:spPr>
        <p:txBody>
          <a:bodyPr wrap="none" lIns="0" tIns="0" rIns="0" bIns="0" rtlCol="0" anchor="t"/>
          <a:lstStyle/>
          <a:p>
            <a:pPr>
              <a:lnSpc>
                <a:spcPct val="104000"/>
              </a:lnSpc>
            </a:pPr>
            <a:r>
              <a:rPr lang="en-US" sz="12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 Natural Capital &amp; Restoration Program</a:t>
            </a:r>
            <a:endParaRPr lang="en-US" sz="1200" dirty="0">
              <a:latin typeface="Leelawadee UI" panose="020B0502040204020203" pitchFamily="34" charset="-34"/>
              <a:cs typeface="Leelawadee UI" panose="020B0502040204020203" pitchFamily="34" charset="-34"/>
            </a:endParaRPr>
          </a:p>
        </p:txBody>
      </p:sp>
      <p:sp>
        <p:nvSpPr>
          <p:cNvPr id="133" name="Text 5">
            <a:extLst>
              <a:ext uri="{FF2B5EF4-FFF2-40B4-BE49-F238E27FC236}">
                <a16:creationId xmlns:a16="http://schemas.microsoft.com/office/drawing/2014/main" id="{36C33AE5-DED6-D0BC-C4DA-67702CF2941A}"/>
              </a:ext>
            </a:extLst>
          </p:cNvPr>
          <p:cNvSpPr/>
          <p:nvPr/>
        </p:nvSpPr>
        <p:spPr>
          <a:xfrm>
            <a:off x="658116" y="28015662"/>
            <a:ext cx="3723159" cy="703362"/>
          </a:xfrm>
          <a:prstGeom prst="rect">
            <a:avLst/>
          </a:prstGeom>
          <a:noFill/>
          <a:ln/>
        </p:spPr>
        <p:txBody>
          <a:bodyPr wrap="square" lIns="0" tIns="0" rIns="0" bIns="0" rtlCol="0" anchor="t">
            <a:noAutofit/>
          </a:bodyPr>
          <a:lstStyle/>
          <a:p>
            <a:pPr>
              <a:lnSpc>
                <a:spcPct val="128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Tata kelola yang kuat menjadi prasyarat keberhasilan upaya restorasi dan konservasi ekosistem. Forum multipihak memastikan target restorasi disepakati dan dipantau bersama oleh seluruh pemangku kepentingan.</a:t>
            </a:r>
            <a:endParaRPr lang="en-US" sz="1000" dirty="0">
              <a:latin typeface="Leelawadee UI" panose="020B0502040204020203" pitchFamily="34" charset="-34"/>
              <a:cs typeface="Leelawadee UI" panose="020B0502040204020203" pitchFamily="34" charset="-34"/>
            </a:endParaRPr>
          </a:p>
        </p:txBody>
      </p:sp>
      <p:pic>
        <p:nvPicPr>
          <p:cNvPr id="134" name="Image 1" descr="preencoded.png">
            <a:extLst>
              <a:ext uri="{FF2B5EF4-FFF2-40B4-BE49-F238E27FC236}">
                <a16:creationId xmlns:a16="http://schemas.microsoft.com/office/drawing/2014/main" id="{9CE9159C-49A0-1216-97AF-BACF8A94314B}"/>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4600944" y="27645156"/>
            <a:ext cx="4037484" cy="1202457"/>
          </a:xfrm>
          <a:prstGeom prst="rect">
            <a:avLst/>
          </a:prstGeom>
        </p:spPr>
      </p:pic>
      <p:sp>
        <p:nvSpPr>
          <p:cNvPr id="135" name="Text 6">
            <a:extLst>
              <a:ext uri="{FF2B5EF4-FFF2-40B4-BE49-F238E27FC236}">
                <a16:creationId xmlns:a16="http://schemas.microsoft.com/office/drawing/2014/main" id="{D89B9EB6-1541-C7C8-6C7B-9FBD9ADC9B09}"/>
              </a:ext>
            </a:extLst>
          </p:cNvPr>
          <p:cNvSpPr/>
          <p:nvPr/>
        </p:nvSpPr>
        <p:spPr>
          <a:xfrm>
            <a:off x="4786682" y="27773742"/>
            <a:ext cx="3042865" cy="178668"/>
          </a:xfrm>
          <a:prstGeom prst="rect">
            <a:avLst/>
          </a:prstGeom>
          <a:noFill/>
          <a:ln/>
        </p:spPr>
        <p:txBody>
          <a:bodyPr wrap="none" lIns="0" tIns="0" rIns="0" bIns="0" rtlCol="0" anchor="t"/>
          <a:lstStyle/>
          <a:p>
            <a:pPr>
              <a:lnSpc>
                <a:spcPct val="104000"/>
              </a:lnSpc>
            </a:pPr>
            <a:r>
              <a:rPr lang="en-US" sz="12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 Sustainable Commodity Systems Program</a:t>
            </a:r>
            <a:endParaRPr lang="en-US" sz="1200" dirty="0">
              <a:latin typeface="Leelawadee UI" panose="020B0502040204020203" pitchFamily="34" charset="-34"/>
              <a:cs typeface="Leelawadee UI" panose="020B0502040204020203" pitchFamily="34" charset="-34"/>
            </a:endParaRPr>
          </a:p>
        </p:txBody>
      </p:sp>
      <p:sp>
        <p:nvSpPr>
          <p:cNvPr id="136" name="Text 7">
            <a:extLst>
              <a:ext uri="{FF2B5EF4-FFF2-40B4-BE49-F238E27FC236}">
                <a16:creationId xmlns:a16="http://schemas.microsoft.com/office/drawing/2014/main" id="{B9310B9D-C253-881E-946C-7C7700C00AC1}"/>
              </a:ext>
            </a:extLst>
          </p:cNvPr>
          <p:cNvSpPr/>
          <p:nvPr/>
        </p:nvSpPr>
        <p:spPr>
          <a:xfrm>
            <a:off x="4786682" y="28015663"/>
            <a:ext cx="3723159" cy="527521"/>
          </a:xfrm>
          <a:prstGeom prst="rect">
            <a:avLst/>
          </a:prstGeom>
          <a:noFill/>
          <a:ln/>
        </p:spPr>
        <p:txBody>
          <a:bodyPr wrap="square" lIns="0" tIns="0" rIns="0" bIns="0" rtlCol="0" anchor="t">
            <a:noAutofit/>
          </a:bodyPr>
          <a:lstStyle/>
          <a:p>
            <a:pPr>
              <a:lnSpc>
                <a:spcPct val="128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Tata kelola yang inklusif menciptakan rantai pasok yang lebih adil dan bertanggung jawab. Mekanisme co-management mendukung praktik komoditas berkelanjutan yang menguntungkan semua pihak.</a:t>
            </a:r>
            <a:endParaRPr lang="en-US" sz="1000" dirty="0">
              <a:latin typeface="Leelawadee UI" panose="020B0502040204020203" pitchFamily="34" charset="-34"/>
              <a:cs typeface="Leelawadee UI" panose="020B0502040204020203" pitchFamily="34" charset="-34"/>
            </a:endParaRPr>
          </a:p>
        </p:txBody>
      </p:sp>
      <p:pic>
        <p:nvPicPr>
          <p:cNvPr id="137" name="Image 2" descr="preencoded.png">
            <a:extLst>
              <a:ext uri="{FF2B5EF4-FFF2-40B4-BE49-F238E27FC236}">
                <a16:creationId xmlns:a16="http://schemas.microsoft.com/office/drawing/2014/main" id="{2532C852-A8B9-1C9C-F7CC-F4C90EB03207}"/>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472377" y="28952982"/>
            <a:ext cx="4037484" cy="1026616"/>
          </a:xfrm>
          <a:prstGeom prst="rect">
            <a:avLst/>
          </a:prstGeom>
        </p:spPr>
      </p:pic>
      <p:sp>
        <p:nvSpPr>
          <p:cNvPr id="138" name="Text 8">
            <a:extLst>
              <a:ext uri="{FF2B5EF4-FFF2-40B4-BE49-F238E27FC236}">
                <a16:creationId xmlns:a16="http://schemas.microsoft.com/office/drawing/2014/main" id="{7E741061-C089-C546-ECC3-22EA497A0BBF}"/>
              </a:ext>
            </a:extLst>
          </p:cNvPr>
          <p:cNvSpPr/>
          <p:nvPr/>
        </p:nvSpPr>
        <p:spPr>
          <a:xfrm>
            <a:off x="658116" y="29081569"/>
            <a:ext cx="3243635" cy="178668"/>
          </a:xfrm>
          <a:prstGeom prst="rect">
            <a:avLst/>
          </a:prstGeom>
          <a:noFill/>
          <a:ln/>
        </p:spPr>
        <p:txBody>
          <a:bodyPr wrap="none" lIns="0" tIns="0" rIns="0" bIns="0" rtlCol="0" anchor="t"/>
          <a:lstStyle/>
          <a:p>
            <a:pPr>
              <a:lnSpc>
                <a:spcPct val="104000"/>
              </a:lnSpc>
            </a:pPr>
            <a:r>
              <a:rPr lang="en-US" sz="12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 Landscape Intelligence &amp; Innovation Program</a:t>
            </a:r>
            <a:endParaRPr lang="en-US" sz="1200" dirty="0">
              <a:latin typeface="Leelawadee UI" panose="020B0502040204020203" pitchFamily="34" charset="-34"/>
              <a:cs typeface="Leelawadee UI" panose="020B0502040204020203" pitchFamily="34" charset="-34"/>
            </a:endParaRPr>
          </a:p>
        </p:txBody>
      </p:sp>
      <p:sp>
        <p:nvSpPr>
          <p:cNvPr id="139" name="Text 9">
            <a:extLst>
              <a:ext uri="{FF2B5EF4-FFF2-40B4-BE49-F238E27FC236}">
                <a16:creationId xmlns:a16="http://schemas.microsoft.com/office/drawing/2014/main" id="{318CE5A7-99AB-F200-2761-43AB6E080FCD}"/>
              </a:ext>
            </a:extLst>
          </p:cNvPr>
          <p:cNvSpPr/>
          <p:nvPr/>
        </p:nvSpPr>
        <p:spPr>
          <a:xfrm>
            <a:off x="658116" y="29323491"/>
            <a:ext cx="3723159" cy="527521"/>
          </a:xfrm>
          <a:prstGeom prst="rect">
            <a:avLst/>
          </a:prstGeom>
          <a:noFill/>
          <a:ln/>
        </p:spPr>
        <p:txBody>
          <a:bodyPr wrap="square" lIns="0" tIns="0" rIns="0" bIns="0" rtlCol="0" anchor="t">
            <a:noAutofit/>
          </a:bodyPr>
          <a:lstStyle/>
          <a:p>
            <a:pPr>
              <a:lnSpc>
                <a:spcPct val="128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Data, riset, dan inovasi yang dihasilkan memperkuat basis bukti untuk pengambilan keputusan tata kelola yang lebih tepat sasaran dan adaptif terhadap perubahan kondisi lanskap.</a:t>
            </a:r>
            <a:endParaRPr lang="en-US" sz="1000" dirty="0">
              <a:latin typeface="Leelawadee UI" panose="020B0502040204020203" pitchFamily="34" charset="-34"/>
              <a:cs typeface="Leelawadee UI" panose="020B0502040204020203" pitchFamily="34" charset="-34"/>
            </a:endParaRPr>
          </a:p>
        </p:txBody>
      </p:sp>
      <p:pic>
        <p:nvPicPr>
          <p:cNvPr id="140" name="Image 3" descr="preencoded.png">
            <a:extLst>
              <a:ext uri="{FF2B5EF4-FFF2-40B4-BE49-F238E27FC236}">
                <a16:creationId xmlns:a16="http://schemas.microsoft.com/office/drawing/2014/main" id="{C5F8BB33-B2CE-593E-6160-403177A55619}"/>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4600944" y="28952982"/>
            <a:ext cx="4037484" cy="1026616"/>
          </a:xfrm>
          <a:prstGeom prst="rect">
            <a:avLst/>
          </a:prstGeom>
        </p:spPr>
      </p:pic>
      <p:sp>
        <p:nvSpPr>
          <p:cNvPr id="141" name="Text 10">
            <a:extLst>
              <a:ext uri="{FF2B5EF4-FFF2-40B4-BE49-F238E27FC236}">
                <a16:creationId xmlns:a16="http://schemas.microsoft.com/office/drawing/2014/main" id="{1BEE45C0-D879-13D8-74EC-1BEDC474ACCE}"/>
              </a:ext>
            </a:extLst>
          </p:cNvPr>
          <p:cNvSpPr/>
          <p:nvPr/>
        </p:nvSpPr>
        <p:spPr>
          <a:xfrm>
            <a:off x="4786682" y="29081569"/>
            <a:ext cx="3593083" cy="178668"/>
          </a:xfrm>
          <a:prstGeom prst="rect">
            <a:avLst/>
          </a:prstGeom>
          <a:noFill/>
          <a:ln/>
        </p:spPr>
        <p:txBody>
          <a:bodyPr wrap="none" lIns="0" tIns="0" rIns="0" bIns="0" rtlCol="0" anchor="t"/>
          <a:lstStyle/>
          <a:p>
            <a:pPr>
              <a:lnSpc>
                <a:spcPct val="104000"/>
              </a:lnSpc>
            </a:pPr>
            <a:r>
              <a:rPr lang="en-US" sz="12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 Institutional Sustainability &amp; Partnerships Program</a:t>
            </a:r>
            <a:endParaRPr lang="en-US" sz="1200" dirty="0">
              <a:latin typeface="Leelawadee UI" panose="020B0502040204020203" pitchFamily="34" charset="-34"/>
              <a:cs typeface="Leelawadee UI" panose="020B0502040204020203" pitchFamily="34" charset="-34"/>
            </a:endParaRPr>
          </a:p>
        </p:txBody>
      </p:sp>
      <p:sp>
        <p:nvSpPr>
          <p:cNvPr id="142" name="Text 11">
            <a:extLst>
              <a:ext uri="{FF2B5EF4-FFF2-40B4-BE49-F238E27FC236}">
                <a16:creationId xmlns:a16="http://schemas.microsoft.com/office/drawing/2014/main" id="{6D9705A5-8C0F-571F-CCAD-466C95AACFCB}"/>
              </a:ext>
            </a:extLst>
          </p:cNvPr>
          <p:cNvSpPr/>
          <p:nvPr/>
        </p:nvSpPr>
        <p:spPr>
          <a:xfrm>
            <a:off x="4786682" y="29323491"/>
            <a:ext cx="3723159" cy="527521"/>
          </a:xfrm>
          <a:prstGeom prst="rect">
            <a:avLst/>
          </a:prstGeom>
          <a:noFill/>
          <a:ln/>
        </p:spPr>
        <p:txBody>
          <a:bodyPr wrap="square" lIns="0" tIns="0" rIns="0" bIns="0" rtlCol="0" anchor="t">
            <a:noAutofit/>
          </a:bodyPr>
          <a:lstStyle/>
          <a:p>
            <a:pPr>
              <a:lnSpc>
                <a:spcPct val="128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Kemitraan strategis dan kapasitas kelembagaan yang dibangun memperkuat keberlanjutan jangka panjang dari setiap mekanisme tata kelola yang telah dikembangkan bersama komunitas dan mitra.</a:t>
            </a:r>
            <a:endParaRPr lang="en-US" sz="1000" dirty="0">
              <a:latin typeface="Leelawadee UI" panose="020B0502040204020203" pitchFamily="34" charset="-34"/>
              <a:cs typeface="Leelawadee UI" panose="020B0502040204020203" pitchFamily="34" charset="-34"/>
            </a:endParaRPr>
          </a:p>
        </p:txBody>
      </p:sp>
      <p:sp>
        <p:nvSpPr>
          <p:cNvPr id="143" name="Shape 12">
            <a:extLst>
              <a:ext uri="{FF2B5EF4-FFF2-40B4-BE49-F238E27FC236}">
                <a16:creationId xmlns:a16="http://schemas.microsoft.com/office/drawing/2014/main" id="{4FCB4E0F-BAC2-2625-1759-91211BE1B5DF}"/>
              </a:ext>
            </a:extLst>
          </p:cNvPr>
          <p:cNvSpPr/>
          <p:nvPr/>
        </p:nvSpPr>
        <p:spPr>
          <a:xfrm>
            <a:off x="486666" y="30098141"/>
            <a:ext cx="8151763" cy="598587"/>
          </a:xfrm>
          <a:prstGeom prst="roundRect">
            <a:avLst>
              <a:gd name="adj" fmla="val 2866"/>
            </a:avLst>
          </a:prstGeom>
          <a:solidFill>
            <a:srgbClr val="B6D6FC"/>
          </a:solidFill>
          <a:ln/>
        </p:spPr>
      </p:sp>
      <p:pic>
        <p:nvPicPr>
          <p:cNvPr id="144" name="Image 4" descr="preencoded.png">
            <a:extLst>
              <a:ext uri="{FF2B5EF4-FFF2-40B4-BE49-F238E27FC236}">
                <a16:creationId xmlns:a16="http://schemas.microsoft.com/office/drawing/2014/main" id="{2F3D6D39-1EE7-7C64-F1DD-E8398741ACBC}"/>
              </a:ext>
            </a:extLst>
          </p:cNvPr>
          <p:cNvPicPr>
            <a:picLocks noChangeAspect="1"/>
          </p:cNvPicPr>
          <p:nvPr/>
        </p:nvPicPr>
        <p:blipFill>
          <a:blip r:embed="rId26"/>
          <a:stretch>
            <a:fillRect/>
          </a:stretch>
        </p:blipFill>
        <p:spPr>
          <a:xfrm>
            <a:off x="600966" y="30255302"/>
            <a:ext cx="142875" cy="114300"/>
          </a:xfrm>
          <a:prstGeom prst="rect">
            <a:avLst/>
          </a:prstGeom>
        </p:spPr>
      </p:pic>
      <p:sp>
        <p:nvSpPr>
          <p:cNvPr id="145" name="Text 13">
            <a:extLst>
              <a:ext uri="{FF2B5EF4-FFF2-40B4-BE49-F238E27FC236}">
                <a16:creationId xmlns:a16="http://schemas.microsoft.com/office/drawing/2014/main" id="{01B2BC57-96FA-40CD-F4E0-8F8755184328}"/>
              </a:ext>
            </a:extLst>
          </p:cNvPr>
          <p:cNvSpPr/>
          <p:nvPr/>
        </p:nvSpPr>
        <p:spPr>
          <a:xfrm>
            <a:off x="858140" y="30221594"/>
            <a:ext cx="7665988" cy="351681"/>
          </a:xfrm>
          <a:prstGeom prst="rect">
            <a:avLst/>
          </a:prstGeom>
          <a:noFill/>
          <a:ln/>
        </p:spPr>
        <p:txBody>
          <a:bodyPr wrap="square" lIns="0" tIns="0" rIns="0" bIns="0" rtlCol="0" anchor="t">
            <a:noAutofit/>
          </a:bodyPr>
          <a:lstStyle/>
          <a:p>
            <a:pPr>
              <a:lnSpc>
                <a:spcPct val="128000"/>
              </a:lnSpc>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Program Landscape Governance adalah </a:t>
            </a:r>
            <a:r>
              <a:rPr lang="en-US" sz="1000" b="1" dirty="0">
                <a:solidFill>
                  <a:srgbClr val="000000"/>
                </a:solidFill>
                <a:latin typeface="Leelawadee UI" panose="020B0502040204020203" pitchFamily="34" charset="-34"/>
                <a:ea typeface="Inter" pitchFamily="34" charset="-122"/>
                <a:cs typeface="Leelawadee UI" panose="020B0502040204020203" pitchFamily="34" charset="-34"/>
              </a:rPr>
              <a:t>inti dari portofolio YNKI</a:t>
            </a: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 — memastikan bahwa seluruh program bekerja secara sinergis menuju visi lanskap yang sehat dan masyarakat yang sejahtera.</a:t>
            </a:r>
            <a:endParaRPr lang="en-US" sz="1000" dirty="0">
              <a:latin typeface="Leelawadee UI" panose="020B0502040204020203" pitchFamily="34" charset="-34"/>
              <a:cs typeface="Leelawadee UI" panose="020B0502040204020203" pitchFamily="34" charset="-34"/>
            </a:endParaRPr>
          </a:p>
        </p:txBody>
      </p:sp>
      <p:sp>
        <p:nvSpPr>
          <p:cNvPr id="146" name="Text 0">
            <a:extLst>
              <a:ext uri="{FF2B5EF4-FFF2-40B4-BE49-F238E27FC236}">
                <a16:creationId xmlns:a16="http://schemas.microsoft.com/office/drawing/2014/main" id="{A279AB60-AFF9-3EA3-429B-ADD5C8F73235}"/>
              </a:ext>
            </a:extLst>
          </p:cNvPr>
          <p:cNvSpPr/>
          <p:nvPr/>
        </p:nvSpPr>
        <p:spPr>
          <a:xfrm>
            <a:off x="484352" y="31220874"/>
            <a:ext cx="7038603" cy="381521"/>
          </a:xfrm>
          <a:prstGeom prst="rect">
            <a:avLst/>
          </a:prstGeom>
          <a:noFill/>
          <a:ln/>
        </p:spPr>
        <p:txBody>
          <a:bodyPr wrap="none" lIns="0" tIns="0" rIns="0" bIns="0" rtlCol="0" anchor="t"/>
          <a:lstStyle/>
          <a:p>
            <a:pPr>
              <a:lnSpc>
                <a:spcPct val="104000"/>
              </a:lnSpc>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Dukung Program Landscape Governance YNKI</a:t>
            </a:r>
            <a:endParaRPr lang="en-US" sz="2400" dirty="0">
              <a:latin typeface="Leelawadee UI" panose="020B0502040204020203" pitchFamily="34" charset="-34"/>
              <a:cs typeface="Leelawadee UI" panose="020B0502040204020203" pitchFamily="34" charset="-34"/>
            </a:endParaRPr>
          </a:p>
        </p:txBody>
      </p:sp>
      <p:sp>
        <p:nvSpPr>
          <p:cNvPr id="147" name="Text 1">
            <a:extLst>
              <a:ext uri="{FF2B5EF4-FFF2-40B4-BE49-F238E27FC236}">
                <a16:creationId xmlns:a16="http://schemas.microsoft.com/office/drawing/2014/main" id="{627DEF92-78D6-4DA6-B3DE-ABB6EDDE4F4B}"/>
              </a:ext>
            </a:extLst>
          </p:cNvPr>
          <p:cNvSpPr/>
          <p:nvPr/>
        </p:nvSpPr>
        <p:spPr>
          <a:xfrm>
            <a:off x="494467" y="31669656"/>
            <a:ext cx="8151763" cy="1104454"/>
          </a:xfrm>
          <a:prstGeom prst="rect">
            <a:avLst/>
          </a:prstGeom>
          <a:noFill/>
          <a:ln/>
        </p:spPr>
        <p:txBody>
          <a:bodyPr wrap="square" lIns="0" tIns="0" rIns="0" bIns="0" rtlCol="0" anchor="t">
            <a:noAutofit/>
          </a:bodyPr>
          <a:lstStyle/>
          <a:p>
            <a:pPr>
              <a:lnSpc>
                <a:spcPct val="132000"/>
              </a:lnSpc>
              <a:spcAft>
                <a:spcPts val="1050"/>
              </a:spcAft>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Tata kelola lanskap yang inklusif dan kolaboratif adalah fondasi bagi lanskap yang sehat dan masyarakat yang sejahtera. Setiap langkah menuju dialog yang lebih baik, koordinasi yang lebih efektif, dan keputusan yang lebih adil adalah investasi nyata bagi generasi mendatang di Kalimantan Barat dan seluruh Indonesia.</a:t>
            </a:r>
            <a:endParaRPr lang="en-US" sz="1000" dirty="0">
              <a:latin typeface="Leelawadee UI" panose="020B0502040204020203" pitchFamily="34" charset="-34"/>
              <a:cs typeface="Leelawadee UI" panose="020B0502040204020203" pitchFamily="34" charset="-34"/>
            </a:endParaRPr>
          </a:p>
          <a:p>
            <a:pPr>
              <a:lnSpc>
                <a:spcPct val="132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Bergabunglah bersama kami — sebagai donor, mitra, atau pendukung — dalam memperkuat tata kelola lanskap yang berkelanjutan dan berkeadilan.</a:t>
            </a:r>
            <a:endParaRPr lang="en-US" sz="1000" dirty="0">
              <a:latin typeface="Leelawadee UI" panose="020B0502040204020203" pitchFamily="34" charset="-34"/>
              <a:cs typeface="Leelawadee UI" panose="020B0502040204020203" pitchFamily="34" charset="-34"/>
            </a:endParaRPr>
          </a:p>
        </p:txBody>
      </p:sp>
      <p:pic>
        <p:nvPicPr>
          <p:cNvPr id="148" name="Image 0" descr="preencoded.png">
            <a:hlinkClick r:id="" action="ppaction://noaction"/>
            <a:extLst>
              <a:ext uri="{FF2B5EF4-FFF2-40B4-BE49-F238E27FC236}">
                <a16:creationId xmlns:a16="http://schemas.microsoft.com/office/drawing/2014/main" id="{CE0BCC7F-04D2-A4BE-90C0-144067185A53}"/>
              </a:ext>
            </a:extLst>
          </p:cNvPr>
          <p:cNvPicPr>
            <a:picLocks noChangeAspect="1"/>
          </p:cNvPicPr>
          <p:nvPr/>
        </p:nvPicPr>
        <p:blipFill>
          <a:blip r:embed="rId27"/>
          <a:stretch>
            <a:fillRect/>
          </a:stretch>
        </p:blipFill>
        <p:spPr>
          <a:xfrm>
            <a:off x="484351" y="33082415"/>
            <a:ext cx="1240482" cy="335756"/>
          </a:xfrm>
          <a:prstGeom prst="rect">
            <a:avLst/>
          </a:prstGeom>
        </p:spPr>
      </p:pic>
      <p:pic>
        <p:nvPicPr>
          <p:cNvPr id="149" name="Image 1" descr="preencoded.png">
            <a:hlinkClick r:id="" action="ppaction://noaction"/>
            <a:extLst>
              <a:ext uri="{FF2B5EF4-FFF2-40B4-BE49-F238E27FC236}">
                <a16:creationId xmlns:a16="http://schemas.microsoft.com/office/drawing/2014/main" id="{B1820293-BA1B-06F1-66A1-733C40377AFB}"/>
              </a:ext>
            </a:extLst>
          </p:cNvPr>
          <p:cNvPicPr>
            <a:picLocks noChangeAspect="1"/>
          </p:cNvPicPr>
          <p:nvPr/>
        </p:nvPicPr>
        <p:blipFill>
          <a:blip r:embed="rId28"/>
          <a:stretch>
            <a:fillRect/>
          </a:stretch>
        </p:blipFill>
        <p:spPr>
          <a:xfrm>
            <a:off x="1785854" y="33082415"/>
            <a:ext cx="1720825" cy="335756"/>
          </a:xfrm>
          <a:prstGeom prst="rect">
            <a:avLst/>
          </a:prstGeom>
        </p:spPr>
      </p:pic>
      <p:sp>
        <p:nvSpPr>
          <p:cNvPr id="150" name="Shape 2">
            <a:extLst>
              <a:ext uri="{FF2B5EF4-FFF2-40B4-BE49-F238E27FC236}">
                <a16:creationId xmlns:a16="http://schemas.microsoft.com/office/drawing/2014/main" id="{CF5B45AB-7D17-F265-D941-D8D89B76BC59}"/>
              </a:ext>
            </a:extLst>
          </p:cNvPr>
          <p:cNvSpPr/>
          <p:nvPr/>
        </p:nvSpPr>
        <p:spPr>
          <a:xfrm>
            <a:off x="484352" y="33583892"/>
            <a:ext cx="8151763" cy="15255"/>
          </a:xfrm>
          <a:prstGeom prst="roundRect">
            <a:avLst>
              <a:gd name="adj" fmla="val 120067"/>
            </a:avLst>
          </a:prstGeom>
          <a:solidFill>
            <a:srgbClr val="161613">
              <a:alpha val="50000"/>
            </a:srgbClr>
          </a:solidFill>
          <a:ln/>
        </p:spPr>
      </p:sp>
      <p:sp>
        <p:nvSpPr>
          <p:cNvPr id="151" name="Shape 3">
            <a:extLst>
              <a:ext uri="{FF2B5EF4-FFF2-40B4-BE49-F238E27FC236}">
                <a16:creationId xmlns:a16="http://schemas.microsoft.com/office/drawing/2014/main" id="{FF12F08C-0064-B957-3B3E-AD7D364CA64F}"/>
              </a:ext>
            </a:extLst>
          </p:cNvPr>
          <p:cNvSpPr/>
          <p:nvPr/>
        </p:nvSpPr>
        <p:spPr>
          <a:xfrm>
            <a:off x="396469" y="33764866"/>
            <a:ext cx="2836142" cy="1418269"/>
          </a:xfrm>
          <a:prstGeom prst="roundRect">
            <a:avLst>
              <a:gd name="adj" fmla="val 999"/>
            </a:avLst>
          </a:prstGeom>
          <a:solidFill>
            <a:srgbClr val="28282F"/>
          </a:solidFill>
          <a:ln/>
        </p:spPr>
      </p:sp>
      <p:sp>
        <p:nvSpPr>
          <p:cNvPr id="152" name="Text 4">
            <a:extLst>
              <a:ext uri="{FF2B5EF4-FFF2-40B4-BE49-F238E27FC236}">
                <a16:creationId xmlns:a16="http://schemas.microsoft.com/office/drawing/2014/main" id="{B10BA936-BB3F-A1ED-EAE0-F1933FCD3F3A}"/>
              </a:ext>
            </a:extLst>
          </p:cNvPr>
          <p:cNvSpPr/>
          <p:nvPr/>
        </p:nvSpPr>
        <p:spPr>
          <a:xfrm>
            <a:off x="518508" y="33885046"/>
            <a:ext cx="2862783" cy="190723"/>
          </a:xfrm>
          <a:prstGeom prst="rect">
            <a:avLst/>
          </a:prstGeom>
          <a:noFill/>
          <a:ln/>
        </p:spPr>
        <p:txBody>
          <a:bodyPr wrap="none" lIns="0" tIns="0" rIns="0" bIns="0" rtlCol="0" anchor="t"/>
          <a:lstStyle/>
          <a:p>
            <a:pPr>
              <a:lnSpc>
                <a:spcPct val="104000"/>
              </a:lnSpc>
            </a:pPr>
            <a:r>
              <a:rPr lang="en-US" sz="1400" dirty="0">
                <a:solidFill>
                  <a:srgbClr val="FFFFFF"/>
                </a:solidFill>
                <a:latin typeface="Leelawadee UI" panose="020B0502040204020203" pitchFamily="34" charset="-34"/>
                <a:ea typeface="DM Sans Medium" pitchFamily="34" charset="-122"/>
                <a:cs typeface="Leelawadee UI" panose="020B0502040204020203" pitchFamily="34" charset="-34"/>
              </a:rPr>
              <a:t>Yayasan Natural Kapital Indonesia</a:t>
            </a:r>
            <a:endParaRPr lang="en-US" sz="1400" dirty="0">
              <a:latin typeface="Leelawadee UI" panose="020B0502040204020203" pitchFamily="34" charset="-34"/>
              <a:cs typeface="Leelawadee UI" panose="020B0502040204020203" pitchFamily="34" charset="-34"/>
            </a:endParaRPr>
          </a:p>
        </p:txBody>
      </p:sp>
      <p:sp>
        <p:nvSpPr>
          <p:cNvPr id="153" name="Text 5">
            <a:extLst>
              <a:ext uri="{FF2B5EF4-FFF2-40B4-BE49-F238E27FC236}">
                <a16:creationId xmlns:a16="http://schemas.microsoft.com/office/drawing/2014/main" id="{ADB54A0F-0BDA-2716-BB9D-5AE4245A3F8A}"/>
              </a:ext>
            </a:extLst>
          </p:cNvPr>
          <p:cNvSpPr/>
          <p:nvPr/>
        </p:nvSpPr>
        <p:spPr>
          <a:xfrm>
            <a:off x="518508" y="34195947"/>
            <a:ext cx="2450083" cy="689670"/>
          </a:xfrm>
          <a:prstGeom prst="rect">
            <a:avLst/>
          </a:prstGeom>
          <a:noFill/>
          <a:ln/>
        </p:spPr>
        <p:txBody>
          <a:bodyPr wrap="square" lIns="0" tIns="0" rIns="0" bIns="0" rtlCol="0" anchor="t"/>
          <a:lstStyle/>
          <a:p>
            <a:pPr>
              <a:lnSpc>
                <a:spcPct val="132000"/>
              </a:lnSpc>
              <a:spcAft>
                <a:spcPts val="850"/>
              </a:spcAft>
            </a:pPr>
            <a:r>
              <a:rPr lang="en-US" sz="1000" i="1" dirty="0">
                <a:solidFill>
                  <a:srgbClr val="FFFFFF"/>
                </a:solidFill>
                <a:latin typeface="Leelawadee UI" panose="020B0502040204020203" pitchFamily="34" charset="-34"/>
                <a:ea typeface="Inter" pitchFamily="34" charset="-122"/>
                <a:cs typeface="Leelawadee UI" panose="020B0502040204020203" pitchFamily="34" charset="-34"/>
              </a:rPr>
              <a:t>Nature for Life</a:t>
            </a:r>
            <a:endParaRPr lang="en-US" sz="1000" dirty="0">
              <a:latin typeface="Leelawadee UI" panose="020B0502040204020203" pitchFamily="34" charset="-34"/>
              <a:cs typeface="Leelawadee UI" panose="020B0502040204020203" pitchFamily="34" charset="-34"/>
            </a:endParaRPr>
          </a:p>
          <a:p>
            <a:pPr>
              <a:lnSpc>
                <a:spcPct val="132000"/>
              </a:lnSpc>
            </a:pPr>
            <a:r>
              <a:rPr lang="en-US" sz="1000" dirty="0">
                <a:solidFill>
                  <a:srgbClr val="FFFFFF"/>
                </a:solidFill>
                <a:latin typeface="Leelawadee UI" panose="020B0502040204020203" pitchFamily="34" charset="-34"/>
                <a:ea typeface="Inter" pitchFamily="34" charset="-122"/>
                <a:cs typeface="Leelawadee UI" panose="020B0502040204020203" pitchFamily="34" charset="-34"/>
              </a:rPr>
              <a:t>Jalan Karna Sosial, Pontianak</a:t>
            </a:r>
            <a:endParaRPr lang="en-US" sz="1000" dirty="0">
              <a:latin typeface="Leelawadee UI" panose="020B0502040204020203" pitchFamily="34" charset="-34"/>
              <a:cs typeface="Leelawadee UI" panose="020B0502040204020203" pitchFamily="34" charset="-34"/>
            </a:endParaRPr>
          </a:p>
          <a:p>
            <a:pPr>
              <a:lnSpc>
                <a:spcPct val="132000"/>
              </a:lnSpc>
            </a:pPr>
            <a:r>
              <a:rPr lang="en-US" sz="1000" dirty="0">
                <a:solidFill>
                  <a:srgbClr val="FFFFFF"/>
                </a:solidFill>
                <a:latin typeface="Leelawadee UI" panose="020B0502040204020203" pitchFamily="34" charset="-34"/>
                <a:ea typeface="Inter" pitchFamily="34" charset="-122"/>
                <a:cs typeface="Leelawadee UI" panose="020B0502040204020203" pitchFamily="34" charset="-34"/>
              </a:rPr>
              <a:t>Kalimantan Barat 78121</a:t>
            </a:r>
            <a:endParaRPr lang="en-US" sz="1000" dirty="0">
              <a:latin typeface="Leelawadee UI" panose="020B0502040204020203" pitchFamily="34" charset="-34"/>
              <a:cs typeface="Leelawadee UI" panose="020B0502040204020203" pitchFamily="34" charset="-34"/>
            </a:endParaRPr>
          </a:p>
        </p:txBody>
      </p:sp>
      <p:sp>
        <p:nvSpPr>
          <p:cNvPr id="154" name="Text 6">
            <a:extLst>
              <a:ext uri="{FF2B5EF4-FFF2-40B4-BE49-F238E27FC236}">
                <a16:creationId xmlns:a16="http://schemas.microsoft.com/office/drawing/2014/main" id="{E96325DE-C96C-C27B-E5C8-D97C21D0D0FD}"/>
              </a:ext>
            </a:extLst>
          </p:cNvPr>
          <p:cNvSpPr/>
          <p:nvPr/>
        </p:nvSpPr>
        <p:spPr>
          <a:xfrm>
            <a:off x="3305314" y="33885046"/>
            <a:ext cx="1983507" cy="190723"/>
          </a:xfrm>
          <a:prstGeom prst="rect">
            <a:avLst/>
          </a:prstGeom>
          <a:noFill/>
          <a:ln/>
        </p:spPr>
        <p:txBody>
          <a:bodyPr wrap="none" lIns="0" tIns="0" rIns="0" bIns="0" rtlCol="0" anchor="t"/>
          <a:lstStyle/>
          <a:p>
            <a:pPr>
              <a:lnSpc>
                <a:spcPct val="104000"/>
              </a:lnSpc>
            </a:pP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Tautan Cepat</a:t>
            </a:r>
            <a:endParaRPr lang="en-US" sz="1400" dirty="0">
              <a:latin typeface="Leelawadee UI" panose="020B0502040204020203" pitchFamily="34" charset="-34"/>
              <a:cs typeface="Leelawadee UI" panose="020B0502040204020203" pitchFamily="34" charset="-34"/>
            </a:endParaRPr>
          </a:p>
        </p:txBody>
      </p:sp>
      <p:sp>
        <p:nvSpPr>
          <p:cNvPr id="155" name="Text 7">
            <a:extLst>
              <a:ext uri="{FF2B5EF4-FFF2-40B4-BE49-F238E27FC236}">
                <a16:creationId xmlns:a16="http://schemas.microsoft.com/office/drawing/2014/main" id="{A807C44F-11D8-ED63-3F5E-335749680841}"/>
              </a:ext>
            </a:extLst>
          </p:cNvPr>
          <p:cNvSpPr/>
          <p:nvPr/>
        </p:nvSpPr>
        <p:spPr>
          <a:xfrm>
            <a:off x="3305314" y="34195947"/>
            <a:ext cx="2518395" cy="901526"/>
          </a:xfrm>
          <a:prstGeom prst="rect">
            <a:avLst/>
          </a:prstGeom>
          <a:noFill/>
          <a:ln/>
        </p:spPr>
        <p:txBody>
          <a:bodyPr wrap="square" lIns="0" tIns="0" rIns="0" bIns="0" rtlCol="0" anchor="t">
            <a:normAutofit/>
          </a:bodyPr>
          <a:lstStyle/>
          <a:p>
            <a:pPr marL="342900" indent="-342900">
              <a:lnSpc>
                <a:spcPct val="132000"/>
              </a:lnSpc>
              <a:buSzPct val="100000"/>
              <a:buChar char="•"/>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Tentang Kami</a:t>
            </a:r>
            <a:endParaRPr lang="en-US" sz="1000" dirty="0">
              <a:latin typeface="Leelawadee UI" panose="020B0502040204020203" pitchFamily="34" charset="-34"/>
              <a:cs typeface="Leelawadee UI" panose="020B0502040204020203" pitchFamily="34" charset="-34"/>
            </a:endParaRPr>
          </a:p>
          <a:p>
            <a:pPr marL="342900" indent="-342900">
              <a:lnSpc>
                <a:spcPct val="132000"/>
              </a:lnSpc>
              <a:buSzPct val="100000"/>
              <a:buChar char="•"/>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Program Kami</a:t>
            </a:r>
            <a:endParaRPr lang="en-US" sz="1000" dirty="0">
              <a:latin typeface="Leelawadee UI" panose="020B0502040204020203" pitchFamily="34" charset="-34"/>
              <a:cs typeface="Leelawadee UI" panose="020B0502040204020203" pitchFamily="34" charset="-34"/>
            </a:endParaRPr>
          </a:p>
          <a:p>
            <a:pPr marL="342900" indent="-342900">
              <a:lnSpc>
                <a:spcPct val="132000"/>
              </a:lnSpc>
              <a:buSzPct val="100000"/>
              <a:buChar char="•"/>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Ikut Serta</a:t>
            </a:r>
            <a:endParaRPr lang="en-US" sz="1000" dirty="0">
              <a:latin typeface="Leelawadee UI" panose="020B0502040204020203" pitchFamily="34" charset="-34"/>
              <a:cs typeface="Leelawadee UI" panose="020B0502040204020203" pitchFamily="34" charset="-34"/>
            </a:endParaRPr>
          </a:p>
          <a:p>
            <a:pPr marL="342900" indent="-342900">
              <a:lnSpc>
                <a:spcPct val="132000"/>
              </a:lnSpc>
              <a:buSzPct val="100000"/>
              <a:buChar char="•"/>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Pustaka &amp; Pengetahuan</a:t>
            </a:r>
            <a:endParaRPr lang="en-US" sz="1000" dirty="0">
              <a:latin typeface="Leelawadee UI" panose="020B0502040204020203" pitchFamily="34" charset="-34"/>
              <a:cs typeface="Leelawadee UI" panose="020B0502040204020203" pitchFamily="34" charset="-34"/>
            </a:endParaRPr>
          </a:p>
        </p:txBody>
      </p:sp>
      <p:sp>
        <p:nvSpPr>
          <p:cNvPr id="156" name="Text 8">
            <a:extLst>
              <a:ext uri="{FF2B5EF4-FFF2-40B4-BE49-F238E27FC236}">
                <a16:creationId xmlns:a16="http://schemas.microsoft.com/office/drawing/2014/main" id="{045DC1CF-C14C-4EDA-E517-73CF9FB175D6}"/>
              </a:ext>
            </a:extLst>
          </p:cNvPr>
          <p:cNvSpPr/>
          <p:nvPr/>
        </p:nvSpPr>
        <p:spPr>
          <a:xfrm>
            <a:off x="6126277" y="33885046"/>
            <a:ext cx="1983507" cy="190723"/>
          </a:xfrm>
          <a:prstGeom prst="rect">
            <a:avLst/>
          </a:prstGeom>
          <a:noFill/>
          <a:ln/>
        </p:spPr>
        <p:txBody>
          <a:bodyPr wrap="none" lIns="0" tIns="0" rIns="0" bIns="0" rtlCol="0" anchor="t"/>
          <a:lstStyle/>
          <a:p>
            <a:pPr>
              <a:lnSpc>
                <a:spcPct val="104000"/>
              </a:lnSpc>
            </a:pP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Hubungi Kami</a:t>
            </a:r>
            <a:endParaRPr lang="en-US" sz="1400" dirty="0">
              <a:latin typeface="Leelawadee UI" panose="020B0502040204020203" pitchFamily="34" charset="-34"/>
              <a:cs typeface="Leelawadee UI" panose="020B0502040204020203" pitchFamily="34" charset="-34"/>
            </a:endParaRPr>
          </a:p>
        </p:txBody>
      </p:sp>
      <p:sp>
        <p:nvSpPr>
          <p:cNvPr id="157" name="Text 9">
            <a:extLst>
              <a:ext uri="{FF2B5EF4-FFF2-40B4-BE49-F238E27FC236}">
                <a16:creationId xmlns:a16="http://schemas.microsoft.com/office/drawing/2014/main" id="{A8368310-9B65-C83B-64A1-96D1AF019A7F}"/>
              </a:ext>
            </a:extLst>
          </p:cNvPr>
          <p:cNvSpPr/>
          <p:nvPr/>
        </p:nvSpPr>
        <p:spPr>
          <a:xfrm>
            <a:off x="6126277" y="34195947"/>
            <a:ext cx="2518395" cy="1293614"/>
          </a:xfrm>
          <a:prstGeom prst="rect">
            <a:avLst/>
          </a:prstGeom>
          <a:noFill/>
          <a:ln/>
        </p:spPr>
        <p:txBody>
          <a:bodyPr wrap="square" lIns="0" tIns="0" rIns="0" bIns="0" rtlCol="0" anchor="t"/>
          <a:lstStyle/>
          <a:p>
            <a:pPr>
              <a:lnSpc>
                <a:spcPct val="132000"/>
              </a:lnSpc>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info@naturalkapital.or.id</a:t>
            </a:r>
            <a:endParaRPr lang="en-US" sz="1000" dirty="0">
              <a:latin typeface="Leelawadee UI" panose="020B0502040204020203" pitchFamily="34" charset="-34"/>
              <a:cs typeface="Leelawadee UI" panose="020B0502040204020203" pitchFamily="34" charset="-34"/>
            </a:endParaRPr>
          </a:p>
          <a:p>
            <a:pPr>
              <a:lnSpc>
                <a:spcPct val="132000"/>
              </a:lnSpc>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(Placeholder Nomor Telepon)</a:t>
            </a:r>
            <a:endParaRPr lang="en-US" sz="1000" dirty="0">
              <a:latin typeface="Leelawadee UI" panose="020B0502040204020203" pitchFamily="34" charset="-34"/>
              <a:cs typeface="Leelawadee UI" panose="020B0502040204020203" pitchFamily="34" charset="-34"/>
            </a:endParaRPr>
          </a:p>
          <a:p>
            <a:pPr>
              <a:lnSpc>
                <a:spcPct val="132000"/>
              </a:lnSpc>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LinkedIn · YouTube · Instagram</a:t>
            </a:r>
            <a:endParaRPr lang="en-US" sz="1000" dirty="0">
              <a:latin typeface="Leelawadee UI" panose="020B0502040204020203" pitchFamily="34" charset="-34"/>
              <a:cs typeface="Leelawadee UI" panose="020B0502040204020203" pitchFamily="34" charset="-34"/>
            </a:endParaRPr>
          </a:p>
          <a:p>
            <a:pPr>
              <a:lnSpc>
                <a:spcPct val="132000"/>
              </a:lnSpc>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2026 Yayasan Natural Kapital Indonesia · Kebijakan Privasi</a:t>
            </a:r>
            <a:endParaRPr lang="en-US" sz="1000" dirty="0">
              <a:latin typeface="Leelawadee UI" panose="020B0502040204020203" pitchFamily="34" charset="-34"/>
              <a:cs typeface="Leelawadee UI" panose="020B0502040204020203" pitchFamily="34" charset="-34"/>
            </a:endParaRPr>
          </a:p>
        </p:txBody>
      </p:sp>
    </p:spTree>
    <p:extLst>
      <p:ext uri="{BB962C8B-B14F-4D97-AF65-F5344CB8AC3E}">
        <p14:creationId xmlns:p14="http://schemas.microsoft.com/office/powerpoint/2010/main" val="153087576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20</TotalTime>
  <Words>1054</Words>
  <Application>Microsoft Office PowerPoint</Application>
  <PresentationFormat>Custom</PresentationFormat>
  <Paragraphs>89</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Leelawadee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haryono sadikin</dc:creator>
  <cp:lastModifiedBy>haryono sadikin</cp:lastModifiedBy>
  <cp:revision>6</cp:revision>
  <dcterms:created xsi:type="dcterms:W3CDTF">2026-06-22T09:51:06Z</dcterms:created>
  <dcterms:modified xsi:type="dcterms:W3CDTF">2026-06-22T16:36:58Z</dcterms:modified>
</cp:coreProperties>
</file>