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8999538" cy="486013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70" d="100"/>
          <a:sy n="70" d="100"/>
        </p:scale>
        <p:origin x="318" y="-75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7953968"/>
            <a:ext cx="7649607" cy="16920457"/>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25526943"/>
            <a:ext cx="6749654" cy="11734063"/>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7170D2-E0A5-4F5B-A4BE-CA2FCC73E98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2869643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7170D2-E0A5-4F5B-A4BE-CA2FCC73E98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3720588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12116591"/>
            <a:ext cx="7762102" cy="20216793"/>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32524643"/>
            <a:ext cx="7762102" cy="10631534"/>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7170D2-E0A5-4F5B-A4BE-CA2FCC73E98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3034499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12937849"/>
            <a:ext cx="3824804" cy="30837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12937849"/>
            <a:ext cx="3824804" cy="30837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7170D2-E0A5-4F5B-A4BE-CA2FCC73E983}"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126062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2587581"/>
            <a:ext cx="7762102" cy="939400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11914076"/>
            <a:ext cx="3807226" cy="5838904"/>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7752980"/>
            <a:ext cx="3807226" cy="261119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11914076"/>
            <a:ext cx="3825976" cy="5838904"/>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7752980"/>
            <a:ext cx="3825976" cy="261119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7170D2-E0A5-4F5B-A4BE-CA2FCC73E983}"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1950367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7170D2-E0A5-4F5B-A4BE-CA2FCC73E983}"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258286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7170D2-E0A5-4F5B-A4BE-CA2FCC73E983}"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1080399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3240088"/>
            <a:ext cx="2902585" cy="11340306"/>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6997700"/>
            <a:ext cx="4556016" cy="34538433"/>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4580394"/>
            <a:ext cx="2902585" cy="27011983"/>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AF7170D2-E0A5-4F5B-A4BE-CA2FCC73E983}"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109375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3240088"/>
            <a:ext cx="2902585" cy="11340306"/>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6997700"/>
            <a:ext cx="4556016" cy="34538433"/>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4580394"/>
            <a:ext cx="2902585" cy="27011983"/>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AF7170D2-E0A5-4F5B-A4BE-CA2FCC73E983}"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3253108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7170D2-E0A5-4F5B-A4BE-CA2FCC73E98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417688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2587570"/>
            <a:ext cx="1940525" cy="411873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2587570"/>
            <a:ext cx="5709082" cy="41187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7170D2-E0A5-4F5B-A4BE-CA2FCC73E98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B262DF1-A9F3-4F22-ADCB-2A23AEAF6B46}" type="slidenum">
              <a:rPr lang="en-ID" smtClean="0"/>
              <a:t>‹#›</a:t>
            </a:fld>
            <a:endParaRPr lang="en-ID"/>
          </a:p>
        </p:txBody>
      </p:sp>
    </p:spTree>
    <p:extLst>
      <p:ext uri="{BB962C8B-B14F-4D97-AF65-F5344CB8AC3E}">
        <p14:creationId xmlns:p14="http://schemas.microsoft.com/office/powerpoint/2010/main" val="1921412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2587581"/>
            <a:ext cx="7762102" cy="93940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12937849"/>
            <a:ext cx="7762102" cy="308370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45046228"/>
            <a:ext cx="2024896" cy="2587570"/>
          </a:xfrm>
          <a:prstGeom prst="rect">
            <a:avLst/>
          </a:prstGeom>
        </p:spPr>
        <p:txBody>
          <a:bodyPr vert="horz" lIns="91440" tIns="45720" rIns="91440" bIns="45720" rtlCol="0" anchor="ctr"/>
          <a:lstStyle>
            <a:lvl1pPr algn="l">
              <a:defRPr sz="1181">
                <a:solidFill>
                  <a:schemeClr val="tx1">
                    <a:tint val="75000"/>
                  </a:schemeClr>
                </a:solidFill>
              </a:defRPr>
            </a:lvl1pPr>
          </a:lstStyle>
          <a:p>
            <a:fld id="{AF7170D2-E0A5-4F5B-A4BE-CA2FCC73E983}" type="datetimeFigureOut">
              <a:rPr lang="en-ID" smtClean="0"/>
              <a:t>22/06/2026</a:t>
            </a:fld>
            <a:endParaRPr lang="en-ID"/>
          </a:p>
        </p:txBody>
      </p:sp>
      <p:sp>
        <p:nvSpPr>
          <p:cNvPr id="5" name="Footer Placeholder 4"/>
          <p:cNvSpPr>
            <a:spLocks noGrp="1"/>
          </p:cNvSpPr>
          <p:nvPr>
            <p:ph type="ftr" sz="quarter" idx="3"/>
          </p:nvPr>
        </p:nvSpPr>
        <p:spPr>
          <a:xfrm>
            <a:off x="2981097" y="45046228"/>
            <a:ext cx="3037344" cy="2587570"/>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45046228"/>
            <a:ext cx="2024896" cy="2587570"/>
          </a:xfrm>
          <a:prstGeom prst="rect">
            <a:avLst/>
          </a:prstGeom>
        </p:spPr>
        <p:txBody>
          <a:bodyPr vert="horz" lIns="91440" tIns="45720" rIns="91440" bIns="45720" rtlCol="0" anchor="ctr"/>
          <a:lstStyle>
            <a:lvl1pPr algn="r">
              <a:defRPr sz="1181">
                <a:solidFill>
                  <a:schemeClr val="tx1">
                    <a:tint val="75000"/>
                  </a:schemeClr>
                </a:solidFill>
              </a:defRPr>
            </a:lvl1pPr>
          </a:lstStyle>
          <a:p>
            <a:fld id="{6B262DF1-A9F3-4F22-ADCB-2A23AEAF6B46}" type="slidenum">
              <a:rPr lang="en-ID" smtClean="0"/>
              <a:t>‹#›</a:t>
            </a:fld>
            <a:endParaRPr lang="en-ID"/>
          </a:p>
        </p:txBody>
      </p:sp>
    </p:spTree>
    <p:extLst>
      <p:ext uri="{BB962C8B-B14F-4D97-AF65-F5344CB8AC3E}">
        <p14:creationId xmlns:p14="http://schemas.microsoft.com/office/powerpoint/2010/main" val="345596435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sv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Image 0" descr="preencoded.png">
            <a:extLst>
              <a:ext uri="{FF2B5EF4-FFF2-40B4-BE49-F238E27FC236}">
                <a16:creationId xmlns:a16="http://schemas.microsoft.com/office/drawing/2014/main" id="{65ED1F12-6DBC-386B-E30C-04018BE58C1F}"/>
              </a:ext>
            </a:extLst>
          </p:cNvPr>
          <p:cNvPicPr>
            <a:picLocks noChangeAspect="1"/>
          </p:cNvPicPr>
          <p:nvPr/>
        </p:nvPicPr>
        <p:blipFill>
          <a:blip r:embed="rId2"/>
          <a:stretch>
            <a:fillRect/>
          </a:stretch>
        </p:blipFill>
        <p:spPr>
          <a:xfrm>
            <a:off x="5715000" y="0"/>
            <a:ext cx="3298483" cy="4947724"/>
          </a:xfrm>
          <a:prstGeom prst="rect">
            <a:avLst/>
          </a:prstGeom>
        </p:spPr>
      </p:pic>
      <p:sp>
        <p:nvSpPr>
          <p:cNvPr id="155" name="Shape 0">
            <a:extLst>
              <a:ext uri="{FF2B5EF4-FFF2-40B4-BE49-F238E27FC236}">
                <a16:creationId xmlns:a16="http://schemas.microsoft.com/office/drawing/2014/main" id="{7853513D-F76F-C105-2924-1AB1A52D2308}"/>
              </a:ext>
            </a:extLst>
          </p:cNvPr>
          <p:cNvSpPr/>
          <p:nvPr/>
        </p:nvSpPr>
        <p:spPr>
          <a:xfrm>
            <a:off x="496119" y="428774"/>
            <a:ext cx="4250234" cy="314026"/>
          </a:xfrm>
          <a:prstGeom prst="roundRect">
            <a:avLst>
              <a:gd name="adj" fmla="val 6132"/>
            </a:avLst>
          </a:prstGeom>
          <a:noFill/>
          <a:ln w="4763">
            <a:solidFill>
              <a:srgbClr val="28282F"/>
            </a:solidFill>
            <a:prstDash val="solid"/>
          </a:ln>
        </p:spPr>
      </p:sp>
      <p:sp>
        <p:nvSpPr>
          <p:cNvPr id="156" name="Text 1">
            <a:extLst>
              <a:ext uri="{FF2B5EF4-FFF2-40B4-BE49-F238E27FC236}">
                <a16:creationId xmlns:a16="http://schemas.microsoft.com/office/drawing/2014/main" id="{44020408-C932-BD8B-EFDC-83DF6FDC5D26}"/>
              </a:ext>
            </a:extLst>
          </p:cNvPr>
          <p:cNvSpPr/>
          <p:nvPr/>
        </p:nvSpPr>
        <p:spPr>
          <a:xfrm>
            <a:off x="575295" y="470743"/>
            <a:ext cx="4250234"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BERANDA / PROGRAM KAMI / SUSTAINABLE COMMODITY SYSTEMS PROGRAM</a:t>
            </a:r>
            <a:endParaRPr lang="en-US" sz="900" dirty="0">
              <a:latin typeface="Leelawadee UI" panose="020B0502040204020203" pitchFamily="34" charset="-34"/>
              <a:cs typeface="Leelawadee UI" panose="020B0502040204020203" pitchFamily="34" charset="-34"/>
            </a:endParaRPr>
          </a:p>
        </p:txBody>
      </p:sp>
      <p:sp>
        <p:nvSpPr>
          <p:cNvPr id="157" name="Text 2">
            <a:extLst>
              <a:ext uri="{FF2B5EF4-FFF2-40B4-BE49-F238E27FC236}">
                <a16:creationId xmlns:a16="http://schemas.microsoft.com/office/drawing/2014/main" id="{0345A221-E933-5932-A5CB-37DCEC546F69}"/>
              </a:ext>
            </a:extLst>
          </p:cNvPr>
          <p:cNvSpPr/>
          <p:nvPr/>
        </p:nvSpPr>
        <p:spPr>
          <a:xfrm>
            <a:off x="496119" y="1246732"/>
            <a:ext cx="4722763" cy="1412081"/>
          </a:xfrm>
          <a:prstGeom prst="rect">
            <a:avLst/>
          </a:prstGeom>
          <a:noFill/>
          <a:ln/>
        </p:spPr>
        <p:txBody>
          <a:bodyPr wrap="square" lIns="0" tIns="0" rIns="0" bIns="0" rtlCol="0" anchor="t">
            <a:normAutofit lnSpcReduction="10000"/>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Sustainable Commodity Systems Program: Mendorong Transformasi Rantai Pasok yang Berkelanjutan, Inklusif, dan Berkeadilan</a:t>
            </a:r>
            <a:endParaRPr lang="en-US" sz="2400" dirty="0">
              <a:latin typeface="Leelawadee UI" panose="020B0502040204020203" pitchFamily="34" charset="-34"/>
              <a:cs typeface="Leelawadee UI" panose="020B0502040204020203" pitchFamily="34" charset="-34"/>
            </a:endParaRPr>
          </a:p>
        </p:txBody>
      </p:sp>
      <p:sp>
        <p:nvSpPr>
          <p:cNvPr id="158" name="Text 3">
            <a:extLst>
              <a:ext uri="{FF2B5EF4-FFF2-40B4-BE49-F238E27FC236}">
                <a16:creationId xmlns:a16="http://schemas.microsoft.com/office/drawing/2014/main" id="{E669AB5F-FAA2-5EB8-1E5A-9FE914270B4E}"/>
              </a:ext>
            </a:extLst>
          </p:cNvPr>
          <p:cNvSpPr/>
          <p:nvPr/>
        </p:nvSpPr>
        <p:spPr>
          <a:xfrm>
            <a:off x="496119" y="2844850"/>
            <a:ext cx="4722763" cy="13892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Sebagian besar tekanan terhadap lanskap berasal dari sistem produksi komoditas yang tidak berkelanjutan. Program ini dirancang untuk mendorong transformasi sistem komoditas agar lebih berkelanjutan, inklusif, dan mampu memberikan manfaat yang adil bagi produsen kecil serta lanskap tempat komoditas tersebut diproduksi. YNKI bekerja sama dengan pemerintah daerah, sektor swasta, dan petani untuk membangun rantai pasok yang transparan, akuntabel, dan berdaya saing global.</a:t>
            </a:r>
            <a:endParaRPr lang="en-US" sz="950" dirty="0">
              <a:latin typeface="Leelawadee UI" panose="020B0502040204020203" pitchFamily="34" charset="-34"/>
              <a:cs typeface="Leelawadee UI" panose="020B0502040204020203" pitchFamily="34" charset="-34"/>
            </a:endParaRPr>
          </a:p>
        </p:txBody>
      </p:sp>
      <p:pic>
        <p:nvPicPr>
          <p:cNvPr id="159" name="Image 1" descr="preencoded.png">
            <a:hlinkClick r:id="" action="ppaction://noaction"/>
            <a:extLst>
              <a:ext uri="{FF2B5EF4-FFF2-40B4-BE49-F238E27FC236}">
                <a16:creationId xmlns:a16="http://schemas.microsoft.com/office/drawing/2014/main" id="{9D638CA7-F738-818C-4E18-CD6D6F846539}"/>
              </a:ext>
            </a:extLst>
          </p:cNvPr>
          <p:cNvPicPr>
            <a:picLocks noChangeAspect="1"/>
          </p:cNvPicPr>
          <p:nvPr/>
        </p:nvPicPr>
        <p:blipFill>
          <a:blip r:embed="rId3"/>
          <a:stretch>
            <a:fillRect/>
          </a:stretch>
        </p:blipFill>
        <p:spPr>
          <a:xfrm>
            <a:off x="496119" y="4373612"/>
            <a:ext cx="1748061" cy="341114"/>
          </a:xfrm>
          <a:prstGeom prst="rect">
            <a:avLst/>
          </a:prstGeom>
        </p:spPr>
      </p:pic>
      <p:pic>
        <p:nvPicPr>
          <p:cNvPr id="160" name="Image 2" descr="preencoded.png">
            <a:hlinkClick r:id="" action="ppaction://noaction"/>
            <a:extLst>
              <a:ext uri="{FF2B5EF4-FFF2-40B4-BE49-F238E27FC236}">
                <a16:creationId xmlns:a16="http://schemas.microsoft.com/office/drawing/2014/main" id="{697C8FC7-0C32-1F26-F408-93FD7D0CD9EB}"/>
              </a:ext>
            </a:extLst>
          </p:cNvPr>
          <p:cNvPicPr>
            <a:picLocks noChangeAspect="1"/>
          </p:cNvPicPr>
          <p:nvPr/>
        </p:nvPicPr>
        <p:blipFill>
          <a:blip r:embed="rId4"/>
          <a:stretch>
            <a:fillRect/>
          </a:stretch>
        </p:blipFill>
        <p:spPr>
          <a:xfrm>
            <a:off x="2306166" y="4373612"/>
            <a:ext cx="1089124" cy="341114"/>
          </a:xfrm>
          <a:prstGeom prst="rect">
            <a:avLst/>
          </a:prstGeom>
        </p:spPr>
      </p:pic>
      <p:sp>
        <p:nvSpPr>
          <p:cNvPr id="161" name="Shape 0">
            <a:extLst>
              <a:ext uri="{FF2B5EF4-FFF2-40B4-BE49-F238E27FC236}">
                <a16:creationId xmlns:a16="http://schemas.microsoft.com/office/drawing/2014/main" id="{2BAE8611-0343-EB20-1BD8-27350425691A}"/>
              </a:ext>
            </a:extLst>
          </p:cNvPr>
          <p:cNvSpPr/>
          <p:nvPr/>
        </p:nvSpPr>
        <p:spPr>
          <a:xfrm>
            <a:off x="575295" y="5342163"/>
            <a:ext cx="1489294" cy="249508"/>
          </a:xfrm>
          <a:prstGeom prst="roundRect">
            <a:avLst>
              <a:gd name="adj" fmla="val 6383"/>
            </a:avLst>
          </a:prstGeom>
          <a:solidFill>
            <a:srgbClr val="E3E3E8"/>
          </a:solidFill>
          <a:ln/>
        </p:spPr>
      </p:sp>
      <p:sp>
        <p:nvSpPr>
          <p:cNvPr id="162" name="Text 1">
            <a:extLst>
              <a:ext uri="{FF2B5EF4-FFF2-40B4-BE49-F238E27FC236}">
                <a16:creationId xmlns:a16="http://schemas.microsoft.com/office/drawing/2014/main" id="{FA52BA60-2A25-5138-67A5-5DD9DAF06D8B}"/>
              </a:ext>
            </a:extLst>
          </p:cNvPr>
          <p:cNvSpPr/>
          <p:nvPr/>
        </p:nvSpPr>
        <p:spPr>
          <a:xfrm>
            <a:off x="649709" y="5379370"/>
            <a:ext cx="1393552" cy="158800"/>
          </a:xfrm>
          <a:prstGeom prst="rect">
            <a:avLst/>
          </a:prstGeom>
          <a:noFill/>
          <a:ln/>
        </p:spPr>
        <p:txBody>
          <a:bodyPr wrap="none" lIns="0" tIns="0" rIns="0" bIns="0" rtlCol="0" anchor="t"/>
          <a:lstStyle/>
          <a:p>
            <a:pPr marL="0" indent="0" algn="l">
              <a:lnSpc>
                <a:spcPct val="133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TUJUAN PROGRAM</a:t>
            </a:r>
            <a:endParaRPr lang="en-US" sz="900" dirty="0">
              <a:latin typeface="Leelawadee UI" panose="020B0502040204020203" pitchFamily="34" charset="-34"/>
              <a:cs typeface="Leelawadee UI" panose="020B0502040204020203" pitchFamily="34" charset="-34"/>
            </a:endParaRPr>
          </a:p>
        </p:txBody>
      </p:sp>
      <p:sp>
        <p:nvSpPr>
          <p:cNvPr id="163" name="Text 2">
            <a:extLst>
              <a:ext uri="{FF2B5EF4-FFF2-40B4-BE49-F238E27FC236}">
                <a16:creationId xmlns:a16="http://schemas.microsoft.com/office/drawing/2014/main" id="{528F9F48-FFC1-60A5-AE13-1F2319A93CD3}"/>
              </a:ext>
            </a:extLst>
          </p:cNvPr>
          <p:cNvSpPr/>
          <p:nvPr/>
        </p:nvSpPr>
        <p:spPr>
          <a:xfrm>
            <a:off x="575295" y="5741171"/>
            <a:ext cx="4717777" cy="387548"/>
          </a:xfrm>
          <a:prstGeom prst="rect">
            <a:avLst/>
          </a:prstGeom>
          <a:noFill/>
          <a:ln/>
        </p:spPr>
        <p:txBody>
          <a:bodyPr wrap="none" lIns="0" tIns="0" rIns="0" bIns="0" rtlCol="0" anchor="t"/>
          <a:lstStyle/>
          <a:p>
            <a:pPr marL="0" indent="0" algn="l">
              <a:lnSpc>
                <a:spcPct val="104000"/>
              </a:lnSpc>
              <a:buNone/>
            </a:pPr>
            <a:r>
              <a:rPr lang="en-US" sz="2400" dirty="0" err="1">
                <a:solidFill>
                  <a:srgbClr val="161613"/>
                </a:solidFill>
                <a:latin typeface="Leelawadee UI" panose="020B0502040204020203" pitchFamily="34" charset="-34"/>
                <a:ea typeface="DM Sans Medium" pitchFamily="34" charset="-122"/>
                <a:cs typeface="Leelawadee UI" panose="020B0502040204020203" pitchFamily="34" charset="-34"/>
              </a:rPr>
              <a:t>Tentang</a:t>
            </a: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 Program?</a:t>
            </a:r>
            <a:endParaRPr lang="en-US" sz="2400" dirty="0">
              <a:latin typeface="Leelawadee UI" panose="020B0502040204020203" pitchFamily="34" charset="-34"/>
              <a:cs typeface="Leelawadee UI" panose="020B0502040204020203" pitchFamily="34" charset="-34"/>
            </a:endParaRPr>
          </a:p>
        </p:txBody>
      </p:sp>
      <p:sp>
        <p:nvSpPr>
          <p:cNvPr id="164" name="Text 3">
            <a:extLst>
              <a:ext uri="{FF2B5EF4-FFF2-40B4-BE49-F238E27FC236}">
                <a16:creationId xmlns:a16="http://schemas.microsoft.com/office/drawing/2014/main" id="{15A22F49-6551-4004-2110-8AA6FFDAF049}"/>
              </a:ext>
            </a:extLst>
          </p:cNvPr>
          <p:cNvSpPr/>
          <p:nvPr/>
        </p:nvSpPr>
        <p:spPr>
          <a:xfrm>
            <a:off x="575295" y="6310141"/>
            <a:ext cx="4347270" cy="2294706"/>
          </a:xfrm>
          <a:prstGeom prst="rect">
            <a:avLst/>
          </a:prstGeom>
          <a:noFill/>
          <a:ln/>
        </p:spPr>
        <p:txBody>
          <a:bodyPr wrap="square" lIns="0" tIns="0" rIns="0" bIns="0" rtlCol="0" anchor="t">
            <a:normAutofit lnSpcReduction="10000"/>
          </a:bodyPr>
          <a:lstStyle/>
          <a:p>
            <a:pPr marL="0" indent="0" algn="l">
              <a:lnSpc>
                <a:spcPct val="133000"/>
              </a:lnSpc>
              <a:spcAft>
                <a:spcPts val="850"/>
              </a:spcAft>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Sustainable Commodity Systems Program hadir untuk mendorong transformasi menyeluruh sistem komoditas di Kalimantan Barat — menjadikannya lebih berkelanjutan, inklusif, dan mampu memberikan manfaat yang adil bagi produsen kecil serta lanskap tempat komoditas tersebut diproduksi.</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ini menjadi jembatan antara petani kecil, pemerintah daerah, sektor swasta, dan pasar global — memastikan bahwa pertumbuhan ekonomi tidak datang dengan mengorbankan lingkungan dan kesejahteraan komunitas lokal. Melalui pendekatan sistemik, YNKI mendorong perubahan dari hulu ke hilir: dari praktik budidaya di ladang hingga transparansi di rantai pasok global.</a:t>
            </a:r>
            <a:endParaRPr lang="en-US" sz="1000" dirty="0">
              <a:latin typeface="Leelawadee UI" panose="020B0502040204020203" pitchFamily="34" charset="-34"/>
              <a:cs typeface="Leelawadee UI" panose="020B0502040204020203" pitchFamily="34" charset="-34"/>
            </a:endParaRPr>
          </a:p>
        </p:txBody>
      </p:sp>
      <p:sp>
        <p:nvSpPr>
          <p:cNvPr id="165" name="Shape 4">
            <a:extLst>
              <a:ext uri="{FF2B5EF4-FFF2-40B4-BE49-F238E27FC236}">
                <a16:creationId xmlns:a16="http://schemas.microsoft.com/office/drawing/2014/main" id="{A42CF4A1-50A7-4BA1-20FB-3901EB79003A}"/>
              </a:ext>
            </a:extLst>
          </p:cNvPr>
          <p:cNvSpPr/>
          <p:nvPr/>
        </p:nvSpPr>
        <p:spPr>
          <a:xfrm>
            <a:off x="5140597" y="6198520"/>
            <a:ext cx="3680445" cy="2517949"/>
          </a:xfrm>
          <a:prstGeom prst="roundRect">
            <a:avLst>
              <a:gd name="adj" fmla="val 739"/>
            </a:avLst>
          </a:prstGeom>
          <a:solidFill>
            <a:srgbClr val="28282F"/>
          </a:solidFill>
          <a:ln/>
        </p:spPr>
      </p:sp>
      <p:sp>
        <p:nvSpPr>
          <p:cNvPr id="166" name="Shape 5">
            <a:extLst>
              <a:ext uri="{FF2B5EF4-FFF2-40B4-BE49-F238E27FC236}">
                <a16:creationId xmlns:a16="http://schemas.microsoft.com/office/drawing/2014/main" id="{6FE2AED1-65FD-488E-B114-845B61153A2C}"/>
              </a:ext>
            </a:extLst>
          </p:cNvPr>
          <p:cNvSpPr/>
          <p:nvPr/>
        </p:nvSpPr>
        <p:spPr>
          <a:xfrm>
            <a:off x="5264571" y="6338046"/>
            <a:ext cx="14288" cy="1021779"/>
          </a:xfrm>
          <a:prstGeom prst="roundRect">
            <a:avLst>
              <a:gd name="adj" fmla="val 59998"/>
            </a:avLst>
          </a:prstGeom>
          <a:solidFill>
            <a:srgbClr val="28282F"/>
          </a:solidFill>
          <a:ln/>
        </p:spPr>
      </p:sp>
      <p:sp>
        <p:nvSpPr>
          <p:cNvPr id="167" name="Text 6">
            <a:extLst>
              <a:ext uri="{FF2B5EF4-FFF2-40B4-BE49-F238E27FC236}">
                <a16:creationId xmlns:a16="http://schemas.microsoft.com/office/drawing/2014/main" id="{3D7B1BEB-4CB1-8C11-61FE-0590CD24386D}"/>
              </a:ext>
            </a:extLst>
          </p:cNvPr>
          <p:cNvSpPr/>
          <p:nvPr/>
        </p:nvSpPr>
        <p:spPr>
          <a:xfrm>
            <a:off x="5450606" y="6449667"/>
            <a:ext cx="3246462" cy="79861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 </a:t>
            </a:r>
            <a:r>
              <a:rPr lang="en-US" sz="1000" i="1" dirty="0">
                <a:solidFill>
                  <a:srgbClr val="FFFFFF"/>
                </a:solidFill>
                <a:latin typeface="Leelawadee UI" panose="020B0502040204020203" pitchFamily="34" charset="-34"/>
                <a:ea typeface="Inter" pitchFamily="34" charset="-122"/>
                <a:cs typeface="Leelawadee UI" panose="020B0502040204020203" pitchFamily="34" charset="-34"/>
              </a:rPr>
              <a:t>"Mendorong transformasi sistem komoditas agar lebih berkelanjutan, inklusif, dan mampu memberikan manfaat yang adil bagi produsen kecil serta lanskap tempat komoditas tersebut diproduksi."</a:t>
            </a:r>
            <a:endParaRPr lang="en-US" sz="1000" dirty="0">
              <a:latin typeface="Leelawadee UI" panose="020B0502040204020203" pitchFamily="34" charset="-34"/>
              <a:cs typeface="Leelawadee UI" panose="020B0502040204020203" pitchFamily="34" charset="-34"/>
            </a:endParaRPr>
          </a:p>
        </p:txBody>
      </p:sp>
      <p:sp>
        <p:nvSpPr>
          <p:cNvPr id="168" name="Text 7">
            <a:extLst>
              <a:ext uri="{FF2B5EF4-FFF2-40B4-BE49-F238E27FC236}">
                <a16:creationId xmlns:a16="http://schemas.microsoft.com/office/drawing/2014/main" id="{FD434661-BDEB-492F-71C4-5966E9E7D924}"/>
              </a:ext>
            </a:extLst>
          </p:cNvPr>
          <p:cNvSpPr/>
          <p:nvPr/>
        </p:nvSpPr>
        <p:spPr>
          <a:xfrm>
            <a:off x="5264571" y="7499427"/>
            <a:ext cx="3432497" cy="39692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 Kerangka Program YNKI, Sustainable Commodity Systems Program</a:t>
            </a:r>
            <a:endParaRPr lang="en-US" sz="1000" dirty="0">
              <a:latin typeface="Leelawadee UI" panose="020B0502040204020203" pitchFamily="34" charset="-34"/>
              <a:cs typeface="Leelawadee UI" panose="020B0502040204020203" pitchFamily="34" charset="-34"/>
            </a:endParaRPr>
          </a:p>
        </p:txBody>
      </p:sp>
      <p:pic>
        <p:nvPicPr>
          <p:cNvPr id="169" name="Image 0" descr="preencoded.png">
            <a:extLst>
              <a:ext uri="{FF2B5EF4-FFF2-40B4-BE49-F238E27FC236}">
                <a16:creationId xmlns:a16="http://schemas.microsoft.com/office/drawing/2014/main" id="{C9EF3107-16D7-6131-631E-4E3FE182499B}"/>
              </a:ext>
            </a:extLst>
          </p:cNvPr>
          <p:cNvPicPr>
            <a:picLocks noChangeAspect="1"/>
          </p:cNvPicPr>
          <p:nvPr/>
        </p:nvPicPr>
        <p:blipFill>
          <a:blip r:embed="rId5"/>
          <a:stretch>
            <a:fillRect/>
          </a:stretch>
        </p:blipFill>
        <p:spPr>
          <a:xfrm>
            <a:off x="55299" y="9197259"/>
            <a:ext cx="3429000" cy="5143500"/>
          </a:xfrm>
          <a:prstGeom prst="rect">
            <a:avLst/>
          </a:prstGeom>
        </p:spPr>
      </p:pic>
      <p:sp>
        <p:nvSpPr>
          <p:cNvPr id="170" name="Shape 0">
            <a:extLst>
              <a:ext uri="{FF2B5EF4-FFF2-40B4-BE49-F238E27FC236}">
                <a16:creationId xmlns:a16="http://schemas.microsoft.com/office/drawing/2014/main" id="{06D88FF3-1CCF-66D9-9CC8-B23FF4296CC7}"/>
              </a:ext>
            </a:extLst>
          </p:cNvPr>
          <p:cNvSpPr/>
          <p:nvPr/>
        </p:nvSpPr>
        <p:spPr>
          <a:xfrm>
            <a:off x="3980418" y="9432817"/>
            <a:ext cx="1437828" cy="242540"/>
          </a:xfrm>
          <a:prstGeom prst="roundRect">
            <a:avLst>
              <a:gd name="adj" fmla="val 6784"/>
            </a:avLst>
          </a:prstGeom>
          <a:solidFill>
            <a:srgbClr val="E3E3E8"/>
          </a:solidFill>
          <a:ln/>
        </p:spPr>
      </p:sp>
      <p:sp>
        <p:nvSpPr>
          <p:cNvPr id="171" name="Text 1">
            <a:extLst>
              <a:ext uri="{FF2B5EF4-FFF2-40B4-BE49-F238E27FC236}">
                <a16:creationId xmlns:a16="http://schemas.microsoft.com/office/drawing/2014/main" id="{07D7373A-44C5-961D-0C05-C43121D4D128}"/>
              </a:ext>
            </a:extLst>
          </p:cNvPr>
          <p:cNvSpPr/>
          <p:nvPr/>
        </p:nvSpPr>
        <p:spPr>
          <a:xfrm>
            <a:off x="4042032" y="9463625"/>
            <a:ext cx="1376214" cy="120104"/>
          </a:xfrm>
          <a:prstGeom prst="rect">
            <a:avLst/>
          </a:prstGeom>
          <a:noFill/>
          <a:ln/>
        </p:spPr>
        <p:txBody>
          <a:bodyPr wrap="none" lIns="0" tIns="0" rIns="0" bIns="0" rtlCol="0" anchor="t"/>
          <a:lstStyle/>
          <a:p>
            <a:pPr marL="0" indent="0" algn="l">
              <a:lnSpc>
                <a:spcPct val="122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MENGAPA INI PENTING</a:t>
            </a:r>
            <a:endParaRPr lang="en-US" sz="900" dirty="0">
              <a:latin typeface="Leelawadee UI" panose="020B0502040204020203" pitchFamily="34" charset="-34"/>
              <a:cs typeface="Leelawadee UI" panose="020B0502040204020203" pitchFamily="34" charset="-34"/>
            </a:endParaRPr>
          </a:p>
        </p:txBody>
      </p:sp>
      <p:sp>
        <p:nvSpPr>
          <p:cNvPr id="172" name="Text 2">
            <a:extLst>
              <a:ext uri="{FF2B5EF4-FFF2-40B4-BE49-F238E27FC236}">
                <a16:creationId xmlns:a16="http://schemas.microsoft.com/office/drawing/2014/main" id="{02327F43-E90D-3F32-C943-F20E9D4148AF}"/>
              </a:ext>
            </a:extLst>
          </p:cNvPr>
          <p:cNvSpPr/>
          <p:nvPr/>
        </p:nvSpPr>
        <p:spPr>
          <a:xfrm>
            <a:off x="3980418" y="9770471"/>
            <a:ext cx="4722763" cy="641896"/>
          </a:xfrm>
          <a:prstGeom prst="rect">
            <a:avLst/>
          </a:prstGeom>
          <a:noFill/>
          <a:ln/>
        </p:spPr>
        <p:txBody>
          <a:bodyPr wrap="square" lIns="0" tIns="0" rIns="0" bIns="0" rtlCol="0" anchor="t">
            <a:normAutofit/>
          </a:bodyPr>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Tekanan Nyata di Balik Rantai Pasok Komoditas</a:t>
            </a:r>
            <a:endParaRPr lang="en-US" sz="2000" dirty="0">
              <a:latin typeface="Leelawadee UI" panose="020B0502040204020203" pitchFamily="34" charset="-34"/>
              <a:cs typeface="Leelawadee UI" panose="020B0502040204020203" pitchFamily="34" charset="-34"/>
            </a:endParaRPr>
          </a:p>
        </p:txBody>
      </p:sp>
      <p:sp>
        <p:nvSpPr>
          <p:cNvPr id="173" name="Shape 3">
            <a:extLst>
              <a:ext uri="{FF2B5EF4-FFF2-40B4-BE49-F238E27FC236}">
                <a16:creationId xmlns:a16="http://schemas.microsoft.com/office/drawing/2014/main" id="{F21A94EE-783F-C47F-DA28-1601FFC450F5}"/>
              </a:ext>
            </a:extLst>
          </p:cNvPr>
          <p:cNvSpPr/>
          <p:nvPr/>
        </p:nvSpPr>
        <p:spPr>
          <a:xfrm>
            <a:off x="3980418" y="10539912"/>
            <a:ext cx="4722763" cy="721965"/>
          </a:xfrm>
          <a:prstGeom prst="roundRect">
            <a:avLst>
              <a:gd name="adj" fmla="val 2134"/>
            </a:avLst>
          </a:prstGeom>
          <a:solidFill>
            <a:srgbClr val="EDEBE3"/>
          </a:solidFill>
          <a:ln/>
        </p:spPr>
      </p:sp>
      <p:sp>
        <p:nvSpPr>
          <p:cNvPr id="174" name="Text 4">
            <a:extLst>
              <a:ext uri="{FF2B5EF4-FFF2-40B4-BE49-F238E27FC236}">
                <a16:creationId xmlns:a16="http://schemas.microsoft.com/office/drawing/2014/main" id="{7303548E-9BC1-217E-1C8D-C42EF11A1983}"/>
              </a:ext>
            </a:extLst>
          </p:cNvPr>
          <p:cNvSpPr/>
          <p:nvPr/>
        </p:nvSpPr>
        <p:spPr>
          <a:xfrm>
            <a:off x="4083109" y="10642603"/>
            <a:ext cx="2045419" cy="165274"/>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Deforestasi &amp; Degradasi Lahan</a:t>
            </a:r>
            <a:endParaRPr lang="en-US" sz="1050" dirty="0">
              <a:latin typeface="Leelawadee UI" panose="020B0502040204020203" pitchFamily="34" charset="-34"/>
              <a:cs typeface="Leelawadee UI" panose="020B0502040204020203" pitchFamily="34" charset="-34"/>
            </a:endParaRPr>
          </a:p>
        </p:txBody>
      </p:sp>
      <p:sp>
        <p:nvSpPr>
          <p:cNvPr id="175" name="Text 5">
            <a:extLst>
              <a:ext uri="{FF2B5EF4-FFF2-40B4-BE49-F238E27FC236}">
                <a16:creationId xmlns:a16="http://schemas.microsoft.com/office/drawing/2014/main" id="{D58A5668-3A11-4CC5-AEEB-A090EC8FBE64}"/>
              </a:ext>
            </a:extLst>
          </p:cNvPr>
          <p:cNvSpPr/>
          <p:nvPr/>
        </p:nvSpPr>
        <p:spPr>
          <a:xfrm>
            <a:off x="4083109" y="10858851"/>
            <a:ext cx="4517380" cy="300335"/>
          </a:xfrm>
          <a:prstGeom prst="rect">
            <a:avLst/>
          </a:prstGeom>
          <a:noFill/>
          <a:ln/>
        </p:spPr>
        <p:txBody>
          <a:bodyPr wrap="square" lIns="0" tIns="0" rIns="0" bIns="0" rtlCol="0" anchor="t">
            <a:noAutofit/>
          </a:bodyPr>
          <a:lstStyle/>
          <a:p>
            <a:pPr marL="0" indent="0" algn="l">
              <a:lnSpc>
                <a:spcPct val="12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Sistem produksi komoditas yang tidak berkelanjutan menjadi salah satu pendorong utama deforestasi, degradasi lahan, dan konflik tenurial di Kalimantan Barat.</a:t>
            </a:r>
            <a:endParaRPr lang="en-US" sz="950" dirty="0">
              <a:latin typeface="Leelawadee UI" panose="020B0502040204020203" pitchFamily="34" charset="-34"/>
              <a:cs typeface="Leelawadee UI" panose="020B0502040204020203" pitchFamily="34" charset="-34"/>
            </a:endParaRPr>
          </a:p>
        </p:txBody>
      </p:sp>
      <p:sp>
        <p:nvSpPr>
          <p:cNvPr id="176" name="Shape 6">
            <a:extLst>
              <a:ext uri="{FF2B5EF4-FFF2-40B4-BE49-F238E27FC236}">
                <a16:creationId xmlns:a16="http://schemas.microsoft.com/office/drawing/2014/main" id="{918453EC-77BC-6B52-1105-B39D104AF196}"/>
              </a:ext>
            </a:extLst>
          </p:cNvPr>
          <p:cNvSpPr/>
          <p:nvPr/>
        </p:nvSpPr>
        <p:spPr>
          <a:xfrm>
            <a:off x="3980418" y="11346932"/>
            <a:ext cx="4722763" cy="923157"/>
          </a:xfrm>
          <a:prstGeom prst="roundRect">
            <a:avLst>
              <a:gd name="adj" fmla="val 2134"/>
            </a:avLst>
          </a:prstGeom>
          <a:solidFill>
            <a:srgbClr val="EDEBE3"/>
          </a:solidFill>
          <a:ln/>
        </p:spPr>
      </p:sp>
      <p:sp>
        <p:nvSpPr>
          <p:cNvPr id="177" name="Text 7">
            <a:extLst>
              <a:ext uri="{FF2B5EF4-FFF2-40B4-BE49-F238E27FC236}">
                <a16:creationId xmlns:a16="http://schemas.microsoft.com/office/drawing/2014/main" id="{CF4904F5-E70E-0EB4-3F30-932CCE14E164}"/>
              </a:ext>
            </a:extLst>
          </p:cNvPr>
          <p:cNvSpPr/>
          <p:nvPr/>
        </p:nvSpPr>
        <p:spPr>
          <a:xfrm>
            <a:off x="4083109" y="11449624"/>
            <a:ext cx="1548110" cy="165274"/>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Tantangan Petani Kecil</a:t>
            </a:r>
            <a:endParaRPr lang="en-US" sz="1050" dirty="0">
              <a:latin typeface="Leelawadee UI" panose="020B0502040204020203" pitchFamily="34" charset="-34"/>
              <a:cs typeface="Leelawadee UI" panose="020B0502040204020203" pitchFamily="34" charset="-34"/>
            </a:endParaRPr>
          </a:p>
        </p:txBody>
      </p:sp>
      <p:sp>
        <p:nvSpPr>
          <p:cNvPr id="178" name="Text 8">
            <a:extLst>
              <a:ext uri="{FF2B5EF4-FFF2-40B4-BE49-F238E27FC236}">
                <a16:creationId xmlns:a16="http://schemas.microsoft.com/office/drawing/2014/main" id="{097095F4-8C34-FE54-0D70-A8FE8E0D4184}"/>
              </a:ext>
            </a:extLst>
          </p:cNvPr>
          <p:cNvSpPr/>
          <p:nvPr/>
        </p:nvSpPr>
        <p:spPr>
          <a:xfrm>
            <a:off x="4083109" y="11665871"/>
            <a:ext cx="4517380" cy="300335"/>
          </a:xfrm>
          <a:prstGeom prst="rect">
            <a:avLst/>
          </a:prstGeom>
          <a:noFill/>
          <a:ln/>
        </p:spPr>
        <p:txBody>
          <a:bodyPr wrap="square" lIns="0" tIns="0" rIns="0" bIns="0" rtlCol="0" anchor="t">
            <a:noAutofit/>
          </a:bodyPr>
          <a:lstStyle/>
          <a:p>
            <a:pPr marL="0" indent="0" algn="l">
              <a:lnSpc>
                <a:spcPct val="12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Petani kecil menghadapi produktivitas rendah, minimnya akses teknologi, fluktuasi harga pasar internasional, serta hambatan dalam memenuhi standar global yang semakin ketat.</a:t>
            </a:r>
            <a:endParaRPr lang="en-US" sz="950" dirty="0">
              <a:latin typeface="Leelawadee UI" panose="020B0502040204020203" pitchFamily="34" charset="-34"/>
              <a:cs typeface="Leelawadee UI" panose="020B0502040204020203" pitchFamily="34" charset="-34"/>
            </a:endParaRPr>
          </a:p>
        </p:txBody>
      </p:sp>
      <p:sp>
        <p:nvSpPr>
          <p:cNvPr id="179" name="Shape 9">
            <a:extLst>
              <a:ext uri="{FF2B5EF4-FFF2-40B4-BE49-F238E27FC236}">
                <a16:creationId xmlns:a16="http://schemas.microsoft.com/office/drawing/2014/main" id="{970E2868-B989-CBA8-9711-162B2487E44A}"/>
              </a:ext>
            </a:extLst>
          </p:cNvPr>
          <p:cNvSpPr/>
          <p:nvPr/>
        </p:nvSpPr>
        <p:spPr>
          <a:xfrm>
            <a:off x="3980418" y="12360920"/>
            <a:ext cx="4722763" cy="872133"/>
          </a:xfrm>
          <a:prstGeom prst="roundRect">
            <a:avLst>
              <a:gd name="adj" fmla="val 1767"/>
            </a:avLst>
          </a:prstGeom>
          <a:solidFill>
            <a:srgbClr val="EDEBE3"/>
          </a:solidFill>
          <a:ln/>
        </p:spPr>
      </p:sp>
      <p:sp>
        <p:nvSpPr>
          <p:cNvPr id="180" name="Text 10">
            <a:extLst>
              <a:ext uri="{FF2B5EF4-FFF2-40B4-BE49-F238E27FC236}">
                <a16:creationId xmlns:a16="http://schemas.microsoft.com/office/drawing/2014/main" id="{852841F7-AF96-E694-600B-0CBB49778655}"/>
              </a:ext>
            </a:extLst>
          </p:cNvPr>
          <p:cNvSpPr/>
          <p:nvPr/>
        </p:nvSpPr>
        <p:spPr>
          <a:xfrm>
            <a:off x="4083109" y="12463611"/>
            <a:ext cx="1686744" cy="165274"/>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Tuntutan Regulasi Global</a:t>
            </a:r>
            <a:endParaRPr lang="en-US" sz="1050" dirty="0">
              <a:latin typeface="Leelawadee UI" panose="020B0502040204020203" pitchFamily="34" charset="-34"/>
              <a:cs typeface="Leelawadee UI" panose="020B0502040204020203" pitchFamily="34" charset="-34"/>
            </a:endParaRPr>
          </a:p>
        </p:txBody>
      </p:sp>
      <p:sp>
        <p:nvSpPr>
          <p:cNvPr id="181" name="Text 11">
            <a:extLst>
              <a:ext uri="{FF2B5EF4-FFF2-40B4-BE49-F238E27FC236}">
                <a16:creationId xmlns:a16="http://schemas.microsoft.com/office/drawing/2014/main" id="{D0A0CBE0-D2A7-BE9B-42B3-56F51D0230E9}"/>
              </a:ext>
            </a:extLst>
          </p:cNvPr>
          <p:cNvSpPr/>
          <p:nvPr/>
        </p:nvSpPr>
        <p:spPr>
          <a:xfrm>
            <a:off x="4083109" y="12679859"/>
            <a:ext cx="4517380" cy="450503"/>
          </a:xfrm>
          <a:prstGeom prst="rect">
            <a:avLst/>
          </a:prstGeom>
          <a:noFill/>
          <a:ln/>
        </p:spPr>
        <p:txBody>
          <a:bodyPr wrap="square" lIns="0" tIns="0" rIns="0" bIns="0" rtlCol="0" anchor="t">
            <a:noAutofit/>
          </a:bodyPr>
          <a:lstStyle/>
          <a:p>
            <a:pPr marL="0" indent="0" algn="l">
              <a:lnSpc>
                <a:spcPct val="12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Regulasi seperti EU Deforestation Regulation (EUDR) menuntut keterlacakan penuh komoditas dari sumber hingga pasar — sebuah tantangan besar yang membutuhkan solusi sistemik.</a:t>
            </a:r>
            <a:endParaRPr lang="en-US" sz="950" dirty="0">
              <a:latin typeface="Leelawadee UI" panose="020B0502040204020203" pitchFamily="34" charset="-34"/>
              <a:cs typeface="Leelawadee UI" panose="020B0502040204020203" pitchFamily="34" charset="-34"/>
            </a:endParaRPr>
          </a:p>
        </p:txBody>
      </p:sp>
      <p:sp>
        <p:nvSpPr>
          <p:cNvPr id="182" name="Shape 12">
            <a:extLst>
              <a:ext uri="{FF2B5EF4-FFF2-40B4-BE49-F238E27FC236}">
                <a16:creationId xmlns:a16="http://schemas.microsoft.com/office/drawing/2014/main" id="{D970CE2A-1FD2-CE2B-6FD6-922881C43B32}"/>
              </a:ext>
            </a:extLst>
          </p:cNvPr>
          <p:cNvSpPr/>
          <p:nvPr/>
        </p:nvSpPr>
        <p:spPr>
          <a:xfrm>
            <a:off x="3980418" y="13318108"/>
            <a:ext cx="4722763" cy="1016943"/>
          </a:xfrm>
          <a:prstGeom prst="roundRect">
            <a:avLst>
              <a:gd name="adj" fmla="val 1767"/>
            </a:avLst>
          </a:prstGeom>
          <a:solidFill>
            <a:srgbClr val="EDEBE3"/>
          </a:solidFill>
          <a:ln/>
        </p:spPr>
      </p:sp>
      <p:sp>
        <p:nvSpPr>
          <p:cNvPr id="183" name="Text 13">
            <a:extLst>
              <a:ext uri="{FF2B5EF4-FFF2-40B4-BE49-F238E27FC236}">
                <a16:creationId xmlns:a16="http://schemas.microsoft.com/office/drawing/2014/main" id="{3F81AB7F-F71C-AF43-253D-9E1C76946C8B}"/>
              </a:ext>
            </a:extLst>
          </p:cNvPr>
          <p:cNvSpPr/>
          <p:nvPr/>
        </p:nvSpPr>
        <p:spPr>
          <a:xfrm>
            <a:off x="4083109" y="13420799"/>
            <a:ext cx="1852613" cy="165274"/>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Menjembatani Kesenjangan</a:t>
            </a:r>
            <a:endParaRPr lang="en-US" sz="1050" dirty="0">
              <a:latin typeface="Leelawadee UI" panose="020B0502040204020203" pitchFamily="34" charset="-34"/>
              <a:cs typeface="Leelawadee UI" panose="020B0502040204020203" pitchFamily="34" charset="-34"/>
            </a:endParaRPr>
          </a:p>
        </p:txBody>
      </p:sp>
      <p:sp>
        <p:nvSpPr>
          <p:cNvPr id="184" name="Text 14">
            <a:extLst>
              <a:ext uri="{FF2B5EF4-FFF2-40B4-BE49-F238E27FC236}">
                <a16:creationId xmlns:a16="http://schemas.microsoft.com/office/drawing/2014/main" id="{C8AA8BA2-721D-EB5F-2FA8-780645B1879A}"/>
              </a:ext>
            </a:extLst>
          </p:cNvPr>
          <p:cNvSpPr/>
          <p:nvPr/>
        </p:nvSpPr>
        <p:spPr>
          <a:xfrm>
            <a:off x="4083109" y="13637047"/>
            <a:ext cx="4517380" cy="450503"/>
          </a:xfrm>
          <a:prstGeom prst="rect">
            <a:avLst/>
          </a:prstGeom>
          <a:noFill/>
          <a:ln/>
        </p:spPr>
        <p:txBody>
          <a:bodyPr wrap="square" lIns="0" tIns="0" rIns="0" bIns="0" rtlCol="0" anchor="t">
            <a:noAutofit/>
          </a:bodyPr>
          <a:lstStyle/>
          <a:p>
            <a:pPr marL="0" indent="0" algn="l">
              <a:lnSpc>
                <a:spcPct val="12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hadir untuk menghubungkan petani dengan pasar yang adil, mendorong produksi bertanggung jawab, dan memastikan manfaat ekonomi dirasakan merata oleh masyarakat dan lingkungan.</a:t>
            </a:r>
            <a:endParaRPr lang="en-US" sz="950" dirty="0">
              <a:latin typeface="Leelawadee UI" panose="020B0502040204020203" pitchFamily="34" charset="-34"/>
              <a:cs typeface="Leelawadee UI" panose="020B0502040204020203" pitchFamily="34" charset="-34"/>
            </a:endParaRPr>
          </a:p>
        </p:txBody>
      </p:sp>
      <p:sp>
        <p:nvSpPr>
          <p:cNvPr id="185" name="Shape 0">
            <a:extLst>
              <a:ext uri="{FF2B5EF4-FFF2-40B4-BE49-F238E27FC236}">
                <a16:creationId xmlns:a16="http://schemas.microsoft.com/office/drawing/2014/main" id="{FD7152ED-AA5A-4AAB-B3CA-E3E59B96A0A6}"/>
              </a:ext>
            </a:extLst>
          </p:cNvPr>
          <p:cNvSpPr/>
          <p:nvPr/>
        </p:nvSpPr>
        <p:spPr>
          <a:xfrm>
            <a:off x="645841" y="14833579"/>
            <a:ext cx="957486" cy="218554"/>
          </a:xfrm>
          <a:prstGeom prst="roundRect">
            <a:avLst>
              <a:gd name="adj" fmla="val 6492"/>
            </a:avLst>
          </a:prstGeom>
          <a:solidFill>
            <a:srgbClr val="E3E3E8"/>
          </a:solidFill>
          <a:ln/>
        </p:spPr>
      </p:sp>
      <p:sp>
        <p:nvSpPr>
          <p:cNvPr id="186" name="Text 1">
            <a:extLst>
              <a:ext uri="{FF2B5EF4-FFF2-40B4-BE49-F238E27FC236}">
                <a16:creationId xmlns:a16="http://schemas.microsoft.com/office/drawing/2014/main" id="{C6755780-F98D-1C63-C1DD-E83900929AFC}"/>
              </a:ext>
            </a:extLst>
          </p:cNvPr>
          <p:cNvSpPr/>
          <p:nvPr/>
        </p:nvSpPr>
        <p:spPr>
          <a:xfrm>
            <a:off x="716757" y="14869000"/>
            <a:ext cx="1272853" cy="147712"/>
          </a:xfrm>
          <a:prstGeom prst="rect">
            <a:avLst/>
          </a:prstGeom>
          <a:noFill/>
          <a:ln/>
        </p:spPr>
        <p:txBody>
          <a:bodyPr wrap="none" lIns="0" tIns="0" rIns="0" bIns="0" rtlCol="0" anchor="t"/>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HASIL STRATEGIS</a:t>
            </a:r>
            <a:endParaRPr lang="en-US" sz="950" dirty="0">
              <a:latin typeface="Leelawadee UI" panose="020B0502040204020203" pitchFamily="34" charset="-34"/>
              <a:cs typeface="Leelawadee UI" panose="020B0502040204020203" pitchFamily="34" charset="-34"/>
            </a:endParaRPr>
          </a:p>
        </p:txBody>
      </p:sp>
      <p:sp>
        <p:nvSpPr>
          <p:cNvPr id="187" name="Text 2">
            <a:extLst>
              <a:ext uri="{FF2B5EF4-FFF2-40B4-BE49-F238E27FC236}">
                <a16:creationId xmlns:a16="http://schemas.microsoft.com/office/drawing/2014/main" id="{15FB1CAC-B8F1-3870-8004-D3EC3EB54260}"/>
              </a:ext>
            </a:extLst>
          </p:cNvPr>
          <p:cNvSpPr/>
          <p:nvPr/>
        </p:nvSpPr>
        <p:spPr>
          <a:xfrm>
            <a:off x="645841" y="15217704"/>
            <a:ext cx="5038055" cy="369466"/>
          </a:xfrm>
          <a:prstGeom prst="rect">
            <a:avLst/>
          </a:prstGeom>
          <a:noFill/>
          <a:ln/>
        </p:spPr>
        <p:txBody>
          <a:bodyPr wrap="none" lIns="0" tIns="0" rIns="0" bIns="0" rtlCol="0" anchor="t"/>
          <a:lstStyle/>
          <a:p>
            <a:pPr marL="0" indent="0" algn="l">
              <a:lnSpc>
                <a:spcPct val="104000"/>
              </a:lnSpc>
              <a:buNone/>
            </a:pPr>
            <a:r>
              <a:rPr lang="en-US" sz="2300" dirty="0">
                <a:solidFill>
                  <a:srgbClr val="161613"/>
                </a:solidFill>
                <a:latin typeface="Leelawadee UI" panose="020B0502040204020203" pitchFamily="34" charset="-34"/>
                <a:ea typeface="DM Sans Medium" pitchFamily="34" charset="-122"/>
                <a:cs typeface="Leelawadee UI" panose="020B0502040204020203" pitchFamily="34" charset="-34"/>
              </a:rPr>
              <a:t>Hasil Strategis yang Ingin Dicapai</a:t>
            </a:r>
            <a:endParaRPr lang="en-US" sz="2300" dirty="0">
              <a:latin typeface="Leelawadee UI" panose="020B0502040204020203" pitchFamily="34" charset="-34"/>
              <a:cs typeface="Leelawadee UI" panose="020B0502040204020203" pitchFamily="34" charset="-34"/>
            </a:endParaRPr>
          </a:p>
        </p:txBody>
      </p:sp>
      <p:sp>
        <p:nvSpPr>
          <p:cNvPr id="188" name="Text 3">
            <a:extLst>
              <a:ext uri="{FF2B5EF4-FFF2-40B4-BE49-F238E27FC236}">
                <a16:creationId xmlns:a16="http://schemas.microsoft.com/office/drawing/2014/main" id="{FBC5FB88-B34C-DE4B-6D13-DFD50D9AD006}"/>
              </a:ext>
            </a:extLst>
          </p:cNvPr>
          <p:cNvSpPr/>
          <p:nvPr/>
        </p:nvSpPr>
        <p:spPr>
          <a:xfrm>
            <a:off x="645841" y="15635614"/>
            <a:ext cx="8151763" cy="369391"/>
          </a:xfrm>
          <a:prstGeom prst="rect">
            <a:avLst/>
          </a:prstGeom>
          <a:noFill/>
          <a:ln/>
        </p:spPr>
        <p:txBody>
          <a:bodyPr wrap="square" lIns="0" tIns="0" rIns="0" bIns="0" rtlCol="0" anchor="t">
            <a:normAutofit lnSpcReduction="10000"/>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ini diarahkan untuk menghasilkan perubahan nyata dan terukur — dari tingkat petani hingga kebijakan rantai pasok global. Berikut adalah lima hasil strategis yang menjadi kompas program:</a:t>
            </a:r>
            <a:endParaRPr lang="en-US" sz="1000" dirty="0">
              <a:latin typeface="Leelawadee UI" panose="020B0502040204020203" pitchFamily="34" charset="-34"/>
              <a:cs typeface="Leelawadee UI" panose="020B0502040204020203" pitchFamily="34" charset="-34"/>
            </a:endParaRPr>
          </a:p>
        </p:txBody>
      </p:sp>
      <p:pic>
        <p:nvPicPr>
          <p:cNvPr id="189" name="Image 0" descr="preencoded.png">
            <a:extLst>
              <a:ext uri="{FF2B5EF4-FFF2-40B4-BE49-F238E27FC236}">
                <a16:creationId xmlns:a16="http://schemas.microsoft.com/office/drawing/2014/main" id="{6D7D6D95-6052-AE86-1DE3-AA2FC2B0B3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5841" y="16131732"/>
            <a:ext cx="236413" cy="236413"/>
          </a:xfrm>
          <a:prstGeom prst="rect">
            <a:avLst/>
          </a:prstGeom>
        </p:spPr>
      </p:pic>
      <p:sp>
        <p:nvSpPr>
          <p:cNvPr id="190" name="Text 4">
            <a:extLst>
              <a:ext uri="{FF2B5EF4-FFF2-40B4-BE49-F238E27FC236}">
                <a16:creationId xmlns:a16="http://schemas.microsoft.com/office/drawing/2014/main" id="{4ED92036-9E6D-874F-0DFB-4724A05C99BE}"/>
              </a:ext>
            </a:extLst>
          </p:cNvPr>
          <p:cNvSpPr/>
          <p:nvPr/>
        </p:nvSpPr>
        <p:spPr>
          <a:xfrm>
            <a:off x="645841" y="16508937"/>
            <a:ext cx="1881485" cy="18469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 Keterlacakan Meningkat</a:t>
            </a:r>
            <a:endParaRPr lang="en-US" sz="1150" dirty="0">
              <a:latin typeface="Leelawadee UI" panose="020B0502040204020203" pitchFamily="34" charset="-34"/>
              <a:cs typeface="Leelawadee UI" panose="020B0502040204020203" pitchFamily="34" charset="-34"/>
            </a:endParaRPr>
          </a:p>
        </p:txBody>
      </p:sp>
      <p:sp>
        <p:nvSpPr>
          <p:cNvPr id="191" name="Text 5">
            <a:extLst>
              <a:ext uri="{FF2B5EF4-FFF2-40B4-BE49-F238E27FC236}">
                <a16:creationId xmlns:a16="http://schemas.microsoft.com/office/drawing/2014/main" id="{C3692227-1838-D919-EFBB-BF684A921348}"/>
              </a:ext>
            </a:extLst>
          </p:cNvPr>
          <p:cNvSpPr/>
          <p:nvPr/>
        </p:nvSpPr>
        <p:spPr>
          <a:xfrm>
            <a:off x="645841" y="16761201"/>
            <a:ext cx="2623393" cy="738783"/>
          </a:xfrm>
          <a:prstGeom prst="rect">
            <a:avLst/>
          </a:prstGeom>
          <a:noFill/>
          <a:ln/>
        </p:spPr>
        <p:txBody>
          <a:bodyPr wrap="square" lIns="0" tIns="0" rIns="0" bIns="0" rtlCol="0" anchor="t">
            <a:no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Keterlacakan komoditas meningkat melalui sistem yang transparan dan akuntabel, memenuhi standar pasar internasional termasuk EUDR.</a:t>
            </a:r>
            <a:endParaRPr lang="en-US" sz="1000" dirty="0">
              <a:latin typeface="Leelawadee UI" panose="020B0502040204020203" pitchFamily="34" charset="-34"/>
              <a:cs typeface="Leelawadee UI" panose="020B0502040204020203" pitchFamily="34" charset="-34"/>
            </a:endParaRPr>
          </a:p>
        </p:txBody>
      </p:sp>
      <p:pic>
        <p:nvPicPr>
          <p:cNvPr id="192" name="Image 1" descr="preencoded.png">
            <a:extLst>
              <a:ext uri="{FF2B5EF4-FFF2-40B4-BE49-F238E27FC236}">
                <a16:creationId xmlns:a16="http://schemas.microsoft.com/office/drawing/2014/main" id="{2D2F2CC2-0628-E35A-4200-13E561FD7C7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10025" y="16131732"/>
            <a:ext cx="236413" cy="236413"/>
          </a:xfrm>
          <a:prstGeom prst="rect">
            <a:avLst/>
          </a:prstGeom>
        </p:spPr>
      </p:pic>
      <p:sp>
        <p:nvSpPr>
          <p:cNvPr id="193" name="Text 6">
            <a:extLst>
              <a:ext uri="{FF2B5EF4-FFF2-40B4-BE49-F238E27FC236}">
                <a16:creationId xmlns:a16="http://schemas.microsoft.com/office/drawing/2014/main" id="{9D25CAE0-248B-E075-5897-1B063A035974}"/>
              </a:ext>
            </a:extLst>
          </p:cNvPr>
          <p:cNvSpPr/>
          <p:nvPr/>
        </p:nvSpPr>
        <p:spPr>
          <a:xfrm>
            <a:off x="3410025" y="16508937"/>
            <a:ext cx="2594372" cy="18469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 Praktik Berkelanjutan Berkembang</a:t>
            </a:r>
            <a:endParaRPr lang="en-US" sz="1150" dirty="0">
              <a:latin typeface="Leelawadee UI" panose="020B0502040204020203" pitchFamily="34" charset="-34"/>
              <a:cs typeface="Leelawadee UI" panose="020B0502040204020203" pitchFamily="34" charset="-34"/>
            </a:endParaRPr>
          </a:p>
        </p:txBody>
      </p:sp>
      <p:sp>
        <p:nvSpPr>
          <p:cNvPr id="194" name="Text 7">
            <a:extLst>
              <a:ext uri="{FF2B5EF4-FFF2-40B4-BE49-F238E27FC236}">
                <a16:creationId xmlns:a16="http://schemas.microsoft.com/office/drawing/2014/main" id="{AE5C43B2-B0B0-400B-42E0-29859C99E13A}"/>
              </a:ext>
            </a:extLst>
          </p:cNvPr>
          <p:cNvSpPr/>
          <p:nvPr/>
        </p:nvSpPr>
        <p:spPr>
          <a:xfrm>
            <a:off x="3410025" y="16761201"/>
            <a:ext cx="2623393" cy="738783"/>
          </a:xfrm>
          <a:prstGeom prst="rect">
            <a:avLst/>
          </a:prstGeom>
          <a:noFill/>
          <a:ln/>
        </p:spPr>
        <p:txBody>
          <a:bodyPr wrap="square" lIns="0" tIns="0" rIns="0" bIns="0" rtlCol="0" anchor="t">
            <a:no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Praktik produksi berkelanjutan berkembang di tingkat petani dan perkebunan rakyat, mengurangi dampak negatif terhadap ekosistem.</a:t>
            </a:r>
            <a:endParaRPr lang="en-US" sz="1000" dirty="0">
              <a:latin typeface="Leelawadee UI" panose="020B0502040204020203" pitchFamily="34" charset="-34"/>
              <a:cs typeface="Leelawadee UI" panose="020B0502040204020203" pitchFamily="34" charset="-34"/>
            </a:endParaRPr>
          </a:p>
        </p:txBody>
      </p:sp>
      <p:pic>
        <p:nvPicPr>
          <p:cNvPr id="195" name="Image 2" descr="preencoded.png">
            <a:extLst>
              <a:ext uri="{FF2B5EF4-FFF2-40B4-BE49-F238E27FC236}">
                <a16:creationId xmlns:a16="http://schemas.microsoft.com/office/drawing/2014/main" id="{78FF7A4E-C17A-5865-EDC0-D080078145F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74210" y="16131732"/>
            <a:ext cx="236413" cy="236413"/>
          </a:xfrm>
          <a:prstGeom prst="rect">
            <a:avLst/>
          </a:prstGeom>
        </p:spPr>
      </p:pic>
      <p:sp>
        <p:nvSpPr>
          <p:cNvPr id="196" name="Text 8">
            <a:extLst>
              <a:ext uri="{FF2B5EF4-FFF2-40B4-BE49-F238E27FC236}">
                <a16:creationId xmlns:a16="http://schemas.microsoft.com/office/drawing/2014/main" id="{3DAE6F01-3610-6FAC-CF0C-F1B674674318}"/>
              </a:ext>
            </a:extLst>
          </p:cNvPr>
          <p:cNvSpPr/>
          <p:nvPr/>
        </p:nvSpPr>
        <p:spPr>
          <a:xfrm>
            <a:off x="6174210" y="16508937"/>
            <a:ext cx="1720304" cy="18469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 Akses Pasar yang Adil</a:t>
            </a:r>
            <a:endParaRPr lang="en-US" sz="1150" dirty="0">
              <a:latin typeface="Leelawadee UI" panose="020B0502040204020203" pitchFamily="34" charset="-34"/>
              <a:cs typeface="Leelawadee UI" panose="020B0502040204020203" pitchFamily="34" charset="-34"/>
            </a:endParaRPr>
          </a:p>
        </p:txBody>
      </p:sp>
      <p:sp>
        <p:nvSpPr>
          <p:cNvPr id="197" name="Text 9">
            <a:extLst>
              <a:ext uri="{FF2B5EF4-FFF2-40B4-BE49-F238E27FC236}">
                <a16:creationId xmlns:a16="http://schemas.microsoft.com/office/drawing/2014/main" id="{125C2431-B0E7-6BF9-D794-9CBF60A98FFA}"/>
              </a:ext>
            </a:extLst>
          </p:cNvPr>
          <p:cNvSpPr/>
          <p:nvPr/>
        </p:nvSpPr>
        <p:spPr>
          <a:xfrm>
            <a:off x="6174210" y="16761201"/>
            <a:ext cx="2623393" cy="738783"/>
          </a:xfrm>
          <a:prstGeom prst="rect">
            <a:avLst/>
          </a:prstGeom>
          <a:noFill/>
          <a:ln/>
        </p:spPr>
        <p:txBody>
          <a:bodyPr wrap="square" lIns="0" tIns="0" rIns="0" bIns="0" rtlCol="0" anchor="t">
            <a:no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Petani kecil memperoleh akses pasar yang lebih baik dan adil, terhubung dengan pembeli yang menghargai praktik produksi bertanggung jawab.</a:t>
            </a:r>
            <a:endParaRPr lang="en-US" sz="1000" dirty="0">
              <a:latin typeface="Leelawadee UI" panose="020B0502040204020203" pitchFamily="34" charset="-34"/>
              <a:cs typeface="Leelawadee UI" panose="020B0502040204020203" pitchFamily="34" charset="-34"/>
            </a:endParaRPr>
          </a:p>
        </p:txBody>
      </p:sp>
      <p:pic>
        <p:nvPicPr>
          <p:cNvPr id="198" name="Image 3" descr="preencoded.png">
            <a:extLst>
              <a:ext uri="{FF2B5EF4-FFF2-40B4-BE49-F238E27FC236}">
                <a16:creationId xmlns:a16="http://schemas.microsoft.com/office/drawing/2014/main" id="{8E39C580-14ED-8B4D-7F7C-C6957150611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5841" y="17725309"/>
            <a:ext cx="236413" cy="236413"/>
          </a:xfrm>
          <a:prstGeom prst="rect">
            <a:avLst/>
          </a:prstGeom>
        </p:spPr>
      </p:pic>
      <p:sp>
        <p:nvSpPr>
          <p:cNvPr id="199" name="Text 10">
            <a:extLst>
              <a:ext uri="{FF2B5EF4-FFF2-40B4-BE49-F238E27FC236}">
                <a16:creationId xmlns:a16="http://schemas.microsoft.com/office/drawing/2014/main" id="{3BCFC484-CA8A-D00D-87FE-4870810DB3A2}"/>
              </a:ext>
            </a:extLst>
          </p:cNvPr>
          <p:cNvSpPr/>
          <p:nvPr/>
        </p:nvSpPr>
        <p:spPr>
          <a:xfrm>
            <a:off x="645841" y="18102514"/>
            <a:ext cx="1980158" cy="18469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 Kelembagaan Petani Kuat</a:t>
            </a:r>
            <a:endParaRPr lang="en-US" sz="1150" dirty="0">
              <a:latin typeface="Leelawadee UI" panose="020B0502040204020203" pitchFamily="34" charset="-34"/>
              <a:cs typeface="Leelawadee UI" panose="020B0502040204020203" pitchFamily="34" charset="-34"/>
            </a:endParaRPr>
          </a:p>
        </p:txBody>
      </p:sp>
      <p:sp>
        <p:nvSpPr>
          <p:cNvPr id="200" name="Text 11">
            <a:extLst>
              <a:ext uri="{FF2B5EF4-FFF2-40B4-BE49-F238E27FC236}">
                <a16:creationId xmlns:a16="http://schemas.microsoft.com/office/drawing/2014/main" id="{A9E2D67E-DC25-8BC1-D2FB-0AFEACA3D5E3}"/>
              </a:ext>
            </a:extLst>
          </p:cNvPr>
          <p:cNvSpPr/>
          <p:nvPr/>
        </p:nvSpPr>
        <p:spPr>
          <a:xfrm>
            <a:off x="645841" y="18354778"/>
            <a:ext cx="2623393" cy="738783"/>
          </a:xfrm>
          <a:prstGeom prst="rect">
            <a:avLst/>
          </a:prstGeom>
          <a:noFill/>
          <a:ln/>
        </p:spPr>
        <p:txBody>
          <a:bodyPr wrap="square" lIns="0" tIns="0" rIns="0" bIns="0" rtlCol="0" anchor="t">
            <a:no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Organisasi produsen dan kelembagaan petani menjadi lebih kuat dan mandiri, mampu bernegosiasi dan berinovasi secara berkelanjutan.</a:t>
            </a:r>
            <a:endParaRPr lang="en-US" sz="1000" dirty="0">
              <a:latin typeface="Leelawadee UI" panose="020B0502040204020203" pitchFamily="34" charset="-34"/>
              <a:cs typeface="Leelawadee UI" panose="020B0502040204020203" pitchFamily="34" charset="-34"/>
            </a:endParaRPr>
          </a:p>
        </p:txBody>
      </p:sp>
      <p:pic>
        <p:nvPicPr>
          <p:cNvPr id="201" name="Image 4" descr="preencoded.png">
            <a:extLst>
              <a:ext uri="{FF2B5EF4-FFF2-40B4-BE49-F238E27FC236}">
                <a16:creationId xmlns:a16="http://schemas.microsoft.com/office/drawing/2014/main" id="{D0AE3685-9989-E2C1-E566-BCFF2A5A535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10025" y="17725309"/>
            <a:ext cx="236413" cy="236413"/>
          </a:xfrm>
          <a:prstGeom prst="rect">
            <a:avLst/>
          </a:prstGeom>
        </p:spPr>
      </p:pic>
      <p:sp>
        <p:nvSpPr>
          <p:cNvPr id="202" name="Text 12">
            <a:extLst>
              <a:ext uri="{FF2B5EF4-FFF2-40B4-BE49-F238E27FC236}">
                <a16:creationId xmlns:a16="http://schemas.microsoft.com/office/drawing/2014/main" id="{68C2C9AC-FA18-C209-6700-1AD2446310A7}"/>
              </a:ext>
            </a:extLst>
          </p:cNvPr>
          <p:cNvSpPr/>
          <p:nvPr/>
        </p:nvSpPr>
        <p:spPr>
          <a:xfrm>
            <a:off x="3410025" y="18102514"/>
            <a:ext cx="2264048" cy="18469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 Nilai Tambah Lokal Meningkat</a:t>
            </a:r>
            <a:endParaRPr lang="en-US" sz="1150" dirty="0">
              <a:latin typeface="Leelawadee UI" panose="020B0502040204020203" pitchFamily="34" charset="-34"/>
              <a:cs typeface="Leelawadee UI" panose="020B0502040204020203" pitchFamily="34" charset="-34"/>
            </a:endParaRPr>
          </a:p>
        </p:txBody>
      </p:sp>
      <p:sp>
        <p:nvSpPr>
          <p:cNvPr id="203" name="Text 13">
            <a:extLst>
              <a:ext uri="{FF2B5EF4-FFF2-40B4-BE49-F238E27FC236}">
                <a16:creationId xmlns:a16="http://schemas.microsoft.com/office/drawing/2014/main" id="{CBF12516-B6AB-301C-3921-347581407579}"/>
              </a:ext>
            </a:extLst>
          </p:cNvPr>
          <p:cNvSpPr/>
          <p:nvPr/>
        </p:nvSpPr>
        <p:spPr>
          <a:xfrm>
            <a:off x="3410025" y="18354778"/>
            <a:ext cx="2623393" cy="738783"/>
          </a:xfrm>
          <a:prstGeom prst="rect">
            <a:avLst/>
          </a:prstGeom>
          <a:noFill/>
          <a:ln/>
        </p:spPr>
        <p:txBody>
          <a:bodyPr wrap="square" lIns="0" tIns="0" rIns="0" bIns="0" rtlCol="0" anchor="t">
            <a:normAutofit lnSpcReduction="10000"/>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Nilai tambah lokal meningkat melalui pengolahan hasil dan pengembangan usaha berbasis sumber daya alam yang berkelanjutan.</a:t>
            </a:r>
            <a:endParaRPr lang="en-US" sz="1000" dirty="0">
              <a:latin typeface="Leelawadee UI" panose="020B0502040204020203" pitchFamily="34" charset="-34"/>
              <a:cs typeface="Leelawadee UI" panose="020B0502040204020203" pitchFamily="34" charset="-34"/>
            </a:endParaRPr>
          </a:p>
        </p:txBody>
      </p:sp>
      <p:sp>
        <p:nvSpPr>
          <p:cNvPr id="204" name="Shape 0">
            <a:extLst>
              <a:ext uri="{FF2B5EF4-FFF2-40B4-BE49-F238E27FC236}">
                <a16:creationId xmlns:a16="http://schemas.microsoft.com/office/drawing/2014/main" id="{E0E470DF-D8DE-1DB7-4D27-AD51E3C6B83A}"/>
              </a:ext>
            </a:extLst>
          </p:cNvPr>
          <p:cNvSpPr/>
          <p:nvPr/>
        </p:nvSpPr>
        <p:spPr>
          <a:xfrm>
            <a:off x="630808" y="19432910"/>
            <a:ext cx="954809" cy="189041"/>
          </a:xfrm>
          <a:prstGeom prst="roundRect">
            <a:avLst>
              <a:gd name="adj" fmla="val 7328"/>
            </a:avLst>
          </a:prstGeom>
          <a:solidFill>
            <a:srgbClr val="E3E3E8"/>
          </a:solidFill>
          <a:ln/>
        </p:spPr>
      </p:sp>
      <p:sp>
        <p:nvSpPr>
          <p:cNvPr id="205" name="Text 1">
            <a:extLst>
              <a:ext uri="{FF2B5EF4-FFF2-40B4-BE49-F238E27FC236}">
                <a16:creationId xmlns:a16="http://schemas.microsoft.com/office/drawing/2014/main" id="{7C24C93B-2406-8517-4417-10A8CE948DBE}"/>
              </a:ext>
            </a:extLst>
          </p:cNvPr>
          <p:cNvSpPr/>
          <p:nvPr/>
        </p:nvSpPr>
        <p:spPr>
          <a:xfrm>
            <a:off x="677318" y="19456129"/>
            <a:ext cx="957337" cy="80516"/>
          </a:xfrm>
          <a:prstGeom prst="rect">
            <a:avLst/>
          </a:prstGeom>
          <a:noFill/>
          <a:ln/>
        </p:spPr>
        <p:txBody>
          <a:bodyPr wrap="none" lIns="0" tIns="0" rIns="0" bIns="0" rtlCol="0" anchor="t"/>
          <a:lstStyle/>
          <a:p>
            <a:pPr marL="0" indent="0" algn="l">
              <a:lnSpc>
                <a:spcPct val="10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INTERVENSI INTI</a:t>
            </a:r>
            <a:endParaRPr lang="en-US" sz="950" dirty="0">
              <a:latin typeface="Leelawadee UI" panose="020B0502040204020203" pitchFamily="34" charset="-34"/>
              <a:cs typeface="Leelawadee UI" panose="020B0502040204020203" pitchFamily="34" charset="-34"/>
            </a:endParaRPr>
          </a:p>
        </p:txBody>
      </p:sp>
      <p:sp>
        <p:nvSpPr>
          <p:cNvPr id="206" name="Text 2">
            <a:extLst>
              <a:ext uri="{FF2B5EF4-FFF2-40B4-BE49-F238E27FC236}">
                <a16:creationId xmlns:a16="http://schemas.microsoft.com/office/drawing/2014/main" id="{C7F03D0C-A58D-ECAB-517C-076033371F28}"/>
              </a:ext>
            </a:extLst>
          </p:cNvPr>
          <p:cNvSpPr/>
          <p:nvPr/>
        </p:nvSpPr>
        <p:spPr>
          <a:xfrm>
            <a:off x="618207" y="19687914"/>
            <a:ext cx="3047405" cy="242292"/>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Tujuh Intervensi Inti Program</a:t>
            </a:r>
            <a:endParaRPr lang="en-US" sz="2400" dirty="0">
              <a:latin typeface="Leelawadee UI" panose="020B0502040204020203" pitchFamily="34" charset="-34"/>
              <a:cs typeface="Leelawadee UI" panose="020B0502040204020203" pitchFamily="34" charset="-34"/>
            </a:endParaRPr>
          </a:p>
        </p:txBody>
      </p:sp>
      <p:sp>
        <p:nvSpPr>
          <p:cNvPr id="207" name="Text 3">
            <a:extLst>
              <a:ext uri="{FF2B5EF4-FFF2-40B4-BE49-F238E27FC236}">
                <a16:creationId xmlns:a16="http://schemas.microsoft.com/office/drawing/2014/main" id="{6DC5ABD5-C4F3-8EE9-397D-B5D8C88FA3F4}"/>
              </a:ext>
            </a:extLst>
          </p:cNvPr>
          <p:cNvSpPr/>
          <p:nvPr/>
        </p:nvSpPr>
        <p:spPr>
          <a:xfrm>
            <a:off x="653212" y="20175818"/>
            <a:ext cx="7637841" cy="379239"/>
          </a:xfrm>
          <a:prstGeom prst="rect">
            <a:avLst/>
          </a:prstGeom>
          <a:noFill/>
          <a:ln/>
        </p:spPr>
        <p:txBody>
          <a:bodyPr wrap="square" lIns="0" tIns="0" rIns="0" bIns="0" rtlCol="0" anchor="t">
            <a:no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Untuk mencapai hasil strategis tersebut, Sustainable Commodity Systems Program beroperasi melalui tujuh bidang intervensi yang saling melengkapi — dari sistem data hingga pengembangan usaha berbasis alam.</a:t>
            </a:r>
            <a:endParaRPr lang="en-US" sz="1000" dirty="0">
              <a:latin typeface="Leelawadee UI" panose="020B0502040204020203" pitchFamily="34" charset="-34"/>
              <a:cs typeface="Leelawadee UI" panose="020B0502040204020203" pitchFamily="34" charset="-34"/>
            </a:endParaRPr>
          </a:p>
        </p:txBody>
      </p:sp>
      <p:pic>
        <p:nvPicPr>
          <p:cNvPr id="208" name="Image 0" descr="preencoded.png">
            <a:extLst>
              <a:ext uri="{FF2B5EF4-FFF2-40B4-BE49-F238E27FC236}">
                <a16:creationId xmlns:a16="http://schemas.microsoft.com/office/drawing/2014/main" id="{0F15C219-05E4-DA40-9161-D9E58477F10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2481" y="20705179"/>
            <a:ext cx="7658575" cy="567267"/>
          </a:xfrm>
          <a:prstGeom prst="rect">
            <a:avLst/>
          </a:prstGeom>
        </p:spPr>
      </p:pic>
      <p:sp>
        <p:nvSpPr>
          <p:cNvPr id="210" name="Text 4">
            <a:extLst>
              <a:ext uri="{FF2B5EF4-FFF2-40B4-BE49-F238E27FC236}">
                <a16:creationId xmlns:a16="http://schemas.microsoft.com/office/drawing/2014/main" id="{8E47F54A-67B7-E15C-A054-E6780477B485}"/>
              </a:ext>
            </a:extLst>
          </p:cNvPr>
          <p:cNvSpPr/>
          <p:nvPr/>
        </p:nvSpPr>
        <p:spPr>
          <a:xfrm>
            <a:off x="653213" y="20806681"/>
            <a:ext cx="1093143" cy="12107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Traceability Systems</a:t>
            </a:r>
            <a:endParaRPr lang="en-US" sz="1050" dirty="0">
              <a:latin typeface="Leelawadee UI" panose="020B0502040204020203" pitchFamily="34" charset="-34"/>
              <a:cs typeface="Leelawadee UI" panose="020B0502040204020203" pitchFamily="34" charset="-34"/>
            </a:endParaRPr>
          </a:p>
        </p:txBody>
      </p:sp>
      <p:sp>
        <p:nvSpPr>
          <p:cNvPr id="211" name="Text 5">
            <a:extLst>
              <a:ext uri="{FF2B5EF4-FFF2-40B4-BE49-F238E27FC236}">
                <a16:creationId xmlns:a16="http://schemas.microsoft.com/office/drawing/2014/main" id="{77C89C95-80A5-F73E-3B2C-13DB94977C11}"/>
              </a:ext>
            </a:extLst>
          </p:cNvPr>
          <p:cNvSpPr/>
          <p:nvPr/>
        </p:nvSpPr>
        <p:spPr>
          <a:xfrm>
            <a:off x="2324079" y="20809075"/>
            <a:ext cx="5673170" cy="366607"/>
          </a:xfrm>
          <a:prstGeom prst="rect">
            <a:avLst/>
          </a:prstGeom>
          <a:noFill/>
          <a:ln/>
        </p:spPr>
        <p:txBody>
          <a:bodyPr wrap="none" lIns="0" tIns="0" rIns="0" bIns="0" rtlCol="0" anchor="t"/>
          <a:lstStyle/>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Mengembangkan sistem keterlacakan komoditas yang transparan dan akuntabel dari ladang </a:t>
            </a:r>
          </a:p>
          <a:p>
            <a:pPr marL="0" indent="0" algn="l">
              <a:lnSpc>
                <a:spcPct val="108000"/>
              </a:lnSpc>
              <a:buNone/>
            </a:pP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ke</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pasar, menjawab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tuntutan</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regulasi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global seperti EUDR.</a:t>
            </a:r>
            <a:endParaRPr lang="en-US" sz="1000" dirty="0">
              <a:latin typeface="Leelawadee UI" panose="020B0502040204020203" pitchFamily="34" charset="-34"/>
              <a:cs typeface="Leelawadee UI" panose="020B0502040204020203" pitchFamily="34" charset="-34"/>
            </a:endParaRPr>
          </a:p>
        </p:txBody>
      </p:sp>
      <p:pic>
        <p:nvPicPr>
          <p:cNvPr id="212" name="Image 2" descr="preencoded.png">
            <a:extLst>
              <a:ext uri="{FF2B5EF4-FFF2-40B4-BE49-F238E27FC236}">
                <a16:creationId xmlns:a16="http://schemas.microsoft.com/office/drawing/2014/main" id="{6C7FA722-3CD1-E32B-684F-2E4C25B0D39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2482" y="21303004"/>
            <a:ext cx="7658574" cy="582299"/>
          </a:xfrm>
          <a:prstGeom prst="rect">
            <a:avLst/>
          </a:prstGeom>
        </p:spPr>
      </p:pic>
      <p:sp>
        <p:nvSpPr>
          <p:cNvPr id="214" name="Text 6">
            <a:extLst>
              <a:ext uri="{FF2B5EF4-FFF2-40B4-BE49-F238E27FC236}">
                <a16:creationId xmlns:a16="http://schemas.microsoft.com/office/drawing/2014/main" id="{8DF7A4D6-DE31-48EF-75BE-1F55B9003435}"/>
              </a:ext>
            </a:extLst>
          </p:cNvPr>
          <p:cNvSpPr/>
          <p:nvPr/>
        </p:nvSpPr>
        <p:spPr>
          <a:xfrm>
            <a:off x="689123" y="21352684"/>
            <a:ext cx="1202531" cy="12107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Sustainable Production</a:t>
            </a:r>
            <a:endParaRPr lang="en-US" sz="1050" dirty="0">
              <a:latin typeface="Leelawadee UI" panose="020B0502040204020203" pitchFamily="34" charset="-34"/>
              <a:cs typeface="Leelawadee UI" panose="020B0502040204020203" pitchFamily="34" charset="-34"/>
            </a:endParaRPr>
          </a:p>
        </p:txBody>
      </p:sp>
      <p:sp>
        <p:nvSpPr>
          <p:cNvPr id="215" name="Text 7">
            <a:extLst>
              <a:ext uri="{FF2B5EF4-FFF2-40B4-BE49-F238E27FC236}">
                <a16:creationId xmlns:a16="http://schemas.microsoft.com/office/drawing/2014/main" id="{F82847D7-D096-FBF5-8058-63E5591AD4AC}"/>
              </a:ext>
            </a:extLst>
          </p:cNvPr>
          <p:cNvSpPr/>
          <p:nvPr/>
        </p:nvSpPr>
        <p:spPr>
          <a:xfrm>
            <a:off x="2324078" y="21386198"/>
            <a:ext cx="5795999" cy="430884"/>
          </a:xfrm>
          <a:prstGeom prst="rect">
            <a:avLst/>
          </a:prstGeom>
          <a:noFill/>
          <a:ln/>
        </p:spPr>
        <p:txBody>
          <a:bodyPr wrap="none" lIns="0" tIns="0" rIns="0" bIns="0" rtlCol="0" anchor="t"/>
          <a:lstStyle/>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Mendorong praktik produksi berkelanjutan di tingkat petani dan perkebunan rakyat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melalui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p>
          <a:p>
            <a:pPr marL="0" indent="0" algn="l">
              <a:lnSpc>
                <a:spcPct val="108000"/>
              </a:lnSpc>
              <a:buNone/>
            </a:pP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pendampingan</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teknis dan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adopsi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teknologi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tepat guna.</a:t>
            </a:r>
            <a:endParaRPr lang="en-US" sz="1000" dirty="0">
              <a:latin typeface="Leelawadee UI" panose="020B0502040204020203" pitchFamily="34" charset="-34"/>
              <a:cs typeface="Leelawadee UI" panose="020B0502040204020203" pitchFamily="34" charset="-34"/>
            </a:endParaRPr>
          </a:p>
        </p:txBody>
      </p:sp>
      <p:pic>
        <p:nvPicPr>
          <p:cNvPr id="216" name="Image 4" descr="preencoded.png">
            <a:extLst>
              <a:ext uri="{FF2B5EF4-FFF2-40B4-BE49-F238E27FC236}">
                <a16:creationId xmlns:a16="http://schemas.microsoft.com/office/drawing/2014/main" id="{17A5A747-DB9B-A45F-DEDB-3B959A5057B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2482" y="21964227"/>
            <a:ext cx="7658574" cy="465162"/>
          </a:xfrm>
          <a:prstGeom prst="rect">
            <a:avLst/>
          </a:prstGeom>
        </p:spPr>
      </p:pic>
      <p:sp>
        <p:nvSpPr>
          <p:cNvPr id="218" name="Text 8">
            <a:extLst>
              <a:ext uri="{FF2B5EF4-FFF2-40B4-BE49-F238E27FC236}">
                <a16:creationId xmlns:a16="http://schemas.microsoft.com/office/drawing/2014/main" id="{9ACB567C-2737-E2AA-A677-D4D231ECDFE4}"/>
              </a:ext>
            </a:extLst>
          </p:cNvPr>
          <p:cNvSpPr/>
          <p:nvPr/>
        </p:nvSpPr>
        <p:spPr>
          <a:xfrm>
            <a:off x="667394" y="22014902"/>
            <a:ext cx="1117848" cy="12107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Farmer Organizations</a:t>
            </a:r>
            <a:endParaRPr lang="en-US" sz="1050" dirty="0">
              <a:latin typeface="Leelawadee UI" panose="020B0502040204020203" pitchFamily="34" charset="-34"/>
              <a:cs typeface="Leelawadee UI" panose="020B0502040204020203" pitchFamily="34" charset="-34"/>
            </a:endParaRPr>
          </a:p>
        </p:txBody>
      </p:sp>
      <p:sp>
        <p:nvSpPr>
          <p:cNvPr id="219" name="Text 9">
            <a:extLst>
              <a:ext uri="{FF2B5EF4-FFF2-40B4-BE49-F238E27FC236}">
                <a16:creationId xmlns:a16="http://schemas.microsoft.com/office/drawing/2014/main" id="{FA2B950A-BF00-B89A-8941-B68EF307AC87}"/>
              </a:ext>
            </a:extLst>
          </p:cNvPr>
          <p:cNvSpPr/>
          <p:nvPr/>
        </p:nvSpPr>
        <p:spPr>
          <a:xfrm>
            <a:off x="2304420" y="22009992"/>
            <a:ext cx="5815658" cy="373891"/>
          </a:xfrm>
          <a:prstGeom prst="rect">
            <a:avLst/>
          </a:prstGeom>
          <a:noFill/>
          <a:ln/>
        </p:spPr>
        <p:txBody>
          <a:bodyPr wrap="none" lIns="0" tIns="0" rIns="0" bIns="0" rtlCol="0" anchor="t"/>
          <a:lstStyle/>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Memperkuat organisasi produsen dan kelembagaan petani agar lebih mandiri, terstruktur, dan </a:t>
            </a:r>
          </a:p>
          <a:p>
            <a:pPr marL="0" indent="0" algn="l">
              <a:lnSpc>
                <a:spcPct val="108000"/>
              </a:lnSpc>
              <a:buNone/>
            </a:pP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memiliki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kapasitas tawar yang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lebih</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kuat di pasar.</a:t>
            </a:r>
            <a:endParaRPr lang="en-US" sz="1000" dirty="0">
              <a:latin typeface="Leelawadee UI" panose="020B0502040204020203" pitchFamily="34" charset="-34"/>
              <a:cs typeface="Leelawadee UI" panose="020B0502040204020203" pitchFamily="34" charset="-34"/>
            </a:endParaRPr>
          </a:p>
        </p:txBody>
      </p:sp>
      <p:pic>
        <p:nvPicPr>
          <p:cNvPr id="220" name="Image 6" descr="preencoded.png">
            <a:extLst>
              <a:ext uri="{FF2B5EF4-FFF2-40B4-BE49-F238E27FC236}">
                <a16:creationId xmlns:a16="http://schemas.microsoft.com/office/drawing/2014/main" id="{B365F03D-3546-6169-B10A-E03F1C24EF7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2481" y="22504233"/>
            <a:ext cx="7658574" cy="465162"/>
          </a:xfrm>
          <a:prstGeom prst="rect">
            <a:avLst/>
          </a:prstGeom>
        </p:spPr>
      </p:pic>
      <p:sp>
        <p:nvSpPr>
          <p:cNvPr id="222" name="Text 10">
            <a:extLst>
              <a:ext uri="{FF2B5EF4-FFF2-40B4-BE49-F238E27FC236}">
                <a16:creationId xmlns:a16="http://schemas.microsoft.com/office/drawing/2014/main" id="{DDD68F44-7A19-BF08-D91C-ED2295FFE663}"/>
              </a:ext>
            </a:extLst>
          </p:cNvPr>
          <p:cNvSpPr/>
          <p:nvPr/>
        </p:nvSpPr>
        <p:spPr>
          <a:xfrm>
            <a:off x="688071" y="22562928"/>
            <a:ext cx="1113086" cy="12107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Certification Support</a:t>
            </a:r>
            <a:endParaRPr lang="en-US" sz="1050" dirty="0">
              <a:latin typeface="Leelawadee UI" panose="020B0502040204020203" pitchFamily="34" charset="-34"/>
              <a:cs typeface="Leelawadee UI" panose="020B0502040204020203" pitchFamily="34" charset="-34"/>
            </a:endParaRPr>
          </a:p>
        </p:txBody>
      </p:sp>
      <p:sp>
        <p:nvSpPr>
          <p:cNvPr id="223" name="Text 11">
            <a:extLst>
              <a:ext uri="{FF2B5EF4-FFF2-40B4-BE49-F238E27FC236}">
                <a16:creationId xmlns:a16="http://schemas.microsoft.com/office/drawing/2014/main" id="{8C793FDC-DEA0-AB74-B020-3CD6768B639D}"/>
              </a:ext>
            </a:extLst>
          </p:cNvPr>
          <p:cNvSpPr/>
          <p:nvPr/>
        </p:nvSpPr>
        <p:spPr>
          <a:xfrm>
            <a:off x="2324078" y="22566851"/>
            <a:ext cx="5673171" cy="366668"/>
          </a:xfrm>
          <a:prstGeom prst="rect">
            <a:avLst/>
          </a:prstGeom>
          <a:noFill/>
          <a:ln/>
        </p:spPr>
        <p:txBody>
          <a:bodyPr wrap="none" lIns="0" tIns="0" rIns="0" bIns="0" rtlCol="0" anchor="t"/>
          <a:lstStyle/>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Mendukung sertifikasi dan standar keberlanjutan — dari SNI, RSPO, hingga standar organik — </a:t>
            </a:r>
          </a:p>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yang membuka akses pasar premium bagi produk lokal.</a:t>
            </a:r>
            <a:endParaRPr lang="en-US" sz="1000" dirty="0">
              <a:latin typeface="Leelawadee UI" panose="020B0502040204020203" pitchFamily="34" charset="-34"/>
              <a:cs typeface="Leelawadee UI" panose="020B0502040204020203" pitchFamily="34" charset="-34"/>
            </a:endParaRPr>
          </a:p>
        </p:txBody>
      </p:sp>
      <p:pic>
        <p:nvPicPr>
          <p:cNvPr id="224" name="Image 8" descr="preencoded.png">
            <a:extLst>
              <a:ext uri="{FF2B5EF4-FFF2-40B4-BE49-F238E27FC236}">
                <a16:creationId xmlns:a16="http://schemas.microsoft.com/office/drawing/2014/main" id="{EF51E61C-B049-D523-A50E-EE69D75CE76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32481" y="23072431"/>
            <a:ext cx="7658573" cy="525587"/>
          </a:xfrm>
          <a:prstGeom prst="rect">
            <a:avLst/>
          </a:prstGeom>
        </p:spPr>
      </p:pic>
      <p:sp>
        <p:nvSpPr>
          <p:cNvPr id="226" name="Text 12">
            <a:extLst>
              <a:ext uri="{FF2B5EF4-FFF2-40B4-BE49-F238E27FC236}">
                <a16:creationId xmlns:a16="http://schemas.microsoft.com/office/drawing/2014/main" id="{A9C7DD84-255A-B47B-1636-AD71A59139F0}"/>
              </a:ext>
            </a:extLst>
          </p:cNvPr>
          <p:cNvSpPr/>
          <p:nvPr/>
        </p:nvSpPr>
        <p:spPr>
          <a:xfrm>
            <a:off x="682619" y="23133629"/>
            <a:ext cx="969094" cy="12107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Market Access</a:t>
            </a:r>
            <a:endParaRPr lang="en-US" sz="1050" dirty="0">
              <a:latin typeface="Leelawadee UI" panose="020B0502040204020203" pitchFamily="34" charset="-34"/>
              <a:cs typeface="Leelawadee UI" panose="020B0502040204020203" pitchFamily="34" charset="-34"/>
            </a:endParaRPr>
          </a:p>
        </p:txBody>
      </p:sp>
      <p:sp>
        <p:nvSpPr>
          <p:cNvPr id="227" name="Text 13">
            <a:extLst>
              <a:ext uri="{FF2B5EF4-FFF2-40B4-BE49-F238E27FC236}">
                <a16:creationId xmlns:a16="http://schemas.microsoft.com/office/drawing/2014/main" id="{A866254D-55CC-4C44-79D8-3869E0446614}"/>
              </a:ext>
            </a:extLst>
          </p:cNvPr>
          <p:cNvSpPr/>
          <p:nvPr/>
        </p:nvSpPr>
        <p:spPr>
          <a:xfrm>
            <a:off x="2324079" y="23150038"/>
            <a:ext cx="5673171" cy="412103"/>
          </a:xfrm>
          <a:prstGeom prst="rect">
            <a:avLst/>
          </a:prstGeom>
          <a:noFill/>
          <a:ln/>
        </p:spPr>
        <p:txBody>
          <a:bodyPr wrap="square" lIns="0" tIns="0" rIns="0" bIns="0" rtlCol="0" anchor="t">
            <a:noAutofit/>
          </a:bodyPr>
          <a:lstStyle/>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Memperluas akses pasar bagi produk berkelanjutan dengan menghubungkan petani dan </a:t>
            </a: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koperasi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p>
          <a:p>
            <a:pPr marL="0" indent="0" algn="l">
              <a:lnSpc>
                <a:spcPct val="108000"/>
              </a:lnSpc>
              <a:buNone/>
            </a:pPr>
            <a:r>
              <a:rPr lang="en-US" sz="1000" dirty="0" err="1">
                <a:solidFill>
                  <a:srgbClr val="161613"/>
                </a:solidFill>
                <a:latin typeface="Leelawadee UI" panose="020B0502040204020203" pitchFamily="34" charset="-34"/>
                <a:ea typeface="Inter" pitchFamily="34" charset="-122"/>
                <a:cs typeface="Leelawadee UI" panose="020B0502040204020203" pitchFamily="34" charset="-34"/>
              </a:rPr>
              <a:t>langsung</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ke pembeli bertanggung jawab di pasar domestik dan global.</a:t>
            </a:r>
            <a:endParaRPr lang="en-US" sz="1000" dirty="0">
              <a:latin typeface="Leelawadee UI" panose="020B0502040204020203" pitchFamily="34" charset="-34"/>
              <a:cs typeface="Leelawadee UI" panose="020B0502040204020203" pitchFamily="34" charset="-34"/>
            </a:endParaRPr>
          </a:p>
        </p:txBody>
      </p:sp>
      <p:pic>
        <p:nvPicPr>
          <p:cNvPr id="228" name="Image 10" descr="preencoded.png">
            <a:extLst>
              <a:ext uri="{FF2B5EF4-FFF2-40B4-BE49-F238E27FC236}">
                <a16:creationId xmlns:a16="http://schemas.microsoft.com/office/drawing/2014/main" id="{532B8335-252A-B57E-C5E1-0177D5B0A2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32481" y="23646461"/>
            <a:ext cx="7658573" cy="663905"/>
          </a:xfrm>
          <a:prstGeom prst="rect">
            <a:avLst/>
          </a:prstGeom>
        </p:spPr>
      </p:pic>
      <p:sp>
        <p:nvSpPr>
          <p:cNvPr id="230" name="Text 14">
            <a:extLst>
              <a:ext uri="{FF2B5EF4-FFF2-40B4-BE49-F238E27FC236}">
                <a16:creationId xmlns:a16="http://schemas.microsoft.com/office/drawing/2014/main" id="{547BCA31-E08E-9168-92EB-B27FC445FF48}"/>
              </a:ext>
            </a:extLst>
          </p:cNvPr>
          <p:cNvSpPr/>
          <p:nvPr/>
        </p:nvSpPr>
        <p:spPr>
          <a:xfrm>
            <a:off x="682619" y="23734027"/>
            <a:ext cx="1354336" cy="12107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Agroforestry Development</a:t>
            </a:r>
            <a:endParaRPr lang="en-US" sz="1050" dirty="0">
              <a:latin typeface="Leelawadee UI" panose="020B0502040204020203" pitchFamily="34" charset="-34"/>
              <a:cs typeface="Leelawadee UI" panose="020B0502040204020203" pitchFamily="34" charset="-34"/>
            </a:endParaRPr>
          </a:p>
        </p:txBody>
      </p:sp>
      <p:sp>
        <p:nvSpPr>
          <p:cNvPr id="231" name="Text 15">
            <a:extLst>
              <a:ext uri="{FF2B5EF4-FFF2-40B4-BE49-F238E27FC236}">
                <a16:creationId xmlns:a16="http://schemas.microsoft.com/office/drawing/2014/main" id="{9DA5A98D-7D01-6AA1-9CDD-4C9036BCD537}"/>
              </a:ext>
            </a:extLst>
          </p:cNvPr>
          <p:cNvSpPr/>
          <p:nvPr/>
        </p:nvSpPr>
        <p:spPr>
          <a:xfrm>
            <a:off x="2561277" y="23724069"/>
            <a:ext cx="5558801" cy="420683"/>
          </a:xfrm>
          <a:prstGeom prst="rect">
            <a:avLst/>
          </a:prstGeom>
          <a:noFill/>
          <a:ln/>
        </p:spPr>
        <p:txBody>
          <a:bodyPr wrap="square" lIns="0" tIns="0" rIns="0" bIns="0" rtlCol="0" anchor="t">
            <a:noAutofit/>
          </a:bodyPr>
          <a:lstStyle/>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Mengembangkan sistem agroforestri yang produktif dan lestari — memadukan konservasi hutan, keanekaragaman hayati, dan produktivitas pertanian dalam satu lanskap.</a:t>
            </a:r>
            <a:endParaRPr lang="en-US" sz="1000" dirty="0">
              <a:latin typeface="Leelawadee UI" panose="020B0502040204020203" pitchFamily="34" charset="-34"/>
              <a:cs typeface="Leelawadee UI" panose="020B0502040204020203" pitchFamily="34" charset="-34"/>
            </a:endParaRPr>
          </a:p>
        </p:txBody>
      </p:sp>
      <p:pic>
        <p:nvPicPr>
          <p:cNvPr id="232" name="Image 12" descr="preencoded.png">
            <a:extLst>
              <a:ext uri="{FF2B5EF4-FFF2-40B4-BE49-F238E27FC236}">
                <a16:creationId xmlns:a16="http://schemas.microsoft.com/office/drawing/2014/main" id="{D738EE52-E411-2C3C-79C6-3CFFC73C9B7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32482" y="24384434"/>
            <a:ext cx="7647040" cy="669558"/>
          </a:xfrm>
          <a:prstGeom prst="rect">
            <a:avLst/>
          </a:prstGeom>
        </p:spPr>
      </p:pic>
      <p:sp>
        <p:nvSpPr>
          <p:cNvPr id="234" name="Text 16">
            <a:extLst>
              <a:ext uri="{FF2B5EF4-FFF2-40B4-BE49-F238E27FC236}">
                <a16:creationId xmlns:a16="http://schemas.microsoft.com/office/drawing/2014/main" id="{B28A5630-A1E2-7DDE-E5F7-C0ECC0A426D6}"/>
              </a:ext>
            </a:extLst>
          </p:cNvPr>
          <p:cNvSpPr/>
          <p:nvPr/>
        </p:nvSpPr>
        <p:spPr>
          <a:xfrm>
            <a:off x="664748" y="24471016"/>
            <a:ext cx="1805434" cy="121072"/>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Sustainable Enterprise Development</a:t>
            </a:r>
            <a:endParaRPr lang="en-US" sz="1050" dirty="0">
              <a:latin typeface="Leelawadee UI" panose="020B0502040204020203" pitchFamily="34" charset="-34"/>
              <a:cs typeface="Leelawadee UI" panose="020B0502040204020203" pitchFamily="34" charset="-34"/>
            </a:endParaRPr>
          </a:p>
        </p:txBody>
      </p:sp>
      <p:sp>
        <p:nvSpPr>
          <p:cNvPr id="235" name="Text 17">
            <a:extLst>
              <a:ext uri="{FF2B5EF4-FFF2-40B4-BE49-F238E27FC236}">
                <a16:creationId xmlns:a16="http://schemas.microsoft.com/office/drawing/2014/main" id="{D93D19D3-FAAA-5EAC-0B01-72A399850C12}"/>
              </a:ext>
            </a:extLst>
          </p:cNvPr>
          <p:cNvSpPr/>
          <p:nvPr/>
        </p:nvSpPr>
        <p:spPr>
          <a:xfrm>
            <a:off x="3241600" y="24471015"/>
            <a:ext cx="4878479" cy="1023309"/>
          </a:xfrm>
          <a:prstGeom prst="rect">
            <a:avLst/>
          </a:prstGeom>
          <a:noFill/>
          <a:ln/>
        </p:spPr>
        <p:txBody>
          <a:bodyPr wrap="square" lIns="0" tIns="0" rIns="0" bIns="0" rtlCol="0" anchor="t">
            <a:normAutofit/>
          </a:bodyPr>
          <a:lstStyle/>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Mengembangkan usaha berkelanjutan berbasis sumber daya alam — dari produk hutan bukan kayu hingga olahan hasil pertanian — dengan model bisnis yang layak dan berdaya saing.</a:t>
            </a:r>
            <a:endParaRPr lang="en-US" sz="1000" dirty="0">
              <a:latin typeface="Leelawadee UI" panose="020B0502040204020203" pitchFamily="34" charset="-34"/>
              <a:cs typeface="Leelawadee UI" panose="020B0502040204020203" pitchFamily="34" charset="-34"/>
            </a:endParaRPr>
          </a:p>
        </p:txBody>
      </p:sp>
      <p:sp>
        <p:nvSpPr>
          <p:cNvPr id="236" name="Shape 0">
            <a:extLst>
              <a:ext uri="{FF2B5EF4-FFF2-40B4-BE49-F238E27FC236}">
                <a16:creationId xmlns:a16="http://schemas.microsoft.com/office/drawing/2014/main" id="{C71B5C00-86ED-668C-8FF9-205CC4ABEF39}"/>
              </a:ext>
            </a:extLst>
          </p:cNvPr>
          <p:cNvSpPr/>
          <p:nvPr/>
        </p:nvSpPr>
        <p:spPr>
          <a:xfrm>
            <a:off x="561708" y="25372162"/>
            <a:ext cx="1239449" cy="259756"/>
          </a:xfrm>
          <a:prstGeom prst="roundRect">
            <a:avLst>
              <a:gd name="adj" fmla="val 7328"/>
            </a:avLst>
          </a:prstGeom>
          <a:solidFill>
            <a:srgbClr val="E3E3E8"/>
          </a:solidFill>
          <a:ln/>
        </p:spPr>
      </p:sp>
      <p:sp>
        <p:nvSpPr>
          <p:cNvPr id="237" name="Text 1">
            <a:extLst>
              <a:ext uri="{FF2B5EF4-FFF2-40B4-BE49-F238E27FC236}">
                <a16:creationId xmlns:a16="http://schemas.microsoft.com/office/drawing/2014/main" id="{5FC36FDA-86D1-C0DD-01E9-FF541BB67984}"/>
              </a:ext>
            </a:extLst>
          </p:cNvPr>
          <p:cNvSpPr/>
          <p:nvPr/>
        </p:nvSpPr>
        <p:spPr>
          <a:xfrm>
            <a:off x="607049" y="25430884"/>
            <a:ext cx="1090005" cy="233864"/>
          </a:xfrm>
          <a:prstGeom prst="rect">
            <a:avLst/>
          </a:prstGeom>
          <a:noFill/>
          <a:ln/>
        </p:spPr>
        <p:txBody>
          <a:bodyPr wrap="none" lIns="0" tIns="0" rIns="0" bIns="0" rtlCol="0" anchor="t"/>
          <a:lstStyle/>
          <a:p>
            <a:pPr marL="0" indent="0" algn="l">
              <a:lnSpc>
                <a:spcPct val="10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CONTOH INISIATIF</a:t>
            </a:r>
            <a:endParaRPr lang="en-US" sz="950" dirty="0">
              <a:latin typeface="Leelawadee UI" panose="020B0502040204020203" pitchFamily="34" charset="-34"/>
              <a:cs typeface="Leelawadee UI" panose="020B0502040204020203" pitchFamily="34" charset="-34"/>
            </a:endParaRPr>
          </a:p>
        </p:txBody>
      </p:sp>
      <p:sp>
        <p:nvSpPr>
          <p:cNvPr id="238" name="Text 2">
            <a:extLst>
              <a:ext uri="{FF2B5EF4-FFF2-40B4-BE49-F238E27FC236}">
                <a16:creationId xmlns:a16="http://schemas.microsoft.com/office/drawing/2014/main" id="{7B5C7171-C669-2B3B-0424-A377A7C1FBA7}"/>
              </a:ext>
            </a:extLst>
          </p:cNvPr>
          <p:cNvSpPr/>
          <p:nvPr/>
        </p:nvSpPr>
        <p:spPr>
          <a:xfrm>
            <a:off x="573843" y="25601307"/>
            <a:ext cx="4315271" cy="242292"/>
          </a:xfrm>
          <a:prstGeom prst="rect">
            <a:avLst/>
          </a:prstGeom>
          <a:noFill/>
          <a:ln/>
        </p:spPr>
        <p:txBody>
          <a:bodyPr wrap="none" lIns="0" tIns="0" rIns="0" bIns="0" rtlCol="0" anchor="t"/>
          <a:lstStyle/>
          <a:p>
            <a:pPr marL="0" indent="0" algn="l">
              <a:lnSpc>
                <a:spcPct val="104000"/>
              </a:lnSpc>
              <a:buNone/>
            </a:pPr>
            <a:r>
              <a:rPr lang="en-US" sz="1600" dirty="0">
                <a:solidFill>
                  <a:srgbClr val="161613"/>
                </a:solidFill>
                <a:latin typeface="Leelawadee UI" panose="020B0502040204020203" pitchFamily="34" charset="-34"/>
                <a:ea typeface="DM Sans Medium" pitchFamily="34" charset="-122"/>
                <a:cs typeface="Leelawadee UI" panose="020B0502040204020203" pitchFamily="34" charset="-34"/>
              </a:rPr>
              <a:t>Program dalam Aksi: Contoh Inisiatif Nyata</a:t>
            </a:r>
            <a:endParaRPr lang="en-US" sz="1600" dirty="0">
              <a:latin typeface="Leelawadee UI" panose="020B0502040204020203" pitchFamily="34" charset="-34"/>
              <a:cs typeface="Leelawadee UI" panose="020B0502040204020203" pitchFamily="34" charset="-34"/>
            </a:endParaRPr>
          </a:p>
        </p:txBody>
      </p:sp>
      <p:sp>
        <p:nvSpPr>
          <p:cNvPr id="239" name="Text 3">
            <a:extLst>
              <a:ext uri="{FF2B5EF4-FFF2-40B4-BE49-F238E27FC236}">
                <a16:creationId xmlns:a16="http://schemas.microsoft.com/office/drawing/2014/main" id="{96D9760F-5CA3-9003-3104-754E7EB43349}"/>
              </a:ext>
            </a:extLst>
          </p:cNvPr>
          <p:cNvSpPr/>
          <p:nvPr/>
        </p:nvSpPr>
        <p:spPr>
          <a:xfrm>
            <a:off x="573843" y="25916227"/>
            <a:ext cx="7647040" cy="504151"/>
          </a:xfrm>
          <a:prstGeom prst="rect">
            <a:avLst/>
          </a:prstGeom>
          <a:noFill/>
          <a:ln/>
        </p:spPr>
        <p:txBody>
          <a:bodyPr wrap="none" lIns="0" tIns="0" rIns="0" bIns="0" rtlCol="0" anchor="t"/>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Berikut adalah beberapa inisiatif konkret yang telah dan sedang dijalankan YNKI dalam kerangka Sustainable Commodity Systems </a:t>
            </a:r>
          </a:p>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di lapangan:</a:t>
            </a:r>
            <a:endParaRPr lang="en-US" sz="1000" dirty="0">
              <a:latin typeface="Leelawadee UI" panose="020B0502040204020203" pitchFamily="34" charset="-34"/>
              <a:cs typeface="Leelawadee UI" panose="020B0502040204020203" pitchFamily="34" charset="-34"/>
            </a:endParaRPr>
          </a:p>
        </p:txBody>
      </p:sp>
      <p:pic>
        <p:nvPicPr>
          <p:cNvPr id="240" name="Image 0" descr="preencoded.png">
            <a:extLst>
              <a:ext uri="{FF2B5EF4-FFF2-40B4-BE49-F238E27FC236}">
                <a16:creationId xmlns:a16="http://schemas.microsoft.com/office/drawing/2014/main" id="{33933DCC-7857-1F9B-0511-FE6CB803716A}"/>
              </a:ext>
            </a:extLst>
          </p:cNvPr>
          <p:cNvPicPr>
            <a:picLocks noChangeAspect="1"/>
          </p:cNvPicPr>
          <p:nvPr/>
        </p:nvPicPr>
        <p:blipFill>
          <a:blip r:embed="rId13"/>
          <a:stretch>
            <a:fillRect/>
          </a:stretch>
        </p:blipFill>
        <p:spPr>
          <a:xfrm>
            <a:off x="657244" y="26482429"/>
            <a:ext cx="860078" cy="531540"/>
          </a:xfrm>
          <a:prstGeom prst="rect">
            <a:avLst/>
          </a:prstGeom>
        </p:spPr>
      </p:pic>
      <p:sp>
        <p:nvSpPr>
          <p:cNvPr id="241" name="Text 4">
            <a:extLst>
              <a:ext uri="{FF2B5EF4-FFF2-40B4-BE49-F238E27FC236}">
                <a16:creationId xmlns:a16="http://schemas.microsoft.com/office/drawing/2014/main" id="{F0719300-D0E0-5F35-C0A3-998073A37196}"/>
              </a:ext>
            </a:extLst>
          </p:cNvPr>
          <p:cNvSpPr/>
          <p:nvPr/>
        </p:nvSpPr>
        <p:spPr>
          <a:xfrm>
            <a:off x="657244" y="27074467"/>
            <a:ext cx="1393758" cy="328622"/>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Platform Keterlacakan Karet "Mokkalita"</a:t>
            </a:r>
            <a:endParaRPr lang="en-US" sz="950" dirty="0">
              <a:latin typeface="Leelawadee UI" panose="020B0502040204020203" pitchFamily="34" charset="-34"/>
              <a:cs typeface="Leelawadee UI" panose="020B0502040204020203" pitchFamily="34" charset="-34"/>
            </a:endParaRPr>
          </a:p>
        </p:txBody>
      </p:sp>
      <p:sp>
        <p:nvSpPr>
          <p:cNvPr id="242" name="Text 5">
            <a:extLst>
              <a:ext uri="{FF2B5EF4-FFF2-40B4-BE49-F238E27FC236}">
                <a16:creationId xmlns:a16="http://schemas.microsoft.com/office/drawing/2014/main" id="{3E9FCAAA-0E0E-018A-CBDA-C976C7273D2A}"/>
              </a:ext>
            </a:extLst>
          </p:cNvPr>
          <p:cNvSpPr/>
          <p:nvPr/>
        </p:nvSpPr>
        <p:spPr>
          <a:xfrm>
            <a:off x="657244" y="27603967"/>
            <a:ext cx="1383742" cy="2993450"/>
          </a:xfrm>
          <a:prstGeom prst="rect">
            <a:avLst/>
          </a:prstGeom>
          <a:noFill/>
          <a:ln/>
        </p:spPr>
        <p:txBody>
          <a:bodyPr wrap="square" lIns="0" tIns="0" rIns="0" bIns="0" rtlCol="0" anchor="t">
            <a:noAutofit/>
          </a:bodyPr>
          <a:lstStyle/>
          <a:p>
            <a:pPr marL="0" indent="0" algn="l">
              <a:lnSpc>
                <a:spcPct val="10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memberikan dukungan penuh kepada Dinas Perkebunan Kalimantan Barat dalam pengembangan platform Mokkalita (Model Ketertelusuran Karet Kalimantan Barat) — alat strategis untuk memastikan produk karet dari Kalbar dapat ditelusuri asal-usulnya, mendukung praktik budidaya berkelanjutan, dan menjawab tantangan regulasi EUDR.</a:t>
            </a:r>
            <a:endParaRPr lang="en-US" sz="950" dirty="0">
              <a:latin typeface="Leelawadee UI" panose="020B0502040204020203" pitchFamily="34" charset="-34"/>
              <a:cs typeface="Leelawadee UI" panose="020B0502040204020203" pitchFamily="34" charset="-34"/>
            </a:endParaRPr>
          </a:p>
        </p:txBody>
      </p:sp>
      <p:pic>
        <p:nvPicPr>
          <p:cNvPr id="243" name="Image 1" descr="preencoded.png">
            <a:extLst>
              <a:ext uri="{FF2B5EF4-FFF2-40B4-BE49-F238E27FC236}">
                <a16:creationId xmlns:a16="http://schemas.microsoft.com/office/drawing/2014/main" id="{B19C845A-94CE-8717-37AB-B2400ACA57B6}"/>
              </a:ext>
            </a:extLst>
          </p:cNvPr>
          <p:cNvPicPr>
            <a:picLocks noChangeAspect="1"/>
          </p:cNvPicPr>
          <p:nvPr/>
        </p:nvPicPr>
        <p:blipFill>
          <a:blip r:embed="rId14"/>
          <a:stretch>
            <a:fillRect/>
          </a:stretch>
        </p:blipFill>
        <p:spPr>
          <a:xfrm>
            <a:off x="2200740" y="26482429"/>
            <a:ext cx="860152" cy="531614"/>
          </a:xfrm>
          <a:prstGeom prst="rect">
            <a:avLst/>
          </a:prstGeom>
        </p:spPr>
      </p:pic>
      <p:sp>
        <p:nvSpPr>
          <p:cNvPr id="244" name="Text 6">
            <a:extLst>
              <a:ext uri="{FF2B5EF4-FFF2-40B4-BE49-F238E27FC236}">
                <a16:creationId xmlns:a16="http://schemas.microsoft.com/office/drawing/2014/main" id="{7E413F52-1DC8-9460-89EE-BC43FC7333A4}"/>
              </a:ext>
            </a:extLst>
          </p:cNvPr>
          <p:cNvSpPr/>
          <p:nvPr/>
        </p:nvSpPr>
        <p:spPr>
          <a:xfrm>
            <a:off x="2200740" y="27074542"/>
            <a:ext cx="1432111" cy="368283"/>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Usaha Madu Hutan di Desa Ulak Medang</a:t>
            </a:r>
            <a:endParaRPr lang="en-US" sz="950" dirty="0">
              <a:latin typeface="Leelawadee UI" panose="020B0502040204020203" pitchFamily="34" charset="-34"/>
              <a:cs typeface="Leelawadee UI" panose="020B0502040204020203" pitchFamily="34" charset="-34"/>
            </a:endParaRPr>
          </a:p>
        </p:txBody>
      </p:sp>
      <p:sp>
        <p:nvSpPr>
          <p:cNvPr id="245" name="Text 7">
            <a:extLst>
              <a:ext uri="{FF2B5EF4-FFF2-40B4-BE49-F238E27FC236}">
                <a16:creationId xmlns:a16="http://schemas.microsoft.com/office/drawing/2014/main" id="{1823867A-DF62-ADAC-DBD2-AD86E2039239}"/>
              </a:ext>
            </a:extLst>
          </p:cNvPr>
          <p:cNvSpPr/>
          <p:nvPr/>
        </p:nvSpPr>
        <p:spPr>
          <a:xfrm>
            <a:off x="2200740" y="27648934"/>
            <a:ext cx="1464024" cy="3270407"/>
          </a:xfrm>
          <a:prstGeom prst="rect">
            <a:avLst/>
          </a:prstGeom>
          <a:noFill/>
          <a:ln/>
        </p:spPr>
        <p:txBody>
          <a:bodyPr wrap="square" lIns="0" tIns="0" rIns="0" bIns="0" rtlCol="0" anchor="t">
            <a:normAutofit/>
          </a:bodyPr>
          <a:lstStyle/>
          <a:p>
            <a:pPr marL="0" indent="0" algn="l">
              <a:lnSpc>
                <a:spcPct val="10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Bersama UNDP KalFor, YNKI mendukung pengembangan usaha madu hutan di Desa Ulak Medang, Kabupaten Ketapang. Dukungan mencakup penyerahan dehumidifier, refraktometer, perlengkapan pemrosesan madu, dan alat pelindung diri untuk meningkatkan kualitas madu sesuai standar SNI dan membuka akses pasar yang lebih luas.</a:t>
            </a:r>
            <a:endParaRPr lang="en-US" sz="950" dirty="0">
              <a:latin typeface="Leelawadee UI" panose="020B0502040204020203" pitchFamily="34" charset="-34"/>
              <a:cs typeface="Leelawadee UI" panose="020B0502040204020203" pitchFamily="34" charset="-34"/>
            </a:endParaRPr>
          </a:p>
        </p:txBody>
      </p:sp>
      <p:pic>
        <p:nvPicPr>
          <p:cNvPr id="246" name="Image 2" descr="preencoded.png">
            <a:extLst>
              <a:ext uri="{FF2B5EF4-FFF2-40B4-BE49-F238E27FC236}">
                <a16:creationId xmlns:a16="http://schemas.microsoft.com/office/drawing/2014/main" id="{3B39543D-AC80-85B4-EDAF-9C63878B4390}"/>
              </a:ext>
            </a:extLst>
          </p:cNvPr>
          <p:cNvPicPr>
            <a:picLocks noChangeAspect="1"/>
          </p:cNvPicPr>
          <p:nvPr/>
        </p:nvPicPr>
        <p:blipFill>
          <a:blip r:embed="rId15"/>
          <a:stretch>
            <a:fillRect/>
          </a:stretch>
        </p:blipFill>
        <p:spPr>
          <a:xfrm>
            <a:off x="3744311" y="26482429"/>
            <a:ext cx="860152" cy="531614"/>
          </a:xfrm>
          <a:prstGeom prst="rect">
            <a:avLst/>
          </a:prstGeom>
        </p:spPr>
      </p:pic>
      <p:sp>
        <p:nvSpPr>
          <p:cNvPr id="247" name="Text 8">
            <a:extLst>
              <a:ext uri="{FF2B5EF4-FFF2-40B4-BE49-F238E27FC236}">
                <a16:creationId xmlns:a16="http://schemas.microsoft.com/office/drawing/2014/main" id="{996F7506-A3A1-0B87-FB90-6510C3A7A5BF}"/>
              </a:ext>
            </a:extLst>
          </p:cNvPr>
          <p:cNvSpPr/>
          <p:nvPr/>
        </p:nvSpPr>
        <p:spPr>
          <a:xfrm>
            <a:off x="3744311" y="27074542"/>
            <a:ext cx="1382699" cy="313692"/>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Pendampingan Petani Karet Berkelanjutan</a:t>
            </a:r>
            <a:endParaRPr lang="en-US" sz="950" dirty="0">
              <a:latin typeface="Leelawadee UI" panose="020B0502040204020203" pitchFamily="34" charset="-34"/>
              <a:cs typeface="Leelawadee UI" panose="020B0502040204020203" pitchFamily="34" charset="-34"/>
            </a:endParaRPr>
          </a:p>
        </p:txBody>
      </p:sp>
      <p:sp>
        <p:nvSpPr>
          <p:cNvPr id="248" name="Text 9">
            <a:extLst>
              <a:ext uri="{FF2B5EF4-FFF2-40B4-BE49-F238E27FC236}">
                <a16:creationId xmlns:a16="http://schemas.microsoft.com/office/drawing/2014/main" id="{1E3F0B33-DF4B-85CD-0D80-6910AD717B30}"/>
              </a:ext>
            </a:extLst>
          </p:cNvPr>
          <p:cNvSpPr/>
          <p:nvPr/>
        </p:nvSpPr>
        <p:spPr>
          <a:xfrm>
            <a:off x="3747448" y="27555654"/>
            <a:ext cx="1369545" cy="3526971"/>
          </a:xfrm>
          <a:prstGeom prst="rect">
            <a:avLst/>
          </a:prstGeom>
          <a:noFill/>
          <a:ln/>
        </p:spPr>
        <p:txBody>
          <a:bodyPr wrap="square" lIns="0" tIns="0" rIns="0" bIns="0" rtlCol="0" anchor="t">
            <a:normAutofit/>
          </a:bodyPr>
          <a:lstStyle/>
          <a:p>
            <a:pPr marL="0" indent="0" algn="l">
              <a:lnSpc>
                <a:spcPct val="10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berkolaborasi dengan Dinas Perkebunan Kalbar dan berbagai pemangku kepentingan untuk mendorong revitalisasi industri karet rakyat. Pendampingan mencakup peningkatan produktivitas, adopsi teknologi, serta peningkatan transparansi dan akuntabilitas dalam rantai pasok karet rakyat.</a:t>
            </a:r>
            <a:endParaRPr lang="en-US" sz="950" dirty="0">
              <a:latin typeface="Leelawadee UI" panose="020B0502040204020203" pitchFamily="34" charset="-34"/>
              <a:cs typeface="Leelawadee UI" panose="020B0502040204020203" pitchFamily="34" charset="-34"/>
            </a:endParaRPr>
          </a:p>
        </p:txBody>
      </p:sp>
      <p:pic>
        <p:nvPicPr>
          <p:cNvPr id="249" name="Image 3" descr="preencoded.png">
            <a:extLst>
              <a:ext uri="{FF2B5EF4-FFF2-40B4-BE49-F238E27FC236}">
                <a16:creationId xmlns:a16="http://schemas.microsoft.com/office/drawing/2014/main" id="{C8B95B55-1EDA-3DCF-9778-4842456EA3E9}"/>
              </a:ext>
            </a:extLst>
          </p:cNvPr>
          <p:cNvPicPr>
            <a:picLocks noChangeAspect="1"/>
          </p:cNvPicPr>
          <p:nvPr/>
        </p:nvPicPr>
        <p:blipFill>
          <a:blip r:embed="rId16"/>
          <a:stretch>
            <a:fillRect/>
          </a:stretch>
        </p:blipFill>
        <p:spPr>
          <a:xfrm>
            <a:off x="5287882" y="26482429"/>
            <a:ext cx="860152" cy="531614"/>
          </a:xfrm>
          <a:prstGeom prst="rect">
            <a:avLst/>
          </a:prstGeom>
        </p:spPr>
      </p:pic>
      <p:sp>
        <p:nvSpPr>
          <p:cNvPr id="250" name="Text 10">
            <a:extLst>
              <a:ext uri="{FF2B5EF4-FFF2-40B4-BE49-F238E27FC236}">
                <a16:creationId xmlns:a16="http://schemas.microsoft.com/office/drawing/2014/main" id="{955863B8-14A4-DCC9-4B51-E20A177167E9}"/>
              </a:ext>
            </a:extLst>
          </p:cNvPr>
          <p:cNvSpPr/>
          <p:nvPr/>
        </p:nvSpPr>
        <p:spPr>
          <a:xfrm>
            <a:off x="5287882" y="27074542"/>
            <a:ext cx="1607384" cy="242143"/>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Agroforestri Kopi &amp; Sistem Komoditas Berkelanjutan</a:t>
            </a:r>
            <a:endParaRPr lang="en-US" sz="950" dirty="0">
              <a:latin typeface="Leelawadee UI" panose="020B0502040204020203" pitchFamily="34" charset="-34"/>
              <a:cs typeface="Leelawadee UI" panose="020B0502040204020203" pitchFamily="34" charset="-34"/>
            </a:endParaRPr>
          </a:p>
        </p:txBody>
      </p:sp>
      <p:sp>
        <p:nvSpPr>
          <p:cNvPr id="251" name="Text 11">
            <a:extLst>
              <a:ext uri="{FF2B5EF4-FFF2-40B4-BE49-F238E27FC236}">
                <a16:creationId xmlns:a16="http://schemas.microsoft.com/office/drawing/2014/main" id="{93F81734-E234-7659-0438-BF8F139FAD04}"/>
              </a:ext>
            </a:extLst>
          </p:cNvPr>
          <p:cNvSpPr/>
          <p:nvPr/>
        </p:nvSpPr>
        <p:spPr>
          <a:xfrm>
            <a:off x="5287882" y="27648934"/>
            <a:ext cx="1510420" cy="3466349"/>
          </a:xfrm>
          <a:prstGeom prst="rect">
            <a:avLst/>
          </a:prstGeom>
          <a:noFill/>
          <a:ln/>
        </p:spPr>
        <p:txBody>
          <a:bodyPr wrap="square" lIns="0" tIns="0" rIns="0" bIns="0" rtlCol="0" anchor="t">
            <a:normAutofit/>
          </a:bodyPr>
          <a:lstStyle/>
          <a:p>
            <a:pPr marL="0" indent="0" algn="l">
              <a:lnSpc>
                <a:spcPct val="10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mendorong pengembangan sistem agroforestri kopi yang berkelanjutan sebagai bagian dari transformasi sistem komoditas. Pendekatan ini mengintegrasikan konservasi ekosistem, peningkatan produktivitas, dan kesejahteraan petani dalam satu sistem pengelolaan lanskap yang holistik.</a:t>
            </a:r>
            <a:endParaRPr lang="en-US" sz="950" dirty="0">
              <a:latin typeface="Leelawadee UI" panose="020B0502040204020203" pitchFamily="34" charset="-34"/>
              <a:cs typeface="Leelawadee UI" panose="020B0502040204020203" pitchFamily="34" charset="-34"/>
            </a:endParaRPr>
          </a:p>
        </p:txBody>
      </p:sp>
      <p:pic>
        <p:nvPicPr>
          <p:cNvPr id="252" name="Image 4" descr="preencoded.png">
            <a:extLst>
              <a:ext uri="{FF2B5EF4-FFF2-40B4-BE49-F238E27FC236}">
                <a16:creationId xmlns:a16="http://schemas.microsoft.com/office/drawing/2014/main" id="{D1B3F56A-836F-C297-41D7-BA257B9C883C}"/>
              </a:ext>
            </a:extLst>
          </p:cNvPr>
          <p:cNvPicPr>
            <a:picLocks noChangeAspect="1"/>
          </p:cNvPicPr>
          <p:nvPr/>
        </p:nvPicPr>
        <p:blipFill>
          <a:blip r:embed="rId17"/>
          <a:stretch>
            <a:fillRect/>
          </a:stretch>
        </p:blipFill>
        <p:spPr>
          <a:xfrm>
            <a:off x="7037724" y="26482503"/>
            <a:ext cx="860078" cy="531540"/>
          </a:xfrm>
          <a:prstGeom prst="rect">
            <a:avLst/>
          </a:prstGeom>
        </p:spPr>
      </p:pic>
      <p:sp>
        <p:nvSpPr>
          <p:cNvPr id="253" name="Text 12">
            <a:extLst>
              <a:ext uri="{FF2B5EF4-FFF2-40B4-BE49-F238E27FC236}">
                <a16:creationId xmlns:a16="http://schemas.microsoft.com/office/drawing/2014/main" id="{F975452F-E2F6-F97D-3476-9F735FBC4788}"/>
              </a:ext>
            </a:extLst>
          </p:cNvPr>
          <p:cNvSpPr/>
          <p:nvPr/>
        </p:nvSpPr>
        <p:spPr>
          <a:xfrm>
            <a:off x="7037724" y="27074541"/>
            <a:ext cx="1607304" cy="242143"/>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Penguatan Usaha Produk Hutan Bukan Kayu (NTFP)</a:t>
            </a:r>
            <a:endParaRPr lang="en-US" sz="950" dirty="0">
              <a:latin typeface="Leelawadee UI" panose="020B0502040204020203" pitchFamily="34" charset="-34"/>
              <a:cs typeface="Leelawadee UI" panose="020B0502040204020203" pitchFamily="34" charset="-34"/>
            </a:endParaRPr>
          </a:p>
        </p:txBody>
      </p:sp>
      <p:sp>
        <p:nvSpPr>
          <p:cNvPr id="254" name="Text 13">
            <a:extLst>
              <a:ext uri="{FF2B5EF4-FFF2-40B4-BE49-F238E27FC236}">
                <a16:creationId xmlns:a16="http://schemas.microsoft.com/office/drawing/2014/main" id="{7F86758C-82C8-9615-609E-7B9BB4A15B4F}"/>
              </a:ext>
            </a:extLst>
          </p:cNvPr>
          <p:cNvSpPr/>
          <p:nvPr/>
        </p:nvSpPr>
        <p:spPr>
          <a:xfrm>
            <a:off x="7037723" y="27648934"/>
            <a:ext cx="1445000" cy="3433691"/>
          </a:xfrm>
          <a:prstGeom prst="rect">
            <a:avLst/>
          </a:prstGeom>
          <a:noFill/>
          <a:ln/>
        </p:spPr>
        <p:txBody>
          <a:bodyPr wrap="square" lIns="0" tIns="0" rIns="0" bIns="0" rtlCol="0" anchor="t">
            <a:normAutofit/>
          </a:bodyPr>
          <a:lstStyle/>
          <a:p>
            <a:pPr marL="0" indent="0" algn="l">
              <a:lnSpc>
                <a:spcPct val="10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Melalui KalFor Project, YNKI memfasilitasi pengembangan produk inovatif berbasis sumber daya alam — madu hutan, olahan ikan, dan hasil pertanian lainnya — dengan pendampingan teknis, sertifikasi P-IRT, standar keamanan pangan, dan pengembangan model bisnis yang berkelanjutan.</a:t>
            </a:r>
            <a:endParaRPr lang="en-US" sz="950" dirty="0">
              <a:latin typeface="Leelawadee UI" panose="020B0502040204020203" pitchFamily="34" charset="-34"/>
              <a:cs typeface="Leelawadee UI" panose="020B0502040204020203" pitchFamily="34" charset="-34"/>
            </a:endParaRPr>
          </a:p>
        </p:txBody>
      </p:sp>
      <p:sp>
        <p:nvSpPr>
          <p:cNvPr id="274" name="Shape 0">
            <a:extLst>
              <a:ext uri="{FF2B5EF4-FFF2-40B4-BE49-F238E27FC236}">
                <a16:creationId xmlns:a16="http://schemas.microsoft.com/office/drawing/2014/main" id="{5AC794E5-D1EA-D85C-235F-90A8FBA798F5}"/>
              </a:ext>
            </a:extLst>
          </p:cNvPr>
          <p:cNvSpPr/>
          <p:nvPr/>
        </p:nvSpPr>
        <p:spPr>
          <a:xfrm>
            <a:off x="575294" y="30317435"/>
            <a:ext cx="1461661" cy="335919"/>
          </a:xfrm>
          <a:prstGeom prst="roundRect">
            <a:avLst>
              <a:gd name="adj" fmla="val 6492"/>
            </a:avLst>
          </a:prstGeom>
          <a:solidFill>
            <a:srgbClr val="E3E3E8"/>
          </a:solidFill>
          <a:ln/>
        </p:spPr>
      </p:sp>
      <p:sp>
        <p:nvSpPr>
          <p:cNvPr id="275" name="Text 1">
            <a:extLst>
              <a:ext uri="{FF2B5EF4-FFF2-40B4-BE49-F238E27FC236}">
                <a16:creationId xmlns:a16="http://schemas.microsoft.com/office/drawing/2014/main" id="{65A20FD7-738B-DC5C-7243-35036688B789}"/>
              </a:ext>
            </a:extLst>
          </p:cNvPr>
          <p:cNvSpPr/>
          <p:nvPr/>
        </p:nvSpPr>
        <p:spPr>
          <a:xfrm>
            <a:off x="646211" y="30340825"/>
            <a:ext cx="1554063" cy="147712"/>
          </a:xfrm>
          <a:prstGeom prst="rect">
            <a:avLst/>
          </a:prstGeom>
          <a:noFill/>
          <a:ln/>
        </p:spPr>
        <p:txBody>
          <a:bodyPr wrap="none" lIns="0" tIns="0" rIns="0" bIns="0" rtlCol="0" anchor="t"/>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KEMITRAAN STRATEGIS</a:t>
            </a:r>
            <a:endParaRPr lang="en-US" sz="950" dirty="0">
              <a:latin typeface="Leelawadee UI" panose="020B0502040204020203" pitchFamily="34" charset="-34"/>
              <a:cs typeface="Leelawadee UI" panose="020B0502040204020203" pitchFamily="34" charset="-34"/>
            </a:endParaRPr>
          </a:p>
        </p:txBody>
      </p:sp>
      <p:sp>
        <p:nvSpPr>
          <p:cNvPr id="276" name="Text 2">
            <a:extLst>
              <a:ext uri="{FF2B5EF4-FFF2-40B4-BE49-F238E27FC236}">
                <a16:creationId xmlns:a16="http://schemas.microsoft.com/office/drawing/2014/main" id="{3E44BA18-17A4-3285-6035-D7E0D045B4D3}"/>
              </a:ext>
            </a:extLst>
          </p:cNvPr>
          <p:cNvSpPr/>
          <p:nvPr/>
        </p:nvSpPr>
        <p:spPr>
          <a:xfrm>
            <a:off x="550253" y="30611520"/>
            <a:ext cx="5408861" cy="369466"/>
          </a:xfrm>
          <a:prstGeom prst="rect">
            <a:avLst/>
          </a:prstGeom>
          <a:noFill/>
          <a:ln/>
        </p:spPr>
        <p:txBody>
          <a:bodyPr wrap="none" lIns="0" tIns="0" rIns="0" bIns="0" rtlCol="0" anchor="t"/>
          <a:lstStyle/>
          <a:p>
            <a:pPr marL="0" indent="0" algn="l">
              <a:lnSpc>
                <a:spcPct val="104000"/>
              </a:lnSpc>
              <a:buNone/>
            </a:pPr>
            <a:r>
              <a:rPr lang="en-US" sz="2300" dirty="0">
                <a:solidFill>
                  <a:srgbClr val="161613"/>
                </a:solidFill>
                <a:latin typeface="Leelawadee UI" panose="020B0502040204020203" pitchFamily="34" charset="-34"/>
                <a:ea typeface="DM Sans Medium" pitchFamily="34" charset="-122"/>
                <a:cs typeface="Leelawadee UI" panose="020B0502040204020203" pitchFamily="34" charset="-34"/>
              </a:rPr>
              <a:t>Dijalankan Bersama Mitra yang Kuat</a:t>
            </a:r>
            <a:endParaRPr lang="en-US" sz="2300" dirty="0">
              <a:latin typeface="Leelawadee UI" panose="020B0502040204020203" pitchFamily="34" charset="-34"/>
              <a:cs typeface="Leelawadee UI" panose="020B0502040204020203" pitchFamily="34" charset="-34"/>
            </a:endParaRPr>
          </a:p>
        </p:txBody>
      </p:sp>
      <p:sp>
        <p:nvSpPr>
          <p:cNvPr id="277" name="Text 3">
            <a:extLst>
              <a:ext uri="{FF2B5EF4-FFF2-40B4-BE49-F238E27FC236}">
                <a16:creationId xmlns:a16="http://schemas.microsoft.com/office/drawing/2014/main" id="{022D6C04-7517-C8A8-2BFF-7D40042697B6}"/>
              </a:ext>
            </a:extLst>
          </p:cNvPr>
          <p:cNvSpPr/>
          <p:nvPr/>
        </p:nvSpPr>
        <p:spPr>
          <a:xfrm>
            <a:off x="578433" y="30951581"/>
            <a:ext cx="8151763" cy="369391"/>
          </a:xfrm>
          <a:prstGeom prst="rect">
            <a:avLst/>
          </a:prstGeom>
          <a:noFill/>
          <a:ln/>
        </p:spPr>
        <p:txBody>
          <a:bodyPr wrap="square" lIns="0" tIns="0" rIns="0" bIns="0" rtlCol="0" anchor="t">
            <a:normAutofit lnSpcReduction="10000"/>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Sustainable Commodity Systems Program tidak berjalan sendiri. Program ini dijalankan melalui kolaborasi erat dengan berbagai mitra strategis yang membawa sumber daya, mandat, dan keahlian komplementer:</a:t>
            </a:r>
            <a:endParaRPr lang="en-US" sz="1000" dirty="0">
              <a:latin typeface="Leelawadee UI" panose="020B0502040204020203" pitchFamily="34" charset="-34"/>
              <a:cs typeface="Leelawadee UI" panose="020B0502040204020203" pitchFamily="34" charset="-34"/>
            </a:endParaRPr>
          </a:p>
        </p:txBody>
      </p:sp>
      <p:sp>
        <p:nvSpPr>
          <p:cNvPr id="278" name="Shape 4">
            <a:extLst>
              <a:ext uri="{FF2B5EF4-FFF2-40B4-BE49-F238E27FC236}">
                <a16:creationId xmlns:a16="http://schemas.microsoft.com/office/drawing/2014/main" id="{8228D21D-814F-68E9-6D52-6BDC09A9EBE0}"/>
              </a:ext>
            </a:extLst>
          </p:cNvPr>
          <p:cNvSpPr/>
          <p:nvPr/>
        </p:nvSpPr>
        <p:spPr>
          <a:xfrm>
            <a:off x="578433" y="31447700"/>
            <a:ext cx="4019550" cy="1510010"/>
          </a:xfrm>
          <a:prstGeom prst="roundRect">
            <a:avLst>
              <a:gd name="adj" fmla="val 1174"/>
            </a:avLst>
          </a:prstGeom>
          <a:solidFill>
            <a:srgbClr val="EDEBE3"/>
          </a:solidFill>
          <a:ln/>
        </p:spPr>
      </p:sp>
      <p:sp>
        <p:nvSpPr>
          <p:cNvPr id="279" name="Shape 5">
            <a:extLst>
              <a:ext uri="{FF2B5EF4-FFF2-40B4-BE49-F238E27FC236}">
                <a16:creationId xmlns:a16="http://schemas.microsoft.com/office/drawing/2014/main" id="{EF76151D-77C6-B8B9-5A39-9EB21890A35E}"/>
              </a:ext>
            </a:extLst>
          </p:cNvPr>
          <p:cNvSpPr/>
          <p:nvPr/>
        </p:nvSpPr>
        <p:spPr>
          <a:xfrm>
            <a:off x="696602" y="31565869"/>
            <a:ext cx="354657" cy="354657"/>
          </a:xfrm>
          <a:prstGeom prst="roundRect">
            <a:avLst>
              <a:gd name="adj" fmla="val 16112550"/>
            </a:avLst>
          </a:prstGeom>
          <a:solidFill>
            <a:srgbClr val="28282F"/>
          </a:solidFill>
          <a:ln/>
        </p:spPr>
      </p:sp>
      <p:pic>
        <p:nvPicPr>
          <p:cNvPr id="280" name="Image 0" descr="preencoded.png">
            <a:extLst>
              <a:ext uri="{FF2B5EF4-FFF2-40B4-BE49-F238E27FC236}">
                <a16:creationId xmlns:a16="http://schemas.microsoft.com/office/drawing/2014/main" id="{B46C7506-53DA-D4C9-F8A9-DB4CAF7EE58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94159" y="31663352"/>
            <a:ext cx="159544" cy="159544"/>
          </a:xfrm>
          <a:prstGeom prst="rect">
            <a:avLst/>
          </a:prstGeom>
        </p:spPr>
      </p:pic>
      <p:sp>
        <p:nvSpPr>
          <p:cNvPr id="281" name="Text 6">
            <a:extLst>
              <a:ext uri="{FF2B5EF4-FFF2-40B4-BE49-F238E27FC236}">
                <a16:creationId xmlns:a16="http://schemas.microsoft.com/office/drawing/2014/main" id="{0875559A-2F22-29AA-6DA9-5E6162FA7DD4}"/>
              </a:ext>
            </a:extLst>
          </p:cNvPr>
          <p:cNvSpPr/>
          <p:nvPr/>
        </p:nvSpPr>
        <p:spPr>
          <a:xfrm>
            <a:off x="696602" y="32033190"/>
            <a:ext cx="1477863" cy="184696"/>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Pemerintah Daerah</a:t>
            </a:r>
            <a:endParaRPr lang="en-US" sz="1150" dirty="0">
              <a:latin typeface="Leelawadee UI" panose="020B0502040204020203" pitchFamily="34" charset="-34"/>
              <a:cs typeface="Leelawadee UI" panose="020B0502040204020203" pitchFamily="34" charset="-34"/>
            </a:endParaRPr>
          </a:p>
        </p:txBody>
      </p:sp>
      <p:sp>
        <p:nvSpPr>
          <p:cNvPr id="282" name="Text 7">
            <a:extLst>
              <a:ext uri="{FF2B5EF4-FFF2-40B4-BE49-F238E27FC236}">
                <a16:creationId xmlns:a16="http://schemas.microsoft.com/office/drawing/2014/main" id="{86AB95F9-0EE9-5968-FDD5-19F19EAD77E5}"/>
              </a:ext>
            </a:extLst>
          </p:cNvPr>
          <p:cNvSpPr/>
          <p:nvPr/>
        </p:nvSpPr>
        <p:spPr>
          <a:xfrm>
            <a:off x="696602" y="32285453"/>
            <a:ext cx="3783211" cy="554087"/>
          </a:xfrm>
          <a:prstGeom prst="rect">
            <a:avLst/>
          </a:prstGeom>
          <a:noFill/>
          <a:ln/>
        </p:spPr>
        <p:txBody>
          <a:bodyPr wrap="square" lIns="0" tIns="0" rIns="0" bIns="0" rtlCol="0" anchor="t">
            <a:no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Dinas Perkebunan Kalimantan Barat &amp; DPMPD Provinsi Kalimantan Barat — mitra kebijakan dan regulasi untuk mendorong tata kelola komoditas yang berkelanjutan.</a:t>
            </a:r>
            <a:endParaRPr lang="en-US" sz="950" dirty="0">
              <a:latin typeface="Leelawadee UI" panose="020B0502040204020203" pitchFamily="34" charset="-34"/>
              <a:cs typeface="Leelawadee UI" panose="020B0502040204020203" pitchFamily="34" charset="-34"/>
            </a:endParaRPr>
          </a:p>
        </p:txBody>
      </p:sp>
      <p:sp>
        <p:nvSpPr>
          <p:cNvPr id="283" name="Shape 8">
            <a:extLst>
              <a:ext uri="{FF2B5EF4-FFF2-40B4-BE49-F238E27FC236}">
                <a16:creationId xmlns:a16="http://schemas.microsoft.com/office/drawing/2014/main" id="{0939C3BA-E750-117C-5D3A-3BF8B585B514}"/>
              </a:ext>
            </a:extLst>
          </p:cNvPr>
          <p:cNvSpPr/>
          <p:nvPr/>
        </p:nvSpPr>
        <p:spPr>
          <a:xfrm>
            <a:off x="4710645" y="31447700"/>
            <a:ext cx="4019550" cy="1510010"/>
          </a:xfrm>
          <a:prstGeom prst="roundRect">
            <a:avLst>
              <a:gd name="adj" fmla="val 1174"/>
            </a:avLst>
          </a:prstGeom>
          <a:solidFill>
            <a:srgbClr val="EDEBE3"/>
          </a:solidFill>
          <a:ln/>
        </p:spPr>
      </p:sp>
      <p:sp>
        <p:nvSpPr>
          <p:cNvPr id="284" name="Shape 9">
            <a:extLst>
              <a:ext uri="{FF2B5EF4-FFF2-40B4-BE49-F238E27FC236}">
                <a16:creationId xmlns:a16="http://schemas.microsoft.com/office/drawing/2014/main" id="{F3769F20-1C1A-D175-DE94-149BD37DA491}"/>
              </a:ext>
            </a:extLst>
          </p:cNvPr>
          <p:cNvSpPr/>
          <p:nvPr/>
        </p:nvSpPr>
        <p:spPr>
          <a:xfrm>
            <a:off x="4828815" y="31565869"/>
            <a:ext cx="354657" cy="354657"/>
          </a:xfrm>
          <a:prstGeom prst="roundRect">
            <a:avLst>
              <a:gd name="adj" fmla="val 16112550"/>
            </a:avLst>
          </a:prstGeom>
          <a:solidFill>
            <a:srgbClr val="28282F"/>
          </a:solidFill>
          <a:ln/>
        </p:spPr>
      </p:sp>
      <p:pic>
        <p:nvPicPr>
          <p:cNvPr id="285" name="Image 1" descr="preencoded.png">
            <a:extLst>
              <a:ext uri="{FF2B5EF4-FFF2-40B4-BE49-F238E27FC236}">
                <a16:creationId xmlns:a16="http://schemas.microsoft.com/office/drawing/2014/main" id="{D46D2F27-18A6-C5D5-8875-35AD430DA31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926372" y="31663352"/>
            <a:ext cx="159544" cy="159544"/>
          </a:xfrm>
          <a:prstGeom prst="rect">
            <a:avLst/>
          </a:prstGeom>
        </p:spPr>
      </p:pic>
      <p:sp>
        <p:nvSpPr>
          <p:cNvPr id="286" name="Text 10">
            <a:extLst>
              <a:ext uri="{FF2B5EF4-FFF2-40B4-BE49-F238E27FC236}">
                <a16:creationId xmlns:a16="http://schemas.microsoft.com/office/drawing/2014/main" id="{FD90C789-C009-998E-5F9C-24B2853B2894}"/>
              </a:ext>
            </a:extLst>
          </p:cNvPr>
          <p:cNvSpPr/>
          <p:nvPr/>
        </p:nvSpPr>
        <p:spPr>
          <a:xfrm>
            <a:off x="4828815" y="32033190"/>
            <a:ext cx="1667991" cy="184696"/>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Lembaga Pembangunan</a:t>
            </a:r>
            <a:endParaRPr lang="en-US" sz="1150" dirty="0">
              <a:latin typeface="Leelawadee UI" panose="020B0502040204020203" pitchFamily="34" charset="-34"/>
              <a:cs typeface="Leelawadee UI" panose="020B0502040204020203" pitchFamily="34" charset="-34"/>
            </a:endParaRPr>
          </a:p>
        </p:txBody>
      </p:sp>
      <p:sp>
        <p:nvSpPr>
          <p:cNvPr id="287" name="Text 11">
            <a:extLst>
              <a:ext uri="{FF2B5EF4-FFF2-40B4-BE49-F238E27FC236}">
                <a16:creationId xmlns:a16="http://schemas.microsoft.com/office/drawing/2014/main" id="{04F147DA-1287-8692-8895-3F06F8CC3351}"/>
              </a:ext>
            </a:extLst>
          </p:cNvPr>
          <p:cNvSpPr/>
          <p:nvPr/>
        </p:nvSpPr>
        <p:spPr>
          <a:xfrm>
            <a:off x="4828815" y="32285453"/>
            <a:ext cx="3783211" cy="554087"/>
          </a:xfrm>
          <a:prstGeom prst="rect">
            <a:avLst/>
          </a:prstGeom>
          <a:noFill/>
          <a:ln/>
        </p:spPr>
        <p:txBody>
          <a:bodyPr wrap="square" lIns="0" tIns="0" rIns="0" bIns="0" rtlCol="0" anchor="t">
            <a:no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UNDP KalFor — mitra pembangunan internasional yang mendukung implementasi program di lapangan dengan sumber daya teknis dan finansial.</a:t>
            </a:r>
            <a:endParaRPr lang="en-US" sz="950" dirty="0">
              <a:latin typeface="Leelawadee UI" panose="020B0502040204020203" pitchFamily="34" charset="-34"/>
              <a:cs typeface="Leelawadee UI" panose="020B0502040204020203" pitchFamily="34" charset="-34"/>
            </a:endParaRPr>
          </a:p>
        </p:txBody>
      </p:sp>
      <p:sp>
        <p:nvSpPr>
          <p:cNvPr id="288" name="Shape 12">
            <a:extLst>
              <a:ext uri="{FF2B5EF4-FFF2-40B4-BE49-F238E27FC236}">
                <a16:creationId xmlns:a16="http://schemas.microsoft.com/office/drawing/2014/main" id="{6BB1CCD8-8870-86A6-8422-19D1CFA7F235}"/>
              </a:ext>
            </a:extLst>
          </p:cNvPr>
          <p:cNvSpPr/>
          <p:nvPr/>
        </p:nvSpPr>
        <p:spPr>
          <a:xfrm>
            <a:off x="578433" y="33070373"/>
            <a:ext cx="4019550" cy="1510010"/>
          </a:xfrm>
          <a:prstGeom prst="roundRect">
            <a:avLst>
              <a:gd name="adj" fmla="val 1174"/>
            </a:avLst>
          </a:prstGeom>
          <a:solidFill>
            <a:srgbClr val="EDEBE3"/>
          </a:solidFill>
          <a:ln/>
        </p:spPr>
      </p:sp>
      <p:sp>
        <p:nvSpPr>
          <p:cNvPr id="289" name="Shape 13">
            <a:extLst>
              <a:ext uri="{FF2B5EF4-FFF2-40B4-BE49-F238E27FC236}">
                <a16:creationId xmlns:a16="http://schemas.microsoft.com/office/drawing/2014/main" id="{84FA8F05-016C-1FE8-90B9-EF2E3D7BDB89}"/>
              </a:ext>
            </a:extLst>
          </p:cNvPr>
          <p:cNvSpPr/>
          <p:nvPr/>
        </p:nvSpPr>
        <p:spPr>
          <a:xfrm>
            <a:off x="696602" y="33188542"/>
            <a:ext cx="354657" cy="354657"/>
          </a:xfrm>
          <a:prstGeom prst="roundRect">
            <a:avLst>
              <a:gd name="adj" fmla="val 16112550"/>
            </a:avLst>
          </a:prstGeom>
          <a:solidFill>
            <a:srgbClr val="28282F"/>
          </a:solidFill>
          <a:ln/>
        </p:spPr>
      </p:sp>
      <p:pic>
        <p:nvPicPr>
          <p:cNvPr id="290" name="Image 2" descr="preencoded.png">
            <a:extLst>
              <a:ext uri="{FF2B5EF4-FFF2-40B4-BE49-F238E27FC236}">
                <a16:creationId xmlns:a16="http://schemas.microsoft.com/office/drawing/2014/main" id="{A9002F88-8A39-D07F-D605-C48D16F30472}"/>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94159" y="33286025"/>
            <a:ext cx="159544" cy="159544"/>
          </a:xfrm>
          <a:prstGeom prst="rect">
            <a:avLst/>
          </a:prstGeom>
        </p:spPr>
      </p:pic>
      <p:sp>
        <p:nvSpPr>
          <p:cNvPr id="291" name="Text 14">
            <a:extLst>
              <a:ext uri="{FF2B5EF4-FFF2-40B4-BE49-F238E27FC236}">
                <a16:creationId xmlns:a16="http://schemas.microsoft.com/office/drawing/2014/main" id="{D89FFF1D-BE97-7424-52F6-5900065DFC4B}"/>
              </a:ext>
            </a:extLst>
          </p:cNvPr>
          <p:cNvSpPr/>
          <p:nvPr/>
        </p:nvSpPr>
        <p:spPr>
          <a:xfrm>
            <a:off x="696602" y="33655863"/>
            <a:ext cx="1477863" cy="184696"/>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Sektor Swasta</a:t>
            </a:r>
            <a:endParaRPr lang="en-US" sz="1150" dirty="0">
              <a:latin typeface="Leelawadee UI" panose="020B0502040204020203" pitchFamily="34" charset="-34"/>
              <a:cs typeface="Leelawadee UI" panose="020B0502040204020203" pitchFamily="34" charset="-34"/>
            </a:endParaRPr>
          </a:p>
        </p:txBody>
      </p:sp>
      <p:sp>
        <p:nvSpPr>
          <p:cNvPr id="292" name="Text 15">
            <a:extLst>
              <a:ext uri="{FF2B5EF4-FFF2-40B4-BE49-F238E27FC236}">
                <a16:creationId xmlns:a16="http://schemas.microsoft.com/office/drawing/2014/main" id="{A1EA402C-83B5-8B25-551D-FBC50028DB7C}"/>
              </a:ext>
            </a:extLst>
          </p:cNvPr>
          <p:cNvSpPr/>
          <p:nvPr/>
        </p:nvSpPr>
        <p:spPr>
          <a:xfrm>
            <a:off x="696602" y="33908126"/>
            <a:ext cx="3783211" cy="554087"/>
          </a:xfrm>
          <a:prstGeom prst="rect">
            <a:avLst/>
          </a:prstGeom>
          <a:noFill/>
          <a:ln/>
        </p:spPr>
        <p:txBody>
          <a:bodyPr wrap="square" lIns="0" tIns="0" rIns="0" bIns="0" rtlCol="0" anchor="t">
            <a:no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Kemitraan dengan pelaku usaha dan perusahaan perkebunan yang berkomitmen pada rantai pasok bertanggung jawab dan standar keberlanjutan global.</a:t>
            </a:r>
            <a:endParaRPr lang="en-US" sz="950" dirty="0">
              <a:latin typeface="Leelawadee UI" panose="020B0502040204020203" pitchFamily="34" charset="-34"/>
              <a:cs typeface="Leelawadee UI" panose="020B0502040204020203" pitchFamily="34" charset="-34"/>
            </a:endParaRPr>
          </a:p>
        </p:txBody>
      </p:sp>
      <p:sp>
        <p:nvSpPr>
          <p:cNvPr id="293" name="Shape 16">
            <a:extLst>
              <a:ext uri="{FF2B5EF4-FFF2-40B4-BE49-F238E27FC236}">
                <a16:creationId xmlns:a16="http://schemas.microsoft.com/office/drawing/2014/main" id="{5E1683DE-3599-A366-E167-5A72CA257037}"/>
              </a:ext>
            </a:extLst>
          </p:cNvPr>
          <p:cNvSpPr/>
          <p:nvPr/>
        </p:nvSpPr>
        <p:spPr>
          <a:xfrm>
            <a:off x="4710645" y="33070373"/>
            <a:ext cx="4019550" cy="1510010"/>
          </a:xfrm>
          <a:prstGeom prst="roundRect">
            <a:avLst>
              <a:gd name="adj" fmla="val 1174"/>
            </a:avLst>
          </a:prstGeom>
          <a:solidFill>
            <a:srgbClr val="EDEBE3"/>
          </a:solidFill>
          <a:ln/>
        </p:spPr>
      </p:sp>
      <p:sp>
        <p:nvSpPr>
          <p:cNvPr id="294" name="Shape 17">
            <a:extLst>
              <a:ext uri="{FF2B5EF4-FFF2-40B4-BE49-F238E27FC236}">
                <a16:creationId xmlns:a16="http://schemas.microsoft.com/office/drawing/2014/main" id="{530BA146-4A9C-9A7C-41CF-800B7F64DC27}"/>
              </a:ext>
            </a:extLst>
          </p:cNvPr>
          <p:cNvSpPr/>
          <p:nvPr/>
        </p:nvSpPr>
        <p:spPr>
          <a:xfrm>
            <a:off x="4828815" y="33188542"/>
            <a:ext cx="354657" cy="354657"/>
          </a:xfrm>
          <a:prstGeom prst="roundRect">
            <a:avLst>
              <a:gd name="adj" fmla="val 16112550"/>
            </a:avLst>
          </a:prstGeom>
          <a:solidFill>
            <a:srgbClr val="28282F"/>
          </a:solidFill>
          <a:ln/>
        </p:spPr>
      </p:sp>
      <p:pic>
        <p:nvPicPr>
          <p:cNvPr id="295" name="Image 3" descr="preencoded.png">
            <a:extLst>
              <a:ext uri="{FF2B5EF4-FFF2-40B4-BE49-F238E27FC236}">
                <a16:creationId xmlns:a16="http://schemas.microsoft.com/office/drawing/2014/main" id="{19049EDE-7258-4D0E-9D95-69A21596C303}"/>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926372" y="33286025"/>
            <a:ext cx="159544" cy="159544"/>
          </a:xfrm>
          <a:prstGeom prst="rect">
            <a:avLst/>
          </a:prstGeom>
        </p:spPr>
      </p:pic>
      <p:sp>
        <p:nvSpPr>
          <p:cNvPr id="296" name="Text 18">
            <a:extLst>
              <a:ext uri="{FF2B5EF4-FFF2-40B4-BE49-F238E27FC236}">
                <a16:creationId xmlns:a16="http://schemas.microsoft.com/office/drawing/2014/main" id="{1BE69700-6230-5D02-4BF5-CD4610DF5EDC}"/>
              </a:ext>
            </a:extLst>
          </p:cNvPr>
          <p:cNvSpPr/>
          <p:nvPr/>
        </p:nvSpPr>
        <p:spPr>
          <a:xfrm>
            <a:off x="4828815" y="33655863"/>
            <a:ext cx="1477863" cy="184696"/>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Organisasi Petani</a:t>
            </a:r>
            <a:endParaRPr lang="en-US" sz="1150" dirty="0">
              <a:latin typeface="Leelawadee UI" panose="020B0502040204020203" pitchFamily="34" charset="-34"/>
              <a:cs typeface="Leelawadee UI" panose="020B0502040204020203" pitchFamily="34" charset="-34"/>
            </a:endParaRPr>
          </a:p>
        </p:txBody>
      </p:sp>
      <p:sp>
        <p:nvSpPr>
          <p:cNvPr id="297" name="Text 19">
            <a:extLst>
              <a:ext uri="{FF2B5EF4-FFF2-40B4-BE49-F238E27FC236}">
                <a16:creationId xmlns:a16="http://schemas.microsoft.com/office/drawing/2014/main" id="{754682F0-3B07-A03D-67CC-840CC7D93FCA}"/>
              </a:ext>
            </a:extLst>
          </p:cNvPr>
          <p:cNvSpPr/>
          <p:nvPr/>
        </p:nvSpPr>
        <p:spPr>
          <a:xfrm>
            <a:off x="4828815" y="33908126"/>
            <a:ext cx="3783211" cy="554087"/>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Kelompok tani, Lembaga Desa Pengelola Hutan (LDPH), dan koperasi — mitra di tingkat tapak yang menjadi ujung tombak implementasi dan penerima manfaat program.</a:t>
            </a:r>
            <a:endParaRPr lang="en-US" sz="950" dirty="0">
              <a:latin typeface="Leelawadee UI" panose="020B0502040204020203" pitchFamily="34" charset="-34"/>
              <a:cs typeface="Leelawadee UI" panose="020B0502040204020203" pitchFamily="34" charset="-34"/>
            </a:endParaRPr>
          </a:p>
        </p:txBody>
      </p:sp>
      <p:sp>
        <p:nvSpPr>
          <p:cNvPr id="298" name="Shape 0">
            <a:extLst>
              <a:ext uri="{FF2B5EF4-FFF2-40B4-BE49-F238E27FC236}">
                <a16:creationId xmlns:a16="http://schemas.microsoft.com/office/drawing/2014/main" id="{BA7EFE21-3D1C-6F77-85D2-2279C8F61764}"/>
              </a:ext>
            </a:extLst>
          </p:cNvPr>
          <p:cNvSpPr/>
          <p:nvPr/>
        </p:nvSpPr>
        <p:spPr>
          <a:xfrm>
            <a:off x="598981" y="34861338"/>
            <a:ext cx="1320821" cy="174609"/>
          </a:xfrm>
          <a:prstGeom prst="roundRect">
            <a:avLst>
              <a:gd name="adj" fmla="val 7328"/>
            </a:avLst>
          </a:prstGeom>
          <a:solidFill>
            <a:srgbClr val="E3E3E8"/>
          </a:solidFill>
          <a:ln/>
        </p:spPr>
      </p:sp>
      <p:sp>
        <p:nvSpPr>
          <p:cNvPr id="299" name="Text 1">
            <a:extLst>
              <a:ext uri="{FF2B5EF4-FFF2-40B4-BE49-F238E27FC236}">
                <a16:creationId xmlns:a16="http://schemas.microsoft.com/office/drawing/2014/main" id="{BCEA94DB-CBAD-9C64-2395-98099ADB4460}"/>
              </a:ext>
            </a:extLst>
          </p:cNvPr>
          <p:cNvSpPr/>
          <p:nvPr/>
        </p:nvSpPr>
        <p:spPr>
          <a:xfrm>
            <a:off x="645490" y="34884556"/>
            <a:ext cx="1112416" cy="80516"/>
          </a:xfrm>
          <a:prstGeom prst="rect">
            <a:avLst/>
          </a:prstGeom>
          <a:noFill/>
          <a:ln/>
        </p:spPr>
        <p:txBody>
          <a:bodyPr wrap="none" lIns="0" tIns="0" rIns="0" bIns="0" rtlCol="0" anchor="t"/>
          <a:lstStyle/>
          <a:p>
            <a:pPr marL="0" indent="0" algn="l">
              <a:lnSpc>
                <a:spcPct val="10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INTEGRASI PROGRAM</a:t>
            </a:r>
            <a:endParaRPr lang="en-US" sz="950" dirty="0">
              <a:latin typeface="Leelawadee UI" panose="020B0502040204020203" pitchFamily="34" charset="-34"/>
              <a:cs typeface="Leelawadee UI" panose="020B0502040204020203" pitchFamily="34" charset="-34"/>
            </a:endParaRPr>
          </a:p>
        </p:txBody>
      </p:sp>
      <p:sp>
        <p:nvSpPr>
          <p:cNvPr id="300" name="Text 2">
            <a:extLst>
              <a:ext uri="{FF2B5EF4-FFF2-40B4-BE49-F238E27FC236}">
                <a16:creationId xmlns:a16="http://schemas.microsoft.com/office/drawing/2014/main" id="{C807A38F-1DAA-A71E-EABD-350B6B8E518B}"/>
              </a:ext>
            </a:extLst>
          </p:cNvPr>
          <p:cNvSpPr/>
          <p:nvPr/>
        </p:nvSpPr>
        <p:spPr>
          <a:xfrm>
            <a:off x="578110" y="35154430"/>
            <a:ext cx="5150644" cy="242292"/>
          </a:xfrm>
          <a:prstGeom prst="rect">
            <a:avLst/>
          </a:prstGeom>
          <a:noFill/>
          <a:ln/>
        </p:spPr>
        <p:txBody>
          <a:bodyPr wrap="none" lIns="0" tIns="0" rIns="0" bIns="0" rtlCol="0" anchor="t"/>
          <a:lstStyle/>
          <a:p>
            <a:pPr marL="0" indent="0" algn="l">
              <a:lnSpc>
                <a:spcPct val="104000"/>
              </a:lnSpc>
              <a:buNone/>
            </a:pPr>
            <a:r>
              <a:rPr lang="en-US" dirty="0">
                <a:solidFill>
                  <a:srgbClr val="161613"/>
                </a:solidFill>
                <a:latin typeface="Leelawadee UI" panose="020B0502040204020203" pitchFamily="34" charset="-34"/>
                <a:ea typeface="DM Sans Medium" pitchFamily="34" charset="-122"/>
                <a:cs typeface="Leelawadee UI" panose="020B0502040204020203" pitchFamily="34" charset="-34"/>
              </a:rPr>
              <a:t>Terintegrasi dengan Program Strategis YNKI Lainnya</a:t>
            </a:r>
            <a:endParaRPr lang="en-US" dirty="0">
              <a:latin typeface="Leelawadee UI" panose="020B0502040204020203" pitchFamily="34" charset="-34"/>
              <a:cs typeface="Leelawadee UI" panose="020B0502040204020203" pitchFamily="34" charset="-34"/>
            </a:endParaRPr>
          </a:p>
        </p:txBody>
      </p:sp>
      <p:sp>
        <p:nvSpPr>
          <p:cNvPr id="301" name="Text 3">
            <a:extLst>
              <a:ext uri="{FF2B5EF4-FFF2-40B4-BE49-F238E27FC236}">
                <a16:creationId xmlns:a16="http://schemas.microsoft.com/office/drawing/2014/main" id="{AF594E64-FDC3-0343-F068-9AD3ABC44C2D}"/>
              </a:ext>
            </a:extLst>
          </p:cNvPr>
          <p:cNvSpPr/>
          <p:nvPr/>
        </p:nvSpPr>
        <p:spPr>
          <a:xfrm>
            <a:off x="578110" y="35469350"/>
            <a:ext cx="7678337" cy="833031"/>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Sustainable Commodity Systems Program tidak berdiri sendiri. Program ini terintegrasi secara organik dengan empat program strategis lainnya dalam portofolio YNKI, membentuk ekosistem tata kelola lanskap yang komprehensif dan saling memperkuat:</a:t>
            </a:r>
            <a:endParaRPr lang="en-US" sz="950" dirty="0">
              <a:latin typeface="Leelawadee UI" panose="020B0502040204020203" pitchFamily="34" charset="-34"/>
              <a:cs typeface="Leelawadee UI" panose="020B0502040204020203" pitchFamily="34" charset="-34"/>
            </a:endParaRPr>
          </a:p>
        </p:txBody>
      </p:sp>
      <p:pic>
        <p:nvPicPr>
          <p:cNvPr id="302" name="Image 0" descr="preencoded.png">
            <a:extLst>
              <a:ext uri="{FF2B5EF4-FFF2-40B4-BE49-F238E27FC236}">
                <a16:creationId xmlns:a16="http://schemas.microsoft.com/office/drawing/2014/main" id="{6D050D47-E447-D6F9-E53B-B147D6381287}"/>
              </a:ext>
            </a:extLst>
          </p:cNvPr>
          <p:cNvPicPr>
            <a:picLocks noChangeAspect="1"/>
          </p:cNvPicPr>
          <p:nvPr/>
        </p:nvPicPr>
        <p:blipFill>
          <a:blip r:embed="rId22"/>
          <a:stretch>
            <a:fillRect/>
          </a:stretch>
        </p:blipFill>
        <p:spPr>
          <a:xfrm>
            <a:off x="1073029" y="36036333"/>
            <a:ext cx="6113711" cy="3412257"/>
          </a:xfrm>
          <a:prstGeom prst="rect">
            <a:avLst/>
          </a:prstGeom>
        </p:spPr>
      </p:pic>
      <p:sp>
        <p:nvSpPr>
          <p:cNvPr id="303" name="Text 4">
            <a:extLst>
              <a:ext uri="{FF2B5EF4-FFF2-40B4-BE49-F238E27FC236}">
                <a16:creationId xmlns:a16="http://schemas.microsoft.com/office/drawing/2014/main" id="{3A22B673-BAB3-E95C-31F0-6CA33C8F7FD5}"/>
              </a:ext>
            </a:extLst>
          </p:cNvPr>
          <p:cNvSpPr/>
          <p:nvPr/>
        </p:nvSpPr>
        <p:spPr>
          <a:xfrm>
            <a:off x="575295" y="39615682"/>
            <a:ext cx="7619048" cy="669558"/>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Keterpaduan ini memastikan bahwa intervensi di sektor komoditas selalu didukung oleh tata kelola yang kuat, data yang akurat, ekosistem yang sehat, serta kemitraan yang berkelanjutan — mewujudkan visi lanskap yang sehat dan komunitas yang sejahtera.</a:t>
            </a:r>
            <a:endParaRPr lang="en-US" sz="950" dirty="0">
              <a:latin typeface="Leelawadee UI" panose="020B0502040204020203" pitchFamily="34" charset="-34"/>
              <a:cs typeface="Leelawadee UI" panose="020B0502040204020203" pitchFamily="34" charset="-34"/>
            </a:endParaRPr>
          </a:p>
        </p:txBody>
      </p:sp>
      <p:sp>
        <p:nvSpPr>
          <p:cNvPr id="304" name="Shape 0">
            <a:extLst>
              <a:ext uri="{FF2B5EF4-FFF2-40B4-BE49-F238E27FC236}">
                <a16:creationId xmlns:a16="http://schemas.microsoft.com/office/drawing/2014/main" id="{2F62DBF4-9175-8972-F2C2-6273F0B4445A}"/>
              </a:ext>
            </a:extLst>
          </p:cNvPr>
          <p:cNvSpPr/>
          <p:nvPr/>
        </p:nvSpPr>
        <p:spPr>
          <a:xfrm>
            <a:off x="547145" y="40285937"/>
            <a:ext cx="1202531" cy="262130"/>
          </a:xfrm>
          <a:prstGeom prst="roundRect">
            <a:avLst>
              <a:gd name="adj" fmla="val 6383"/>
            </a:avLst>
          </a:prstGeom>
          <a:solidFill>
            <a:srgbClr val="E3E3E8"/>
          </a:solidFill>
          <a:ln/>
        </p:spPr>
      </p:sp>
      <p:sp>
        <p:nvSpPr>
          <p:cNvPr id="305" name="Text 1">
            <a:extLst>
              <a:ext uri="{FF2B5EF4-FFF2-40B4-BE49-F238E27FC236}">
                <a16:creationId xmlns:a16="http://schemas.microsoft.com/office/drawing/2014/main" id="{D5ECFBE0-7849-5064-E4D7-5DCCE988025F}"/>
              </a:ext>
            </a:extLst>
          </p:cNvPr>
          <p:cNvSpPr/>
          <p:nvPr/>
        </p:nvSpPr>
        <p:spPr>
          <a:xfrm>
            <a:off x="621560" y="40323144"/>
            <a:ext cx="1171054" cy="158800"/>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DUKUNG KAMI</a:t>
            </a:r>
            <a:endParaRPr lang="en-US" sz="950" dirty="0">
              <a:latin typeface="Leelawadee UI" panose="020B0502040204020203" pitchFamily="34" charset="-34"/>
              <a:cs typeface="Leelawadee UI" panose="020B0502040204020203" pitchFamily="34" charset="-34"/>
            </a:endParaRPr>
          </a:p>
        </p:txBody>
      </p:sp>
      <p:sp>
        <p:nvSpPr>
          <p:cNvPr id="306" name="Text 2">
            <a:extLst>
              <a:ext uri="{FF2B5EF4-FFF2-40B4-BE49-F238E27FC236}">
                <a16:creationId xmlns:a16="http://schemas.microsoft.com/office/drawing/2014/main" id="{85720BC0-443C-B121-C5F0-555BF0F0AF72}"/>
              </a:ext>
            </a:extLst>
          </p:cNvPr>
          <p:cNvSpPr/>
          <p:nvPr/>
        </p:nvSpPr>
        <p:spPr>
          <a:xfrm>
            <a:off x="547146" y="40568710"/>
            <a:ext cx="8151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Bersama Kita Wujudkan Rantai Pasok yang Adil dan Berkelanjutan</a:t>
            </a:r>
            <a:endParaRPr lang="en-US" sz="2400" dirty="0">
              <a:latin typeface="Leelawadee UI" panose="020B0502040204020203" pitchFamily="34" charset="-34"/>
              <a:cs typeface="Leelawadee UI" panose="020B0502040204020203" pitchFamily="34" charset="-34"/>
            </a:endParaRPr>
          </a:p>
        </p:txBody>
      </p:sp>
      <p:sp>
        <p:nvSpPr>
          <p:cNvPr id="307" name="Text 3">
            <a:extLst>
              <a:ext uri="{FF2B5EF4-FFF2-40B4-BE49-F238E27FC236}">
                <a16:creationId xmlns:a16="http://schemas.microsoft.com/office/drawing/2014/main" id="{6F723943-41E3-7F23-BD0C-EA1DFAB944BA}"/>
              </a:ext>
            </a:extLst>
          </p:cNvPr>
          <p:cNvSpPr/>
          <p:nvPr/>
        </p:nvSpPr>
        <p:spPr>
          <a:xfrm>
            <a:off x="547146" y="41366214"/>
            <a:ext cx="8151763" cy="1493928"/>
          </a:xfrm>
          <a:prstGeom prst="rect">
            <a:avLst/>
          </a:prstGeom>
          <a:noFill/>
          <a:ln/>
        </p:spPr>
        <p:txBody>
          <a:bodyPr wrap="square" lIns="0" tIns="0" rIns="0" bIns="0" rtlCol="0" anchor="t">
            <a:normAutofit/>
          </a:bodyPr>
          <a:lstStyle/>
          <a:p>
            <a:pPr marL="0" indent="0" algn="l">
              <a:lnSpc>
                <a:spcPct val="133000"/>
              </a:lnSpc>
              <a:spcAft>
                <a:spcPts val="1050"/>
              </a:spcAft>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Transformasi sistem komoditas adalah kunci bagi lanskap yang sehat dan masyarakat yang sejahtera. Setiap langkah menuju keterlacakan yang lebih baik, setiap petani yang memperoleh akses pasar yang adil, dan setiap hektar yang dikelola secara berkelanjutan adalah bagian dari perubahan besar yang sedang YNKI perjuangkan bersama para mitranya di Kalimantan Barat.</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Dukung upaya YNKI dalam membangun rantai pasok yang berkelanjutan, inklusif, dan berkeadilan. Bersama pemerintah, sektor swasta, komunitas lokal, dan mitra pembangunan, kita dapat menciptakan masa depan di mana komoditas dari Kalimantan Barat membawa manfaat nyata bagi manusia dan alam.</a:t>
            </a:r>
            <a:endParaRPr lang="en-US" sz="1000" dirty="0">
              <a:latin typeface="Leelawadee UI" panose="020B0502040204020203" pitchFamily="34" charset="-34"/>
              <a:cs typeface="Leelawadee UI" panose="020B0502040204020203" pitchFamily="34" charset="-34"/>
            </a:endParaRPr>
          </a:p>
        </p:txBody>
      </p:sp>
      <p:pic>
        <p:nvPicPr>
          <p:cNvPr id="308" name="Image 0" descr="preencoded.png">
            <a:hlinkClick r:id="" action="ppaction://noaction"/>
            <a:extLst>
              <a:ext uri="{FF2B5EF4-FFF2-40B4-BE49-F238E27FC236}">
                <a16:creationId xmlns:a16="http://schemas.microsoft.com/office/drawing/2014/main" id="{56258E96-8341-A552-DB28-33DEE5B501E4}"/>
              </a:ext>
            </a:extLst>
          </p:cNvPr>
          <p:cNvPicPr>
            <a:picLocks noChangeAspect="1"/>
          </p:cNvPicPr>
          <p:nvPr/>
        </p:nvPicPr>
        <p:blipFill>
          <a:blip r:embed="rId23"/>
          <a:stretch>
            <a:fillRect/>
          </a:stretch>
        </p:blipFill>
        <p:spPr>
          <a:xfrm>
            <a:off x="547146" y="42999669"/>
            <a:ext cx="1260202" cy="341114"/>
          </a:xfrm>
          <a:prstGeom prst="rect">
            <a:avLst/>
          </a:prstGeom>
        </p:spPr>
      </p:pic>
      <p:pic>
        <p:nvPicPr>
          <p:cNvPr id="309" name="Image 1" descr="preencoded.png">
            <a:hlinkClick r:id="" action="ppaction://noaction"/>
            <a:extLst>
              <a:ext uri="{FF2B5EF4-FFF2-40B4-BE49-F238E27FC236}">
                <a16:creationId xmlns:a16="http://schemas.microsoft.com/office/drawing/2014/main" id="{DFC350A1-C1B1-C301-8082-7E80F42C7A57}"/>
              </a:ext>
            </a:extLst>
          </p:cNvPr>
          <p:cNvPicPr>
            <a:picLocks noChangeAspect="1"/>
          </p:cNvPicPr>
          <p:nvPr/>
        </p:nvPicPr>
        <p:blipFill>
          <a:blip r:embed="rId24"/>
          <a:stretch>
            <a:fillRect/>
          </a:stretch>
        </p:blipFill>
        <p:spPr>
          <a:xfrm>
            <a:off x="1869335" y="42999669"/>
            <a:ext cx="1748061" cy="341114"/>
          </a:xfrm>
          <a:prstGeom prst="rect">
            <a:avLst/>
          </a:prstGeom>
        </p:spPr>
      </p:pic>
      <p:sp>
        <p:nvSpPr>
          <p:cNvPr id="320" name="Shape 0">
            <a:extLst>
              <a:ext uri="{FF2B5EF4-FFF2-40B4-BE49-F238E27FC236}">
                <a16:creationId xmlns:a16="http://schemas.microsoft.com/office/drawing/2014/main" id="{182533F9-6FA3-D33B-9383-142D8EECA991}"/>
              </a:ext>
            </a:extLst>
          </p:cNvPr>
          <p:cNvSpPr/>
          <p:nvPr/>
        </p:nvSpPr>
        <p:spPr>
          <a:xfrm>
            <a:off x="482482" y="43980050"/>
            <a:ext cx="2412281" cy="2359744"/>
          </a:xfrm>
          <a:prstGeom prst="roundRect">
            <a:avLst>
              <a:gd name="adj" fmla="val 789"/>
            </a:avLst>
          </a:prstGeom>
          <a:solidFill>
            <a:srgbClr val="28282F"/>
          </a:solidFill>
          <a:ln/>
        </p:spPr>
      </p:sp>
      <p:sp>
        <p:nvSpPr>
          <p:cNvPr id="321" name="Text 1">
            <a:extLst>
              <a:ext uri="{FF2B5EF4-FFF2-40B4-BE49-F238E27FC236}">
                <a16:creationId xmlns:a16="http://schemas.microsoft.com/office/drawing/2014/main" id="{10C8AC06-7D5B-BF57-00E4-EBC7FEA23652}"/>
              </a:ext>
            </a:extLst>
          </p:cNvPr>
          <p:cNvSpPr/>
          <p:nvPr/>
        </p:nvSpPr>
        <p:spPr>
          <a:xfrm>
            <a:off x="606456" y="44104023"/>
            <a:ext cx="216433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200" dirty="0">
              <a:latin typeface="Leelawadee UI" panose="020B0502040204020203" pitchFamily="34" charset="-34"/>
              <a:cs typeface="Leelawadee UI" panose="020B0502040204020203" pitchFamily="34" charset="-34"/>
            </a:endParaRPr>
          </a:p>
        </p:txBody>
      </p:sp>
      <p:sp>
        <p:nvSpPr>
          <p:cNvPr id="322" name="Text 2">
            <a:extLst>
              <a:ext uri="{FF2B5EF4-FFF2-40B4-BE49-F238E27FC236}">
                <a16:creationId xmlns:a16="http://schemas.microsoft.com/office/drawing/2014/main" id="{0EBE6BCA-6FCC-0CCB-BDD2-1780F0E806F3}"/>
              </a:ext>
            </a:extLst>
          </p:cNvPr>
          <p:cNvSpPr/>
          <p:nvPr/>
        </p:nvSpPr>
        <p:spPr>
          <a:xfrm>
            <a:off x="606456" y="44615695"/>
            <a:ext cx="2164333" cy="1612478"/>
          </a:xfrm>
          <a:prstGeom prst="rect">
            <a:avLst/>
          </a:prstGeom>
          <a:noFill/>
          <a:ln/>
        </p:spPr>
        <p:txBody>
          <a:bodyPr wrap="square" lIns="0" tIns="0" rIns="0" bIns="0" rtlCol="0" anchor="t"/>
          <a:lstStyle/>
          <a:p>
            <a:pPr marL="0" indent="0" algn="l">
              <a:lnSpc>
                <a:spcPct val="133000"/>
              </a:lnSpc>
              <a:spcAft>
                <a:spcPts val="850"/>
              </a:spcAft>
              <a:buNone/>
            </a:pPr>
            <a:r>
              <a:rPr lang="en-US" sz="95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950" dirty="0">
              <a:latin typeface="Leelawadee UI" panose="020B0502040204020203" pitchFamily="34" charset="-34"/>
              <a:cs typeface="Leelawadee UI" panose="020B0502040204020203" pitchFamily="34" charset="-34"/>
            </a:endParaRPr>
          </a:p>
          <a:p>
            <a:pPr marL="0" indent="0" algn="l">
              <a:lnSpc>
                <a:spcPct val="133000"/>
              </a:lnSpc>
              <a:spcAft>
                <a:spcPts val="850"/>
              </a:spcAft>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Jalan Karna Sosial, Pontianak, Kalimantan Barat 78121</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i="1"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950" dirty="0">
              <a:latin typeface="Leelawadee UI" panose="020B0502040204020203" pitchFamily="34" charset="-34"/>
              <a:cs typeface="Leelawadee UI" panose="020B0502040204020203" pitchFamily="34" charset="-34"/>
            </a:endParaRPr>
          </a:p>
        </p:txBody>
      </p:sp>
      <p:sp>
        <p:nvSpPr>
          <p:cNvPr id="323" name="Text 3">
            <a:extLst>
              <a:ext uri="{FF2B5EF4-FFF2-40B4-BE49-F238E27FC236}">
                <a16:creationId xmlns:a16="http://schemas.microsoft.com/office/drawing/2014/main" id="{1EB2A475-9C58-86FD-FA9B-DF60BA23CDB1}"/>
              </a:ext>
            </a:extLst>
          </p:cNvPr>
          <p:cNvSpPr/>
          <p:nvPr/>
        </p:nvSpPr>
        <p:spPr>
          <a:xfrm>
            <a:off x="3112796" y="44104023"/>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200" dirty="0">
              <a:latin typeface="Leelawadee UI" panose="020B0502040204020203" pitchFamily="34" charset="-34"/>
              <a:cs typeface="Leelawadee UI" panose="020B0502040204020203" pitchFamily="34" charset="-34"/>
            </a:endParaRPr>
          </a:p>
        </p:txBody>
      </p:sp>
      <p:sp>
        <p:nvSpPr>
          <p:cNvPr id="324" name="Text 4">
            <a:extLst>
              <a:ext uri="{FF2B5EF4-FFF2-40B4-BE49-F238E27FC236}">
                <a16:creationId xmlns:a16="http://schemas.microsoft.com/office/drawing/2014/main" id="{66F65FB7-D45B-97E6-9ED9-0760F6EBAB27}"/>
              </a:ext>
            </a:extLst>
          </p:cNvPr>
          <p:cNvSpPr/>
          <p:nvPr/>
        </p:nvSpPr>
        <p:spPr>
          <a:xfrm>
            <a:off x="3112796" y="44421846"/>
            <a:ext cx="1811015"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1000" dirty="0">
              <a:latin typeface="Leelawadee UI" panose="020B0502040204020203" pitchFamily="34" charset="-34"/>
              <a:cs typeface="Leelawadee UI" panose="020B0502040204020203" pitchFamily="34" charset="-34"/>
            </a:endParaRPr>
          </a:p>
        </p:txBody>
      </p:sp>
      <p:sp>
        <p:nvSpPr>
          <p:cNvPr id="325" name="Text 5">
            <a:extLst>
              <a:ext uri="{FF2B5EF4-FFF2-40B4-BE49-F238E27FC236}">
                <a16:creationId xmlns:a16="http://schemas.microsoft.com/office/drawing/2014/main" id="{DB1F6821-B42A-7C0B-EDC7-D2D169042DE2}"/>
              </a:ext>
            </a:extLst>
          </p:cNvPr>
          <p:cNvSpPr/>
          <p:nvPr/>
        </p:nvSpPr>
        <p:spPr>
          <a:xfrm>
            <a:off x="5016749" y="44125753"/>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Kontak Kami</a:t>
            </a:r>
            <a:endParaRPr lang="en-US" sz="1200" dirty="0">
              <a:latin typeface="Leelawadee UI" panose="020B0502040204020203" pitchFamily="34" charset="-34"/>
              <a:cs typeface="Leelawadee UI" panose="020B0502040204020203" pitchFamily="34" charset="-34"/>
            </a:endParaRPr>
          </a:p>
        </p:txBody>
      </p:sp>
      <p:sp>
        <p:nvSpPr>
          <p:cNvPr id="326" name="Text 6">
            <a:extLst>
              <a:ext uri="{FF2B5EF4-FFF2-40B4-BE49-F238E27FC236}">
                <a16:creationId xmlns:a16="http://schemas.microsoft.com/office/drawing/2014/main" id="{E501047C-4A93-2FE0-5210-2EB535EE5C80}"/>
              </a:ext>
            </a:extLst>
          </p:cNvPr>
          <p:cNvSpPr/>
          <p:nvPr/>
        </p:nvSpPr>
        <p:spPr>
          <a:xfrm>
            <a:off x="5016749" y="44443576"/>
            <a:ext cx="1811015" cy="1031379"/>
          </a:xfrm>
          <a:prstGeom prst="rect">
            <a:avLst/>
          </a:prstGeom>
          <a:noFill/>
          <a:ln/>
        </p:spPr>
        <p:txBody>
          <a:bodyPr wrap="square" lIns="0" tIns="0" rIns="0" bIns="0" rtlCol="0" anchor="t"/>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(Segera Hadir)</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Pontianak, Kalimantan Barat</a:t>
            </a:r>
            <a:endParaRPr lang="en-US" sz="1000" dirty="0">
              <a:latin typeface="Leelawadee UI" panose="020B0502040204020203" pitchFamily="34" charset="-34"/>
              <a:cs typeface="Leelawadee UI" panose="020B0502040204020203" pitchFamily="34" charset="-34"/>
            </a:endParaRPr>
          </a:p>
        </p:txBody>
      </p:sp>
      <p:sp>
        <p:nvSpPr>
          <p:cNvPr id="327" name="Text 7">
            <a:extLst>
              <a:ext uri="{FF2B5EF4-FFF2-40B4-BE49-F238E27FC236}">
                <a16:creationId xmlns:a16="http://schemas.microsoft.com/office/drawing/2014/main" id="{3260C8B9-BE9A-1496-6695-F8BB443A19F4}"/>
              </a:ext>
            </a:extLst>
          </p:cNvPr>
          <p:cNvSpPr/>
          <p:nvPr/>
        </p:nvSpPr>
        <p:spPr>
          <a:xfrm>
            <a:off x="6910109" y="44142158"/>
            <a:ext cx="1845469"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Ikuti Kami</a:t>
            </a:r>
            <a:endParaRPr lang="en-US" sz="1200" dirty="0">
              <a:latin typeface="Leelawadee UI" panose="020B0502040204020203" pitchFamily="34" charset="-34"/>
              <a:cs typeface="Leelawadee UI" panose="020B0502040204020203" pitchFamily="34" charset="-34"/>
            </a:endParaRPr>
          </a:p>
        </p:txBody>
      </p:sp>
      <p:sp>
        <p:nvSpPr>
          <p:cNvPr id="328" name="Text 8">
            <a:extLst>
              <a:ext uri="{FF2B5EF4-FFF2-40B4-BE49-F238E27FC236}">
                <a16:creationId xmlns:a16="http://schemas.microsoft.com/office/drawing/2014/main" id="{D4E78611-BBE5-D61C-61EE-E26F76BE45B9}"/>
              </a:ext>
            </a:extLst>
          </p:cNvPr>
          <p:cNvSpPr/>
          <p:nvPr/>
        </p:nvSpPr>
        <p:spPr>
          <a:xfrm>
            <a:off x="6940460" y="44437399"/>
            <a:ext cx="1309543" cy="682154"/>
          </a:xfrm>
          <a:prstGeom prst="rect">
            <a:avLst/>
          </a:prstGeom>
          <a:noFill/>
          <a:ln/>
        </p:spPr>
        <p:txBody>
          <a:bodyPr wrap="square" lIns="0" tIns="0" rIns="0" bIns="0" rtlCol="0" anchor="t">
            <a:normAutofit/>
          </a:bodyPr>
          <a:lstStyle/>
          <a:p>
            <a:pPr marL="180975" indent="-180975"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LinkedIn</a:t>
            </a:r>
            <a:endParaRPr lang="en-US" sz="1000" dirty="0">
              <a:latin typeface="Leelawadee UI" panose="020B0502040204020203" pitchFamily="34" charset="-34"/>
              <a:cs typeface="Leelawadee UI" panose="020B0502040204020203" pitchFamily="34" charset="-34"/>
            </a:endParaRPr>
          </a:p>
          <a:p>
            <a:pPr marL="180975" indent="-180975"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YouTube</a:t>
            </a:r>
            <a:endParaRPr lang="en-US" sz="1000" dirty="0">
              <a:latin typeface="Leelawadee UI" panose="020B0502040204020203" pitchFamily="34" charset="-34"/>
              <a:cs typeface="Leelawadee UI" panose="020B0502040204020203" pitchFamily="34" charset="-34"/>
            </a:endParaRPr>
          </a:p>
          <a:p>
            <a:pPr marL="180975" indent="-180975"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Instagram</a:t>
            </a:r>
            <a:endParaRPr lang="en-US" sz="1000" dirty="0">
              <a:latin typeface="Leelawadee UI" panose="020B0502040204020203" pitchFamily="34" charset="-34"/>
              <a:cs typeface="Leelawadee UI" panose="020B0502040204020203" pitchFamily="34" charset="-34"/>
            </a:endParaRPr>
          </a:p>
        </p:txBody>
      </p:sp>
      <p:sp>
        <p:nvSpPr>
          <p:cNvPr id="329" name="Text 9">
            <a:extLst>
              <a:ext uri="{FF2B5EF4-FFF2-40B4-BE49-F238E27FC236}">
                <a16:creationId xmlns:a16="http://schemas.microsoft.com/office/drawing/2014/main" id="{8E1973E4-D418-21CE-C172-F32756FA1AF4}"/>
              </a:ext>
            </a:extLst>
          </p:cNvPr>
          <p:cNvSpPr/>
          <p:nvPr/>
        </p:nvSpPr>
        <p:spPr>
          <a:xfrm>
            <a:off x="3271038" y="45387071"/>
            <a:ext cx="5466718" cy="738783"/>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Kebijakan Privasi</a:t>
            </a:r>
            <a:endParaRPr lang="en-US" sz="100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157664405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76</TotalTime>
  <Words>1377</Words>
  <Application>Microsoft Office PowerPoint</Application>
  <PresentationFormat>Custom</PresentationFormat>
  <Paragraphs>106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2026-06-22T10:30:10Z</dcterms:created>
  <dcterms:modified xsi:type="dcterms:W3CDTF">2026-06-22T11:46:55Z</dcterms:modified>
</cp:coreProperties>
</file>