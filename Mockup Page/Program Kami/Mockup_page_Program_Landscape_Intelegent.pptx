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8999538" cy="377999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60" d="100"/>
          <a:sy n="60" d="100"/>
        </p:scale>
        <p:origin x="558" y="-6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6186247"/>
            <a:ext cx="7649607" cy="13159987"/>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9853733"/>
            <a:ext cx="6749654" cy="9126238"/>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A0BB15-7BC5-4A5A-866B-5C75764BAAE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4172164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0BB15-7BC5-4A5A-866B-5C75764BAAE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1184978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9423752"/>
            <a:ext cx="7762102" cy="15723732"/>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5296236"/>
            <a:ext cx="7762102" cy="8268739"/>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A0BB15-7BC5-4A5A-866B-5C75764BAAE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1859065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0062490"/>
            <a:ext cx="3824804" cy="239837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0062490"/>
            <a:ext cx="3824804" cy="239837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A0BB15-7BC5-4A5A-866B-5C75764BAAE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2832402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012506"/>
            <a:ext cx="7762102" cy="730624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9266244"/>
            <a:ext cx="3807226" cy="454124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807486"/>
            <a:ext cx="3807226" cy="20308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9266244"/>
            <a:ext cx="3825976" cy="454124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807486"/>
            <a:ext cx="3825976" cy="20308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A0BB15-7BC5-4A5A-866B-5C75764BAAE2}"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148282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A0BB15-7BC5-4A5A-866B-5C75764BAAE2}"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2661265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0BB15-7BC5-4A5A-866B-5C75764BAAE2}"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41247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519998"/>
            <a:ext cx="2902585" cy="8819991"/>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442503"/>
            <a:ext cx="4556016" cy="26862474"/>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1339989"/>
            <a:ext cx="2902585" cy="21008732"/>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5AA0BB15-7BC5-4A5A-866B-5C75764BAAE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818533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519998"/>
            <a:ext cx="2902585" cy="8819991"/>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442503"/>
            <a:ext cx="4556016" cy="26862474"/>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1339989"/>
            <a:ext cx="2902585" cy="21008732"/>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5AA0BB15-7BC5-4A5A-866B-5C75764BAAE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3505763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0BB15-7BC5-4A5A-866B-5C75764BAAE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3425651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012498"/>
            <a:ext cx="1940525" cy="320337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012498"/>
            <a:ext cx="5709082" cy="320337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A0BB15-7BC5-4A5A-866B-5C75764BAAE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54DA55FE-9D69-4C77-8818-6CEA9F76FE69}" type="slidenum">
              <a:rPr lang="en-ID" smtClean="0"/>
              <a:t>‹#›</a:t>
            </a:fld>
            <a:endParaRPr lang="en-ID"/>
          </a:p>
        </p:txBody>
      </p:sp>
    </p:spTree>
    <p:extLst>
      <p:ext uri="{BB962C8B-B14F-4D97-AF65-F5344CB8AC3E}">
        <p14:creationId xmlns:p14="http://schemas.microsoft.com/office/powerpoint/2010/main" val="416941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012506"/>
            <a:ext cx="7762102" cy="730624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0062490"/>
            <a:ext cx="7762102" cy="2398372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5034974"/>
            <a:ext cx="2024896" cy="2012498"/>
          </a:xfrm>
          <a:prstGeom prst="rect">
            <a:avLst/>
          </a:prstGeom>
        </p:spPr>
        <p:txBody>
          <a:bodyPr vert="horz" lIns="91440" tIns="45720" rIns="91440" bIns="45720" rtlCol="0" anchor="ctr"/>
          <a:lstStyle>
            <a:lvl1pPr algn="l">
              <a:defRPr sz="1181">
                <a:solidFill>
                  <a:schemeClr val="tx1">
                    <a:tint val="75000"/>
                  </a:schemeClr>
                </a:solidFill>
              </a:defRPr>
            </a:lvl1pPr>
          </a:lstStyle>
          <a:p>
            <a:fld id="{5AA0BB15-7BC5-4A5A-866B-5C75764BAAE2}" type="datetimeFigureOut">
              <a:rPr lang="en-ID" smtClean="0"/>
              <a:t>22/06/2026</a:t>
            </a:fld>
            <a:endParaRPr lang="en-ID"/>
          </a:p>
        </p:txBody>
      </p:sp>
      <p:sp>
        <p:nvSpPr>
          <p:cNvPr id="5" name="Footer Placeholder 4"/>
          <p:cNvSpPr>
            <a:spLocks noGrp="1"/>
          </p:cNvSpPr>
          <p:nvPr>
            <p:ph type="ftr" sz="quarter" idx="3"/>
          </p:nvPr>
        </p:nvSpPr>
        <p:spPr>
          <a:xfrm>
            <a:off x="2981097" y="35034974"/>
            <a:ext cx="3037344" cy="2012498"/>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5034974"/>
            <a:ext cx="2024896" cy="2012498"/>
          </a:xfrm>
          <a:prstGeom prst="rect">
            <a:avLst/>
          </a:prstGeom>
        </p:spPr>
        <p:txBody>
          <a:bodyPr vert="horz" lIns="91440" tIns="45720" rIns="91440" bIns="45720" rtlCol="0" anchor="ctr"/>
          <a:lstStyle>
            <a:lvl1pPr algn="r">
              <a:defRPr sz="1181">
                <a:solidFill>
                  <a:schemeClr val="tx1">
                    <a:tint val="75000"/>
                  </a:schemeClr>
                </a:solidFill>
              </a:defRPr>
            </a:lvl1pPr>
          </a:lstStyle>
          <a:p>
            <a:fld id="{54DA55FE-9D69-4C77-8818-6CEA9F76FE69}" type="slidenum">
              <a:rPr lang="en-ID" smtClean="0"/>
              <a:t>‹#›</a:t>
            </a:fld>
            <a:endParaRPr lang="en-ID"/>
          </a:p>
        </p:txBody>
      </p:sp>
    </p:spTree>
    <p:extLst>
      <p:ext uri="{BB962C8B-B14F-4D97-AF65-F5344CB8AC3E}">
        <p14:creationId xmlns:p14="http://schemas.microsoft.com/office/powerpoint/2010/main" val="8035815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svg"/><Relationship Id="rId18" Type="http://schemas.openxmlformats.org/officeDocument/2006/relationships/image" Target="../media/image17.sv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svg"/><Relationship Id="rId12" Type="http://schemas.openxmlformats.org/officeDocument/2006/relationships/image" Target="../media/image11.svg"/><Relationship Id="rId17" Type="http://schemas.openxmlformats.org/officeDocument/2006/relationships/image" Target="../media/image16.sv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24" Type="http://schemas.openxmlformats.org/officeDocument/2006/relationships/image" Target="../media/image23.png"/><Relationship Id="rId5" Type="http://schemas.openxmlformats.org/officeDocument/2006/relationships/image" Target="../media/image4.svg"/><Relationship Id="rId15" Type="http://schemas.openxmlformats.org/officeDocument/2006/relationships/image" Target="../media/image14.svg"/><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image" Target="../media/image9.svg"/><Relationship Id="rId19" Type="http://schemas.openxmlformats.org/officeDocument/2006/relationships/image" Target="../media/image18.sv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svg"/><Relationship Id="rId22" Type="http://schemas.openxmlformats.org/officeDocument/2006/relationships/image" Target="../media/image21.png"/><Relationship Id="rId27"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Image 0" descr="preencoded.png">
            <a:extLst>
              <a:ext uri="{FF2B5EF4-FFF2-40B4-BE49-F238E27FC236}">
                <a16:creationId xmlns:a16="http://schemas.microsoft.com/office/drawing/2014/main" id="{3F22BE41-71F9-7FAA-4B08-74E6FEA40A95}"/>
              </a:ext>
            </a:extLst>
          </p:cNvPr>
          <p:cNvPicPr>
            <a:picLocks noChangeAspect="1"/>
          </p:cNvPicPr>
          <p:nvPr/>
        </p:nvPicPr>
        <p:blipFill>
          <a:blip r:embed="rId2"/>
          <a:stretch>
            <a:fillRect/>
          </a:stretch>
        </p:blipFill>
        <p:spPr>
          <a:xfrm>
            <a:off x="5715000" y="0"/>
            <a:ext cx="3289300" cy="4933950"/>
          </a:xfrm>
          <a:prstGeom prst="rect">
            <a:avLst/>
          </a:prstGeom>
        </p:spPr>
      </p:pic>
      <p:sp>
        <p:nvSpPr>
          <p:cNvPr id="166" name="Shape 0">
            <a:extLst>
              <a:ext uri="{FF2B5EF4-FFF2-40B4-BE49-F238E27FC236}">
                <a16:creationId xmlns:a16="http://schemas.microsoft.com/office/drawing/2014/main" id="{1DCE5DD2-3EB7-CF92-71F4-5F229AB7DD0C}"/>
              </a:ext>
            </a:extLst>
          </p:cNvPr>
          <p:cNvSpPr/>
          <p:nvPr/>
        </p:nvSpPr>
        <p:spPr>
          <a:xfrm>
            <a:off x="496119" y="428774"/>
            <a:ext cx="626566" cy="242739"/>
          </a:xfrm>
          <a:prstGeom prst="roundRect">
            <a:avLst>
              <a:gd name="adj" fmla="val 6132"/>
            </a:avLst>
          </a:prstGeom>
          <a:noFill/>
          <a:ln w="4763">
            <a:solidFill>
              <a:srgbClr val="28282F"/>
            </a:solidFill>
            <a:prstDash val="solid"/>
          </a:ln>
        </p:spPr>
      </p:sp>
      <p:sp>
        <p:nvSpPr>
          <p:cNvPr id="167" name="Text 1">
            <a:extLst>
              <a:ext uri="{FF2B5EF4-FFF2-40B4-BE49-F238E27FC236}">
                <a16:creationId xmlns:a16="http://schemas.microsoft.com/office/drawing/2014/main" id="{CFD6BBDE-A8A6-1D83-69D0-4E687399AF91}"/>
              </a:ext>
            </a:extLst>
          </p:cNvPr>
          <p:cNvSpPr/>
          <p:nvPr/>
        </p:nvSpPr>
        <p:spPr>
          <a:xfrm>
            <a:off x="575295" y="470743"/>
            <a:ext cx="925413"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BERANDA</a:t>
            </a:r>
            <a:endParaRPr lang="en-US" sz="750" dirty="0">
              <a:latin typeface="Leelawadee UI" panose="020B0502040204020203" pitchFamily="34" charset="-34"/>
              <a:cs typeface="Leelawadee UI" panose="020B0502040204020203" pitchFamily="34" charset="-34"/>
            </a:endParaRPr>
          </a:p>
        </p:txBody>
      </p:sp>
      <p:sp>
        <p:nvSpPr>
          <p:cNvPr id="168" name="Shape 2">
            <a:extLst>
              <a:ext uri="{FF2B5EF4-FFF2-40B4-BE49-F238E27FC236}">
                <a16:creationId xmlns:a16="http://schemas.microsoft.com/office/drawing/2014/main" id="{20115449-7A6F-39CE-F9F6-2DF4FDE7DB37}"/>
              </a:ext>
            </a:extLst>
          </p:cNvPr>
          <p:cNvSpPr/>
          <p:nvPr/>
        </p:nvSpPr>
        <p:spPr>
          <a:xfrm>
            <a:off x="1184672" y="428774"/>
            <a:ext cx="936575" cy="242739"/>
          </a:xfrm>
          <a:prstGeom prst="roundRect">
            <a:avLst>
              <a:gd name="adj" fmla="val 6132"/>
            </a:avLst>
          </a:prstGeom>
          <a:noFill/>
          <a:ln w="4763">
            <a:solidFill>
              <a:srgbClr val="28282F"/>
            </a:solidFill>
            <a:prstDash val="solid"/>
          </a:ln>
        </p:spPr>
      </p:sp>
      <p:sp>
        <p:nvSpPr>
          <p:cNvPr id="169" name="Text 3">
            <a:extLst>
              <a:ext uri="{FF2B5EF4-FFF2-40B4-BE49-F238E27FC236}">
                <a16:creationId xmlns:a16="http://schemas.microsoft.com/office/drawing/2014/main" id="{386E4E89-A12B-7B85-44BF-0F97CC4BF097}"/>
              </a:ext>
            </a:extLst>
          </p:cNvPr>
          <p:cNvSpPr/>
          <p:nvPr/>
        </p:nvSpPr>
        <p:spPr>
          <a:xfrm>
            <a:off x="1263848" y="470743"/>
            <a:ext cx="123542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PROGRAM KAMI</a:t>
            </a:r>
            <a:endParaRPr lang="en-US" sz="750" dirty="0">
              <a:latin typeface="Leelawadee UI" panose="020B0502040204020203" pitchFamily="34" charset="-34"/>
              <a:cs typeface="Leelawadee UI" panose="020B0502040204020203" pitchFamily="34" charset="-34"/>
            </a:endParaRPr>
          </a:p>
        </p:txBody>
      </p:sp>
      <p:sp>
        <p:nvSpPr>
          <p:cNvPr id="170" name="Shape 4">
            <a:extLst>
              <a:ext uri="{FF2B5EF4-FFF2-40B4-BE49-F238E27FC236}">
                <a16:creationId xmlns:a16="http://schemas.microsoft.com/office/drawing/2014/main" id="{89C47564-21BE-76F2-6C7F-083BB0AA8B68}"/>
              </a:ext>
            </a:extLst>
          </p:cNvPr>
          <p:cNvSpPr/>
          <p:nvPr/>
        </p:nvSpPr>
        <p:spPr>
          <a:xfrm>
            <a:off x="2183234" y="433536"/>
            <a:ext cx="2735535" cy="233214"/>
          </a:xfrm>
          <a:prstGeom prst="roundRect">
            <a:avLst>
              <a:gd name="adj" fmla="val 6383"/>
            </a:avLst>
          </a:prstGeom>
          <a:solidFill>
            <a:srgbClr val="E3E3E8"/>
          </a:solidFill>
          <a:ln/>
        </p:spPr>
      </p:sp>
      <p:sp>
        <p:nvSpPr>
          <p:cNvPr id="171" name="Text 5">
            <a:extLst>
              <a:ext uri="{FF2B5EF4-FFF2-40B4-BE49-F238E27FC236}">
                <a16:creationId xmlns:a16="http://schemas.microsoft.com/office/drawing/2014/main" id="{C8571309-DD3A-33F0-EDDA-8E457469A150}"/>
              </a:ext>
            </a:extLst>
          </p:cNvPr>
          <p:cNvSpPr/>
          <p:nvPr/>
        </p:nvSpPr>
        <p:spPr>
          <a:xfrm>
            <a:off x="2257648" y="470743"/>
            <a:ext cx="3043907" cy="158800"/>
          </a:xfrm>
          <a:prstGeom prst="rect">
            <a:avLst/>
          </a:prstGeom>
          <a:noFill/>
          <a:ln/>
        </p:spPr>
        <p:txBody>
          <a:bodyPr wrap="none" lIns="0" tIns="0" rIns="0" bIns="0" rtlCol="0" anchor="t"/>
          <a:lstStyle/>
          <a:p>
            <a:pPr marL="0" indent="0" algn="l">
              <a:lnSpc>
                <a:spcPct val="133000"/>
              </a:lnSpc>
              <a:buNone/>
            </a:pPr>
            <a:r>
              <a:rPr lang="en-US" sz="750" dirty="0">
                <a:solidFill>
                  <a:srgbClr val="161613"/>
                </a:solidFill>
                <a:latin typeface="Leelawadee UI" panose="020B0502040204020203" pitchFamily="34" charset="-34"/>
                <a:ea typeface="Inter" pitchFamily="34" charset="-122"/>
                <a:cs typeface="Leelawadee UI" panose="020B0502040204020203" pitchFamily="34" charset="-34"/>
              </a:rPr>
              <a:t>LANDSCAPE INTELLIGENCE &amp; INNOVATION PROGRAM</a:t>
            </a:r>
            <a:endParaRPr lang="en-US" sz="750" dirty="0">
              <a:latin typeface="Leelawadee UI" panose="020B0502040204020203" pitchFamily="34" charset="-34"/>
              <a:cs typeface="Leelawadee UI" panose="020B0502040204020203" pitchFamily="34" charset="-34"/>
            </a:endParaRPr>
          </a:p>
        </p:txBody>
      </p:sp>
      <p:sp>
        <p:nvSpPr>
          <p:cNvPr id="172" name="Text 6">
            <a:extLst>
              <a:ext uri="{FF2B5EF4-FFF2-40B4-BE49-F238E27FC236}">
                <a16:creationId xmlns:a16="http://schemas.microsoft.com/office/drawing/2014/main" id="{D35CF82C-187D-2BCD-1439-DBF8BD6AEACE}"/>
              </a:ext>
            </a:extLst>
          </p:cNvPr>
          <p:cNvSpPr/>
          <p:nvPr/>
        </p:nvSpPr>
        <p:spPr>
          <a:xfrm>
            <a:off x="496119" y="1073276"/>
            <a:ext cx="4722763" cy="1693589"/>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Landscape Intelligence &amp; Innovation Program: </a:t>
            </a:r>
          </a:p>
          <a:p>
            <a:pPr marL="0" indent="0" algn="l">
              <a:lnSpc>
                <a:spcPct val="104000"/>
              </a:lnSpc>
              <a:buNone/>
            </a:pP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Pengetahuan</a:t>
            </a: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 dan Inovasi untuk Tata Kelola Lanskap Berbasis Bukti</a:t>
            </a:r>
            <a:endParaRPr lang="en-US" sz="2400" dirty="0">
              <a:latin typeface="Leelawadee UI" panose="020B0502040204020203" pitchFamily="34" charset="-34"/>
              <a:cs typeface="Leelawadee UI" panose="020B0502040204020203" pitchFamily="34" charset="-34"/>
            </a:endParaRPr>
          </a:p>
        </p:txBody>
      </p:sp>
      <p:sp>
        <p:nvSpPr>
          <p:cNvPr id="173" name="Text 7">
            <a:extLst>
              <a:ext uri="{FF2B5EF4-FFF2-40B4-BE49-F238E27FC236}">
                <a16:creationId xmlns:a16="http://schemas.microsoft.com/office/drawing/2014/main" id="{36160B94-F6F5-2A92-C7DF-ECA6BE17BCC6}"/>
              </a:ext>
            </a:extLst>
          </p:cNvPr>
          <p:cNvSpPr/>
          <p:nvPr/>
        </p:nvSpPr>
        <p:spPr>
          <a:xfrm>
            <a:off x="496119" y="2844850"/>
            <a:ext cx="4722763" cy="1389236"/>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Transformasi lanskap memerlukan data yang kredibel, pembelajaran berkelanjutan, dan inovasi yang dapat diakses oleh berbagai pihak. Program ini dirancang untuk menghasilkan pengetahuan, data, teknologi, dan pembelajaran yang mendukung pengambilan keputusan berbasis bukti dalam tata kelola lanskap. YNKI memanfaatkan teknologi GIS, penginderaan jauh, dan sistem informasi untuk membangun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landscape intelligence</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bagi perubahan yang berkelanjutan.</a:t>
            </a:r>
            <a:endParaRPr lang="en-US" sz="1050" dirty="0">
              <a:latin typeface="Leelawadee UI" panose="020B0502040204020203" pitchFamily="34" charset="-34"/>
              <a:cs typeface="Leelawadee UI" panose="020B0502040204020203" pitchFamily="34" charset="-34"/>
            </a:endParaRPr>
          </a:p>
        </p:txBody>
      </p:sp>
      <p:pic>
        <p:nvPicPr>
          <p:cNvPr id="174" name="Image 1" descr="preencoded.png">
            <a:hlinkClick r:id="" action="ppaction://noaction"/>
            <a:extLst>
              <a:ext uri="{FF2B5EF4-FFF2-40B4-BE49-F238E27FC236}">
                <a16:creationId xmlns:a16="http://schemas.microsoft.com/office/drawing/2014/main" id="{A09081BD-76B4-7A9F-8457-EFF56DB4468E}"/>
              </a:ext>
            </a:extLst>
          </p:cNvPr>
          <p:cNvPicPr>
            <a:picLocks noChangeAspect="1"/>
          </p:cNvPicPr>
          <p:nvPr/>
        </p:nvPicPr>
        <p:blipFill>
          <a:blip r:embed="rId3"/>
          <a:stretch>
            <a:fillRect/>
          </a:stretch>
        </p:blipFill>
        <p:spPr>
          <a:xfrm>
            <a:off x="489745" y="4453384"/>
            <a:ext cx="1748061" cy="341114"/>
          </a:xfrm>
          <a:prstGeom prst="rect">
            <a:avLst/>
          </a:prstGeom>
        </p:spPr>
      </p:pic>
      <p:pic>
        <p:nvPicPr>
          <p:cNvPr id="175" name="Image 2" descr="preencoded.png">
            <a:hlinkClick r:id="" action="ppaction://noaction"/>
            <a:extLst>
              <a:ext uri="{FF2B5EF4-FFF2-40B4-BE49-F238E27FC236}">
                <a16:creationId xmlns:a16="http://schemas.microsoft.com/office/drawing/2014/main" id="{E5AC942E-B13C-1A16-DA3D-C9334CB30767}"/>
              </a:ext>
            </a:extLst>
          </p:cNvPr>
          <p:cNvPicPr>
            <a:picLocks noChangeAspect="1"/>
          </p:cNvPicPr>
          <p:nvPr/>
        </p:nvPicPr>
        <p:blipFill>
          <a:blip r:embed="rId4"/>
          <a:stretch>
            <a:fillRect/>
          </a:stretch>
        </p:blipFill>
        <p:spPr>
          <a:xfrm>
            <a:off x="2299792" y="4453384"/>
            <a:ext cx="1073572" cy="341114"/>
          </a:xfrm>
          <a:prstGeom prst="rect">
            <a:avLst/>
          </a:prstGeom>
        </p:spPr>
      </p:pic>
      <p:sp>
        <p:nvSpPr>
          <p:cNvPr id="176" name="Text 0">
            <a:extLst>
              <a:ext uri="{FF2B5EF4-FFF2-40B4-BE49-F238E27FC236}">
                <a16:creationId xmlns:a16="http://schemas.microsoft.com/office/drawing/2014/main" id="{E2DAB413-C4FD-2E77-24A3-CF33EB3CF52B}"/>
              </a:ext>
            </a:extLst>
          </p:cNvPr>
          <p:cNvSpPr/>
          <p:nvPr/>
        </p:nvSpPr>
        <p:spPr>
          <a:xfrm>
            <a:off x="2454621" y="5623305"/>
            <a:ext cx="4053483" cy="193849"/>
          </a:xfrm>
          <a:prstGeom prst="rect">
            <a:avLst/>
          </a:prstGeom>
          <a:noFill/>
          <a:ln/>
        </p:spPr>
        <p:txBody>
          <a:bodyPr wrap="none" lIns="0" tIns="0" rIns="0" bIns="0" rtlCol="0" anchor="t"/>
          <a:lstStyle/>
          <a:p>
            <a:pPr marL="0" indent="0" algn="ctr">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Yayasan Natural Kapital Indonesia · Nature for Life</a:t>
            </a:r>
            <a:endParaRPr lang="en-US" sz="1200" dirty="0">
              <a:latin typeface="Leelawadee UI" panose="020B0502040204020203" pitchFamily="34" charset="-34"/>
              <a:cs typeface="Leelawadee UI" panose="020B0502040204020203" pitchFamily="34" charset="-34"/>
            </a:endParaRPr>
          </a:p>
        </p:txBody>
      </p:sp>
      <p:sp>
        <p:nvSpPr>
          <p:cNvPr id="177" name="Text 1">
            <a:extLst>
              <a:ext uri="{FF2B5EF4-FFF2-40B4-BE49-F238E27FC236}">
                <a16:creationId xmlns:a16="http://schemas.microsoft.com/office/drawing/2014/main" id="{748F21BE-66CD-A01C-34DB-B42CC5AD8A1C}"/>
              </a:ext>
            </a:extLst>
          </p:cNvPr>
          <p:cNvSpPr/>
          <p:nvPr/>
        </p:nvSpPr>
        <p:spPr>
          <a:xfrm>
            <a:off x="2807456" y="6006629"/>
            <a:ext cx="3558332" cy="387548"/>
          </a:xfrm>
          <a:prstGeom prst="rect">
            <a:avLst/>
          </a:prstGeom>
          <a:noFill/>
          <a:ln/>
        </p:spPr>
        <p:txBody>
          <a:bodyPr wrap="none" lIns="0" tIns="0" rIns="0" bIns="0" rtlCol="0" anchor="t"/>
          <a:lstStyle/>
          <a:p>
            <a:pPr marL="0" indent="0" algn="ctr">
              <a:lnSpc>
                <a:spcPct val="104000"/>
              </a:lnSpc>
              <a:buNone/>
            </a:pPr>
            <a:r>
              <a:rPr lang="en-US" sz="2400" dirty="0" err="1">
                <a:solidFill>
                  <a:srgbClr val="161613"/>
                </a:solidFill>
                <a:latin typeface="Leelawadee UI" panose="020B0502040204020203" pitchFamily="34" charset="-34"/>
                <a:ea typeface="DM Sans Medium" pitchFamily="34" charset="-122"/>
                <a:cs typeface="Leelawadee UI" panose="020B0502040204020203" pitchFamily="34" charset="-34"/>
              </a:rPr>
              <a:t>Tentang</a:t>
            </a: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 Program</a:t>
            </a:r>
            <a:endParaRPr lang="en-US" sz="2400" dirty="0">
              <a:latin typeface="Leelawadee UI" panose="020B0502040204020203" pitchFamily="34" charset="-34"/>
              <a:cs typeface="Leelawadee UI" panose="020B0502040204020203" pitchFamily="34" charset="-34"/>
            </a:endParaRPr>
          </a:p>
        </p:txBody>
      </p:sp>
      <p:sp>
        <p:nvSpPr>
          <p:cNvPr id="178" name="Shape 2">
            <a:extLst>
              <a:ext uri="{FF2B5EF4-FFF2-40B4-BE49-F238E27FC236}">
                <a16:creationId xmlns:a16="http://schemas.microsoft.com/office/drawing/2014/main" id="{3850E998-CB75-2BEB-083C-AAB3B4A2E4FC}"/>
              </a:ext>
            </a:extLst>
          </p:cNvPr>
          <p:cNvSpPr/>
          <p:nvPr/>
        </p:nvSpPr>
        <p:spPr>
          <a:xfrm>
            <a:off x="607442" y="6390977"/>
            <a:ext cx="14288" cy="879128"/>
          </a:xfrm>
          <a:prstGeom prst="roundRect">
            <a:avLst>
              <a:gd name="adj" fmla="val 59998"/>
            </a:avLst>
          </a:prstGeom>
          <a:solidFill>
            <a:srgbClr val="28282F"/>
          </a:solidFill>
          <a:ln/>
        </p:spPr>
      </p:sp>
      <p:sp>
        <p:nvSpPr>
          <p:cNvPr id="179" name="Text 3">
            <a:extLst>
              <a:ext uri="{FF2B5EF4-FFF2-40B4-BE49-F238E27FC236}">
                <a16:creationId xmlns:a16="http://schemas.microsoft.com/office/drawing/2014/main" id="{730A20B9-CDC8-930F-E56B-1AFC8FD9A76C}"/>
              </a:ext>
            </a:extLst>
          </p:cNvPr>
          <p:cNvSpPr/>
          <p:nvPr/>
        </p:nvSpPr>
        <p:spPr>
          <a:xfrm>
            <a:off x="793477" y="6530503"/>
            <a:ext cx="7965728" cy="600149"/>
          </a:xfrm>
          <a:prstGeom prst="rect">
            <a:avLst/>
          </a:prstGeom>
          <a:noFill/>
          <a:ln/>
        </p:spPr>
        <p:txBody>
          <a:bodyPr wrap="square" lIns="0" tIns="0" rIns="0" bIns="0" rtlCol="0" anchor="t">
            <a:normAutofit lnSpcReduction="10000"/>
          </a:bodyPr>
          <a:lstStyle/>
          <a:p>
            <a:pPr marL="0" indent="0" algn="l">
              <a:lnSpc>
                <a:spcPct val="133000"/>
              </a:lnSpc>
              <a:buNone/>
            </a:pPr>
            <a:r>
              <a:rPr lang="en-US" sz="10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Menghasilkan pengetahuan, data, teknologi, dan pembelajaran yang mendukung pengambilan keputusan berbasis bukti dalam tata kelola lanskap melalui pemanfaatan inovasi digital, sistem informasi geografis (GIS), penginderaan jauh, dan pengelolaan pengetahuan yang terintegrasi.</a:t>
            </a:r>
            <a:endParaRPr lang="en-US" sz="1050" dirty="0">
              <a:latin typeface="Leelawadee UI" panose="020B0502040204020203" pitchFamily="34" charset="-34"/>
              <a:cs typeface="Leelawadee UI" panose="020B0502040204020203" pitchFamily="34" charset="-34"/>
            </a:endParaRPr>
          </a:p>
        </p:txBody>
      </p:sp>
      <p:sp>
        <p:nvSpPr>
          <p:cNvPr id="180" name="Shape 4">
            <a:extLst>
              <a:ext uri="{FF2B5EF4-FFF2-40B4-BE49-F238E27FC236}">
                <a16:creationId xmlns:a16="http://schemas.microsoft.com/office/drawing/2014/main" id="{12A8EF4D-7AF6-3094-54E7-3C44F078B0AC}"/>
              </a:ext>
            </a:extLst>
          </p:cNvPr>
          <p:cNvSpPr/>
          <p:nvPr/>
        </p:nvSpPr>
        <p:spPr>
          <a:xfrm>
            <a:off x="518145" y="7409706"/>
            <a:ext cx="4103191" cy="1545729"/>
          </a:xfrm>
          <a:prstGeom prst="roundRect">
            <a:avLst>
              <a:gd name="adj" fmla="val 1204"/>
            </a:avLst>
          </a:prstGeom>
          <a:solidFill>
            <a:srgbClr val="28282F"/>
          </a:solidFill>
          <a:ln/>
        </p:spPr>
      </p:sp>
      <p:sp>
        <p:nvSpPr>
          <p:cNvPr id="181" name="Text 5">
            <a:extLst>
              <a:ext uri="{FF2B5EF4-FFF2-40B4-BE49-F238E27FC236}">
                <a16:creationId xmlns:a16="http://schemas.microsoft.com/office/drawing/2014/main" id="{6F1FBB30-58A7-2A54-E861-5F217A2C11FF}"/>
              </a:ext>
            </a:extLst>
          </p:cNvPr>
          <p:cNvSpPr/>
          <p:nvPr/>
        </p:nvSpPr>
        <p:spPr>
          <a:xfrm>
            <a:off x="642119" y="7533679"/>
            <a:ext cx="2778398" cy="193849"/>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Apa itu Landscape Intelligence?</a:t>
            </a:r>
            <a:endParaRPr lang="en-US" sz="1200" dirty="0">
              <a:latin typeface="Leelawadee UI" panose="020B0502040204020203" pitchFamily="34" charset="-34"/>
              <a:cs typeface="Leelawadee UI" panose="020B0502040204020203" pitchFamily="34" charset="-34"/>
            </a:endParaRPr>
          </a:p>
        </p:txBody>
      </p:sp>
      <p:sp>
        <p:nvSpPr>
          <p:cNvPr id="182" name="Text 6">
            <a:extLst>
              <a:ext uri="{FF2B5EF4-FFF2-40B4-BE49-F238E27FC236}">
                <a16:creationId xmlns:a16="http://schemas.microsoft.com/office/drawing/2014/main" id="{8BC82486-378C-2BBC-FAF1-4906C69E9A31}"/>
              </a:ext>
            </a:extLst>
          </p:cNvPr>
          <p:cNvSpPr/>
          <p:nvPr/>
        </p:nvSpPr>
        <p:spPr>
          <a:xfrm>
            <a:off x="642119" y="7851502"/>
            <a:ext cx="3855244"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Landscape Intelligence adalah sebuah sistem pengetahuan terpadu yang mengintegrasikan data spasial, riset lapangan, dan pembelajaran lintas pemangku kepentingan untuk menghasilkan wawasan strategis bagi pengelolaan lanskap yang efektif, adil, dan berkelanjutan.</a:t>
            </a:r>
            <a:endParaRPr lang="en-US" sz="950" dirty="0">
              <a:latin typeface="Leelawadee UI" panose="020B0502040204020203" pitchFamily="34" charset="-34"/>
              <a:cs typeface="Leelawadee UI" panose="020B0502040204020203" pitchFamily="34" charset="-34"/>
            </a:endParaRPr>
          </a:p>
        </p:txBody>
      </p:sp>
      <p:sp>
        <p:nvSpPr>
          <p:cNvPr id="183" name="Text 7">
            <a:extLst>
              <a:ext uri="{FF2B5EF4-FFF2-40B4-BE49-F238E27FC236}">
                <a16:creationId xmlns:a16="http://schemas.microsoft.com/office/drawing/2014/main" id="{604DA820-D2A2-3456-80FB-242A14DCBE16}"/>
              </a:ext>
            </a:extLst>
          </p:cNvPr>
          <p:cNvSpPr/>
          <p:nvPr/>
        </p:nvSpPr>
        <p:spPr>
          <a:xfrm>
            <a:off x="4839369" y="753367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Pendekatan Utama</a:t>
            </a:r>
            <a:endParaRPr lang="en-US" sz="1200" dirty="0">
              <a:latin typeface="Leelawadee UI" panose="020B0502040204020203" pitchFamily="34" charset="-34"/>
              <a:cs typeface="Leelawadee UI" panose="020B0502040204020203" pitchFamily="34" charset="-34"/>
            </a:endParaRPr>
          </a:p>
        </p:txBody>
      </p:sp>
      <p:sp>
        <p:nvSpPr>
          <p:cNvPr id="184" name="Text 8">
            <a:extLst>
              <a:ext uri="{FF2B5EF4-FFF2-40B4-BE49-F238E27FC236}">
                <a16:creationId xmlns:a16="http://schemas.microsoft.com/office/drawing/2014/main" id="{2886610C-B61E-EEAD-DE53-729E7A0C2AE4}"/>
              </a:ext>
            </a:extLst>
          </p:cNvPr>
          <p:cNvSpPr/>
          <p:nvPr/>
        </p:nvSpPr>
        <p:spPr>
          <a:xfrm>
            <a:off x="4839369" y="7851502"/>
            <a:ext cx="3924598"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Inovasi digital dan teknologi geospasial</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Pengelolaan pengetahuan yang sistematis dan berkelanjutan</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Integrasi data ilmiah dan pengetahuan lokal</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Platform data terbuka untuk multi-pemangku kepentingan</a:t>
            </a:r>
            <a:endParaRPr lang="en-US" sz="950" dirty="0">
              <a:latin typeface="Leelawadee UI" panose="020B0502040204020203" pitchFamily="34" charset="-34"/>
              <a:cs typeface="Leelawadee UI" panose="020B0502040204020203" pitchFamily="34" charset="-34"/>
            </a:endParaRPr>
          </a:p>
        </p:txBody>
      </p:sp>
      <p:sp>
        <p:nvSpPr>
          <p:cNvPr id="185" name="Text 0">
            <a:extLst>
              <a:ext uri="{FF2B5EF4-FFF2-40B4-BE49-F238E27FC236}">
                <a16:creationId xmlns:a16="http://schemas.microsoft.com/office/drawing/2014/main" id="{E660DB2E-621E-418A-BC7E-0D658510F394}"/>
              </a:ext>
            </a:extLst>
          </p:cNvPr>
          <p:cNvSpPr/>
          <p:nvPr/>
        </p:nvSpPr>
        <p:spPr>
          <a:xfrm>
            <a:off x="517922" y="9283154"/>
            <a:ext cx="4586957" cy="363364"/>
          </a:xfrm>
          <a:prstGeom prst="rect">
            <a:avLst/>
          </a:prstGeom>
          <a:noFill/>
          <a:ln/>
        </p:spPr>
        <p:txBody>
          <a:bodyPr wrap="none" lIns="0" tIns="0" rIns="0" bIns="0" rtlCol="0" anchor="t"/>
          <a:lstStyle/>
          <a:p>
            <a:pPr marL="0" indent="0" algn="l">
              <a:lnSpc>
                <a:spcPct val="104000"/>
              </a:lnSpc>
              <a:buNone/>
            </a:pPr>
            <a:r>
              <a:rPr lang="en-US" sz="2250" dirty="0">
                <a:solidFill>
                  <a:srgbClr val="161613"/>
                </a:solidFill>
                <a:latin typeface="Leelawadee UI" panose="020B0502040204020203" pitchFamily="34" charset="-34"/>
                <a:ea typeface="DM Sans Medium" pitchFamily="34" charset="-122"/>
                <a:cs typeface="Leelawadee UI" panose="020B0502040204020203" pitchFamily="34" charset="-34"/>
              </a:rPr>
              <a:t>Mengapa Program Ini Penting?</a:t>
            </a:r>
            <a:endParaRPr lang="en-US" sz="2250" dirty="0">
              <a:latin typeface="Leelawadee UI" panose="020B0502040204020203" pitchFamily="34" charset="-34"/>
              <a:cs typeface="Leelawadee UI" panose="020B0502040204020203" pitchFamily="34" charset="-34"/>
            </a:endParaRPr>
          </a:p>
        </p:txBody>
      </p:sp>
      <p:sp>
        <p:nvSpPr>
          <p:cNvPr id="186" name="Text 1">
            <a:extLst>
              <a:ext uri="{FF2B5EF4-FFF2-40B4-BE49-F238E27FC236}">
                <a16:creationId xmlns:a16="http://schemas.microsoft.com/office/drawing/2014/main" id="{C060B786-BA7A-425F-3B7B-283868B1D8D2}"/>
              </a:ext>
            </a:extLst>
          </p:cNvPr>
          <p:cNvSpPr/>
          <p:nvPr/>
        </p:nvSpPr>
        <p:spPr>
          <a:xfrm>
            <a:off x="517922" y="9864551"/>
            <a:ext cx="8151763" cy="720923"/>
          </a:xfrm>
          <a:prstGeom prst="rect">
            <a:avLst/>
          </a:prstGeom>
          <a:noFill/>
          <a:ln/>
        </p:spPr>
        <p:txBody>
          <a:bodyPr wrap="square" lIns="0" tIns="0" rIns="0" bIns="0" rtlCol="0" anchor="t">
            <a:normAutofit/>
          </a:bodyPr>
          <a:lstStyle/>
          <a:p>
            <a:pPr marL="0" indent="0" algn="l">
              <a:lnSpc>
                <a:spcPct val="129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Transformasi lanskap membutuhkan keputusan yang didasarkan pada bukti, pembelajaran, dan inovasi. Sayangnya, banyak kebijakan dan intervensi pembangunan masih dibuat tanpa data yang memadai—baik mengenai kondisi ekologis, sosial, maupun ekonomi di tingkat lanskap. Data yang tidak akurat, pengetahuan yang hilang ketika proyek berakhir, dan minimnya akses terhadap teknologi menjadi hambatan utama dalam pengelolaan lanskap yang efektif.</a:t>
            </a:r>
            <a:endParaRPr lang="en-US" sz="900" dirty="0">
              <a:latin typeface="Leelawadee UI" panose="020B0502040204020203" pitchFamily="34" charset="-34"/>
              <a:cs typeface="Leelawadee UI" panose="020B0502040204020203" pitchFamily="34" charset="-34"/>
            </a:endParaRPr>
          </a:p>
        </p:txBody>
      </p:sp>
      <p:pic>
        <p:nvPicPr>
          <p:cNvPr id="187" name="Image 0" descr="preencoded.png">
            <a:extLst>
              <a:ext uri="{FF2B5EF4-FFF2-40B4-BE49-F238E27FC236}">
                <a16:creationId xmlns:a16="http://schemas.microsoft.com/office/drawing/2014/main" id="{6DAEE3C4-15DE-07A4-105B-8D05D22399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3634" y="10708109"/>
            <a:ext cx="2658814" cy="1951360"/>
          </a:xfrm>
          <a:prstGeom prst="rect">
            <a:avLst/>
          </a:prstGeom>
        </p:spPr>
      </p:pic>
      <p:sp>
        <p:nvSpPr>
          <p:cNvPr id="188" name="Text 2">
            <a:extLst>
              <a:ext uri="{FF2B5EF4-FFF2-40B4-BE49-F238E27FC236}">
                <a16:creationId xmlns:a16="http://schemas.microsoft.com/office/drawing/2014/main" id="{A4A05DEA-23A0-7F4E-7411-AC8FBF44688A}"/>
              </a:ext>
            </a:extLst>
          </p:cNvPr>
          <p:cNvSpPr/>
          <p:nvPr/>
        </p:nvSpPr>
        <p:spPr>
          <a:xfrm>
            <a:off x="691306" y="10838631"/>
            <a:ext cx="2189038" cy="181645"/>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Kesenjangan Data yang Kritis</a:t>
            </a:r>
            <a:endParaRPr lang="en-US" sz="1100" dirty="0">
              <a:latin typeface="Leelawadee UI" panose="020B0502040204020203" pitchFamily="34" charset="-34"/>
              <a:cs typeface="Leelawadee UI" panose="020B0502040204020203" pitchFamily="34" charset="-34"/>
            </a:endParaRPr>
          </a:p>
        </p:txBody>
      </p:sp>
      <p:sp>
        <p:nvSpPr>
          <p:cNvPr id="189" name="Text 3">
            <a:extLst>
              <a:ext uri="{FF2B5EF4-FFF2-40B4-BE49-F238E27FC236}">
                <a16:creationId xmlns:a16="http://schemas.microsoft.com/office/drawing/2014/main" id="{7160D79B-61F0-4F30-9CF1-FFED00A3F055}"/>
              </a:ext>
            </a:extLst>
          </p:cNvPr>
          <p:cNvSpPr/>
          <p:nvPr/>
        </p:nvSpPr>
        <p:spPr>
          <a:xfrm>
            <a:off x="691306" y="11085686"/>
            <a:ext cx="2340620" cy="1081385"/>
          </a:xfrm>
          <a:prstGeom prst="rect">
            <a:avLst/>
          </a:prstGeom>
          <a:noFill/>
          <a:ln/>
        </p:spPr>
        <p:txBody>
          <a:bodyPr wrap="square" lIns="0" tIns="0" rIns="0" bIns="0" rtlCol="0" anchor="t">
            <a:noAutofit/>
          </a:bodyPr>
          <a:lstStyle/>
          <a:p>
            <a:pPr marL="0" indent="0" algn="l">
              <a:lnSpc>
                <a:spcPct val="129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Banyak kawasan lanskap prioritas di Indonesia belum memiliki data ekologis, sosial, dan ekonomi yang komprehensif dan mutakhir, sehingga keputusan kebijakan seringkali bersifat reaktif dan tidak berbasis bukti.</a:t>
            </a:r>
            <a:endParaRPr lang="en-US" sz="950" dirty="0">
              <a:latin typeface="Leelawadee UI" panose="020B0502040204020203" pitchFamily="34" charset="-34"/>
              <a:cs typeface="Leelawadee UI" panose="020B0502040204020203" pitchFamily="34" charset="-34"/>
            </a:endParaRPr>
          </a:p>
        </p:txBody>
      </p:sp>
      <p:pic>
        <p:nvPicPr>
          <p:cNvPr id="190" name="Image 1" descr="preencoded.png">
            <a:extLst>
              <a:ext uri="{FF2B5EF4-FFF2-40B4-BE49-F238E27FC236}">
                <a16:creationId xmlns:a16="http://schemas.microsoft.com/office/drawing/2014/main" id="{7CFF50A1-0E34-D8EC-8EA4-5C125CB1AE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57178" y="10708109"/>
            <a:ext cx="2658889" cy="1951360"/>
          </a:xfrm>
          <a:prstGeom prst="rect">
            <a:avLst/>
          </a:prstGeom>
        </p:spPr>
      </p:pic>
      <p:sp>
        <p:nvSpPr>
          <p:cNvPr id="191" name="Text 4">
            <a:extLst>
              <a:ext uri="{FF2B5EF4-FFF2-40B4-BE49-F238E27FC236}">
                <a16:creationId xmlns:a16="http://schemas.microsoft.com/office/drawing/2014/main" id="{74D31B39-35E4-2330-CD2B-95260858CB0D}"/>
              </a:ext>
            </a:extLst>
          </p:cNvPr>
          <p:cNvSpPr/>
          <p:nvPr/>
        </p:nvSpPr>
        <p:spPr>
          <a:xfrm>
            <a:off x="3444850" y="10838631"/>
            <a:ext cx="2340694" cy="363289"/>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Pengetahuan yang Hilang Saat Proyek Berakhir</a:t>
            </a:r>
            <a:endParaRPr lang="en-US" sz="1100" dirty="0">
              <a:latin typeface="Leelawadee UI" panose="020B0502040204020203" pitchFamily="34" charset="-34"/>
              <a:cs typeface="Leelawadee UI" panose="020B0502040204020203" pitchFamily="34" charset="-34"/>
            </a:endParaRPr>
          </a:p>
        </p:txBody>
      </p:sp>
      <p:sp>
        <p:nvSpPr>
          <p:cNvPr id="192" name="Text 5">
            <a:extLst>
              <a:ext uri="{FF2B5EF4-FFF2-40B4-BE49-F238E27FC236}">
                <a16:creationId xmlns:a16="http://schemas.microsoft.com/office/drawing/2014/main" id="{E9A070F8-7D32-5544-3D3A-8124C867ED71}"/>
              </a:ext>
            </a:extLst>
          </p:cNvPr>
          <p:cNvSpPr/>
          <p:nvPr/>
        </p:nvSpPr>
        <p:spPr>
          <a:xfrm>
            <a:off x="3444850" y="11267330"/>
            <a:ext cx="2340694" cy="1081385"/>
          </a:xfrm>
          <a:prstGeom prst="rect">
            <a:avLst/>
          </a:prstGeom>
          <a:noFill/>
          <a:ln/>
        </p:spPr>
        <p:txBody>
          <a:bodyPr wrap="square" lIns="0" tIns="0" rIns="0" bIns="0" rtlCol="0" anchor="t">
            <a:noAutofit/>
          </a:bodyPr>
          <a:lstStyle/>
          <a:p>
            <a:pPr marL="0" indent="0" algn="l">
              <a:lnSpc>
                <a:spcPct val="129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Tanpa sistem pengelolaan pengetahuan yang baik, pengalaman berharga, data lapangan, dan inovasi yang dihasilkan dari proyek-proyek konservasi sering kali tidak terdokumentasi dan tidak dapat digunakan kembali.</a:t>
            </a:r>
            <a:endParaRPr lang="en-US" sz="950" dirty="0">
              <a:latin typeface="Leelawadee UI" panose="020B0502040204020203" pitchFamily="34" charset="-34"/>
              <a:cs typeface="Leelawadee UI" panose="020B0502040204020203" pitchFamily="34" charset="-34"/>
            </a:endParaRPr>
          </a:p>
        </p:txBody>
      </p:sp>
      <p:pic>
        <p:nvPicPr>
          <p:cNvPr id="193" name="Image 2" descr="preencoded.png">
            <a:extLst>
              <a:ext uri="{FF2B5EF4-FFF2-40B4-BE49-F238E27FC236}">
                <a16:creationId xmlns:a16="http://schemas.microsoft.com/office/drawing/2014/main" id="{715B24CB-C0C8-B41D-574D-F68D7D7BEC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0796" y="10708109"/>
            <a:ext cx="2658889" cy="1951360"/>
          </a:xfrm>
          <a:prstGeom prst="rect">
            <a:avLst/>
          </a:prstGeom>
        </p:spPr>
      </p:pic>
      <p:sp>
        <p:nvSpPr>
          <p:cNvPr id="194" name="Text 6">
            <a:extLst>
              <a:ext uri="{FF2B5EF4-FFF2-40B4-BE49-F238E27FC236}">
                <a16:creationId xmlns:a16="http://schemas.microsoft.com/office/drawing/2014/main" id="{83EC91DF-4752-F968-7EF1-59799A0B6B03}"/>
              </a:ext>
            </a:extLst>
          </p:cNvPr>
          <p:cNvSpPr/>
          <p:nvPr/>
        </p:nvSpPr>
        <p:spPr>
          <a:xfrm>
            <a:off x="6198468" y="10838631"/>
            <a:ext cx="2340694" cy="363289"/>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Minimnya Akses Teknologi Geospasial</a:t>
            </a:r>
            <a:endParaRPr lang="en-US" sz="1100" dirty="0">
              <a:latin typeface="Leelawadee UI" panose="020B0502040204020203" pitchFamily="34" charset="-34"/>
              <a:cs typeface="Leelawadee UI" panose="020B0502040204020203" pitchFamily="34" charset="-34"/>
            </a:endParaRPr>
          </a:p>
        </p:txBody>
      </p:sp>
      <p:sp>
        <p:nvSpPr>
          <p:cNvPr id="195" name="Text 7">
            <a:extLst>
              <a:ext uri="{FF2B5EF4-FFF2-40B4-BE49-F238E27FC236}">
                <a16:creationId xmlns:a16="http://schemas.microsoft.com/office/drawing/2014/main" id="{A953BE73-B977-15A3-8799-12DCF892D07D}"/>
              </a:ext>
            </a:extLst>
          </p:cNvPr>
          <p:cNvSpPr/>
          <p:nvPr/>
        </p:nvSpPr>
        <p:spPr>
          <a:xfrm>
            <a:off x="6198468" y="11267330"/>
            <a:ext cx="2340694" cy="1261616"/>
          </a:xfrm>
          <a:prstGeom prst="rect">
            <a:avLst/>
          </a:prstGeom>
          <a:noFill/>
          <a:ln/>
        </p:spPr>
        <p:txBody>
          <a:bodyPr wrap="square" lIns="0" tIns="0" rIns="0" bIns="0" rtlCol="0" anchor="t">
            <a:noAutofit/>
          </a:bodyPr>
          <a:lstStyle/>
          <a:p>
            <a:pPr marL="0" indent="0" algn="l">
              <a:lnSpc>
                <a:spcPct val="129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Kapasitas pemangku kepentingan lokal—termasuk pemerintah daerah, komunitas, dan LSM—untuk menggunakan teknologi GIS dan penginderaan jauh masih sangat terbatas, padahal teknologi ini krusial untuk pemantauan dan perencanaan berbasis bukti.</a:t>
            </a:r>
            <a:endParaRPr lang="en-US" sz="950" dirty="0">
              <a:latin typeface="Leelawadee UI" panose="020B0502040204020203" pitchFamily="34" charset="-34"/>
              <a:cs typeface="Leelawadee UI" panose="020B0502040204020203" pitchFamily="34" charset="-34"/>
            </a:endParaRPr>
          </a:p>
        </p:txBody>
      </p:sp>
      <p:sp>
        <p:nvSpPr>
          <p:cNvPr id="196" name="Shape 8">
            <a:extLst>
              <a:ext uri="{FF2B5EF4-FFF2-40B4-BE49-F238E27FC236}">
                <a16:creationId xmlns:a16="http://schemas.microsoft.com/office/drawing/2014/main" id="{D973751C-7B56-B5EF-E8F4-EC4328A8D349}"/>
              </a:ext>
            </a:extLst>
          </p:cNvPr>
          <p:cNvSpPr/>
          <p:nvPr/>
        </p:nvSpPr>
        <p:spPr>
          <a:xfrm>
            <a:off x="517922" y="12782103"/>
            <a:ext cx="8151763" cy="794891"/>
          </a:xfrm>
          <a:prstGeom prst="roundRect">
            <a:avLst>
              <a:gd name="adj" fmla="val 2195"/>
            </a:avLst>
          </a:prstGeom>
          <a:solidFill>
            <a:srgbClr val="B6D6FC"/>
          </a:solidFill>
          <a:ln/>
        </p:spPr>
      </p:sp>
      <p:pic>
        <p:nvPicPr>
          <p:cNvPr id="197" name="Image 3" descr="preencoded.png">
            <a:extLst>
              <a:ext uri="{FF2B5EF4-FFF2-40B4-BE49-F238E27FC236}">
                <a16:creationId xmlns:a16="http://schemas.microsoft.com/office/drawing/2014/main" id="{2401307B-4BB7-518F-5D92-834FB46B74BF}"/>
              </a:ext>
            </a:extLst>
          </p:cNvPr>
          <p:cNvPicPr>
            <a:picLocks noChangeAspect="1"/>
          </p:cNvPicPr>
          <p:nvPr/>
        </p:nvPicPr>
        <p:blipFill>
          <a:blip r:embed="rId6"/>
          <a:stretch>
            <a:fillRect/>
          </a:stretch>
        </p:blipFill>
        <p:spPr>
          <a:xfrm>
            <a:off x="634156" y="12944698"/>
            <a:ext cx="145331" cy="116235"/>
          </a:xfrm>
          <a:prstGeom prst="rect">
            <a:avLst/>
          </a:prstGeom>
        </p:spPr>
      </p:pic>
      <p:sp>
        <p:nvSpPr>
          <p:cNvPr id="198" name="Text 9">
            <a:extLst>
              <a:ext uri="{FF2B5EF4-FFF2-40B4-BE49-F238E27FC236}">
                <a16:creationId xmlns:a16="http://schemas.microsoft.com/office/drawing/2014/main" id="{37B2A61D-50D5-CDC3-ED70-3CC3C508D0B6}"/>
              </a:ext>
            </a:extLst>
          </p:cNvPr>
          <p:cNvSpPr/>
          <p:nvPr/>
        </p:nvSpPr>
        <p:spPr>
          <a:xfrm>
            <a:off x="895722" y="12909202"/>
            <a:ext cx="7657728" cy="540693"/>
          </a:xfrm>
          <a:prstGeom prst="rect">
            <a:avLst/>
          </a:prstGeom>
          <a:noFill/>
          <a:ln/>
        </p:spPr>
        <p:txBody>
          <a:bodyPr wrap="square" lIns="0" tIns="0" rIns="0" bIns="0" rtlCol="0" anchor="t">
            <a:noAutofit/>
          </a:bodyPr>
          <a:lstStyle/>
          <a:p>
            <a:pPr marL="0" indent="0" algn="l">
              <a:lnSpc>
                <a:spcPct val="129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YNKI hadir untuk menjawab tantangan tersebut dengan membangun </a:t>
            </a:r>
            <a:r>
              <a:rPr lang="en-US" sz="950" b="1" dirty="0">
                <a:solidFill>
                  <a:srgbClr val="000000"/>
                </a:solidFill>
                <a:latin typeface="Leelawadee UI" panose="020B0502040204020203" pitchFamily="34" charset="-34"/>
                <a:ea typeface="Inter" pitchFamily="34" charset="-122"/>
                <a:cs typeface="Leelawadee UI" panose="020B0502040204020203" pitchFamily="34" charset="-34"/>
              </a:rPr>
              <a:t>landscape intelligence</a:t>
            </a: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—sebuah sistem pengetahuan yang mengintegrasikan data spasial, riset, dan pembelajaran dari lapangan untuk mendukung pengambilan keputusan yang lebih baik dan perubahan jangka panjang yang berkelanjutan.</a:t>
            </a:r>
            <a:endParaRPr lang="en-US" sz="950" dirty="0">
              <a:latin typeface="Leelawadee UI" panose="020B0502040204020203" pitchFamily="34" charset="-34"/>
              <a:cs typeface="Leelawadee UI" panose="020B0502040204020203" pitchFamily="34" charset="-34"/>
            </a:endParaRPr>
          </a:p>
        </p:txBody>
      </p:sp>
      <p:sp>
        <p:nvSpPr>
          <p:cNvPr id="199" name="Text 0">
            <a:extLst>
              <a:ext uri="{FF2B5EF4-FFF2-40B4-BE49-F238E27FC236}">
                <a16:creationId xmlns:a16="http://schemas.microsoft.com/office/drawing/2014/main" id="{C81A14C5-4C66-2252-3A30-229E7E6D2B54}"/>
              </a:ext>
            </a:extLst>
          </p:cNvPr>
          <p:cNvSpPr/>
          <p:nvPr/>
        </p:nvSpPr>
        <p:spPr>
          <a:xfrm>
            <a:off x="2089993" y="13768015"/>
            <a:ext cx="4888111" cy="357336"/>
          </a:xfrm>
          <a:prstGeom prst="rect">
            <a:avLst/>
          </a:prstGeom>
          <a:noFill/>
          <a:ln/>
        </p:spPr>
        <p:txBody>
          <a:bodyPr wrap="none" lIns="0" tIns="0" rIns="0" bIns="0" rtlCol="0" anchor="t"/>
          <a:lstStyle/>
          <a:p>
            <a:pPr marL="0" indent="0" algn="ctr">
              <a:lnSpc>
                <a:spcPct val="104000"/>
              </a:lnSpc>
              <a:buNone/>
            </a:pPr>
            <a:r>
              <a:rPr lang="en-US" sz="2250" dirty="0">
                <a:solidFill>
                  <a:srgbClr val="161613"/>
                </a:solidFill>
                <a:latin typeface="Leelawadee UI" panose="020B0502040204020203" pitchFamily="34" charset="-34"/>
                <a:ea typeface="DM Sans Medium" pitchFamily="34" charset="-122"/>
                <a:cs typeface="Leelawadee UI" panose="020B0502040204020203" pitchFamily="34" charset="-34"/>
              </a:rPr>
              <a:t>Hasil Strategis yang Ingin Dicapai</a:t>
            </a:r>
            <a:endParaRPr lang="en-US" sz="2250" dirty="0">
              <a:latin typeface="Leelawadee UI" panose="020B0502040204020203" pitchFamily="34" charset="-34"/>
              <a:cs typeface="Leelawadee UI" panose="020B0502040204020203" pitchFamily="34" charset="-34"/>
            </a:endParaRPr>
          </a:p>
        </p:txBody>
      </p:sp>
      <p:sp>
        <p:nvSpPr>
          <p:cNvPr id="200" name="Text 1">
            <a:extLst>
              <a:ext uri="{FF2B5EF4-FFF2-40B4-BE49-F238E27FC236}">
                <a16:creationId xmlns:a16="http://schemas.microsoft.com/office/drawing/2014/main" id="{70196121-DFF2-FAD5-06C3-A5790BE58A25}"/>
              </a:ext>
            </a:extLst>
          </p:cNvPr>
          <p:cNvSpPr/>
          <p:nvPr/>
        </p:nvSpPr>
        <p:spPr>
          <a:xfrm>
            <a:off x="458167" y="14336166"/>
            <a:ext cx="8151763"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Lima hasil strategis yang menjadi tolok ukur keberhasilan Landscape Intelligence &amp; Innovation Program dalam mendorong tata kelola lanskap berbasis bukti di Kalimantan Barat dan Indonesia.</a:t>
            </a:r>
            <a:endParaRPr lang="en-US" sz="900" dirty="0">
              <a:latin typeface="Leelawadee UI" panose="020B0502040204020203" pitchFamily="34" charset="-34"/>
              <a:cs typeface="Leelawadee UI" panose="020B0502040204020203" pitchFamily="34" charset="-34"/>
            </a:endParaRPr>
          </a:p>
        </p:txBody>
      </p:sp>
      <p:sp>
        <p:nvSpPr>
          <p:cNvPr id="201" name="Shape 2">
            <a:extLst>
              <a:ext uri="{FF2B5EF4-FFF2-40B4-BE49-F238E27FC236}">
                <a16:creationId xmlns:a16="http://schemas.microsoft.com/office/drawing/2014/main" id="{1C9F3830-06B6-984D-B0CA-857FBBA5AFC1}"/>
              </a:ext>
            </a:extLst>
          </p:cNvPr>
          <p:cNvSpPr/>
          <p:nvPr/>
        </p:nvSpPr>
        <p:spPr>
          <a:xfrm>
            <a:off x="458167" y="14806389"/>
            <a:ext cx="2646983" cy="1800969"/>
          </a:xfrm>
          <a:prstGeom prst="roundRect">
            <a:avLst>
              <a:gd name="adj" fmla="val 952"/>
            </a:avLst>
          </a:prstGeom>
          <a:solidFill>
            <a:srgbClr val="EDEBE3"/>
          </a:solidFill>
          <a:ln/>
        </p:spPr>
      </p:sp>
      <p:sp>
        <p:nvSpPr>
          <p:cNvPr id="202" name="Shape 3">
            <a:extLst>
              <a:ext uri="{FF2B5EF4-FFF2-40B4-BE49-F238E27FC236}">
                <a16:creationId xmlns:a16="http://schemas.microsoft.com/office/drawing/2014/main" id="{193FEBC3-5B01-B60B-01D7-B2D5C0A5626F}"/>
              </a:ext>
            </a:extLst>
          </p:cNvPr>
          <p:cNvSpPr/>
          <p:nvPr/>
        </p:nvSpPr>
        <p:spPr>
          <a:xfrm>
            <a:off x="572467" y="14920689"/>
            <a:ext cx="343049" cy="343049"/>
          </a:xfrm>
          <a:prstGeom prst="roundRect">
            <a:avLst>
              <a:gd name="adj" fmla="val 16657762"/>
            </a:avLst>
          </a:prstGeom>
          <a:solidFill>
            <a:srgbClr val="28282F"/>
          </a:solidFill>
          <a:ln/>
        </p:spPr>
      </p:sp>
      <p:pic>
        <p:nvPicPr>
          <p:cNvPr id="203" name="Image 0" descr="preencoded.png">
            <a:extLst>
              <a:ext uri="{FF2B5EF4-FFF2-40B4-BE49-F238E27FC236}">
                <a16:creationId xmlns:a16="http://schemas.microsoft.com/office/drawing/2014/main" id="{707D715B-3315-DE3B-FBEC-2F046F6470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6824" y="15014972"/>
            <a:ext cx="154335" cy="154335"/>
          </a:xfrm>
          <a:prstGeom prst="rect">
            <a:avLst/>
          </a:prstGeom>
        </p:spPr>
      </p:pic>
      <p:sp>
        <p:nvSpPr>
          <p:cNvPr id="204" name="Text 4">
            <a:extLst>
              <a:ext uri="{FF2B5EF4-FFF2-40B4-BE49-F238E27FC236}">
                <a16:creationId xmlns:a16="http://schemas.microsoft.com/office/drawing/2014/main" id="{3CDB1B1A-4A25-BFC2-7BA7-CC5343A3062E}"/>
              </a:ext>
            </a:extLst>
          </p:cNvPr>
          <p:cNvSpPr/>
          <p:nvPr/>
        </p:nvSpPr>
        <p:spPr>
          <a:xfrm>
            <a:off x="572467" y="15369108"/>
            <a:ext cx="2418383" cy="357336"/>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Data Lanskap Tersedia &amp; Digunakan</a:t>
            </a:r>
            <a:endParaRPr lang="en-US" sz="1100" dirty="0">
              <a:latin typeface="Leelawadee UI" panose="020B0502040204020203" pitchFamily="34" charset="-34"/>
              <a:cs typeface="Leelawadee UI" panose="020B0502040204020203" pitchFamily="34" charset="-34"/>
            </a:endParaRPr>
          </a:p>
        </p:txBody>
      </p:sp>
      <p:sp>
        <p:nvSpPr>
          <p:cNvPr id="205" name="Text 5">
            <a:extLst>
              <a:ext uri="{FF2B5EF4-FFF2-40B4-BE49-F238E27FC236}">
                <a16:creationId xmlns:a16="http://schemas.microsoft.com/office/drawing/2014/main" id="{41D72DFB-6982-A390-0FCB-5DDF87E91CFB}"/>
              </a:ext>
            </a:extLst>
          </p:cNvPr>
          <p:cNvSpPr/>
          <p:nvPr/>
        </p:nvSpPr>
        <p:spPr>
          <a:xfrm>
            <a:off x="572467" y="15789696"/>
            <a:ext cx="2418383" cy="703362"/>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Data lanskap tersedia dan digunakan oleh berbagai pemangku kepentingan untuk perencanaan dan pengambilan keputusan yang inklusif dan berbasis bukti.</a:t>
            </a:r>
            <a:endParaRPr lang="en-US" sz="950" dirty="0">
              <a:latin typeface="Leelawadee UI" panose="020B0502040204020203" pitchFamily="34" charset="-34"/>
              <a:cs typeface="Leelawadee UI" panose="020B0502040204020203" pitchFamily="34" charset="-34"/>
            </a:endParaRPr>
          </a:p>
        </p:txBody>
      </p:sp>
      <p:sp>
        <p:nvSpPr>
          <p:cNvPr id="206" name="Shape 6">
            <a:extLst>
              <a:ext uri="{FF2B5EF4-FFF2-40B4-BE49-F238E27FC236}">
                <a16:creationId xmlns:a16="http://schemas.microsoft.com/office/drawing/2014/main" id="{F4406EBC-73EE-E1FD-B9F9-9247AF32EEE5}"/>
              </a:ext>
            </a:extLst>
          </p:cNvPr>
          <p:cNvSpPr/>
          <p:nvPr/>
        </p:nvSpPr>
        <p:spPr>
          <a:xfrm>
            <a:off x="3210519" y="14806389"/>
            <a:ext cx="2646983" cy="1800969"/>
          </a:xfrm>
          <a:prstGeom prst="roundRect">
            <a:avLst>
              <a:gd name="adj" fmla="val 952"/>
            </a:avLst>
          </a:prstGeom>
          <a:solidFill>
            <a:srgbClr val="EDEBE3"/>
          </a:solidFill>
          <a:ln/>
        </p:spPr>
      </p:sp>
      <p:sp>
        <p:nvSpPr>
          <p:cNvPr id="207" name="Shape 7">
            <a:extLst>
              <a:ext uri="{FF2B5EF4-FFF2-40B4-BE49-F238E27FC236}">
                <a16:creationId xmlns:a16="http://schemas.microsoft.com/office/drawing/2014/main" id="{86157D82-90C8-6016-B45D-FF071911DD05}"/>
              </a:ext>
            </a:extLst>
          </p:cNvPr>
          <p:cNvSpPr/>
          <p:nvPr/>
        </p:nvSpPr>
        <p:spPr>
          <a:xfrm>
            <a:off x="3324819" y="14920689"/>
            <a:ext cx="343049" cy="343049"/>
          </a:xfrm>
          <a:prstGeom prst="roundRect">
            <a:avLst>
              <a:gd name="adj" fmla="val 16657762"/>
            </a:avLst>
          </a:prstGeom>
          <a:solidFill>
            <a:srgbClr val="28282F"/>
          </a:solidFill>
          <a:ln/>
        </p:spPr>
      </p:sp>
      <p:pic>
        <p:nvPicPr>
          <p:cNvPr id="208" name="Image 1" descr="preencoded.png">
            <a:extLst>
              <a:ext uri="{FF2B5EF4-FFF2-40B4-BE49-F238E27FC236}">
                <a16:creationId xmlns:a16="http://schemas.microsoft.com/office/drawing/2014/main" id="{CE45ADEA-4A48-15B3-1E2E-B08FC39DDED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19177" y="15014972"/>
            <a:ext cx="154335" cy="154335"/>
          </a:xfrm>
          <a:prstGeom prst="rect">
            <a:avLst/>
          </a:prstGeom>
        </p:spPr>
      </p:pic>
      <p:sp>
        <p:nvSpPr>
          <p:cNvPr id="209" name="Text 8">
            <a:extLst>
              <a:ext uri="{FF2B5EF4-FFF2-40B4-BE49-F238E27FC236}">
                <a16:creationId xmlns:a16="http://schemas.microsoft.com/office/drawing/2014/main" id="{BC38EA76-A2EF-0FC9-E290-5D38A4F59127}"/>
              </a:ext>
            </a:extLst>
          </p:cNvPr>
          <p:cNvSpPr/>
          <p:nvPr/>
        </p:nvSpPr>
        <p:spPr>
          <a:xfrm>
            <a:off x="3324819" y="15369108"/>
            <a:ext cx="2418383" cy="357336"/>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Sistem Monitoring Berjalan Efektif</a:t>
            </a:r>
            <a:endParaRPr lang="en-US" sz="1100" dirty="0">
              <a:latin typeface="Leelawadee UI" panose="020B0502040204020203" pitchFamily="34" charset="-34"/>
              <a:cs typeface="Leelawadee UI" panose="020B0502040204020203" pitchFamily="34" charset="-34"/>
            </a:endParaRPr>
          </a:p>
        </p:txBody>
      </p:sp>
      <p:sp>
        <p:nvSpPr>
          <p:cNvPr id="210" name="Text 9">
            <a:extLst>
              <a:ext uri="{FF2B5EF4-FFF2-40B4-BE49-F238E27FC236}">
                <a16:creationId xmlns:a16="http://schemas.microsoft.com/office/drawing/2014/main" id="{867C4999-B940-5BEC-646B-A62A3D787912}"/>
              </a:ext>
            </a:extLst>
          </p:cNvPr>
          <p:cNvSpPr/>
          <p:nvPr/>
        </p:nvSpPr>
        <p:spPr>
          <a:xfrm>
            <a:off x="3324819" y="15789696"/>
            <a:ext cx="2418383" cy="703362"/>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Sistem monitoring lanskap berjalan efektif untuk memantau perubahan ekologis, sosial, dan ekonomi secara real-time dan partisipatif.</a:t>
            </a:r>
            <a:endParaRPr lang="en-US" sz="950" dirty="0">
              <a:latin typeface="Leelawadee UI" panose="020B0502040204020203" pitchFamily="34" charset="-34"/>
              <a:cs typeface="Leelawadee UI" panose="020B0502040204020203" pitchFamily="34" charset="-34"/>
            </a:endParaRPr>
          </a:p>
        </p:txBody>
      </p:sp>
      <p:sp>
        <p:nvSpPr>
          <p:cNvPr id="211" name="Shape 10">
            <a:extLst>
              <a:ext uri="{FF2B5EF4-FFF2-40B4-BE49-F238E27FC236}">
                <a16:creationId xmlns:a16="http://schemas.microsoft.com/office/drawing/2014/main" id="{45770B36-C1F1-7D0E-FCB8-35A17D61ACE2}"/>
              </a:ext>
            </a:extLst>
          </p:cNvPr>
          <p:cNvSpPr/>
          <p:nvPr/>
        </p:nvSpPr>
        <p:spPr>
          <a:xfrm>
            <a:off x="5962872" y="14806389"/>
            <a:ext cx="2647057" cy="1800969"/>
          </a:xfrm>
          <a:prstGeom prst="roundRect">
            <a:avLst>
              <a:gd name="adj" fmla="val 952"/>
            </a:avLst>
          </a:prstGeom>
          <a:solidFill>
            <a:srgbClr val="EDEBE3"/>
          </a:solidFill>
          <a:ln/>
        </p:spPr>
      </p:sp>
      <p:sp>
        <p:nvSpPr>
          <p:cNvPr id="212" name="Shape 11">
            <a:extLst>
              <a:ext uri="{FF2B5EF4-FFF2-40B4-BE49-F238E27FC236}">
                <a16:creationId xmlns:a16="http://schemas.microsoft.com/office/drawing/2014/main" id="{F71F998F-8958-2ABF-43EC-F8488DFC375E}"/>
              </a:ext>
            </a:extLst>
          </p:cNvPr>
          <p:cNvSpPr/>
          <p:nvPr/>
        </p:nvSpPr>
        <p:spPr>
          <a:xfrm>
            <a:off x="6077172" y="14920689"/>
            <a:ext cx="343049" cy="343049"/>
          </a:xfrm>
          <a:prstGeom prst="roundRect">
            <a:avLst>
              <a:gd name="adj" fmla="val 16657762"/>
            </a:avLst>
          </a:prstGeom>
          <a:solidFill>
            <a:srgbClr val="28282F"/>
          </a:solidFill>
          <a:ln/>
        </p:spPr>
      </p:sp>
      <p:pic>
        <p:nvPicPr>
          <p:cNvPr id="213" name="Image 2" descr="preencoded.png">
            <a:extLst>
              <a:ext uri="{FF2B5EF4-FFF2-40B4-BE49-F238E27FC236}">
                <a16:creationId xmlns:a16="http://schemas.microsoft.com/office/drawing/2014/main" id="{0006661E-7E97-6587-28CC-52385C4EF6B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71529" y="15014972"/>
            <a:ext cx="154335" cy="154335"/>
          </a:xfrm>
          <a:prstGeom prst="rect">
            <a:avLst/>
          </a:prstGeom>
        </p:spPr>
      </p:pic>
      <p:sp>
        <p:nvSpPr>
          <p:cNvPr id="214" name="Text 12">
            <a:extLst>
              <a:ext uri="{FF2B5EF4-FFF2-40B4-BE49-F238E27FC236}">
                <a16:creationId xmlns:a16="http://schemas.microsoft.com/office/drawing/2014/main" id="{78D93A8E-6A21-29C7-4092-267188D3876C}"/>
              </a:ext>
            </a:extLst>
          </p:cNvPr>
          <p:cNvSpPr/>
          <p:nvPr/>
        </p:nvSpPr>
        <p:spPr>
          <a:xfrm>
            <a:off x="6077172" y="15369108"/>
            <a:ext cx="2418457" cy="357336"/>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Pengetahuan Lokal &amp; Ilmiah Terintegrasi</a:t>
            </a:r>
            <a:endParaRPr lang="en-US" sz="1100" dirty="0">
              <a:latin typeface="Leelawadee UI" panose="020B0502040204020203" pitchFamily="34" charset="-34"/>
              <a:cs typeface="Leelawadee UI" panose="020B0502040204020203" pitchFamily="34" charset="-34"/>
            </a:endParaRPr>
          </a:p>
        </p:txBody>
      </p:sp>
      <p:sp>
        <p:nvSpPr>
          <p:cNvPr id="215" name="Text 13">
            <a:extLst>
              <a:ext uri="{FF2B5EF4-FFF2-40B4-BE49-F238E27FC236}">
                <a16:creationId xmlns:a16="http://schemas.microsoft.com/office/drawing/2014/main" id="{F438092F-4DB1-5C86-DE6D-7EFF3BE588EA}"/>
              </a:ext>
            </a:extLst>
          </p:cNvPr>
          <p:cNvSpPr/>
          <p:nvPr/>
        </p:nvSpPr>
        <p:spPr>
          <a:xfrm>
            <a:off x="6077172" y="15789696"/>
            <a:ext cx="2418457" cy="703362"/>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Pengetahuan lokal dan ilmiah terintegrasi dalam sistem pengelolaan pengetahuan organisasi yang dapat diakses dan dimanfaatkan secara berkelanjutan.</a:t>
            </a:r>
            <a:endParaRPr lang="en-US" sz="950" dirty="0">
              <a:latin typeface="Leelawadee UI" panose="020B0502040204020203" pitchFamily="34" charset="-34"/>
              <a:cs typeface="Leelawadee UI" panose="020B0502040204020203" pitchFamily="34" charset="-34"/>
            </a:endParaRPr>
          </a:p>
        </p:txBody>
      </p:sp>
      <p:sp>
        <p:nvSpPr>
          <p:cNvPr id="216" name="Shape 14">
            <a:extLst>
              <a:ext uri="{FF2B5EF4-FFF2-40B4-BE49-F238E27FC236}">
                <a16:creationId xmlns:a16="http://schemas.microsoft.com/office/drawing/2014/main" id="{E2E83A41-F052-3737-ABFD-A476CB3FFDB6}"/>
              </a:ext>
            </a:extLst>
          </p:cNvPr>
          <p:cNvSpPr/>
          <p:nvPr/>
        </p:nvSpPr>
        <p:spPr>
          <a:xfrm>
            <a:off x="458167" y="16712728"/>
            <a:ext cx="4023196" cy="1446461"/>
          </a:xfrm>
          <a:prstGeom prst="roundRect">
            <a:avLst>
              <a:gd name="adj" fmla="val 1186"/>
            </a:avLst>
          </a:prstGeom>
          <a:solidFill>
            <a:srgbClr val="EDEBE3"/>
          </a:solidFill>
          <a:ln/>
        </p:spPr>
      </p:sp>
      <p:sp>
        <p:nvSpPr>
          <p:cNvPr id="217" name="Shape 15">
            <a:extLst>
              <a:ext uri="{FF2B5EF4-FFF2-40B4-BE49-F238E27FC236}">
                <a16:creationId xmlns:a16="http://schemas.microsoft.com/office/drawing/2014/main" id="{F3EA570C-6258-FBC3-5EF8-4C83F6F3A25F}"/>
              </a:ext>
            </a:extLst>
          </p:cNvPr>
          <p:cNvSpPr/>
          <p:nvPr/>
        </p:nvSpPr>
        <p:spPr>
          <a:xfrm>
            <a:off x="572467" y="16827028"/>
            <a:ext cx="343049" cy="343049"/>
          </a:xfrm>
          <a:prstGeom prst="roundRect">
            <a:avLst>
              <a:gd name="adj" fmla="val 16657762"/>
            </a:avLst>
          </a:prstGeom>
          <a:solidFill>
            <a:srgbClr val="28282F"/>
          </a:solidFill>
          <a:ln/>
        </p:spPr>
      </p:sp>
      <p:pic>
        <p:nvPicPr>
          <p:cNvPr id="218" name="Image 3" descr="preencoded.png">
            <a:extLst>
              <a:ext uri="{FF2B5EF4-FFF2-40B4-BE49-F238E27FC236}">
                <a16:creationId xmlns:a16="http://schemas.microsoft.com/office/drawing/2014/main" id="{914398E1-00F2-1D26-E985-749C0CBC34B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6824" y="16921311"/>
            <a:ext cx="154335" cy="154335"/>
          </a:xfrm>
          <a:prstGeom prst="rect">
            <a:avLst/>
          </a:prstGeom>
        </p:spPr>
      </p:pic>
      <p:sp>
        <p:nvSpPr>
          <p:cNvPr id="219" name="Text 16">
            <a:extLst>
              <a:ext uri="{FF2B5EF4-FFF2-40B4-BE49-F238E27FC236}">
                <a16:creationId xmlns:a16="http://schemas.microsoft.com/office/drawing/2014/main" id="{DAA0184A-36E7-7164-E206-45A1B8A14CB3}"/>
              </a:ext>
            </a:extLst>
          </p:cNvPr>
          <p:cNvSpPr/>
          <p:nvPr/>
        </p:nvSpPr>
        <p:spPr>
          <a:xfrm>
            <a:off x="572467" y="17275448"/>
            <a:ext cx="2860253" cy="17866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Inovasi Digital Mendukung Transparansi</a:t>
            </a:r>
            <a:endParaRPr lang="en-US" sz="1100" dirty="0">
              <a:latin typeface="Leelawadee UI" panose="020B0502040204020203" pitchFamily="34" charset="-34"/>
              <a:cs typeface="Leelawadee UI" panose="020B0502040204020203" pitchFamily="34" charset="-34"/>
            </a:endParaRPr>
          </a:p>
        </p:txBody>
      </p:sp>
      <p:sp>
        <p:nvSpPr>
          <p:cNvPr id="220" name="Text 17">
            <a:extLst>
              <a:ext uri="{FF2B5EF4-FFF2-40B4-BE49-F238E27FC236}">
                <a16:creationId xmlns:a16="http://schemas.microsoft.com/office/drawing/2014/main" id="{5E7444CF-F30F-A93D-7B6E-ED5AB0C2DB0D}"/>
              </a:ext>
            </a:extLst>
          </p:cNvPr>
          <p:cNvSpPr/>
          <p:nvPr/>
        </p:nvSpPr>
        <p:spPr>
          <a:xfrm>
            <a:off x="572467" y="17517368"/>
            <a:ext cx="3794596" cy="527521"/>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Inovasi digital dan teknologi informasi mendukung tata kelola lanskap yang lebih transparan, akuntabel, dan inklusif bagi seluruh pemangku kepentingan.</a:t>
            </a:r>
            <a:endParaRPr lang="en-US" sz="950" dirty="0">
              <a:latin typeface="Leelawadee UI" panose="020B0502040204020203" pitchFamily="34" charset="-34"/>
              <a:cs typeface="Leelawadee UI" panose="020B0502040204020203" pitchFamily="34" charset="-34"/>
            </a:endParaRPr>
          </a:p>
        </p:txBody>
      </p:sp>
      <p:sp>
        <p:nvSpPr>
          <p:cNvPr id="221" name="Shape 18">
            <a:extLst>
              <a:ext uri="{FF2B5EF4-FFF2-40B4-BE49-F238E27FC236}">
                <a16:creationId xmlns:a16="http://schemas.microsoft.com/office/drawing/2014/main" id="{763C0E64-6E7D-3327-EF0A-F15076CF834F}"/>
              </a:ext>
            </a:extLst>
          </p:cNvPr>
          <p:cNvSpPr/>
          <p:nvPr/>
        </p:nvSpPr>
        <p:spPr>
          <a:xfrm>
            <a:off x="4586733" y="16712728"/>
            <a:ext cx="4023196" cy="1446461"/>
          </a:xfrm>
          <a:prstGeom prst="roundRect">
            <a:avLst>
              <a:gd name="adj" fmla="val 1186"/>
            </a:avLst>
          </a:prstGeom>
          <a:solidFill>
            <a:srgbClr val="EDEBE3"/>
          </a:solidFill>
          <a:ln/>
        </p:spPr>
      </p:sp>
      <p:sp>
        <p:nvSpPr>
          <p:cNvPr id="222" name="Shape 19">
            <a:extLst>
              <a:ext uri="{FF2B5EF4-FFF2-40B4-BE49-F238E27FC236}">
                <a16:creationId xmlns:a16="http://schemas.microsoft.com/office/drawing/2014/main" id="{F509FC4C-A443-86E8-4ECB-466BD33768FF}"/>
              </a:ext>
            </a:extLst>
          </p:cNvPr>
          <p:cNvSpPr/>
          <p:nvPr/>
        </p:nvSpPr>
        <p:spPr>
          <a:xfrm>
            <a:off x="4701033" y="16827028"/>
            <a:ext cx="343049" cy="343049"/>
          </a:xfrm>
          <a:prstGeom prst="roundRect">
            <a:avLst>
              <a:gd name="adj" fmla="val 16657762"/>
            </a:avLst>
          </a:prstGeom>
          <a:solidFill>
            <a:srgbClr val="28282F"/>
          </a:solidFill>
          <a:ln/>
        </p:spPr>
      </p:sp>
      <p:pic>
        <p:nvPicPr>
          <p:cNvPr id="223" name="Image 4" descr="preencoded.png">
            <a:extLst>
              <a:ext uri="{FF2B5EF4-FFF2-40B4-BE49-F238E27FC236}">
                <a16:creationId xmlns:a16="http://schemas.microsoft.com/office/drawing/2014/main" id="{ECCF4AB4-1A10-654C-A544-5EA198FE62F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95390" y="16921311"/>
            <a:ext cx="154335" cy="154335"/>
          </a:xfrm>
          <a:prstGeom prst="rect">
            <a:avLst/>
          </a:prstGeom>
        </p:spPr>
      </p:pic>
      <p:sp>
        <p:nvSpPr>
          <p:cNvPr id="224" name="Text 20">
            <a:extLst>
              <a:ext uri="{FF2B5EF4-FFF2-40B4-BE49-F238E27FC236}">
                <a16:creationId xmlns:a16="http://schemas.microsoft.com/office/drawing/2014/main" id="{B8CCC90D-5A90-C428-5114-F62C8C6CAE54}"/>
              </a:ext>
            </a:extLst>
          </p:cNvPr>
          <p:cNvSpPr/>
          <p:nvPr/>
        </p:nvSpPr>
        <p:spPr>
          <a:xfrm>
            <a:off x="4701033" y="17275448"/>
            <a:ext cx="3044577" cy="178668"/>
          </a:xfrm>
          <a:prstGeom prst="rect">
            <a:avLst/>
          </a:prstGeom>
          <a:noFill/>
          <a:ln/>
        </p:spPr>
        <p:txBody>
          <a:bodyPr wrap="none" lIns="0" tIns="0" rIns="0" bIns="0" rtlCol="0" anchor="t"/>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Pembelajaran Lintas Lanskap Berkembang</a:t>
            </a:r>
            <a:endParaRPr lang="en-US" sz="1100" dirty="0">
              <a:latin typeface="Leelawadee UI" panose="020B0502040204020203" pitchFamily="34" charset="-34"/>
              <a:cs typeface="Leelawadee UI" panose="020B0502040204020203" pitchFamily="34" charset="-34"/>
            </a:endParaRPr>
          </a:p>
        </p:txBody>
      </p:sp>
      <p:sp>
        <p:nvSpPr>
          <p:cNvPr id="225" name="Text 21">
            <a:extLst>
              <a:ext uri="{FF2B5EF4-FFF2-40B4-BE49-F238E27FC236}">
                <a16:creationId xmlns:a16="http://schemas.microsoft.com/office/drawing/2014/main" id="{2661D41E-796A-4F51-E6BC-E124981D0B53}"/>
              </a:ext>
            </a:extLst>
          </p:cNvPr>
          <p:cNvSpPr/>
          <p:nvPr/>
        </p:nvSpPr>
        <p:spPr>
          <a:xfrm>
            <a:off x="4701033" y="17517368"/>
            <a:ext cx="3794596" cy="527521"/>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Pembelajaran lintas lanskap berkembang dan mendorong adaptasi kebijakan serta praktik pengelolaan yang lebih responsif terhadap dinamika lanskap.</a:t>
            </a:r>
            <a:endParaRPr lang="en-US" sz="950" dirty="0">
              <a:latin typeface="Leelawadee UI" panose="020B0502040204020203" pitchFamily="34" charset="-34"/>
              <a:cs typeface="Leelawadee UI" panose="020B0502040204020203" pitchFamily="34" charset="-34"/>
            </a:endParaRPr>
          </a:p>
        </p:txBody>
      </p:sp>
      <p:sp>
        <p:nvSpPr>
          <p:cNvPr id="226" name="Text 0">
            <a:extLst>
              <a:ext uri="{FF2B5EF4-FFF2-40B4-BE49-F238E27FC236}">
                <a16:creationId xmlns:a16="http://schemas.microsoft.com/office/drawing/2014/main" id="{D0DC9439-3138-6117-562B-9BD29D2836B4}"/>
              </a:ext>
            </a:extLst>
          </p:cNvPr>
          <p:cNvSpPr/>
          <p:nvPr/>
        </p:nvSpPr>
        <p:spPr>
          <a:xfrm>
            <a:off x="2766119" y="18513920"/>
            <a:ext cx="2967558" cy="296763"/>
          </a:xfrm>
          <a:prstGeom prst="rect">
            <a:avLst/>
          </a:prstGeom>
          <a:noFill/>
          <a:ln/>
        </p:spPr>
        <p:txBody>
          <a:bodyPr wrap="none" lIns="0" tIns="0" rIns="0" bIns="0" rtlCol="0" anchor="t"/>
          <a:lstStyle/>
          <a:p>
            <a:pPr marL="0" indent="0" algn="ctr">
              <a:lnSpc>
                <a:spcPct val="104000"/>
              </a:lnSpc>
              <a:buNone/>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Intervensi Inti Program</a:t>
            </a:r>
            <a:endParaRPr lang="en-US" sz="2200" dirty="0">
              <a:latin typeface="Leelawadee UI" panose="020B0502040204020203" pitchFamily="34" charset="-34"/>
              <a:cs typeface="Leelawadee UI" panose="020B0502040204020203" pitchFamily="34" charset="-34"/>
            </a:endParaRPr>
          </a:p>
        </p:txBody>
      </p:sp>
      <p:sp>
        <p:nvSpPr>
          <p:cNvPr id="227" name="Text 1">
            <a:extLst>
              <a:ext uri="{FF2B5EF4-FFF2-40B4-BE49-F238E27FC236}">
                <a16:creationId xmlns:a16="http://schemas.microsoft.com/office/drawing/2014/main" id="{4CC10A18-F00E-C496-B3A2-B3C1CCA4DEE7}"/>
              </a:ext>
            </a:extLst>
          </p:cNvPr>
          <p:cNvSpPr/>
          <p:nvPr/>
        </p:nvSpPr>
        <p:spPr>
          <a:xfrm>
            <a:off x="503909" y="18883386"/>
            <a:ext cx="7990358" cy="678209"/>
          </a:xfrm>
          <a:prstGeom prst="rect">
            <a:avLst/>
          </a:prstGeom>
          <a:noFill/>
          <a:ln/>
        </p:spPr>
        <p:txBody>
          <a:bodyPr wrap="square" lIns="0" tIns="0" rIns="0" bIns="0" rtlCol="0" anchor="t">
            <a:normAutofit/>
          </a:bodyPr>
          <a:lstStyle/>
          <a:p>
            <a:pPr marL="0" indent="0" algn="ctr">
              <a:lnSpc>
                <a:spcPct val="118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Delapan intervensi inti yang menjadi tulang punggung Landscape Intelligence &amp; Innovation Program, dirancang untuk membangun kapasitas data, teknologi, dan pengetahuan secara terpadu.</a:t>
            </a:r>
            <a:endParaRPr lang="en-US" sz="1100" dirty="0">
              <a:latin typeface="Leelawadee UI" panose="020B0502040204020203" pitchFamily="34" charset="-34"/>
              <a:cs typeface="Leelawadee UI" panose="020B0502040204020203" pitchFamily="34" charset="-34"/>
            </a:endParaRPr>
          </a:p>
        </p:txBody>
      </p:sp>
      <p:pic>
        <p:nvPicPr>
          <p:cNvPr id="228" name="Image 0" descr="preencoded.png">
            <a:extLst>
              <a:ext uri="{FF2B5EF4-FFF2-40B4-BE49-F238E27FC236}">
                <a16:creationId xmlns:a16="http://schemas.microsoft.com/office/drawing/2014/main" id="{76217DFF-E866-8918-1593-87BFB821F72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5271" y="19354184"/>
            <a:ext cx="237381" cy="237381"/>
          </a:xfrm>
          <a:prstGeom prst="rect">
            <a:avLst/>
          </a:prstGeom>
        </p:spPr>
      </p:pic>
      <p:sp>
        <p:nvSpPr>
          <p:cNvPr id="229" name="Text 2">
            <a:extLst>
              <a:ext uri="{FF2B5EF4-FFF2-40B4-BE49-F238E27FC236}">
                <a16:creationId xmlns:a16="http://schemas.microsoft.com/office/drawing/2014/main" id="{749E32DD-C9F0-EBAB-AECA-AAD88DB41681}"/>
              </a:ext>
            </a:extLst>
          </p:cNvPr>
          <p:cNvSpPr/>
          <p:nvPr/>
        </p:nvSpPr>
        <p:spPr>
          <a:xfrm>
            <a:off x="821159" y="19406889"/>
            <a:ext cx="1187128"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Research</a:t>
            </a:r>
            <a:endParaRPr lang="en-US" sz="1050" dirty="0">
              <a:latin typeface="Leelawadee UI" panose="020B0502040204020203" pitchFamily="34" charset="-34"/>
              <a:cs typeface="Leelawadee UI" panose="020B0502040204020203" pitchFamily="34" charset="-34"/>
            </a:endParaRPr>
          </a:p>
        </p:txBody>
      </p:sp>
      <p:sp>
        <p:nvSpPr>
          <p:cNvPr id="230" name="Text 3">
            <a:extLst>
              <a:ext uri="{FF2B5EF4-FFF2-40B4-BE49-F238E27FC236}">
                <a16:creationId xmlns:a16="http://schemas.microsoft.com/office/drawing/2014/main" id="{EA90E9D0-035E-62D0-72D8-715CAB815676}"/>
              </a:ext>
            </a:extLst>
          </p:cNvPr>
          <p:cNvSpPr/>
          <p:nvPr/>
        </p:nvSpPr>
        <p:spPr>
          <a:xfrm>
            <a:off x="532330" y="19634298"/>
            <a:ext cx="3699197" cy="541924"/>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Melakukan riset dan kajian ilmiah mengenai kondisi ekologi, sosial, dan ekonomi lanskap sebagai basis kebijakan berbasis bukti.</a:t>
            </a:r>
            <a:endParaRPr lang="en-US" sz="950" dirty="0">
              <a:latin typeface="Leelawadee UI" panose="020B0502040204020203" pitchFamily="34" charset="-34"/>
              <a:cs typeface="Leelawadee UI" panose="020B0502040204020203" pitchFamily="34" charset="-34"/>
            </a:endParaRPr>
          </a:p>
        </p:txBody>
      </p:sp>
      <p:pic>
        <p:nvPicPr>
          <p:cNvPr id="231" name="Image 1" descr="preencoded.png">
            <a:extLst>
              <a:ext uri="{FF2B5EF4-FFF2-40B4-BE49-F238E27FC236}">
                <a16:creationId xmlns:a16="http://schemas.microsoft.com/office/drawing/2014/main" id="{B1D45F58-410F-F3AA-FAD2-22F00A843FC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295328" y="19354184"/>
            <a:ext cx="237381" cy="237381"/>
          </a:xfrm>
          <a:prstGeom prst="rect">
            <a:avLst/>
          </a:prstGeom>
        </p:spPr>
      </p:pic>
      <p:sp>
        <p:nvSpPr>
          <p:cNvPr id="232" name="Text 4">
            <a:extLst>
              <a:ext uri="{FF2B5EF4-FFF2-40B4-BE49-F238E27FC236}">
                <a16:creationId xmlns:a16="http://schemas.microsoft.com/office/drawing/2014/main" id="{7352DD44-F470-2916-D3F9-6E40B553DE8E}"/>
              </a:ext>
            </a:extLst>
          </p:cNvPr>
          <p:cNvSpPr/>
          <p:nvPr/>
        </p:nvSpPr>
        <p:spPr>
          <a:xfrm>
            <a:off x="4615197" y="19419597"/>
            <a:ext cx="1411114"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GIS &amp; Remote Sensing</a:t>
            </a:r>
            <a:endParaRPr lang="en-US" sz="1050" dirty="0">
              <a:latin typeface="Leelawadee UI" panose="020B0502040204020203" pitchFamily="34" charset="-34"/>
              <a:cs typeface="Leelawadee UI" panose="020B0502040204020203" pitchFamily="34" charset="-34"/>
            </a:endParaRPr>
          </a:p>
        </p:txBody>
      </p:sp>
      <p:sp>
        <p:nvSpPr>
          <p:cNvPr id="233" name="Text 5">
            <a:extLst>
              <a:ext uri="{FF2B5EF4-FFF2-40B4-BE49-F238E27FC236}">
                <a16:creationId xmlns:a16="http://schemas.microsoft.com/office/drawing/2014/main" id="{BB6AD6C4-38C2-94B8-C0DE-C8A925FFA220}"/>
              </a:ext>
            </a:extLst>
          </p:cNvPr>
          <p:cNvSpPr/>
          <p:nvPr/>
        </p:nvSpPr>
        <p:spPr>
          <a:xfrm>
            <a:off x="4295328" y="19621424"/>
            <a:ext cx="3699197" cy="618382"/>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Memanfaatkan teknologi GIS dan penginderaan jauh untuk pemetaan dan analisis spasial lanskap secara akurat dan mutakhir.</a:t>
            </a:r>
            <a:endParaRPr lang="en-US" sz="950" dirty="0">
              <a:latin typeface="Leelawadee UI" panose="020B0502040204020203" pitchFamily="34" charset="-34"/>
              <a:cs typeface="Leelawadee UI" panose="020B0502040204020203" pitchFamily="34" charset="-34"/>
            </a:endParaRPr>
          </a:p>
        </p:txBody>
      </p:sp>
      <p:pic>
        <p:nvPicPr>
          <p:cNvPr id="234" name="Image 2" descr="preencoded.png">
            <a:extLst>
              <a:ext uri="{FF2B5EF4-FFF2-40B4-BE49-F238E27FC236}">
                <a16:creationId xmlns:a16="http://schemas.microsoft.com/office/drawing/2014/main" id="{E26108DF-DC91-FB07-5A21-119B3BB83C9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5271" y="20239806"/>
            <a:ext cx="237381" cy="237381"/>
          </a:xfrm>
          <a:prstGeom prst="rect">
            <a:avLst/>
          </a:prstGeom>
        </p:spPr>
      </p:pic>
      <p:sp>
        <p:nvSpPr>
          <p:cNvPr id="235" name="Text 6">
            <a:extLst>
              <a:ext uri="{FF2B5EF4-FFF2-40B4-BE49-F238E27FC236}">
                <a16:creationId xmlns:a16="http://schemas.microsoft.com/office/drawing/2014/main" id="{DC317BF2-863F-D5EB-DD1B-93F56687F962}"/>
              </a:ext>
            </a:extLst>
          </p:cNvPr>
          <p:cNvSpPr/>
          <p:nvPr/>
        </p:nvSpPr>
        <p:spPr>
          <a:xfrm>
            <a:off x="859706" y="20267081"/>
            <a:ext cx="1285503"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Monitoring Systems</a:t>
            </a:r>
            <a:endParaRPr lang="en-US" sz="1050" dirty="0">
              <a:latin typeface="Leelawadee UI" panose="020B0502040204020203" pitchFamily="34" charset="-34"/>
              <a:cs typeface="Leelawadee UI" panose="020B0502040204020203" pitchFamily="34" charset="-34"/>
            </a:endParaRPr>
          </a:p>
        </p:txBody>
      </p:sp>
      <p:sp>
        <p:nvSpPr>
          <p:cNvPr id="236" name="Text 7">
            <a:extLst>
              <a:ext uri="{FF2B5EF4-FFF2-40B4-BE49-F238E27FC236}">
                <a16:creationId xmlns:a16="http://schemas.microsoft.com/office/drawing/2014/main" id="{8D8D0280-B5F6-7973-8E1F-DFB72B19AB5B}"/>
              </a:ext>
            </a:extLst>
          </p:cNvPr>
          <p:cNvSpPr/>
          <p:nvPr/>
        </p:nvSpPr>
        <p:spPr>
          <a:xfrm>
            <a:off x="505271" y="20555171"/>
            <a:ext cx="3699197" cy="527523"/>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Mengembangkan sistem pemantauan lanskap yang terintegrasi dan partisipatif, melibatkan komunitas lokal dan lembaga pemerintah.</a:t>
            </a:r>
            <a:endParaRPr lang="en-US" sz="950" dirty="0">
              <a:latin typeface="Leelawadee UI" panose="020B0502040204020203" pitchFamily="34" charset="-34"/>
              <a:cs typeface="Leelawadee UI" panose="020B0502040204020203" pitchFamily="34" charset="-34"/>
            </a:endParaRPr>
          </a:p>
        </p:txBody>
      </p:sp>
      <p:pic>
        <p:nvPicPr>
          <p:cNvPr id="237" name="Image 3" descr="preencoded.png">
            <a:extLst>
              <a:ext uri="{FF2B5EF4-FFF2-40B4-BE49-F238E27FC236}">
                <a16:creationId xmlns:a16="http://schemas.microsoft.com/office/drawing/2014/main" id="{B7A938AB-5F3C-F905-FC45-A538EB53DFB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295328" y="20239806"/>
            <a:ext cx="237381" cy="237381"/>
          </a:xfrm>
          <a:prstGeom prst="rect">
            <a:avLst/>
          </a:prstGeom>
        </p:spPr>
      </p:pic>
      <p:sp>
        <p:nvSpPr>
          <p:cNvPr id="238" name="Text 8">
            <a:extLst>
              <a:ext uri="{FF2B5EF4-FFF2-40B4-BE49-F238E27FC236}">
                <a16:creationId xmlns:a16="http://schemas.microsoft.com/office/drawing/2014/main" id="{A71D74D6-B1DD-80A1-271F-BC2A7E8A1714}"/>
              </a:ext>
            </a:extLst>
          </p:cNvPr>
          <p:cNvSpPr/>
          <p:nvPr/>
        </p:nvSpPr>
        <p:spPr>
          <a:xfrm>
            <a:off x="4649763" y="20267081"/>
            <a:ext cx="1548705"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Knowledge Management</a:t>
            </a:r>
            <a:endParaRPr lang="en-US" sz="1050" dirty="0">
              <a:latin typeface="Leelawadee UI" panose="020B0502040204020203" pitchFamily="34" charset="-34"/>
              <a:cs typeface="Leelawadee UI" panose="020B0502040204020203" pitchFamily="34" charset="-34"/>
            </a:endParaRPr>
          </a:p>
        </p:txBody>
      </p:sp>
      <p:sp>
        <p:nvSpPr>
          <p:cNvPr id="239" name="Text 9">
            <a:extLst>
              <a:ext uri="{FF2B5EF4-FFF2-40B4-BE49-F238E27FC236}">
                <a16:creationId xmlns:a16="http://schemas.microsoft.com/office/drawing/2014/main" id="{2D9F09F0-30C5-8E46-C354-6E627759DED8}"/>
              </a:ext>
            </a:extLst>
          </p:cNvPr>
          <p:cNvSpPr/>
          <p:nvPr/>
        </p:nvSpPr>
        <p:spPr>
          <a:xfrm>
            <a:off x="4295328" y="20555172"/>
            <a:ext cx="3699197" cy="527522"/>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Mengelola pengetahuan organisasi agar dapat diakses, dimanfaatkan, dan diwariskan secara berkelanjutan melampaui siklus proyek.</a:t>
            </a:r>
            <a:endParaRPr lang="en-US" sz="950" dirty="0">
              <a:latin typeface="Leelawadee UI" panose="020B0502040204020203" pitchFamily="34" charset="-34"/>
              <a:cs typeface="Leelawadee UI" panose="020B0502040204020203" pitchFamily="34" charset="-34"/>
            </a:endParaRPr>
          </a:p>
        </p:txBody>
      </p:sp>
      <p:pic>
        <p:nvPicPr>
          <p:cNvPr id="240" name="Image 4" descr="preencoded.png">
            <a:extLst>
              <a:ext uri="{FF2B5EF4-FFF2-40B4-BE49-F238E27FC236}">
                <a16:creationId xmlns:a16="http://schemas.microsoft.com/office/drawing/2014/main" id="{C245C444-2738-648D-41DB-50824C45354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05271" y="21173553"/>
            <a:ext cx="237381" cy="237381"/>
          </a:xfrm>
          <a:prstGeom prst="rect">
            <a:avLst/>
          </a:prstGeom>
        </p:spPr>
      </p:pic>
      <p:sp>
        <p:nvSpPr>
          <p:cNvPr id="241" name="Text 10">
            <a:extLst>
              <a:ext uri="{FF2B5EF4-FFF2-40B4-BE49-F238E27FC236}">
                <a16:creationId xmlns:a16="http://schemas.microsoft.com/office/drawing/2014/main" id="{F428E0C3-A70C-919C-DFD2-DBD5889806D1}"/>
              </a:ext>
            </a:extLst>
          </p:cNvPr>
          <p:cNvSpPr/>
          <p:nvPr/>
        </p:nvSpPr>
        <p:spPr>
          <a:xfrm>
            <a:off x="882911" y="21236767"/>
            <a:ext cx="1187128"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Digital Platforms</a:t>
            </a:r>
            <a:endParaRPr lang="en-US" sz="1050" dirty="0">
              <a:latin typeface="Leelawadee UI" panose="020B0502040204020203" pitchFamily="34" charset="-34"/>
              <a:cs typeface="Leelawadee UI" panose="020B0502040204020203" pitchFamily="34" charset="-34"/>
            </a:endParaRPr>
          </a:p>
        </p:txBody>
      </p:sp>
      <p:sp>
        <p:nvSpPr>
          <p:cNvPr id="242" name="Text 11">
            <a:extLst>
              <a:ext uri="{FF2B5EF4-FFF2-40B4-BE49-F238E27FC236}">
                <a16:creationId xmlns:a16="http://schemas.microsoft.com/office/drawing/2014/main" id="{8B3AE97E-6833-FBAF-60C7-4B01DA82973E}"/>
              </a:ext>
            </a:extLst>
          </p:cNvPr>
          <p:cNvSpPr/>
          <p:nvPr/>
        </p:nvSpPr>
        <p:spPr>
          <a:xfrm>
            <a:off x="488029" y="21485458"/>
            <a:ext cx="3699197" cy="527523"/>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Mengembangkan platform digital untuk berbagi data dan informasi lanskap kepada seluruh pemangku kepentingan secara terbuka dan mudah diakses.</a:t>
            </a:r>
            <a:endParaRPr lang="en-US" sz="950" dirty="0">
              <a:latin typeface="Leelawadee UI" panose="020B0502040204020203" pitchFamily="34" charset="-34"/>
              <a:cs typeface="Leelawadee UI" panose="020B0502040204020203" pitchFamily="34" charset="-34"/>
            </a:endParaRPr>
          </a:p>
        </p:txBody>
      </p:sp>
      <p:pic>
        <p:nvPicPr>
          <p:cNvPr id="243" name="Image 5" descr="preencoded.png">
            <a:extLst>
              <a:ext uri="{FF2B5EF4-FFF2-40B4-BE49-F238E27FC236}">
                <a16:creationId xmlns:a16="http://schemas.microsoft.com/office/drawing/2014/main" id="{F21981C9-F059-B47F-1EF6-F3F5BFEECEE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295328" y="21173553"/>
            <a:ext cx="237381" cy="237381"/>
          </a:xfrm>
          <a:prstGeom prst="rect">
            <a:avLst/>
          </a:prstGeom>
        </p:spPr>
      </p:pic>
      <p:sp>
        <p:nvSpPr>
          <p:cNvPr id="244" name="Text 12">
            <a:extLst>
              <a:ext uri="{FF2B5EF4-FFF2-40B4-BE49-F238E27FC236}">
                <a16:creationId xmlns:a16="http://schemas.microsoft.com/office/drawing/2014/main" id="{1EEAF261-11C3-C806-9A86-0B86E09036F0}"/>
              </a:ext>
            </a:extLst>
          </p:cNvPr>
          <p:cNvSpPr/>
          <p:nvPr/>
        </p:nvSpPr>
        <p:spPr>
          <a:xfrm>
            <a:off x="4672968" y="21236767"/>
            <a:ext cx="1187128"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Data Analytics</a:t>
            </a:r>
            <a:endParaRPr lang="en-US" sz="1050" dirty="0">
              <a:latin typeface="Leelawadee UI" panose="020B0502040204020203" pitchFamily="34" charset="-34"/>
              <a:cs typeface="Leelawadee UI" panose="020B0502040204020203" pitchFamily="34" charset="-34"/>
            </a:endParaRPr>
          </a:p>
        </p:txBody>
      </p:sp>
      <p:sp>
        <p:nvSpPr>
          <p:cNvPr id="245" name="Text 13">
            <a:extLst>
              <a:ext uri="{FF2B5EF4-FFF2-40B4-BE49-F238E27FC236}">
                <a16:creationId xmlns:a16="http://schemas.microsoft.com/office/drawing/2014/main" id="{65A511F6-3510-16C3-D292-CA760E2A57E3}"/>
              </a:ext>
            </a:extLst>
          </p:cNvPr>
          <p:cNvSpPr/>
          <p:nvPr/>
        </p:nvSpPr>
        <p:spPr>
          <a:xfrm>
            <a:off x="4278086" y="21485459"/>
            <a:ext cx="3699197" cy="527522"/>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Menganalisis data multidimensi untuk menghasilkan wawasan strategis dan rekomendasi kebijakan yang dapat ditindaklanjuti.</a:t>
            </a:r>
            <a:endParaRPr lang="en-US" sz="950" dirty="0">
              <a:latin typeface="Leelawadee UI" panose="020B0502040204020203" pitchFamily="34" charset="-34"/>
              <a:cs typeface="Leelawadee UI" panose="020B0502040204020203" pitchFamily="34" charset="-34"/>
            </a:endParaRPr>
          </a:p>
        </p:txBody>
      </p:sp>
      <p:pic>
        <p:nvPicPr>
          <p:cNvPr id="246" name="Image 6" descr="preencoded.png">
            <a:extLst>
              <a:ext uri="{FF2B5EF4-FFF2-40B4-BE49-F238E27FC236}">
                <a16:creationId xmlns:a16="http://schemas.microsoft.com/office/drawing/2014/main" id="{43BA785D-CCF1-61F8-FD7B-084F67813C5A}"/>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05271" y="22107301"/>
            <a:ext cx="237381" cy="237381"/>
          </a:xfrm>
          <a:prstGeom prst="rect">
            <a:avLst/>
          </a:prstGeom>
        </p:spPr>
      </p:pic>
      <p:sp>
        <p:nvSpPr>
          <p:cNvPr id="247" name="Text 14">
            <a:extLst>
              <a:ext uri="{FF2B5EF4-FFF2-40B4-BE49-F238E27FC236}">
                <a16:creationId xmlns:a16="http://schemas.microsoft.com/office/drawing/2014/main" id="{C8467C5F-2D2A-A772-5A37-463333E88F52}"/>
              </a:ext>
            </a:extLst>
          </p:cNvPr>
          <p:cNvSpPr/>
          <p:nvPr/>
        </p:nvSpPr>
        <p:spPr>
          <a:xfrm>
            <a:off x="796676" y="22132602"/>
            <a:ext cx="1464246"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Landscape Intelligence</a:t>
            </a:r>
            <a:endParaRPr lang="en-US" sz="1050" dirty="0">
              <a:latin typeface="Leelawadee UI" panose="020B0502040204020203" pitchFamily="34" charset="-34"/>
              <a:cs typeface="Leelawadee UI" panose="020B0502040204020203" pitchFamily="34" charset="-34"/>
            </a:endParaRPr>
          </a:p>
        </p:txBody>
      </p:sp>
      <p:sp>
        <p:nvSpPr>
          <p:cNvPr id="248" name="Text 15">
            <a:extLst>
              <a:ext uri="{FF2B5EF4-FFF2-40B4-BE49-F238E27FC236}">
                <a16:creationId xmlns:a16="http://schemas.microsoft.com/office/drawing/2014/main" id="{C790BA31-162D-9B9B-7533-E4CAC43E69BA}"/>
              </a:ext>
            </a:extLst>
          </p:cNvPr>
          <p:cNvSpPr/>
          <p:nvPr/>
        </p:nvSpPr>
        <p:spPr>
          <a:xfrm>
            <a:off x="505271" y="22351899"/>
            <a:ext cx="3699197" cy="719435"/>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Membangun sistem intelijen lanskap yang mengintegrasikan data, pengetahuan, dan pembelajaran lintas program untuk mendukung keputusan strategis.</a:t>
            </a:r>
            <a:endParaRPr lang="en-US" sz="950" dirty="0">
              <a:latin typeface="Leelawadee UI" panose="020B0502040204020203" pitchFamily="34" charset="-34"/>
              <a:cs typeface="Leelawadee UI" panose="020B0502040204020203" pitchFamily="34" charset="-34"/>
            </a:endParaRPr>
          </a:p>
        </p:txBody>
      </p:sp>
      <p:pic>
        <p:nvPicPr>
          <p:cNvPr id="249" name="Image 7" descr="preencoded.png">
            <a:extLst>
              <a:ext uri="{FF2B5EF4-FFF2-40B4-BE49-F238E27FC236}">
                <a16:creationId xmlns:a16="http://schemas.microsoft.com/office/drawing/2014/main" id="{24DFFF98-796E-1917-A53E-5F9C75BD86C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295328" y="22107301"/>
            <a:ext cx="237381" cy="237381"/>
          </a:xfrm>
          <a:prstGeom prst="rect">
            <a:avLst/>
          </a:prstGeom>
        </p:spPr>
      </p:pic>
      <p:sp>
        <p:nvSpPr>
          <p:cNvPr id="250" name="Text 16">
            <a:extLst>
              <a:ext uri="{FF2B5EF4-FFF2-40B4-BE49-F238E27FC236}">
                <a16:creationId xmlns:a16="http://schemas.microsoft.com/office/drawing/2014/main" id="{77D9111E-F54D-A727-4CE6-04CEE133FE65}"/>
              </a:ext>
            </a:extLst>
          </p:cNvPr>
          <p:cNvSpPr/>
          <p:nvPr/>
        </p:nvSpPr>
        <p:spPr>
          <a:xfrm>
            <a:off x="4586733" y="22132602"/>
            <a:ext cx="1352848" cy="148307"/>
          </a:xfrm>
          <a:prstGeom prst="rect">
            <a:avLst/>
          </a:prstGeom>
          <a:noFill/>
          <a:ln/>
        </p:spPr>
        <p:txBody>
          <a:bodyPr wrap="none" lIns="0" tIns="0" rIns="0" bIns="0" rtlCol="0" anchor="t"/>
          <a:lstStyle/>
          <a:p>
            <a:pPr marL="0" indent="0" algn="l">
              <a:lnSpc>
                <a:spcPct val="104000"/>
              </a:lnSpc>
              <a:buNone/>
            </a:pPr>
            <a:r>
              <a:rPr lang="en-US" sz="10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 Knowledge Exchange</a:t>
            </a:r>
            <a:endParaRPr lang="en-US" sz="1050" dirty="0">
              <a:latin typeface="Leelawadee UI" panose="020B0502040204020203" pitchFamily="34" charset="-34"/>
              <a:cs typeface="Leelawadee UI" panose="020B0502040204020203" pitchFamily="34" charset="-34"/>
            </a:endParaRPr>
          </a:p>
        </p:txBody>
      </p:sp>
      <p:sp>
        <p:nvSpPr>
          <p:cNvPr id="251" name="Text 17">
            <a:extLst>
              <a:ext uri="{FF2B5EF4-FFF2-40B4-BE49-F238E27FC236}">
                <a16:creationId xmlns:a16="http://schemas.microsoft.com/office/drawing/2014/main" id="{4DD54D9C-CF1F-4CF0-04AA-D2780C89533F}"/>
              </a:ext>
            </a:extLst>
          </p:cNvPr>
          <p:cNvSpPr/>
          <p:nvPr/>
        </p:nvSpPr>
        <p:spPr>
          <a:xfrm>
            <a:off x="4295328" y="22351900"/>
            <a:ext cx="3699197" cy="527372"/>
          </a:xfrm>
          <a:prstGeom prst="rect">
            <a:avLst/>
          </a:prstGeom>
          <a:noFill/>
          <a:ln/>
        </p:spPr>
        <p:txBody>
          <a:bodyPr wrap="square" lIns="0" tIns="0" rIns="0" bIns="0" rtlCol="0" anchor="t">
            <a:normAutofit/>
          </a:bodyPr>
          <a:lstStyle/>
          <a:p>
            <a:pPr marL="0" indent="0" algn="l">
              <a:lnSpc>
                <a:spcPct val="118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Memfasilitasi pertukaran pengetahuan lintas lanskap dan lintas pemangku kepentingan untuk mempercepat pembelajaran dan adopsi praktik terbaik.</a:t>
            </a:r>
            <a:endParaRPr lang="en-US" sz="950" dirty="0">
              <a:latin typeface="Leelawadee UI" panose="020B0502040204020203" pitchFamily="34" charset="-34"/>
              <a:cs typeface="Leelawadee UI" panose="020B0502040204020203" pitchFamily="34" charset="-34"/>
            </a:endParaRPr>
          </a:p>
        </p:txBody>
      </p:sp>
      <p:sp>
        <p:nvSpPr>
          <p:cNvPr id="252" name="Text 0">
            <a:extLst>
              <a:ext uri="{FF2B5EF4-FFF2-40B4-BE49-F238E27FC236}">
                <a16:creationId xmlns:a16="http://schemas.microsoft.com/office/drawing/2014/main" id="{6B056CB1-DBE5-49B5-5C07-01981072EDB9}"/>
              </a:ext>
            </a:extLst>
          </p:cNvPr>
          <p:cNvSpPr/>
          <p:nvPr/>
        </p:nvSpPr>
        <p:spPr>
          <a:xfrm>
            <a:off x="2307802" y="23071335"/>
            <a:ext cx="2434903" cy="218033"/>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Contoh Inisiatif Program</a:t>
            </a:r>
            <a:endParaRPr lang="en-US" sz="2000" dirty="0">
              <a:latin typeface="Leelawadee UI" panose="020B0502040204020203" pitchFamily="34" charset="-34"/>
              <a:cs typeface="Leelawadee UI" panose="020B0502040204020203" pitchFamily="34" charset="-34"/>
            </a:endParaRPr>
          </a:p>
        </p:txBody>
      </p:sp>
      <p:sp>
        <p:nvSpPr>
          <p:cNvPr id="253" name="Text 1">
            <a:extLst>
              <a:ext uri="{FF2B5EF4-FFF2-40B4-BE49-F238E27FC236}">
                <a16:creationId xmlns:a16="http://schemas.microsoft.com/office/drawing/2014/main" id="{E9B31F81-51A3-2B11-849E-26C0DD2FB4E3}"/>
              </a:ext>
            </a:extLst>
          </p:cNvPr>
          <p:cNvSpPr/>
          <p:nvPr/>
        </p:nvSpPr>
        <p:spPr>
          <a:xfrm>
            <a:off x="547191" y="23443926"/>
            <a:ext cx="8041157" cy="322883"/>
          </a:xfrm>
          <a:prstGeom prst="rect">
            <a:avLst/>
          </a:prstGeom>
          <a:noFill/>
          <a:ln/>
        </p:spPr>
        <p:txBody>
          <a:bodyPr wrap="none" lIns="0" tIns="0" rIns="0" bIns="0" rtlCol="0" anchor="t"/>
          <a:lstStyle/>
          <a:p>
            <a:pPr marL="0" indent="0">
              <a:lnSpc>
                <a:spcPct val="104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Inisiatif-inisiatif konkret yang telah dan sedang dijalankan YNKI sebagai wujud nyata Landscape Intelligence &amp; Innovation Program di lapangan.</a:t>
            </a:r>
            <a:endParaRPr lang="en-US" sz="1000" dirty="0">
              <a:latin typeface="Leelawadee UI" panose="020B0502040204020203" pitchFamily="34" charset="-34"/>
              <a:cs typeface="Leelawadee UI" panose="020B0502040204020203" pitchFamily="34" charset="-34"/>
            </a:endParaRPr>
          </a:p>
        </p:txBody>
      </p:sp>
      <p:pic>
        <p:nvPicPr>
          <p:cNvPr id="254" name="Image 0" descr="preencoded.png">
            <a:extLst>
              <a:ext uri="{FF2B5EF4-FFF2-40B4-BE49-F238E27FC236}">
                <a16:creationId xmlns:a16="http://schemas.microsoft.com/office/drawing/2014/main" id="{C11A63F9-5BEC-4D43-E906-7C436A7DBD86}"/>
              </a:ext>
            </a:extLst>
          </p:cNvPr>
          <p:cNvPicPr>
            <a:picLocks noChangeAspect="1"/>
          </p:cNvPicPr>
          <p:nvPr/>
        </p:nvPicPr>
        <p:blipFill>
          <a:blip r:embed="rId20"/>
          <a:stretch>
            <a:fillRect/>
          </a:stretch>
        </p:blipFill>
        <p:spPr>
          <a:xfrm>
            <a:off x="508027" y="23777897"/>
            <a:ext cx="1338783" cy="827410"/>
          </a:xfrm>
          <a:prstGeom prst="rect">
            <a:avLst/>
          </a:prstGeom>
        </p:spPr>
      </p:pic>
      <p:sp>
        <p:nvSpPr>
          <p:cNvPr id="255" name="Text 2">
            <a:extLst>
              <a:ext uri="{FF2B5EF4-FFF2-40B4-BE49-F238E27FC236}">
                <a16:creationId xmlns:a16="http://schemas.microsoft.com/office/drawing/2014/main" id="{7F93ED76-AF42-795A-A9CF-D155C7DBF2E2}"/>
              </a:ext>
            </a:extLst>
          </p:cNvPr>
          <p:cNvSpPr/>
          <p:nvPr/>
        </p:nvSpPr>
        <p:spPr>
          <a:xfrm>
            <a:off x="480897" y="24666433"/>
            <a:ext cx="1724393" cy="350565"/>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 Analisis Spasial Kebakaran Hutan di Lanskap Gambut Pesisir Delta Kapuas</a:t>
            </a:r>
            <a:endParaRPr lang="en-US" sz="950" dirty="0">
              <a:latin typeface="Leelawadee UI" panose="020B0502040204020203" pitchFamily="34" charset="-34"/>
              <a:cs typeface="Leelawadee UI" panose="020B0502040204020203" pitchFamily="34" charset="-34"/>
            </a:endParaRPr>
          </a:p>
        </p:txBody>
      </p:sp>
      <p:sp>
        <p:nvSpPr>
          <p:cNvPr id="256" name="Text 3">
            <a:extLst>
              <a:ext uri="{FF2B5EF4-FFF2-40B4-BE49-F238E27FC236}">
                <a16:creationId xmlns:a16="http://schemas.microsoft.com/office/drawing/2014/main" id="{DF5611C5-49CD-B8F2-B9A5-555C5AC2F215}"/>
              </a:ext>
            </a:extLst>
          </p:cNvPr>
          <p:cNvSpPr/>
          <p:nvPr/>
        </p:nvSpPr>
        <p:spPr>
          <a:xfrm>
            <a:off x="458167" y="25234232"/>
            <a:ext cx="1663080" cy="2007414"/>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melakukan analisis spasial yang mengungkap bahwa rata-rata kebakaran hutan dan lahan (karhutla) seluas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51.130 hektar</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terjadi setiap tahunnya di Lanskap Gambut Pesisir Delta Kapuas sejak 2015–2019. Analisis ini menjadi dasar bagi perencanaan restorasi dan pencegahan kebakaran berbasis data di gambut Kalimantan Barat.</a:t>
            </a:r>
            <a:endParaRPr lang="en-US" sz="900" dirty="0">
              <a:latin typeface="Leelawadee UI" panose="020B0502040204020203" pitchFamily="34" charset="-34"/>
              <a:cs typeface="Leelawadee UI" panose="020B0502040204020203" pitchFamily="34" charset="-34"/>
            </a:endParaRPr>
          </a:p>
        </p:txBody>
      </p:sp>
      <p:pic>
        <p:nvPicPr>
          <p:cNvPr id="257" name="Image 1" descr="preencoded.png">
            <a:extLst>
              <a:ext uri="{FF2B5EF4-FFF2-40B4-BE49-F238E27FC236}">
                <a16:creationId xmlns:a16="http://schemas.microsoft.com/office/drawing/2014/main" id="{15ADFA95-BB3F-1F85-313C-00AEBD82BBFC}"/>
              </a:ext>
            </a:extLst>
          </p:cNvPr>
          <p:cNvPicPr>
            <a:picLocks noChangeAspect="1"/>
          </p:cNvPicPr>
          <p:nvPr/>
        </p:nvPicPr>
        <p:blipFill>
          <a:blip r:embed="rId21"/>
          <a:stretch>
            <a:fillRect/>
          </a:stretch>
        </p:blipFill>
        <p:spPr>
          <a:xfrm>
            <a:off x="2390007" y="23716506"/>
            <a:ext cx="1338783" cy="827410"/>
          </a:xfrm>
          <a:prstGeom prst="rect">
            <a:avLst/>
          </a:prstGeom>
        </p:spPr>
      </p:pic>
      <p:sp>
        <p:nvSpPr>
          <p:cNvPr id="258" name="Text 4">
            <a:extLst>
              <a:ext uri="{FF2B5EF4-FFF2-40B4-BE49-F238E27FC236}">
                <a16:creationId xmlns:a16="http://schemas.microsoft.com/office/drawing/2014/main" id="{286007C0-D5AC-3B2D-31A7-3A5D9D2F373C}"/>
              </a:ext>
            </a:extLst>
          </p:cNvPr>
          <p:cNvSpPr/>
          <p:nvPr/>
        </p:nvSpPr>
        <p:spPr>
          <a:xfrm>
            <a:off x="2257649" y="24605043"/>
            <a:ext cx="1444012" cy="244178"/>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 Platform Keterlacakan Karet "Mokkalita"</a:t>
            </a:r>
            <a:endParaRPr lang="en-US" sz="950" dirty="0">
              <a:latin typeface="Leelawadee UI" panose="020B0502040204020203" pitchFamily="34" charset="-34"/>
              <a:cs typeface="Leelawadee UI" panose="020B0502040204020203" pitchFamily="34" charset="-34"/>
            </a:endParaRPr>
          </a:p>
        </p:txBody>
      </p:sp>
      <p:sp>
        <p:nvSpPr>
          <p:cNvPr id="259" name="Text 5">
            <a:extLst>
              <a:ext uri="{FF2B5EF4-FFF2-40B4-BE49-F238E27FC236}">
                <a16:creationId xmlns:a16="http://schemas.microsoft.com/office/drawing/2014/main" id="{D48D0B39-7D2F-13AE-A3B0-B74449C31B14}"/>
              </a:ext>
            </a:extLst>
          </p:cNvPr>
          <p:cNvSpPr/>
          <p:nvPr/>
        </p:nvSpPr>
        <p:spPr>
          <a:xfrm>
            <a:off x="2299792" y="25083937"/>
            <a:ext cx="1617115" cy="1914925"/>
          </a:xfrm>
          <a:prstGeom prst="rect">
            <a:avLst/>
          </a:prstGeom>
          <a:noFill/>
          <a:ln/>
        </p:spPr>
        <p:txBody>
          <a:bodyPr wrap="square" lIns="0" tIns="0" rIns="0" bIns="0" rtlCol="0" anchor="t">
            <a:noAutofit/>
          </a:bodyPr>
          <a:lstStyle/>
          <a:p>
            <a:pPr marL="0" indent="0" algn="l">
              <a:lnSpc>
                <a:spcPct val="10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mendukung Dinas Perkebunan Kalimantan Barat dalam pengembangan </a:t>
            </a: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Mokkalita</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(Model Ketertelusuran Karet Kalimantan Barat)—platform digital untuk memastikan produk karet dapat ditelusuri asal-usulnya, mendukung praktik budidaya berkelanjutan, dan menjawab regulasi global seperti EUDR.</a:t>
            </a:r>
            <a:endParaRPr lang="en-US" sz="900" dirty="0">
              <a:latin typeface="Leelawadee UI" panose="020B0502040204020203" pitchFamily="34" charset="-34"/>
              <a:cs typeface="Leelawadee UI" panose="020B0502040204020203" pitchFamily="34" charset="-34"/>
            </a:endParaRPr>
          </a:p>
        </p:txBody>
      </p:sp>
      <p:pic>
        <p:nvPicPr>
          <p:cNvPr id="260" name="Image 2" descr="preencoded.png">
            <a:extLst>
              <a:ext uri="{FF2B5EF4-FFF2-40B4-BE49-F238E27FC236}">
                <a16:creationId xmlns:a16="http://schemas.microsoft.com/office/drawing/2014/main" id="{1856454F-B497-B3F8-1270-88D396AEC59D}"/>
              </a:ext>
            </a:extLst>
          </p:cNvPr>
          <p:cNvPicPr>
            <a:picLocks noChangeAspect="1"/>
          </p:cNvPicPr>
          <p:nvPr/>
        </p:nvPicPr>
        <p:blipFill>
          <a:blip r:embed="rId22"/>
          <a:stretch>
            <a:fillRect/>
          </a:stretch>
        </p:blipFill>
        <p:spPr>
          <a:xfrm>
            <a:off x="4023493" y="23687375"/>
            <a:ext cx="1338783" cy="827410"/>
          </a:xfrm>
          <a:prstGeom prst="rect">
            <a:avLst/>
          </a:prstGeom>
        </p:spPr>
      </p:pic>
      <p:sp>
        <p:nvSpPr>
          <p:cNvPr id="261" name="Text 6">
            <a:extLst>
              <a:ext uri="{FF2B5EF4-FFF2-40B4-BE49-F238E27FC236}">
                <a16:creationId xmlns:a16="http://schemas.microsoft.com/office/drawing/2014/main" id="{21C4BB3E-38FE-2824-DEB3-08C2A8BBCB79}"/>
              </a:ext>
            </a:extLst>
          </p:cNvPr>
          <p:cNvSpPr/>
          <p:nvPr/>
        </p:nvSpPr>
        <p:spPr>
          <a:xfrm>
            <a:off x="3996363" y="24575912"/>
            <a:ext cx="1338783" cy="21803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 Sistem Informasi Lanskap untuk Kebijakan Berbasis Data</a:t>
            </a:r>
            <a:endParaRPr lang="en-US" sz="950" dirty="0">
              <a:latin typeface="Leelawadee UI" panose="020B0502040204020203" pitchFamily="34" charset="-34"/>
              <a:cs typeface="Leelawadee UI" panose="020B0502040204020203" pitchFamily="34" charset="-34"/>
            </a:endParaRPr>
          </a:p>
        </p:txBody>
      </p:sp>
      <p:sp>
        <p:nvSpPr>
          <p:cNvPr id="262" name="Text 7">
            <a:extLst>
              <a:ext uri="{FF2B5EF4-FFF2-40B4-BE49-F238E27FC236}">
                <a16:creationId xmlns:a16="http://schemas.microsoft.com/office/drawing/2014/main" id="{0413D4A9-E6A1-2163-8A60-2257ED2DFEC2}"/>
              </a:ext>
            </a:extLst>
          </p:cNvPr>
          <p:cNvSpPr/>
          <p:nvPr/>
        </p:nvSpPr>
        <p:spPr>
          <a:xfrm>
            <a:off x="3991217" y="25111865"/>
            <a:ext cx="1512093" cy="1406366"/>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mengembangkan sistem informasi lanskap yang mengintegrasikan data spasial, sosial-ekonomi, dan lingkungan untuk mendukung perencanaan pembangunan berbasis lanskap di tingkat desa, kabupaten, dan provinsi.</a:t>
            </a:r>
            <a:endParaRPr lang="en-US" sz="900" dirty="0">
              <a:latin typeface="Leelawadee UI" panose="020B0502040204020203" pitchFamily="34" charset="-34"/>
              <a:cs typeface="Leelawadee UI" panose="020B0502040204020203" pitchFamily="34" charset="-34"/>
            </a:endParaRPr>
          </a:p>
        </p:txBody>
      </p:sp>
      <p:pic>
        <p:nvPicPr>
          <p:cNvPr id="263" name="Image 3" descr="preencoded.png">
            <a:extLst>
              <a:ext uri="{FF2B5EF4-FFF2-40B4-BE49-F238E27FC236}">
                <a16:creationId xmlns:a16="http://schemas.microsoft.com/office/drawing/2014/main" id="{EC9EC48F-7FE1-B764-68FF-EA111659280D}"/>
              </a:ext>
            </a:extLst>
          </p:cNvPr>
          <p:cNvPicPr>
            <a:picLocks noChangeAspect="1"/>
          </p:cNvPicPr>
          <p:nvPr/>
        </p:nvPicPr>
        <p:blipFill>
          <a:blip r:embed="rId23"/>
          <a:stretch>
            <a:fillRect/>
          </a:stretch>
        </p:blipFill>
        <p:spPr>
          <a:xfrm>
            <a:off x="5643331" y="23687375"/>
            <a:ext cx="1338858" cy="827410"/>
          </a:xfrm>
          <a:prstGeom prst="rect">
            <a:avLst/>
          </a:prstGeom>
        </p:spPr>
      </p:pic>
      <p:sp>
        <p:nvSpPr>
          <p:cNvPr id="264" name="Text 8">
            <a:extLst>
              <a:ext uri="{FF2B5EF4-FFF2-40B4-BE49-F238E27FC236}">
                <a16:creationId xmlns:a16="http://schemas.microsoft.com/office/drawing/2014/main" id="{8B5F1DFD-F751-5E72-65EC-3FC9AA7E4003}"/>
              </a:ext>
            </a:extLst>
          </p:cNvPr>
          <p:cNvSpPr/>
          <p:nvPr/>
        </p:nvSpPr>
        <p:spPr>
          <a:xfrm>
            <a:off x="5616201" y="24575912"/>
            <a:ext cx="1338858" cy="21803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 Pemantauan Restorasi Gambut Berbasis Citra Satelit</a:t>
            </a:r>
            <a:endParaRPr lang="en-US" sz="950" dirty="0">
              <a:latin typeface="Leelawadee UI" panose="020B0502040204020203" pitchFamily="34" charset="-34"/>
              <a:cs typeface="Leelawadee UI" panose="020B0502040204020203" pitchFamily="34" charset="-34"/>
            </a:endParaRPr>
          </a:p>
        </p:txBody>
      </p:sp>
      <p:sp>
        <p:nvSpPr>
          <p:cNvPr id="265" name="Text 9">
            <a:extLst>
              <a:ext uri="{FF2B5EF4-FFF2-40B4-BE49-F238E27FC236}">
                <a16:creationId xmlns:a16="http://schemas.microsoft.com/office/drawing/2014/main" id="{9CA58A59-3AC5-7912-7DC6-74568CB28CBC}"/>
              </a:ext>
            </a:extLst>
          </p:cNvPr>
          <p:cNvSpPr/>
          <p:nvPr/>
        </p:nvSpPr>
        <p:spPr>
          <a:xfrm>
            <a:off x="5594144" y="25151058"/>
            <a:ext cx="1584577" cy="1501901"/>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memanfaatkan teknologi penginderaan jauh untuk memantau perkembangan restorasi gambut di lanskap prioritas—meliputi pemantauan tutupan lahan, tingkat kebakaran, dan pemulihan ekosistem—guna memastikan efektivitas intervensi restorasi.</a:t>
            </a:r>
            <a:endParaRPr lang="en-US" sz="900" dirty="0">
              <a:latin typeface="Leelawadee UI" panose="020B0502040204020203" pitchFamily="34" charset="-34"/>
              <a:cs typeface="Leelawadee UI" panose="020B0502040204020203" pitchFamily="34" charset="-34"/>
            </a:endParaRPr>
          </a:p>
        </p:txBody>
      </p:sp>
      <p:pic>
        <p:nvPicPr>
          <p:cNvPr id="266" name="Image 4" descr="preencoded.png">
            <a:extLst>
              <a:ext uri="{FF2B5EF4-FFF2-40B4-BE49-F238E27FC236}">
                <a16:creationId xmlns:a16="http://schemas.microsoft.com/office/drawing/2014/main" id="{35C559ED-3FB1-44E4-48BA-00F1518318A8}"/>
              </a:ext>
            </a:extLst>
          </p:cNvPr>
          <p:cNvPicPr>
            <a:picLocks noChangeAspect="1"/>
          </p:cNvPicPr>
          <p:nvPr/>
        </p:nvPicPr>
        <p:blipFill>
          <a:blip r:embed="rId24"/>
          <a:stretch>
            <a:fillRect/>
          </a:stretch>
        </p:blipFill>
        <p:spPr>
          <a:xfrm>
            <a:off x="7298635" y="23679517"/>
            <a:ext cx="1338783" cy="827410"/>
          </a:xfrm>
          <a:prstGeom prst="rect">
            <a:avLst/>
          </a:prstGeom>
        </p:spPr>
      </p:pic>
      <p:sp>
        <p:nvSpPr>
          <p:cNvPr id="267" name="Text 10">
            <a:extLst>
              <a:ext uri="{FF2B5EF4-FFF2-40B4-BE49-F238E27FC236}">
                <a16:creationId xmlns:a16="http://schemas.microsoft.com/office/drawing/2014/main" id="{ECB23087-6EEE-40C8-7037-D00ED36EF752}"/>
              </a:ext>
            </a:extLst>
          </p:cNvPr>
          <p:cNvSpPr/>
          <p:nvPr/>
        </p:nvSpPr>
        <p:spPr>
          <a:xfrm>
            <a:off x="7298635" y="24546143"/>
            <a:ext cx="1338783" cy="218033"/>
          </a:xfrm>
          <a:prstGeom prst="rect">
            <a:avLst/>
          </a:prstGeom>
          <a:noFill/>
          <a:ln/>
        </p:spPr>
        <p:txBody>
          <a:bodyPr wrap="square" lIns="0" tIns="0" rIns="0" bIns="0" rtlCol="0" anchor="t">
            <a:noAutofit/>
          </a:bodyPr>
          <a:lstStyle/>
          <a:p>
            <a:pPr marL="0" indent="0" algn="l">
              <a:lnSpc>
                <a:spcPct val="104000"/>
              </a:lnSpc>
              <a:buNone/>
            </a:pPr>
            <a:r>
              <a:rPr lang="en-US" sz="9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 Pengembangan Knowledge Management System Organisasi</a:t>
            </a:r>
            <a:endParaRPr lang="en-US" sz="950" dirty="0">
              <a:latin typeface="Leelawadee UI" panose="020B0502040204020203" pitchFamily="34" charset="-34"/>
              <a:cs typeface="Leelawadee UI" panose="020B0502040204020203" pitchFamily="34" charset="-34"/>
            </a:endParaRPr>
          </a:p>
        </p:txBody>
      </p:sp>
      <p:sp>
        <p:nvSpPr>
          <p:cNvPr id="268" name="Text 11">
            <a:extLst>
              <a:ext uri="{FF2B5EF4-FFF2-40B4-BE49-F238E27FC236}">
                <a16:creationId xmlns:a16="http://schemas.microsoft.com/office/drawing/2014/main" id="{04F77CC9-5763-6582-0149-5DD04FC8ED64}"/>
              </a:ext>
            </a:extLst>
          </p:cNvPr>
          <p:cNvSpPr/>
          <p:nvPr/>
        </p:nvSpPr>
        <p:spPr>
          <a:xfrm>
            <a:off x="7305429" y="25281650"/>
            <a:ext cx="1420236" cy="1932839"/>
          </a:xfrm>
          <a:prstGeom prst="rect">
            <a:avLst/>
          </a:prstGeom>
          <a:noFill/>
          <a:ln/>
        </p:spPr>
        <p:txBody>
          <a:bodyPr wrap="square" lIns="0" tIns="0" rIns="0" bIns="0" rtlCol="0" anchor="t">
            <a:normAutofit/>
          </a:bodyPr>
          <a:lstStyle/>
          <a:p>
            <a:pPr marL="0" indent="0" algn="l">
              <a:lnSpc>
                <a:spcPct val="104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membangun sistem pengelolaan pengetahuan (KMS) untuk memastikan bahwa pengalaman, data, pembelajaran, dan inovasi dari berbagai program tidak hilang ketika proyek berakhir, tetapi menjadi aset organisasi yang terus berkembang untuk perubahan jangka panjang.</a:t>
            </a:r>
            <a:endParaRPr lang="en-US" sz="900" dirty="0">
              <a:latin typeface="Leelawadee UI" panose="020B0502040204020203" pitchFamily="34" charset="-34"/>
              <a:cs typeface="Leelawadee UI" panose="020B0502040204020203" pitchFamily="34" charset="-34"/>
            </a:endParaRPr>
          </a:p>
        </p:txBody>
      </p:sp>
      <p:sp>
        <p:nvSpPr>
          <p:cNvPr id="269" name="Text 0">
            <a:extLst>
              <a:ext uri="{FF2B5EF4-FFF2-40B4-BE49-F238E27FC236}">
                <a16:creationId xmlns:a16="http://schemas.microsoft.com/office/drawing/2014/main" id="{77A37CCE-E2F8-46B4-BDF0-BE9B46A68997}"/>
              </a:ext>
            </a:extLst>
          </p:cNvPr>
          <p:cNvSpPr/>
          <p:nvPr/>
        </p:nvSpPr>
        <p:spPr>
          <a:xfrm>
            <a:off x="1343024" y="27135681"/>
            <a:ext cx="5264069" cy="684131"/>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Terintegrasi dengan Program Lain YNKI</a:t>
            </a:r>
            <a:endParaRPr lang="en-US" sz="2000" dirty="0">
              <a:latin typeface="Leelawadee UI" panose="020B0502040204020203" pitchFamily="34" charset="-34"/>
              <a:cs typeface="Leelawadee UI" panose="020B0502040204020203" pitchFamily="34" charset="-34"/>
            </a:endParaRPr>
          </a:p>
        </p:txBody>
      </p:sp>
      <p:sp>
        <p:nvSpPr>
          <p:cNvPr id="270" name="Text 1">
            <a:extLst>
              <a:ext uri="{FF2B5EF4-FFF2-40B4-BE49-F238E27FC236}">
                <a16:creationId xmlns:a16="http://schemas.microsoft.com/office/drawing/2014/main" id="{0B1CB9D3-5700-45F0-19AF-DD870862F3BD}"/>
              </a:ext>
            </a:extLst>
          </p:cNvPr>
          <p:cNvSpPr/>
          <p:nvPr/>
        </p:nvSpPr>
        <p:spPr>
          <a:xfrm>
            <a:off x="493774" y="27541182"/>
            <a:ext cx="7990358" cy="427558"/>
          </a:xfrm>
          <a:prstGeom prst="rect">
            <a:avLst/>
          </a:prstGeom>
          <a:noFill/>
          <a:ln/>
        </p:spPr>
        <p:txBody>
          <a:bodyPr wrap="square" lIns="0" tIns="0" rIns="0" bIns="0" rtlCol="0" anchor="t">
            <a:normAutofit/>
          </a:bodyPr>
          <a:lstStyle/>
          <a:p>
            <a:pPr marL="0" indent="0">
              <a:lnSpc>
                <a:spcPct val="10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Landscape Intelligence &amp; Innovation Program tidak berdiri sendiri. Program ini menjadi tulang punggung sistem pengetahuan yang mengaliri dan memperkuat empat program strategis lainnya dalam portofolio YNKI.</a:t>
            </a:r>
            <a:endParaRPr lang="en-US" sz="1100" dirty="0">
              <a:latin typeface="Leelawadee UI" panose="020B0502040204020203" pitchFamily="34" charset="-34"/>
              <a:cs typeface="Leelawadee UI" panose="020B0502040204020203" pitchFamily="34" charset="-34"/>
            </a:endParaRPr>
          </a:p>
        </p:txBody>
      </p:sp>
      <p:pic>
        <p:nvPicPr>
          <p:cNvPr id="271" name="Image 0" descr="preencoded.png">
            <a:extLst>
              <a:ext uri="{FF2B5EF4-FFF2-40B4-BE49-F238E27FC236}">
                <a16:creationId xmlns:a16="http://schemas.microsoft.com/office/drawing/2014/main" id="{8C34B5C1-0220-CA52-14BF-98902CFA66C1}"/>
              </a:ext>
            </a:extLst>
          </p:cNvPr>
          <p:cNvPicPr>
            <a:picLocks noChangeAspect="1"/>
          </p:cNvPicPr>
          <p:nvPr/>
        </p:nvPicPr>
        <p:blipFill>
          <a:blip r:embed="rId25"/>
          <a:stretch>
            <a:fillRect/>
          </a:stretch>
        </p:blipFill>
        <p:spPr>
          <a:xfrm>
            <a:off x="496119" y="28283745"/>
            <a:ext cx="5349478" cy="2985715"/>
          </a:xfrm>
          <a:prstGeom prst="rect">
            <a:avLst/>
          </a:prstGeom>
        </p:spPr>
      </p:pic>
      <p:sp>
        <p:nvSpPr>
          <p:cNvPr id="272" name="Shape 2">
            <a:extLst>
              <a:ext uri="{FF2B5EF4-FFF2-40B4-BE49-F238E27FC236}">
                <a16:creationId xmlns:a16="http://schemas.microsoft.com/office/drawing/2014/main" id="{E4368B61-C499-1C9F-EC3F-D64B0B6CE713}"/>
              </a:ext>
            </a:extLst>
          </p:cNvPr>
          <p:cNvSpPr/>
          <p:nvPr/>
        </p:nvSpPr>
        <p:spPr>
          <a:xfrm>
            <a:off x="455546" y="31408986"/>
            <a:ext cx="1850620" cy="1446461"/>
          </a:xfrm>
          <a:prstGeom prst="roundRect">
            <a:avLst>
              <a:gd name="adj" fmla="val 1225"/>
            </a:avLst>
          </a:prstGeom>
          <a:solidFill>
            <a:srgbClr val="F9F8F5"/>
          </a:solidFill>
          <a:ln w="9525">
            <a:solidFill>
              <a:srgbClr val="D3D1C9"/>
            </a:solidFill>
            <a:prstDash val="solid"/>
          </a:ln>
        </p:spPr>
      </p:sp>
      <p:sp>
        <p:nvSpPr>
          <p:cNvPr id="273" name="Text 3">
            <a:extLst>
              <a:ext uri="{FF2B5EF4-FFF2-40B4-BE49-F238E27FC236}">
                <a16:creationId xmlns:a16="http://schemas.microsoft.com/office/drawing/2014/main" id="{6FDFD1F2-D32A-1FD0-5F33-8C4D568A35A8}"/>
              </a:ext>
            </a:extLst>
          </p:cNvPr>
          <p:cNvSpPr/>
          <p:nvPr/>
        </p:nvSpPr>
        <p:spPr>
          <a:xfrm>
            <a:off x="544848" y="31536706"/>
            <a:ext cx="1768824" cy="212080"/>
          </a:xfrm>
          <a:prstGeom prst="rect">
            <a:avLst/>
          </a:prstGeom>
          <a:noFill/>
          <a:ln/>
        </p:spPr>
        <p:txBody>
          <a:bodyPr wrap="square" lIns="0" tIns="0" rIns="0" bIns="0" rtlCol="0" anchor="t">
            <a:no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Landscape Governance Program</a:t>
            </a:r>
            <a:endParaRPr lang="en-US" sz="1000" dirty="0">
              <a:latin typeface="Leelawadee UI" panose="020B0502040204020203" pitchFamily="34" charset="-34"/>
              <a:cs typeface="Leelawadee UI" panose="020B0502040204020203" pitchFamily="34" charset="-34"/>
            </a:endParaRPr>
          </a:p>
        </p:txBody>
      </p:sp>
      <p:sp>
        <p:nvSpPr>
          <p:cNvPr id="274" name="Text 4">
            <a:extLst>
              <a:ext uri="{FF2B5EF4-FFF2-40B4-BE49-F238E27FC236}">
                <a16:creationId xmlns:a16="http://schemas.microsoft.com/office/drawing/2014/main" id="{A428AF69-59CD-EDBD-A060-57EF55E08285}"/>
              </a:ext>
            </a:extLst>
          </p:cNvPr>
          <p:cNvSpPr/>
          <p:nvPr/>
        </p:nvSpPr>
        <p:spPr>
          <a:xfrm>
            <a:off x="537342" y="31947452"/>
            <a:ext cx="1768824" cy="335756"/>
          </a:xfrm>
          <a:prstGeom prst="rect">
            <a:avLst/>
          </a:prstGeom>
          <a:noFill/>
          <a:ln/>
        </p:spPr>
        <p:txBody>
          <a:bodyPr wrap="square" lIns="0" tIns="0" rIns="0" bIns="0" rtlCol="0" anchor="t">
            <a:noAutofit/>
          </a:bodyPr>
          <a:lstStyle/>
          <a:p>
            <a:pPr marL="0" indent="0" algn="l">
              <a:lnSpc>
                <a:spcPct val="103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Data dan pengetahuan mendukung pengambilan keputusan tata kelola yang lebih baik, transparan, dan inklusif di tingkat lanskap.</a:t>
            </a:r>
            <a:endParaRPr lang="en-US" sz="900" dirty="0">
              <a:latin typeface="Leelawadee UI" panose="020B0502040204020203" pitchFamily="34" charset="-34"/>
              <a:cs typeface="Leelawadee UI" panose="020B0502040204020203" pitchFamily="34" charset="-34"/>
            </a:endParaRPr>
          </a:p>
        </p:txBody>
      </p:sp>
      <p:sp>
        <p:nvSpPr>
          <p:cNvPr id="275" name="Shape 5">
            <a:extLst>
              <a:ext uri="{FF2B5EF4-FFF2-40B4-BE49-F238E27FC236}">
                <a16:creationId xmlns:a16="http://schemas.microsoft.com/office/drawing/2014/main" id="{F7301764-244F-9BDC-ED4E-0B11261533BF}"/>
              </a:ext>
            </a:extLst>
          </p:cNvPr>
          <p:cNvSpPr/>
          <p:nvPr/>
        </p:nvSpPr>
        <p:spPr>
          <a:xfrm>
            <a:off x="2306167" y="31410442"/>
            <a:ext cx="2141568" cy="1433530"/>
          </a:xfrm>
          <a:prstGeom prst="roundRect">
            <a:avLst>
              <a:gd name="adj" fmla="val 1225"/>
            </a:avLst>
          </a:prstGeom>
          <a:solidFill>
            <a:srgbClr val="F9F8F5"/>
          </a:solidFill>
          <a:ln w="9525">
            <a:solidFill>
              <a:srgbClr val="D3D1C9"/>
            </a:solidFill>
            <a:prstDash val="solid"/>
          </a:ln>
        </p:spPr>
      </p:sp>
      <p:sp>
        <p:nvSpPr>
          <p:cNvPr id="276" name="Text 6">
            <a:extLst>
              <a:ext uri="{FF2B5EF4-FFF2-40B4-BE49-F238E27FC236}">
                <a16:creationId xmlns:a16="http://schemas.microsoft.com/office/drawing/2014/main" id="{6CF17809-1238-A6F0-77A4-FA18C76B0DF2}"/>
              </a:ext>
            </a:extLst>
          </p:cNvPr>
          <p:cNvSpPr/>
          <p:nvPr/>
        </p:nvSpPr>
        <p:spPr>
          <a:xfrm>
            <a:off x="2531267" y="31507982"/>
            <a:ext cx="1768939" cy="212080"/>
          </a:xfrm>
          <a:prstGeom prst="rect">
            <a:avLst/>
          </a:prstGeom>
          <a:noFill/>
          <a:ln/>
        </p:spPr>
        <p:txBody>
          <a:bodyPr wrap="square" lIns="0" tIns="0" rIns="0" bIns="0" rtlCol="0" anchor="t">
            <a:no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Natural Capital &amp; Restoration Program</a:t>
            </a:r>
            <a:endParaRPr lang="en-US" sz="1000" dirty="0">
              <a:latin typeface="Leelawadee UI" panose="020B0502040204020203" pitchFamily="34" charset="-34"/>
              <a:cs typeface="Leelawadee UI" panose="020B0502040204020203" pitchFamily="34" charset="-34"/>
            </a:endParaRPr>
          </a:p>
        </p:txBody>
      </p:sp>
      <p:sp>
        <p:nvSpPr>
          <p:cNvPr id="277" name="Text 7">
            <a:extLst>
              <a:ext uri="{FF2B5EF4-FFF2-40B4-BE49-F238E27FC236}">
                <a16:creationId xmlns:a16="http://schemas.microsoft.com/office/drawing/2014/main" id="{097FAE44-C7D6-3A88-6668-28147B45EC5C}"/>
              </a:ext>
            </a:extLst>
          </p:cNvPr>
          <p:cNvSpPr/>
          <p:nvPr/>
        </p:nvSpPr>
        <p:spPr>
          <a:xfrm>
            <a:off x="2515840" y="32058100"/>
            <a:ext cx="1768939" cy="335756"/>
          </a:xfrm>
          <a:prstGeom prst="rect">
            <a:avLst/>
          </a:prstGeom>
          <a:noFill/>
          <a:ln/>
        </p:spPr>
        <p:txBody>
          <a:bodyPr wrap="square" lIns="0" tIns="0" rIns="0" bIns="0" rtlCol="0" anchor="t">
            <a:noAutofit/>
          </a:bodyPr>
          <a:lstStyle/>
          <a:p>
            <a:pPr marL="0" indent="0" algn="l">
              <a:lnSpc>
                <a:spcPct val="103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Pemetaan spasial dan sistem monitoring mendukung perencanaan dan evaluasi restorasi berbasis bukti yang lebih efektif.</a:t>
            </a:r>
            <a:endParaRPr lang="en-US" sz="900" dirty="0">
              <a:latin typeface="Leelawadee UI" panose="020B0502040204020203" pitchFamily="34" charset="-34"/>
              <a:cs typeface="Leelawadee UI" panose="020B0502040204020203" pitchFamily="34" charset="-34"/>
            </a:endParaRPr>
          </a:p>
        </p:txBody>
      </p:sp>
      <p:sp>
        <p:nvSpPr>
          <p:cNvPr id="278" name="Shape 8">
            <a:extLst>
              <a:ext uri="{FF2B5EF4-FFF2-40B4-BE49-F238E27FC236}">
                <a16:creationId xmlns:a16="http://schemas.microsoft.com/office/drawing/2014/main" id="{AE6F50C4-08B2-0A9E-C90A-9FCCF2949622}"/>
              </a:ext>
            </a:extLst>
          </p:cNvPr>
          <p:cNvSpPr/>
          <p:nvPr/>
        </p:nvSpPr>
        <p:spPr>
          <a:xfrm>
            <a:off x="4257260" y="31426484"/>
            <a:ext cx="1903140" cy="1417488"/>
          </a:xfrm>
          <a:prstGeom prst="roundRect">
            <a:avLst>
              <a:gd name="adj" fmla="val 1225"/>
            </a:avLst>
          </a:prstGeom>
          <a:solidFill>
            <a:srgbClr val="F9F8F5"/>
          </a:solidFill>
          <a:ln w="9525">
            <a:solidFill>
              <a:srgbClr val="D3D1C9"/>
            </a:solidFill>
            <a:prstDash val="solid"/>
          </a:ln>
        </p:spPr>
      </p:sp>
      <p:sp>
        <p:nvSpPr>
          <p:cNvPr id="279" name="Text 9">
            <a:extLst>
              <a:ext uri="{FF2B5EF4-FFF2-40B4-BE49-F238E27FC236}">
                <a16:creationId xmlns:a16="http://schemas.microsoft.com/office/drawing/2014/main" id="{1D269B67-B261-A6EF-2336-1BFB8BF0FC6B}"/>
              </a:ext>
            </a:extLst>
          </p:cNvPr>
          <p:cNvSpPr/>
          <p:nvPr/>
        </p:nvSpPr>
        <p:spPr>
          <a:xfrm>
            <a:off x="4346561" y="31507981"/>
            <a:ext cx="1678413" cy="527521"/>
          </a:xfrm>
          <a:prstGeom prst="rect">
            <a:avLst/>
          </a:prstGeom>
          <a:noFill/>
          <a:ln/>
        </p:spPr>
        <p:txBody>
          <a:bodyPr wrap="square" lIns="0" tIns="0" rIns="0" bIns="0" rtlCol="0" anchor="t">
            <a:norm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Sustainable Commodity Systems Program</a:t>
            </a:r>
            <a:endParaRPr lang="en-US" sz="1000" dirty="0">
              <a:latin typeface="Leelawadee UI" panose="020B0502040204020203" pitchFamily="34" charset="-34"/>
              <a:cs typeface="Leelawadee UI" panose="020B0502040204020203" pitchFamily="34" charset="-34"/>
            </a:endParaRPr>
          </a:p>
        </p:txBody>
      </p:sp>
      <p:sp>
        <p:nvSpPr>
          <p:cNvPr id="280" name="Text 10">
            <a:extLst>
              <a:ext uri="{FF2B5EF4-FFF2-40B4-BE49-F238E27FC236}">
                <a16:creationId xmlns:a16="http://schemas.microsoft.com/office/drawing/2014/main" id="{2A00F1CD-7AEF-8E73-C5A1-65FBA1A57F22}"/>
              </a:ext>
            </a:extLst>
          </p:cNvPr>
          <p:cNvSpPr/>
          <p:nvPr/>
        </p:nvSpPr>
        <p:spPr>
          <a:xfrm>
            <a:off x="4414018" y="32058100"/>
            <a:ext cx="1678413" cy="335756"/>
          </a:xfrm>
          <a:prstGeom prst="rect">
            <a:avLst/>
          </a:prstGeom>
          <a:noFill/>
          <a:ln/>
        </p:spPr>
        <p:txBody>
          <a:bodyPr wrap="square" lIns="0" tIns="0" rIns="0" bIns="0" rtlCol="0" anchor="t">
            <a:noAutofit/>
          </a:bodyPr>
          <a:lstStyle/>
          <a:p>
            <a:pPr marL="0" indent="0" algn="l">
              <a:lnSpc>
                <a:spcPct val="103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Sistem keterlacakan dan data rantai pasok mendukung transformasi komoditas berkelanjutan yang memenuhi standar global.</a:t>
            </a:r>
            <a:endParaRPr lang="en-US" sz="900" dirty="0">
              <a:latin typeface="Leelawadee UI" panose="020B0502040204020203" pitchFamily="34" charset="-34"/>
              <a:cs typeface="Leelawadee UI" panose="020B0502040204020203" pitchFamily="34" charset="-34"/>
            </a:endParaRPr>
          </a:p>
        </p:txBody>
      </p:sp>
      <p:sp>
        <p:nvSpPr>
          <p:cNvPr id="281" name="Shape 11">
            <a:extLst>
              <a:ext uri="{FF2B5EF4-FFF2-40B4-BE49-F238E27FC236}">
                <a16:creationId xmlns:a16="http://schemas.microsoft.com/office/drawing/2014/main" id="{53D96E53-EBEB-A83B-945F-6806308B79AF}"/>
              </a:ext>
            </a:extLst>
          </p:cNvPr>
          <p:cNvSpPr/>
          <p:nvPr/>
        </p:nvSpPr>
        <p:spPr>
          <a:xfrm>
            <a:off x="6133460" y="31429842"/>
            <a:ext cx="2360807" cy="1414130"/>
          </a:xfrm>
          <a:prstGeom prst="roundRect">
            <a:avLst>
              <a:gd name="adj" fmla="val 1225"/>
            </a:avLst>
          </a:prstGeom>
          <a:solidFill>
            <a:srgbClr val="F9F8F5"/>
          </a:solidFill>
          <a:ln w="9525">
            <a:solidFill>
              <a:srgbClr val="D3D1C9"/>
            </a:solidFill>
            <a:prstDash val="solid"/>
          </a:ln>
        </p:spPr>
      </p:sp>
      <p:sp>
        <p:nvSpPr>
          <p:cNvPr id="282" name="Text 12">
            <a:extLst>
              <a:ext uri="{FF2B5EF4-FFF2-40B4-BE49-F238E27FC236}">
                <a16:creationId xmlns:a16="http://schemas.microsoft.com/office/drawing/2014/main" id="{E73C038B-1FDC-8672-5A14-3882AA55ED72}"/>
              </a:ext>
            </a:extLst>
          </p:cNvPr>
          <p:cNvSpPr/>
          <p:nvPr/>
        </p:nvSpPr>
        <p:spPr>
          <a:xfrm>
            <a:off x="6264396" y="31499239"/>
            <a:ext cx="2151687" cy="384227"/>
          </a:xfrm>
          <a:prstGeom prst="rect">
            <a:avLst/>
          </a:prstGeom>
          <a:noFill/>
          <a:ln/>
        </p:spPr>
        <p:txBody>
          <a:bodyPr wrap="square" lIns="0" tIns="0" rIns="0" bIns="0" rtlCol="0" anchor="t">
            <a:noAutofit/>
          </a:bodyPr>
          <a:lstStyle/>
          <a:p>
            <a:pPr marL="0" indent="0" algn="l">
              <a:lnSpc>
                <a:spcPct val="104000"/>
              </a:lnSpc>
              <a:buNone/>
            </a:pPr>
            <a:r>
              <a:rPr lang="en-US" sz="10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 Institutional Sustainability &amp; Partnerships Program</a:t>
            </a:r>
            <a:endParaRPr lang="en-US" sz="1000" dirty="0">
              <a:latin typeface="Leelawadee UI" panose="020B0502040204020203" pitchFamily="34" charset="-34"/>
              <a:cs typeface="Leelawadee UI" panose="020B0502040204020203" pitchFamily="34" charset="-34"/>
            </a:endParaRPr>
          </a:p>
        </p:txBody>
      </p:sp>
      <p:sp>
        <p:nvSpPr>
          <p:cNvPr id="283" name="Text 13">
            <a:extLst>
              <a:ext uri="{FF2B5EF4-FFF2-40B4-BE49-F238E27FC236}">
                <a16:creationId xmlns:a16="http://schemas.microsoft.com/office/drawing/2014/main" id="{A194F263-E7AD-54D6-EB79-3B55FB97C2F5}"/>
              </a:ext>
            </a:extLst>
          </p:cNvPr>
          <p:cNvSpPr/>
          <p:nvPr/>
        </p:nvSpPr>
        <p:spPr>
          <a:xfrm>
            <a:off x="6420220" y="31890222"/>
            <a:ext cx="1873547" cy="335756"/>
          </a:xfrm>
          <a:prstGeom prst="rect">
            <a:avLst/>
          </a:prstGeom>
          <a:noFill/>
          <a:ln/>
        </p:spPr>
        <p:txBody>
          <a:bodyPr wrap="square" lIns="0" tIns="0" rIns="0" bIns="0" rtlCol="0" anchor="t">
            <a:noAutofit/>
          </a:bodyPr>
          <a:lstStyle/>
          <a:p>
            <a:pPr marL="0" indent="0" algn="l">
              <a:lnSpc>
                <a:spcPct val="103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Pengetahuan dan inovasi memperkuat kapasitas organisasi, pembelajaran institusional, dan kemitraan strategis jangka panjang.</a:t>
            </a:r>
            <a:endParaRPr lang="en-US" sz="900" dirty="0">
              <a:latin typeface="Leelawadee UI" panose="020B0502040204020203" pitchFamily="34" charset="-34"/>
              <a:cs typeface="Leelawadee UI" panose="020B0502040204020203" pitchFamily="34" charset="-34"/>
            </a:endParaRPr>
          </a:p>
        </p:txBody>
      </p:sp>
      <p:sp>
        <p:nvSpPr>
          <p:cNvPr id="284" name="Text 0">
            <a:extLst>
              <a:ext uri="{FF2B5EF4-FFF2-40B4-BE49-F238E27FC236}">
                <a16:creationId xmlns:a16="http://schemas.microsoft.com/office/drawing/2014/main" id="{1B2E3AD0-707A-C012-5F46-48059F4B2590}"/>
              </a:ext>
            </a:extLst>
          </p:cNvPr>
          <p:cNvSpPr/>
          <p:nvPr/>
        </p:nvSpPr>
        <p:spPr>
          <a:xfrm>
            <a:off x="651421" y="32936260"/>
            <a:ext cx="7895853" cy="339179"/>
          </a:xfrm>
          <a:prstGeom prst="rect">
            <a:avLst/>
          </a:prstGeom>
          <a:noFill/>
          <a:ln/>
        </p:spPr>
        <p:txBody>
          <a:bodyPr wrap="none" lIns="0" tIns="0" rIns="0" bIns="0" rtlCol="0" anchor="t"/>
          <a:lstStyle/>
          <a:p>
            <a:pPr marL="0" indent="0" algn="l">
              <a:lnSpc>
                <a:spcPct val="104000"/>
              </a:lnSpc>
              <a:buNone/>
            </a:pPr>
            <a:r>
              <a:rPr lang="en-US" sz="2100" dirty="0">
                <a:solidFill>
                  <a:srgbClr val="161613"/>
                </a:solidFill>
                <a:latin typeface="Leelawadee UI" panose="020B0502040204020203" pitchFamily="34" charset="-34"/>
                <a:ea typeface="DM Sans Medium" pitchFamily="34" charset="-122"/>
                <a:cs typeface="Leelawadee UI" panose="020B0502040204020203" pitchFamily="34" charset="-34"/>
              </a:rPr>
              <a:t>Dukung Program Landscape Intelligence &amp; Innovation YNKI</a:t>
            </a:r>
            <a:endParaRPr lang="en-US" sz="2100" dirty="0">
              <a:latin typeface="Leelawadee UI" panose="020B0502040204020203" pitchFamily="34" charset="-34"/>
              <a:cs typeface="Leelawadee UI" panose="020B0502040204020203" pitchFamily="34" charset="-34"/>
            </a:endParaRPr>
          </a:p>
        </p:txBody>
      </p:sp>
      <p:sp>
        <p:nvSpPr>
          <p:cNvPr id="285" name="Text 1">
            <a:extLst>
              <a:ext uri="{FF2B5EF4-FFF2-40B4-BE49-F238E27FC236}">
                <a16:creationId xmlns:a16="http://schemas.microsoft.com/office/drawing/2014/main" id="{DC4554DA-1214-083E-21AD-602EBFEDC4A1}"/>
              </a:ext>
            </a:extLst>
          </p:cNvPr>
          <p:cNvSpPr/>
          <p:nvPr/>
        </p:nvSpPr>
        <p:spPr>
          <a:xfrm>
            <a:off x="618196" y="33346579"/>
            <a:ext cx="8151763" cy="488454"/>
          </a:xfrm>
          <a:prstGeom prst="rect">
            <a:avLst/>
          </a:prstGeom>
          <a:noFill/>
          <a:ln/>
        </p:spPr>
        <p:txBody>
          <a:bodyPr wrap="square" lIns="0" tIns="0" rIns="0" bIns="0" rtlCol="0" anchor="t">
            <a:noAutofit/>
          </a:bodyPr>
          <a:lstStyle/>
          <a:p>
            <a:pPr marL="0" indent="0" algn="l">
              <a:lnSpc>
                <a:spcPct val="125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Pengetahuan dan inovasi adalah fondasi bagi tata kelola lanskap yang efektif dan berkelanjutan. Dukung upaya YNKI dalam membangun landscape intelligence dan inovasi digital untuk perubahan lanskap yang lebih baik di Kalimantan Barat dan seluruh Indonesia. Bersama, kita dapat memastikan bahwa setiap keputusan pengelolaan lanskap didasarkan pada data yang kredibel, pengetahuan yang terintegrasi, dan inovasi yang inklusif.</a:t>
            </a:r>
            <a:endParaRPr lang="en-US" sz="950" dirty="0">
              <a:latin typeface="Leelawadee UI" panose="020B0502040204020203" pitchFamily="34" charset="-34"/>
              <a:cs typeface="Leelawadee UI" panose="020B0502040204020203" pitchFamily="34" charset="-34"/>
            </a:endParaRPr>
          </a:p>
        </p:txBody>
      </p:sp>
      <p:pic>
        <p:nvPicPr>
          <p:cNvPr id="286" name="Image 0" descr="preencoded.png">
            <a:hlinkClick r:id="" action="ppaction://noaction"/>
            <a:extLst>
              <a:ext uri="{FF2B5EF4-FFF2-40B4-BE49-F238E27FC236}">
                <a16:creationId xmlns:a16="http://schemas.microsoft.com/office/drawing/2014/main" id="{8E500ACF-D55D-D958-531B-5951AA0D33F5}"/>
              </a:ext>
            </a:extLst>
          </p:cNvPr>
          <p:cNvPicPr>
            <a:picLocks noChangeAspect="1"/>
          </p:cNvPicPr>
          <p:nvPr/>
        </p:nvPicPr>
        <p:blipFill>
          <a:blip r:embed="rId26"/>
          <a:stretch>
            <a:fillRect/>
          </a:stretch>
        </p:blipFill>
        <p:spPr>
          <a:xfrm>
            <a:off x="651421" y="34060582"/>
            <a:ext cx="1102816" cy="298475"/>
          </a:xfrm>
          <a:prstGeom prst="rect">
            <a:avLst/>
          </a:prstGeom>
        </p:spPr>
      </p:pic>
      <p:pic>
        <p:nvPicPr>
          <p:cNvPr id="287" name="Image 1" descr="preencoded.png">
            <a:hlinkClick r:id="" action="ppaction://noaction"/>
            <a:extLst>
              <a:ext uri="{FF2B5EF4-FFF2-40B4-BE49-F238E27FC236}">
                <a16:creationId xmlns:a16="http://schemas.microsoft.com/office/drawing/2014/main" id="{28AEF683-1669-9CB1-ACEC-E4048C24137A}"/>
              </a:ext>
            </a:extLst>
          </p:cNvPr>
          <p:cNvPicPr>
            <a:picLocks noChangeAspect="1"/>
          </p:cNvPicPr>
          <p:nvPr/>
        </p:nvPicPr>
        <p:blipFill>
          <a:blip r:embed="rId27"/>
          <a:stretch>
            <a:fillRect/>
          </a:stretch>
        </p:blipFill>
        <p:spPr>
          <a:xfrm>
            <a:off x="1808485" y="34060582"/>
            <a:ext cx="1529804" cy="298475"/>
          </a:xfrm>
          <a:prstGeom prst="rect">
            <a:avLst/>
          </a:prstGeom>
        </p:spPr>
      </p:pic>
      <p:sp>
        <p:nvSpPr>
          <p:cNvPr id="288" name="Shape 2">
            <a:extLst>
              <a:ext uri="{FF2B5EF4-FFF2-40B4-BE49-F238E27FC236}">
                <a16:creationId xmlns:a16="http://schemas.microsoft.com/office/drawing/2014/main" id="{CB9A3EF6-179E-5B3E-8879-8FB7A926E308}"/>
              </a:ext>
            </a:extLst>
          </p:cNvPr>
          <p:cNvSpPr/>
          <p:nvPr/>
        </p:nvSpPr>
        <p:spPr>
          <a:xfrm>
            <a:off x="651421" y="34492928"/>
            <a:ext cx="8151763" cy="13543"/>
          </a:xfrm>
          <a:prstGeom prst="roundRect">
            <a:avLst>
              <a:gd name="adj" fmla="val 120218"/>
            </a:avLst>
          </a:prstGeom>
          <a:solidFill>
            <a:srgbClr val="161613">
              <a:alpha val="50000"/>
            </a:srgbClr>
          </a:solidFill>
          <a:ln/>
        </p:spPr>
      </p:sp>
      <p:sp>
        <p:nvSpPr>
          <p:cNvPr id="289" name="Text 3">
            <a:extLst>
              <a:ext uri="{FF2B5EF4-FFF2-40B4-BE49-F238E27FC236}">
                <a16:creationId xmlns:a16="http://schemas.microsoft.com/office/drawing/2014/main" id="{D22CFAEB-486D-5C89-6570-91DE24822459}"/>
              </a:ext>
            </a:extLst>
          </p:cNvPr>
          <p:cNvSpPr/>
          <p:nvPr/>
        </p:nvSpPr>
        <p:spPr>
          <a:xfrm>
            <a:off x="651421" y="34735294"/>
            <a:ext cx="1839367" cy="339030"/>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100" dirty="0">
              <a:latin typeface="Leelawadee UI" panose="020B0502040204020203" pitchFamily="34" charset="-34"/>
              <a:cs typeface="Leelawadee UI" panose="020B0502040204020203" pitchFamily="34" charset="-34"/>
            </a:endParaRPr>
          </a:p>
        </p:txBody>
      </p:sp>
      <p:sp>
        <p:nvSpPr>
          <p:cNvPr id="290" name="Text 4">
            <a:extLst>
              <a:ext uri="{FF2B5EF4-FFF2-40B4-BE49-F238E27FC236}">
                <a16:creationId xmlns:a16="http://schemas.microsoft.com/office/drawing/2014/main" id="{9BC431CD-D54F-3C0D-D5B2-403F0049D5D0}"/>
              </a:ext>
            </a:extLst>
          </p:cNvPr>
          <p:cNvSpPr/>
          <p:nvPr/>
        </p:nvSpPr>
        <p:spPr>
          <a:xfrm>
            <a:off x="651421" y="35169277"/>
            <a:ext cx="1839367" cy="1478161"/>
          </a:xfrm>
          <a:prstGeom prst="rect">
            <a:avLst/>
          </a:prstGeom>
          <a:noFill/>
          <a:ln/>
        </p:spPr>
        <p:txBody>
          <a:bodyPr wrap="square" lIns="0" tIns="0" rIns="0" bIns="0" rtlCol="0" anchor="t"/>
          <a:lstStyle/>
          <a:p>
            <a:pPr marL="0" indent="0" algn="l">
              <a:lnSpc>
                <a:spcPct val="125000"/>
              </a:lnSpc>
              <a:spcAft>
                <a:spcPts val="650"/>
              </a:spcAft>
              <a:buNone/>
            </a:pPr>
            <a:r>
              <a:rPr lang="en-US" sz="900" i="1" dirty="0">
                <a:solidFill>
                  <a:srgbClr val="161613"/>
                </a:solidFill>
                <a:latin typeface="Leelawadee UI" panose="020B0502040204020203" pitchFamily="34" charset="-34"/>
                <a:ea typeface="Inter" pitchFamily="34" charset="-122"/>
                <a:cs typeface="Leelawadee UI" panose="020B0502040204020203" pitchFamily="34" charset="-34"/>
              </a:rPr>
              <a:t>Nature for Life</a:t>
            </a:r>
            <a:endParaRPr lang="en-US" sz="900" dirty="0">
              <a:latin typeface="Leelawadee UI" panose="020B0502040204020203" pitchFamily="34" charset="-34"/>
              <a:cs typeface="Leelawadee UI" panose="020B0502040204020203" pitchFamily="34" charset="-34"/>
            </a:endParaRPr>
          </a:p>
          <a:p>
            <a:pPr marL="0" indent="0" algn="l">
              <a:lnSpc>
                <a:spcPct val="125000"/>
              </a:lnSpc>
              <a:spcAft>
                <a:spcPts val="650"/>
              </a:spcAft>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Jalan Karna Sosial, Pontianak, Kalimantan Barat 78121</a:t>
            </a:r>
            <a:endParaRPr lang="en-US" sz="900" dirty="0">
              <a:latin typeface="Leelawadee UI" panose="020B0502040204020203" pitchFamily="34" charset="-34"/>
              <a:cs typeface="Leelawadee UI" panose="020B0502040204020203" pitchFamily="34" charset="-34"/>
            </a:endParaRPr>
          </a:p>
        </p:txBody>
      </p:sp>
      <p:sp>
        <p:nvSpPr>
          <p:cNvPr id="291" name="Text 5">
            <a:extLst>
              <a:ext uri="{FF2B5EF4-FFF2-40B4-BE49-F238E27FC236}">
                <a16:creationId xmlns:a16="http://schemas.microsoft.com/office/drawing/2014/main" id="{EA5BDC61-7164-D0AA-0003-95B5B7DFE335}"/>
              </a:ext>
            </a:extLst>
          </p:cNvPr>
          <p:cNvSpPr/>
          <p:nvPr/>
        </p:nvSpPr>
        <p:spPr>
          <a:xfrm>
            <a:off x="2760315" y="34735294"/>
            <a:ext cx="18139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100" dirty="0">
              <a:latin typeface="Leelawadee UI" panose="020B0502040204020203" pitchFamily="34" charset="-34"/>
              <a:cs typeface="Leelawadee UI" panose="020B0502040204020203" pitchFamily="34" charset="-34"/>
            </a:endParaRPr>
          </a:p>
        </p:txBody>
      </p:sp>
      <p:sp>
        <p:nvSpPr>
          <p:cNvPr id="292" name="Text 6">
            <a:extLst>
              <a:ext uri="{FF2B5EF4-FFF2-40B4-BE49-F238E27FC236}">
                <a16:creationId xmlns:a16="http://schemas.microsoft.com/office/drawing/2014/main" id="{B6D101E8-FD74-E667-F2FC-15A673CFAC49}"/>
              </a:ext>
            </a:extLst>
          </p:cNvPr>
          <p:cNvSpPr/>
          <p:nvPr/>
        </p:nvSpPr>
        <p:spPr>
          <a:xfrm>
            <a:off x="2760315" y="34999762"/>
            <a:ext cx="1839367" cy="750838"/>
          </a:xfrm>
          <a:prstGeom prst="rect">
            <a:avLst/>
          </a:prstGeom>
          <a:noFill/>
          <a:ln/>
        </p:spPr>
        <p:txBody>
          <a:bodyPr wrap="square" lIns="0" tIns="0" rIns="0" bIns="0" rtlCol="0" anchor="t">
            <a:normAutofit/>
          </a:bodyPr>
          <a:lstStyle/>
          <a:p>
            <a:pPr marL="342900" indent="-342900" algn="l">
              <a:lnSpc>
                <a:spcPct val="125000"/>
              </a:lnSpc>
              <a:buSzPct val="100000"/>
              <a:buChar char="•"/>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00" dirty="0">
              <a:latin typeface="Leelawadee UI" panose="020B0502040204020203" pitchFamily="34" charset="-34"/>
              <a:cs typeface="Leelawadee UI" panose="020B0502040204020203" pitchFamily="34" charset="-34"/>
            </a:endParaRPr>
          </a:p>
          <a:p>
            <a:pPr marL="342900" indent="-342900" algn="l">
              <a:lnSpc>
                <a:spcPct val="125000"/>
              </a:lnSpc>
              <a:buSzPct val="100000"/>
              <a:buChar char="•"/>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00" dirty="0">
              <a:latin typeface="Leelawadee UI" panose="020B0502040204020203" pitchFamily="34" charset="-34"/>
              <a:cs typeface="Leelawadee UI" panose="020B0502040204020203" pitchFamily="34" charset="-34"/>
            </a:endParaRPr>
          </a:p>
          <a:p>
            <a:pPr marL="342900" indent="-342900" algn="l">
              <a:lnSpc>
                <a:spcPct val="125000"/>
              </a:lnSpc>
              <a:buSzPct val="100000"/>
              <a:buChar char="•"/>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00" dirty="0">
              <a:latin typeface="Leelawadee UI" panose="020B0502040204020203" pitchFamily="34" charset="-34"/>
              <a:cs typeface="Leelawadee UI" panose="020B0502040204020203" pitchFamily="34" charset="-34"/>
            </a:endParaRPr>
          </a:p>
          <a:p>
            <a:pPr marL="342900" indent="-342900" algn="l">
              <a:lnSpc>
                <a:spcPct val="125000"/>
              </a:lnSpc>
              <a:buSzPct val="100000"/>
              <a:buChar char="•"/>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900" dirty="0">
              <a:latin typeface="Leelawadee UI" panose="020B0502040204020203" pitchFamily="34" charset="-34"/>
              <a:cs typeface="Leelawadee UI" panose="020B0502040204020203" pitchFamily="34" charset="-34"/>
            </a:endParaRPr>
          </a:p>
        </p:txBody>
      </p:sp>
      <p:sp>
        <p:nvSpPr>
          <p:cNvPr id="293" name="Text 7">
            <a:extLst>
              <a:ext uri="{FF2B5EF4-FFF2-40B4-BE49-F238E27FC236}">
                <a16:creationId xmlns:a16="http://schemas.microsoft.com/office/drawing/2014/main" id="{4144735E-F7DD-3CD9-D688-61E55B62AFDE}"/>
              </a:ext>
            </a:extLst>
          </p:cNvPr>
          <p:cNvSpPr/>
          <p:nvPr/>
        </p:nvSpPr>
        <p:spPr>
          <a:xfrm>
            <a:off x="4869210" y="34735294"/>
            <a:ext cx="18139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100" dirty="0">
              <a:latin typeface="Leelawadee UI" panose="020B0502040204020203" pitchFamily="34" charset="-34"/>
              <a:cs typeface="Leelawadee UI" panose="020B0502040204020203" pitchFamily="34" charset="-34"/>
            </a:endParaRPr>
          </a:p>
        </p:txBody>
      </p:sp>
      <p:sp>
        <p:nvSpPr>
          <p:cNvPr id="294" name="Text 8">
            <a:extLst>
              <a:ext uri="{FF2B5EF4-FFF2-40B4-BE49-F238E27FC236}">
                <a16:creationId xmlns:a16="http://schemas.microsoft.com/office/drawing/2014/main" id="{A83ABFD6-CF97-930F-58E1-59FEBDDB1B42}"/>
              </a:ext>
            </a:extLst>
          </p:cNvPr>
          <p:cNvSpPr/>
          <p:nvPr/>
        </p:nvSpPr>
        <p:spPr>
          <a:xfrm>
            <a:off x="4869210" y="34999762"/>
            <a:ext cx="1839367" cy="917079"/>
          </a:xfrm>
          <a:prstGeom prst="rect">
            <a:avLst/>
          </a:prstGeom>
          <a:noFill/>
          <a:ln/>
        </p:spPr>
        <p:txBody>
          <a:bodyPr wrap="square" lIns="0" tIns="0" rIns="0" bIns="0" rtlCol="0" anchor="t"/>
          <a:lstStyle/>
          <a:p>
            <a:pPr marL="0" indent="0" algn="l">
              <a:lnSpc>
                <a:spcPct val="125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(0561) XXX-XXXX</a:t>
            </a:r>
            <a:endParaRPr lang="en-US" sz="900" dirty="0">
              <a:latin typeface="Leelawadee UI" panose="020B0502040204020203" pitchFamily="34" charset="-34"/>
              <a:cs typeface="Leelawadee UI" panose="020B0502040204020203" pitchFamily="34" charset="-34"/>
            </a:endParaRPr>
          </a:p>
          <a:p>
            <a:pPr marL="0" indent="0" algn="l">
              <a:lnSpc>
                <a:spcPct val="125000"/>
              </a:lnSpc>
              <a:spcAft>
                <a:spcPts val="650"/>
              </a:spcAft>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Media Sosial:</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LinkedIn · YouTube · Instagram</a:t>
            </a:r>
            <a:endParaRPr lang="en-US" sz="900" dirty="0">
              <a:latin typeface="Leelawadee UI" panose="020B0502040204020203" pitchFamily="34" charset="-34"/>
              <a:cs typeface="Leelawadee UI" panose="020B0502040204020203" pitchFamily="34" charset="-34"/>
            </a:endParaRPr>
          </a:p>
        </p:txBody>
      </p:sp>
      <p:sp>
        <p:nvSpPr>
          <p:cNvPr id="295" name="Text 9">
            <a:extLst>
              <a:ext uri="{FF2B5EF4-FFF2-40B4-BE49-F238E27FC236}">
                <a16:creationId xmlns:a16="http://schemas.microsoft.com/office/drawing/2014/main" id="{AECC9D62-414B-436E-ECF8-1FFADBD7CF32}"/>
              </a:ext>
            </a:extLst>
          </p:cNvPr>
          <p:cNvSpPr/>
          <p:nvPr/>
        </p:nvSpPr>
        <p:spPr>
          <a:xfrm>
            <a:off x="6847135" y="34735294"/>
            <a:ext cx="18139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Hak Cipta</a:t>
            </a:r>
            <a:endParaRPr lang="en-US" sz="1100" dirty="0">
              <a:latin typeface="Leelawadee UI" panose="020B0502040204020203" pitchFamily="34" charset="-34"/>
              <a:cs typeface="Leelawadee UI" panose="020B0502040204020203" pitchFamily="34" charset="-34"/>
            </a:endParaRPr>
          </a:p>
        </p:txBody>
      </p:sp>
      <p:sp>
        <p:nvSpPr>
          <p:cNvPr id="296" name="Text 10">
            <a:extLst>
              <a:ext uri="{FF2B5EF4-FFF2-40B4-BE49-F238E27FC236}">
                <a16:creationId xmlns:a16="http://schemas.microsoft.com/office/drawing/2014/main" id="{ABE93878-0762-0249-64CF-B0052A743150}"/>
              </a:ext>
            </a:extLst>
          </p:cNvPr>
          <p:cNvSpPr/>
          <p:nvPr/>
        </p:nvSpPr>
        <p:spPr>
          <a:xfrm>
            <a:off x="6847135" y="34999762"/>
            <a:ext cx="1839367" cy="741462"/>
          </a:xfrm>
          <a:prstGeom prst="rect">
            <a:avLst/>
          </a:prstGeom>
          <a:noFill/>
          <a:ln/>
        </p:spPr>
        <p:txBody>
          <a:bodyPr wrap="square" lIns="0" tIns="0" rIns="0" bIns="0" rtlCol="0" anchor="t">
            <a:normAutofit/>
          </a:bodyPr>
          <a:lstStyle/>
          <a:p>
            <a:pPr marL="0" indent="0" algn="l">
              <a:lnSpc>
                <a:spcPct val="125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Kebijakan Privasi · Syarat &amp; Ketentuan</a:t>
            </a:r>
            <a:endParaRPr lang="en-US" sz="900" dirty="0">
              <a:latin typeface="Leelawadee UI" panose="020B0502040204020203" pitchFamily="34" charset="-34"/>
              <a:cs typeface="Leelawadee UI" panose="020B0502040204020203" pitchFamily="34" charset="-34"/>
            </a:endParaRPr>
          </a:p>
        </p:txBody>
      </p:sp>
      <p:sp>
        <p:nvSpPr>
          <p:cNvPr id="297" name="Shape 11">
            <a:extLst>
              <a:ext uri="{FF2B5EF4-FFF2-40B4-BE49-F238E27FC236}">
                <a16:creationId xmlns:a16="http://schemas.microsoft.com/office/drawing/2014/main" id="{53212AEB-51F5-29E5-B288-923A0836130B}"/>
              </a:ext>
            </a:extLst>
          </p:cNvPr>
          <p:cNvSpPr/>
          <p:nvPr/>
        </p:nvSpPr>
        <p:spPr>
          <a:xfrm>
            <a:off x="6847135" y="35848008"/>
            <a:ext cx="1839367" cy="1364754"/>
          </a:xfrm>
          <a:prstGeom prst="roundRect">
            <a:avLst>
              <a:gd name="adj" fmla="val 1193"/>
            </a:avLst>
          </a:prstGeom>
          <a:solidFill>
            <a:srgbClr val="B6FCB8"/>
          </a:solidFill>
          <a:ln/>
        </p:spPr>
      </p:sp>
      <p:pic>
        <p:nvPicPr>
          <p:cNvPr id="298" name="Image 2" descr="preencoded.png">
            <a:extLst>
              <a:ext uri="{FF2B5EF4-FFF2-40B4-BE49-F238E27FC236}">
                <a16:creationId xmlns:a16="http://schemas.microsoft.com/office/drawing/2014/main" id="{E3CD40B1-60EA-B814-3411-5FAACA7D5BFC}"/>
              </a:ext>
            </a:extLst>
          </p:cNvPr>
          <p:cNvPicPr>
            <a:picLocks noChangeAspect="1"/>
          </p:cNvPicPr>
          <p:nvPr/>
        </p:nvPicPr>
        <p:blipFill>
          <a:blip r:embed="rId28"/>
          <a:stretch>
            <a:fillRect/>
          </a:stretch>
        </p:blipFill>
        <p:spPr>
          <a:xfrm>
            <a:off x="6955631" y="36007700"/>
            <a:ext cx="135657" cy="108496"/>
          </a:xfrm>
          <a:prstGeom prst="rect">
            <a:avLst/>
          </a:prstGeom>
        </p:spPr>
      </p:pic>
      <p:sp>
        <p:nvSpPr>
          <p:cNvPr id="299" name="Text 12">
            <a:extLst>
              <a:ext uri="{FF2B5EF4-FFF2-40B4-BE49-F238E27FC236}">
                <a16:creationId xmlns:a16="http://schemas.microsoft.com/office/drawing/2014/main" id="{9705B230-F794-4763-FBA2-9FC4C5ECAF89}"/>
              </a:ext>
            </a:extLst>
          </p:cNvPr>
          <p:cNvSpPr/>
          <p:nvPr/>
        </p:nvSpPr>
        <p:spPr>
          <a:xfrm>
            <a:off x="7199783" y="35960522"/>
            <a:ext cx="1378223" cy="1139726"/>
          </a:xfrm>
          <a:prstGeom prst="rect">
            <a:avLst/>
          </a:prstGeom>
          <a:noFill/>
          <a:ln/>
        </p:spPr>
        <p:txBody>
          <a:bodyPr wrap="square" lIns="0" tIns="0" rIns="0" bIns="0" rtlCol="0" anchor="t">
            <a:normAutofit lnSpcReduction="10000"/>
          </a:bodyPr>
          <a:lstStyle/>
          <a:p>
            <a:pPr marL="0" indent="0" algn="l">
              <a:lnSpc>
                <a:spcPct val="125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Landscape Intelligence &amp; Innovation Program adalah salah satu dari 5 program strategis YNKI untuk lanskap Indonesia yang sehat dan komunitas yang sejahtera.</a:t>
            </a:r>
            <a:endParaRPr lang="en-US" sz="9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2527153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TotalTime>
  <Words>1312</Words>
  <Application>Microsoft Office PowerPoint</Application>
  <PresentationFormat>Custom</PresentationFormat>
  <Paragraphs>97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3</cp:revision>
  <dcterms:created xsi:type="dcterms:W3CDTF">2026-06-22T11:16:10Z</dcterms:created>
  <dcterms:modified xsi:type="dcterms:W3CDTF">2026-06-22T11:45:54Z</dcterms:modified>
</cp:coreProperties>
</file>