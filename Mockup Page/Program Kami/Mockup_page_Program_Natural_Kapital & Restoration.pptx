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60" d="100"/>
          <a:sy n="60" d="100"/>
        </p:scale>
        <p:origin x="2952" y="-89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891626"/>
            <a:ext cx="7649607" cy="1253324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8908198"/>
            <a:ext cx="6749654" cy="869160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5FBCDF-236A-4C19-A6E9-FF04E0FD935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2369833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5FBCDF-236A-4C19-A6E9-FF04E0FD935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924740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974945"/>
            <a:ext cx="7762102" cy="1497488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4091502"/>
            <a:ext cx="7762102" cy="787494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5FBCDF-236A-4C19-A6E9-FF04E0FD935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514117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5FBCDF-236A-4C19-A6E9-FF04E0FD9358}"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3725172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916661"/>
            <a:ext cx="7762102"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8824938"/>
            <a:ext cx="380722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149904"/>
            <a:ext cx="380722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8824938"/>
            <a:ext cx="382597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149904"/>
            <a:ext cx="382597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5FBCDF-236A-4C19-A6E9-FF04E0FD9358}"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111731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5FBCDF-236A-4C19-A6E9-FF04E0FD9358}"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159701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5FBCDF-236A-4C19-A6E9-FF04E0FD9358}"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719536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183304"/>
            <a:ext cx="4556016" cy="25583147"/>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795FBCDF-236A-4C19-A6E9-FF04E0FD9358}"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3288887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183304"/>
            <a:ext cx="4556016" cy="25583147"/>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795FBCDF-236A-4C19-A6E9-FF04E0FD9358}"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671308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5FBCDF-236A-4C19-A6E9-FF04E0FD935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74741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916653"/>
            <a:ext cx="194052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916653"/>
            <a:ext cx="5709082"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5FBCDF-236A-4C19-A6E9-FF04E0FD935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2060988-9563-4568-9B7D-2948C5F72DBA}" type="slidenum">
              <a:rPr lang="en-ID" smtClean="0"/>
              <a:t>‹#›</a:t>
            </a:fld>
            <a:endParaRPr lang="en-ID"/>
          </a:p>
        </p:txBody>
      </p:sp>
    </p:spTree>
    <p:extLst>
      <p:ext uri="{BB962C8B-B14F-4D97-AF65-F5344CB8AC3E}">
        <p14:creationId xmlns:p14="http://schemas.microsoft.com/office/powerpoint/2010/main" val="1097529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916661"/>
            <a:ext cx="7762102"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9583264"/>
            <a:ext cx="7762102"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3366432"/>
            <a:ext cx="2024896" cy="1916653"/>
          </a:xfrm>
          <a:prstGeom prst="rect">
            <a:avLst/>
          </a:prstGeom>
        </p:spPr>
        <p:txBody>
          <a:bodyPr vert="horz" lIns="91440" tIns="45720" rIns="91440" bIns="45720" rtlCol="0" anchor="ctr"/>
          <a:lstStyle>
            <a:lvl1pPr algn="l">
              <a:defRPr sz="1181">
                <a:solidFill>
                  <a:schemeClr val="tx1">
                    <a:tint val="75000"/>
                  </a:schemeClr>
                </a:solidFill>
              </a:defRPr>
            </a:lvl1pPr>
          </a:lstStyle>
          <a:p>
            <a:fld id="{795FBCDF-236A-4C19-A6E9-FF04E0FD9358}" type="datetimeFigureOut">
              <a:rPr lang="en-ID" smtClean="0"/>
              <a:t>22/06/2026</a:t>
            </a:fld>
            <a:endParaRPr lang="en-ID"/>
          </a:p>
        </p:txBody>
      </p:sp>
      <p:sp>
        <p:nvSpPr>
          <p:cNvPr id="5" name="Footer Placeholder 4"/>
          <p:cNvSpPr>
            <a:spLocks noGrp="1"/>
          </p:cNvSpPr>
          <p:nvPr>
            <p:ph type="ftr" sz="quarter" idx="3"/>
          </p:nvPr>
        </p:nvSpPr>
        <p:spPr>
          <a:xfrm>
            <a:off x="2981097" y="33366432"/>
            <a:ext cx="3037344" cy="1916653"/>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3366432"/>
            <a:ext cx="2024896" cy="1916653"/>
          </a:xfrm>
          <a:prstGeom prst="rect">
            <a:avLst/>
          </a:prstGeom>
        </p:spPr>
        <p:txBody>
          <a:bodyPr vert="horz" lIns="91440" tIns="45720" rIns="91440" bIns="45720" rtlCol="0" anchor="ctr"/>
          <a:lstStyle>
            <a:lvl1pPr algn="r">
              <a:defRPr sz="1181">
                <a:solidFill>
                  <a:schemeClr val="tx1">
                    <a:tint val="75000"/>
                  </a:schemeClr>
                </a:solidFill>
              </a:defRPr>
            </a:lvl1pPr>
          </a:lstStyle>
          <a:p>
            <a:fld id="{72060988-9563-4568-9B7D-2948C5F72DBA}" type="slidenum">
              <a:rPr lang="en-ID" smtClean="0"/>
              <a:t>‹#›</a:t>
            </a:fld>
            <a:endParaRPr lang="en-ID"/>
          </a:p>
        </p:txBody>
      </p:sp>
    </p:spTree>
    <p:extLst>
      <p:ext uri="{BB962C8B-B14F-4D97-AF65-F5344CB8AC3E}">
        <p14:creationId xmlns:p14="http://schemas.microsoft.com/office/powerpoint/2010/main" val="34441575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sv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sv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E021B595-7E77-514A-E46F-263ADBA3B75C}"/>
              </a:ext>
            </a:extLst>
          </p:cNvPr>
          <p:cNvPicPr>
            <a:picLocks noChangeAspect="1"/>
          </p:cNvPicPr>
          <p:nvPr/>
        </p:nvPicPr>
        <p:blipFill>
          <a:blip r:embed="rId2"/>
          <a:stretch>
            <a:fillRect/>
          </a:stretch>
        </p:blipFill>
        <p:spPr>
          <a:xfrm>
            <a:off x="-1" y="0"/>
            <a:ext cx="8995629" cy="5060041"/>
          </a:xfrm>
          <a:prstGeom prst="rect">
            <a:avLst/>
          </a:prstGeom>
        </p:spPr>
      </p:pic>
      <p:sp>
        <p:nvSpPr>
          <p:cNvPr id="5" name="Shape 1">
            <a:extLst>
              <a:ext uri="{FF2B5EF4-FFF2-40B4-BE49-F238E27FC236}">
                <a16:creationId xmlns:a16="http://schemas.microsoft.com/office/drawing/2014/main" id="{66F6CF89-5AA2-C615-220A-4AD82717FCCB}"/>
              </a:ext>
            </a:extLst>
          </p:cNvPr>
          <p:cNvSpPr/>
          <p:nvPr/>
        </p:nvSpPr>
        <p:spPr>
          <a:xfrm>
            <a:off x="496118" y="1213247"/>
            <a:ext cx="4193978" cy="294631"/>
          </a:xfrm>
          <a:prstGeom prst="roundRect">
            <a:avLst>
              <a:gd name="adj" fmla="val 6132"/>
            </a:avLst>
          </a:prstGeom>
          <a:noFill/>
          <a:ln w="4763">
            <a:solidFill>
              <a:srgbClr val="28282F"/>
            </a:solidFill>
            <a:prstDash val="solid"/>
          </a:ln>
        </p:spPr>
      </p:sp>
      <p:sp>
        <p:nvSpPr>
          <p:cNvPr id="6" name="Text 2">
            <a:extLst>
              <a:ext uri="{FF2B5EF4-FFF2-40B4-BE49-F238E27FC236}">
                <a16:creationId xmlns:a16="http://schemas.microsoft.com/office/drawing/2014/main" id="{629AE188-318E-2F94-9E96-EE615A3D590A}"/>
              </a:ext>
            </a:extLst>
          </p:cNvPr>
          <p:cNvSpPr/>
          <p:nvPr/>
        </p:nvSpPr>
        <p:spPr>
          <a:xfrm>
            <a:off x="575295" y="1255216"/>
            <a:ext cx="4119711" cy="158800"/>
          </a:xfrm>
          <a:prstGeom prst="rect">
            <a:avLst/>
          </a:prstGeom>
          <a:noFill/>
          <a:ln/>
        </p:spPr>
        <p:txBody>
          <a:bodyPr wrap="none" lIns="0" tIns="0" rIns="0" bIns="0" rtlCol="0" anchor="t"/>
          <a:lstStyle/>
          <a:p>
            <a:pPr marL="0" indent="0" algn="l">
              <a:lnSpc>
                <a:spcPct val="133000"/>
              </a:lnSpc>
              <a:buNone/>
            </a:pPr>
            <a:r>
              <a:rPr lang="en-US" sz="900" dirty="0">
                <a:solidFill>
                  <a:schemeClr val="bg1"/>
                </a:solidFill>
                <a:latin typeface="Leelawadee UI" panose="020B0502040204020203" pitchFamily="34" charset="-34"/>
                <a:ea typeface="Inter" pitchFamily="34" charset="-122"/>
                <a:cs typeface="Leelawadee UI" panose="020B0502040204020203" pitchFamily="34" charset="-34"/>
              </a:rPr>
              <a:t>BERANDA / PROGRAM KAMI / NATURAL CAPITAL &amp; RESTORATION PROGRAM</a:t>
            </a:r>
            <a:endParaRPr lang="en-US" sz="900" dirty="0">
              <a:solidFill>
                <a:schemeClr val="bg1"/>
              </a:solidFill>
              <a:latin typeface="Leelawadee UI" panose="020B0502040204020203" pitchFamily="34" charset="-34"/>
              <a:cs typeface="Leelawadee UI" panose="020B0502040204020203" pitchFamily="34" charset="-34"/>
            </a:endParaRPr>
          </a:p>
        </p:txBody>
      </p:sp>
      <p:sp>
        <p:nvSpPr>
          <p:cNvPr id="7" name="Text 3">
            <a:extLst>
              <a:ext uri="{FF2B5EF4-FFF2-40B4-BE49-F238E27FC236}">
                <a16:creationId xmlns:a16="http://schemas.microsoft.com/office/drawing/2014/main" id="{5591935B-0D64-D1F8-95FE-7923C4F55488}"/>
              </a:ext>
            </a:extLst>
          </p:cNvPr>
          <p:cNvSpPr/>
          <p:nvPr/>
        </p:nvSpPr>
        <p:spPr>
          <a:xfrm>
            <a:off x="496119" y="2552855"/>
            <a:ext cx="8151763" cy="752027"/>
          </a:xfrm>
          <a:prstGeom prst="rect">
            <a:avLst/>
          </a:prstGeom>
          <a:noFill/>
          <a:ln/>
        </p:spPr>
        <p:txBody>
          <a:bodyPr wrap="square" lIns="0" tIns="0" rIns="0" bIns="0" rtlCol="0" anchor="t">
            <a:normAutofit/>
          </a:bodyPr>
          <a:lstStyle/>
          <a:p>
            <a:pPr marL="0" indent="0" algn="l">
              <a:lnSpc>
                <a:spcPct val="104000"/>
              </a:lnSpc>
              <a:buNone/>
            </a:pPr>
            <a:r>
              <a:rPr lang="en-US" sz="2400" dirty="0">
                <a:solidFill>
                  <a:schemeClr val="bg1"/>
                </a:solidFill>
                <a:latin typeface="Leelawadee UI" panose="020B0502040204020203" pitchFamily="34" charset="-34"/>
                <a:ea typeface="DM Sans Medium" pitchFamily="34" charset="-122"/>
                <a:cs typeface="Leelawadee UI" panose="020B0502040204020203" pitchFamily="34" charset="-34"/>
              </a:rPr>
              <a:t>Natural Capital &amp; Restoration Program: Melindungi dan Memulihkan Modal Alam untuk Masa Depan Berkelanjutan</a:t>
            </a:r>
            <a:endParaRPr lang="en-US" sz="2400" dirty="0">
              <a:solidFill>
                <a:schemeClr val="bg1"/>
              </a:solidFill>
              <a:latin typeface="Leelawadee UI" panose="020B0502040204020203" pitchFamily="34" charset="-34"/>
              <a:cs typeface="Leelawadee UI" panose="020B0502040204020203" pitchFamily="34" charset="-34"/>
            </a:endParaRPr>
          </a:p>
        </p:txBody>
      </p:sp>
      <p:sp>
        <p:nvSpPr>
          <p:cNvPr id="8" name="Text 4">
            <a:extLst>
              <a:ext uri="{FF2B5EF4-FFF2-40B4-BE49-F238E27FC236}">
                <a16:creationId xmlns:a16="http://schemas.microsoft.com/office/drawing/2014/main" id="{4ABB65B9-F522-702E-3EAF-1EDE377AD646}"/>
              </a:ext>
            </a:extLst>
          </p:cNvPr>
          <p:cNvSpPr/>
          <p:nvPr/>
        </p:nvSpPr>
        <p:spPr>
          <a:xfrm>
            <a:off x="496119" y="3490918"/>
            <a:ext cx="8151763" cy="595387"/>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chemeClr val="bg1"/>
                </a:solidFill>
                <a:latin typeface="Leelawadee UI" panose="020B0502040204020203" pitchFamily="34" charset="-34"/>
                <a:ea typeface="Inter" pitchFamily="34" charset="-122"/>
                <a:cs typeface="Leelawadee UI" panose="020B0502040204020203" pitchFamily="34" charset="-34"/>
              </a:rPr>
              <a:t>Program ini dirancang untuk melindungi, memulihkan, dan memperkuat fungsi ekologi lanskap guna mendukung keanekaragaman hayati, ketahanan iklim, dan kesejahteraan masyarakat. Ekosistem yang sehat merupakan fondasi bagi ketahanan sosial, ekonomi, dan lingkungan. YNKI meyakini bahwa pemulihan modal alam adalah investasi jangka panjang bagi kehidupan manusia dan alam.</a:t>
            </a:r>
            <a:endParaRPr lang="en-US" sz="1050" dirty="0">
              <a:solidFill>
                <a:schemeClr val="bg1"/>
              </a:solidFill>
              <a:latin typeface="Leelawadee UI" panose="020B0502040204020203" pitchFamily="34" charset="-34"/>
              <a:cs typeface="Leelawadee UI" panose="020B0502040204020203" pitchFamily="34" charset="-34"/>
            </a:endParaRPr>
          </a:p>
        </p:txBody>
      </p:sp>
      <p:pic>
        <p:nvPicPr>
          <p:cNvPr id="9" name="Image 1" descr="preencoded.png">
            <a:hlinkClick r:id="" action="ppaction://noaction"/>
            <a:extLst>
              <a:ext uri="{FF2B5EF4-FFF2-40B4-BE49-F238E27FC236}">
                <a16:creationId xmlns:a16="http://schemas.microsoft.com/office/drawing/2014/main" id="{A99CA232-E727-4551-AF35-A38F6B60E289}"/>
              </a:ext>
            </a:extLst>
          </p:cNvPr>
          <p:cNvPicPr>
            <a:picLocks noChangeAspect="1"/>
          </p:cNvPicPr>
          <p:nvPr/>
        </p:nvPicPr>
        <p:blipFill>
          <a:blip r:embed="rId3"/>
          <a:stretch>
            <a:fillRect/>
          </a:stretch>
        </p:blipFill>
        <p:spPr>
          <a:xfrm>
            <a:off x="496119" y="4225831"/>
            <a:ext cx="1748061" cy="341114"/>
          </a:xfrm>
          <a:prstGeom prst="rect">
            <a:avLst/>
          </a:prstGeom>
        </p:spPr>
      </p:pic>
      <p:pic>
        <p:nvPicPr>
          <p:cNvPr id="10" name="Image 2" descr="preencoded.png">
            <a:hlinkClick r:id="" action="ppaction://noaction"/>
            <a:extLst>
              <a:ext uri="{FF2B5EF4-FFF2-40B4-BE49-F238E27FC236}">
                <a16:creationId xmlns:a16="http://schemas.microsoft.com/office/drawing/2014/main" id="{B727C119-3AB7-C17A-F74D-130E1F07D743}"/>
              </a:ext>
            </a:extLst>
          </p:cNvPr>
          <p:cNvPicPr>
            <a:picLocks noChangeAspect="1"/>
          </p:cNvPicPr>
          <p:nvPr/>
        </p:nvPicPr>
        <p:blipFill>
          <a:blip r:embed="rId4"/>
          <a:stretch>
            <a:fillRect/>
          </a:stretch>
        </p:blipFill>
        <p:spPr>
          <a:xfrm>
            <a:off x="2306166" y="4225831"/>
            <a:ext cx="1428750" cy="341114"/>
          </a:xfrm>
          <a:prstGeom prst="rect">
            <a:avLst/>
          </a:prstGeom>
        </p:spPr>
      </p:pic>
      <p:sp>
        <p:nvSpPr>
          <p:cNvPr id="11" name="Text 0">
            <a:extLst>
              <a:ext uri="{FF2B5EF4-FFF2-40B4-BE49-F238E27FC236}">
                <a16:creationId xmlns:a16="http://schemas.microsoft.com/office/drawing/2014/main" id="{7163FE45-A94A-66FB-170B-5837F8145078}"/>
              </a:ext>
            </a:extLst>
          </p:cNvPr>
          <p:cNvSpPr/>
          <p:nvPr/>
        </p:nvSpPr>
        <p:spPr>
          <a:xfrm>
            <a:off x="463079" y="5571024"/>
            <a:ext cx="2938090" cy="310083"/>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Tujuan Program</a:t>
            </a:r>
            <a:endParaRPr lang="en-US" sz="2000" dirty="0">
              <a:latin typeface="Leelawadee UI" panose="020B0502040204020203" pitchFamily="34" charset="-34"/>
              <a:cs typeface="Leelawadee UI" panose="020B0502040204020203" pitchFamily="34" charset="-34"/>
            </a:endParaRPr>
          </a:p>
        </p:txBody>
      </p:sp>
      <p:sp>
        <p:nvSpPr>
          <p:cNvPr id="12" name="Shape 1">
            <a:extLst>
              <a:ext uri="{FF2B5EF4-FFF2-40B4-BE49-F238E27FC236}">
                <a16:creationId xmlns:a16="http://schemas.microsoft.com/office/drawing/2014/main" id="{C84D433C-CB37-24D0-AC1C-0841924AF2B8}"/>
              </a:ext>
            </a:extLst>
          </p:cNvPr>
          <p:cNvSpPr/>
          <p:nvPr/>
        </p:nvSpPr>
        <p:spPr>
          <a:xfrm>
            <a:off x="463079" y="6129129"/>
            <a:ext cx="14288" cy="879128"/>
          </a:xfrm>
          <a:prstGeom prst="roundRect">
            <a:avLst>
              <a:gd name="adj" fmla="val 59998"/>
            </a:avLst>
          </a:prstGeom>
          <a:solidFill>
            <a:srgbClr val="28282F"/>
          </a:solidFill>
          <a:ln/>
        </p:spPr>
      </p:sp>
      <p:sp>
        <p:nvSpPr>
          <p:cNvPr id="13" name="Text 2">
            <a:extLst>
              <a:ext uri="{FF2B5EF4-FFF2-40B4-BE49-F238E27FC236}">
                <a16:creationId xmlns:a16="http://schemas.microsoft.com/office/drawing/2014/main" id="{4A14147B-97E6-F45F-D0F7-3A1C0CAB633C}"/>
              </a:ext>
            </a:extLst>
          </p:cNvPr>
          <p:cNvSpPr/>
          <p:nvPr/>
        </p:nvSpPr>
        <p:spPr>
          <a:xfrm>
            <a:off x="649114" y="6268655"/>
            <a:ext cx="7965728" cy="600149"/>
          </a:xfrm>
          <a:prstGeom prst="rect">
            <a:avLst/>
          </a:prstGeom>
          <a:noFill/>
          <a:ln/>
        </p:spPr>
        <p:txBody>
          <a:bodyPr wrap="square" lIns="0" tIns="0" rIns="0" bIns="0" rtlCol="0" anchor="t">
            <a:normAutofit lnSpcReduction="10000"/>
          </a:bodyPr>
          <a:lstStyle/>
          <a:p>
            <a:pPr marL="0" indent="0" algn="l">
              <a:lnSpc>
                <a:spcPct val="133000"/>
              </a:lnSpc>
              <a:buNone/>
            </a:pPr>
            <a:r>
              <a:rPr lang="en-US" sz="11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100" b="1" dirty="0">
                <a:solidFill>
                  <a:srgbClr val="161613"/>
                </a:solidFill>
                <a:latin typeface="Leelawadee UI" panose="020B0502040204020203" pitchFamily="34" charset="-34"/>
                <a:ea typeface="Inter" pitchFamily="34" charset="-122"/>
                <a:cs typeface="Leelawadee UI" panose="020B0502040204020203" pitchFamily="34" charset="-34"/>
              </a:rPr>
              <a:t>Melindungi, memulihkan, dan memperkuat fungsi ekologi lanskap</a:t>
            </a: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 untuk mendukung keanekaragaman hayati, ketahanan iklim, dan kesejahteraan masyarakat — melalui pendekatan restorasi berbasis solusi yang melibatkan seluruh pemangku kepentingan secara inklusif dan kolaboratif.</a:t>
            </a:r>
            <a:endParaRPr lang="en-US" sz="1100" dirty="0">
              <a:latin typeface="Leelawadee UI" panose="020B0502040204020203" pitchFamily="34" charset="-34"/>
              <a:cs typeface="Leelawadee UI" panose="020B0502040204020203" pitchFamily="34" charset="-34"/>
            </a:endParaRPr>
          </a:p>
        </p:txBody>
      </p:sp>
      <p:sp>
        <p:nvSpPr>
          <p:cNvPr id="14" name="Shape 3">
            <a:extLst>
              <a:ext uri="{FF2B5EF4-FFF2-40B4-BE49-F238E27FC236}">
                <a16:creationId xmlns:a16="http://schemas.microsoft.com/office/drawing/2014/main" id="{27AF8873-21FE-FCF5-13ED-AB77DE0EB88D}"/>
              </a:ext>
            </a:extLst>
          </p:cNvPr>
          <p:cNvSpPr/>
          <p:nvPr/>
        </p:nvSpPr>
        <p:spPr>
          <a:xfrm>
            <a:off x="373782" y="7147858"/>
            <a:ext cx="4103191" cy="1679925"/>
          </a:xfrm>
          <a:prstGeom prst="roundRect">
            <a:avLst>
              <a:gd name="adj" fmla="val 1204"/>
            </a:avLst>
          </a:prstGeom>
          <a:solidFill>
            <a:srgbClr val="28282F"/>
          </a:solidFill>
          <a:ln/>
        </p:spPr>
      </p:sp>
      <p:sp>
        <p:nvSpPr>
          <p:cNvPr id="15" name="Text 4">
            <a:extLst>
              <a:ext uri="{FF2B5EF4-FFF2-40B4-BE49-F238E27FC236}">
                <a16:creationId xmlns:a16="http://schemas.microsoft.com/office/drawing/2014/main" id="{05C806B9-DD52-08AF-DDD9-9643597EEA6E}"/>
              </a:ext>
            </a:extLst>
          </p:cNvPr>
          <p:cNvSpPr/>
          <p:nvPr/>
        </p:nvSpPr>
        <p:spPr>
          <a:xfrm>
            <a:off x="497756" y="727183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Visi Kami</a:t>
            </a:r>
            <a:endParaRPr lang="en-US" sz="1200" dirty="0">
              <a:latin typeface="Leelawadee UI" panose="020B0502040204020203" pitchFamily="34" charset="-34"/>
              <a:cs typeface="Leelawadee UI" panose="020B0502040204020203" pitchFamily="34" charset="-34"/>
            </a:endParaRPr>
          </a:p>
        </p:txBody>
      </p:sp>
      <p:sp>
        <p:nvSpPr>
          <p:cNvPr id="16" name="Text 5">
            <a:extLst>
              <a:ext uri="{FF2B5EF4-FFF2-40B4-BE49-F238E27FC236}">
                <a16:creationId xmlns:a16="http://schemas.microsoft.com/office/drawing/2014/main" id="{1ED5BAF6-305B-9DF0-4595-C048E9657867}"/>
              </a:ext>
            </a:extLst>
          </p:cNvPr>
          <p:cNvSpPr/>
          <p:nvPr/>
        </p:nvSpPr>
        <p:spPr>
          <a:xfrm>
            <a:off x="497756" y="7589654"/>
            <a:ext cx="3855244" cy="1830804"/>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FFFFFF"/>
                </a:solidFill>
                <a:latin typeface="Leelawadee UI" panose="020B0502040204020203" pitchFamily="34" charset="-34"/>
                <a:ea typeface="Inter" pitchFamily="34" charset="-122"/>
                <a:cs typeface="Leelawadee UI" panose="020B0502040204020203" pitchFamily="34" charset="-34"/>
              </a:rPr>
              <a:t>YNKI memandang alam bukan sekadar sumber daya, tetapi sebagai modal hidup yang harus dijaga dan dipulihkan untuk generasi mendatang. Setiap hektar lahan gambut yang dipulihkan adalah langkah nyata menuju ketahanan ekosistem Kalimantan Barat.</a:t>
            </a:r>
            <a:endParaRPr lang="en-US" sz="1050" dirty="0">
              <a:latin typeface="Leelawadee UI" panose="020B0502040204020203" pitchFamily="34" charset="-34"/>
              <a:cs typeface="Leelawadee UI" panose="020B0502040204020203" pitchFamily="34" charset="-34"/>
            </a:endParaRPr>
          </a:p>
        </p:txBody>
      </p:sp>
      <p:sp>
        <p:nvSpPr>
          <p:cNvPr id="17" name="Text 6">
            <a:extLst>
              <a:ext uri="{FF2B5EF4-FFF2-40B4-BE49-F238E27FC236}">
                <a16:creationId xmlns:a16="http://schemas.microsoft.com/office/drawing/2014/main" id="{66DB7011-D1C6-0460-2BF1-FECA8F836643}"/>
              </a:ext>
            </a:extLst>
          </p:cNvPr>
          <p:cNvSpPr/>
          <p:nvPr/>
        </p:nvSpPr>
        <p:spPr>
          <a:xfrm>
            <a:off x="4695006" y="727183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Pendekatan Kami</a:t>
            </a:r>
            <a:endParaRPr lang="en-US" sz="1200" dirty="0">
              <a:latin typeface="Leelawadee UI" panose="020B0502040204020203" pitchFamily="34" charset="-34"/>
              <a:cs typeface="Leelawadee UI" panose="020B0502040204020203" pitchFamily="34" charset="-34"/>
            </a:endParaRPr>
          </a:p>
        </p:txBody>
      </p:sp>
      <p:sp>
        <p:nvSpPr>
          <p:cNvPr id="18" name="Text 7">
            <a:extLst>
              <a:ext uri="{FF2B5EF4-FFF2-40B4-BE49-F238E27FC236}">
                <a16:creationId xmlns:a16="http://schemas.microsoft.com/office/drawing/2014/main" id="{74B18809-357F-07F5-B2C6-27A2469636BB}"/>
              </a:ext>
            </a:extLst>
          </p:cNvPr>
          <p:cNvSpPr/>
          <p:nvPr/>
        </p:nvSpPr>
        <p:spPr>
          <a:xfrm>
            <a:off x="4695006" y="7500710"/>
            <a:ext cx="3924598" cy="1822340"/>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Program ini mengintegrasikan ilmu ekologi, keterlibatan komunitas, dan tata kelola inklusif untuk memastikan restorasi yang berkelanjutan. Kami tidak bekerja sendiri — kami membangun jaringan dengan pemerintah desa, lembaga lokal, dan mitra internasional untuk menciptakan dampak nyata di lapangan.</a:t>
            </a:r>
            <a:endParaRPr lang="en-US" sz="1050" dirty="0">
              <a:latin typeface="Leelawadee UI" panose="020B0502040204020203" pitchFamily="34" charset="-34"/>
              <a:cs typeface="Leelawadee UI" panose="020B0502040204020203" pitchFamily="34" charset="-34"/>
            </a:endParaRPr>
          </a:p>
        </p:txBody>
      </p:sp>
      <p:sp>
        <p:nvSpPr>
          <p:cNvPr id="19" name="Text 0">
            <a:extLst>
              <a:ext uri="{FF2B5EF4-FFF2-40B4-BE49-F238E27FC236}">
                <a16:creationId xmlns:a16="http://schemas.microsoft.com/office/drawing/2014/main" id="{74DFF6B8-DA7C-1EB9-A6E6-237207237B5E}"/>
              </a:ext>
            </a:extLst>
          </p:cNvPr>
          <p:cNvSpPr/>
          <p:nvPr/>
        </p:nvSpPr>
        <p:spPr>
          <a:xfrm>
            <a:off x="388070" y="9274321"/>
            <a:ext cx="3981152" cy="310083"/>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Mengapa Program Ini Penting?</a:t>
            </a:r>
            <a:endParaRPr lang="en-US" sz="2000" dirty="0">
              <a:latin typeface="Leelawadee UI" panose="020B0502040204020203" pitchFamily="34" charset="-34"/>
              <a:cs typeface="Leelawadee UI" panose="020B0502040204020203" pitchFamily="34" charset="-34"/>
            </a:endParaRPr>
          </a:p>
        </p:txBody>
      </p:sp>
      <p:sp>
        <p:nvSpPr>
          <p:cNvPr id="20" name="Text 1">
            <a:extLst>
              <a:ext uri="{FF2B5EF4-FFF2-40B4-BE49-F238E27FC236}">
                <a16:creationId xmlns:a16="http://schemas.microsoft.com/office/drawing/2014/main" id="{4EF5A6B6-9313-20F9-B011-20239F01B4EA}"/>
              </a:ext>
            </a:extLst>
          </p:cNvPr>
          <p:cNvSpPr/>
          <p:nvPr/>
        </p:nvSpPr>
        <p:spPr>
          <a:xfrm>
            <a:off x="388070" y="9677294"/>
            <a:ext cx="8151763" cy="55205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Ekosistem yang sehat merupakan fondasi bagi ketahanan sosial, ekonomi, dan lingkungan. Namun, deforestasi, degradasi gambut, dan hilangnya keanekaragaman hayati terus mengancam fungsi ekologis yang menopang kehidupan jutaan manusia di Kalimantan.</a:t>
            </a:r>
            <a:endParaRPr lang="en-US" sz="1050" dirty="0">
              <a:latin typeface="Leelawadee UI" panose="020B0502040204020203" pitchFamily="34" charset="-34"/>
              <a:cs typeface="Leelawadee UI" panose="020B0502040204020203" pitchFamily="34" charset="-34"/>
            </a:endParaRPr>
          </a:p>
        </p:txBody>
      </p:sp>
      <p:pic>
        <p:nvPicPr>
          <p:cNvPr id="21" name="Image 0" descr="preencoded.png">
            <a:extLst>
              <a:ext uri="{FF2B5EF4-FFF2-40B4-BE49-F238E27FC236}">
                <a16:creationId xmlns:a16="http://schemas.microsoft.com/office/drawing/2014/main" id="{4BD39ED5-B813-FF92-C74D-4D94960357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3782" y="10368877"/>
            <a:ext cx="2648843" cy="2132484"/>
          </a:xfrm>
          <a:prstGeom prst="rect">
            <a:avLst/>
          </a:prstGeom>
        </p:spPr>
      </p:pic>
      <p:sp>
        <p:nvSpPr>
          <p:cNvPr id="22" name="Text 2">
            <a:extLst>
              <a:ext uri="{FF2B5EF4-FFF2-40B4-BE49-F238E27FC236}">
                <a16:creationId xmlns:a16="http://schemas.microsoft.com/office/drawing/2014/main" id="{B9107DCE-BF5C-4F17-DD34-05A775FAB525}"/>
              </a:ext>
            </a:extLst>
          </p:cNvPr>
          <p:cNvSpPr/>
          <p:nvPr/>
        </p:nvSpPr>
        <p:spPr>
          <a:xfrm>
            <a:off x="569193" y="10507139"/>
            <a:ext cx="2113285"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Krisis Gambut yang Nyata</a:t>
            </a:r>
            <a:endParaRPr lang="en-US" sz="1200" dirty="0">
              <a:latin typeface="Leelawadee UI" panose="020B0502040204020203" pitchFamily="34" charset="-34"/>
              <a:cs typeface="Leelawadee UI" panose="020B0502040204020203" pitchFamily="34" charset="-34"/>
            </a:endParaRPr>
          </a:p>
        </p:txBody>
      </p:sp>
      <p:sp>
        <p:nvSpPr>
          <p:cNvPr id="23" name="Text 3">
            <a:extLst>
              <a:ext uri="{FF2B5EF4-FFF2-40B4-BE49-F238E27FC236}">
                <a16:creationId xmlns:a16="http://schemas.microsoft.com/office/drawing/2014/main" id="{96779086-04C7-93B5-1D81-FB6A5D1A195D}"/>
              </a:ext>
            </a:extLst>
          </p:cNvPr>
          <p:cNvSpPr/>
          <p:nvPr/>
        </p:nvSpPr>
        <p:spPr>
          <a:xfrm>
            <a:off x="569193" y="10775401"/>
            <a:ext cx="2315170"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Indonesia memiliki sekitar 13,4 juta hektar lahan gambut — salah satu yang terluas di dunia. Degradasi gambut menyebabkan emisi karbon masif, bencana kebakaran berulang, dan hilangnya habitat kritis bagi keanekaragaman hayati.</a:t>
            </a:r>
            <a:endParaRPr lang="en-US" sz="950" dirty="0">
              <a:latin typeface="Leelawadee UI" panose="020B0502040204020203" pitchFamily="34" charset="-34"/>
              <a:cs typeface="Leelawadee UI" panose="020B0502040204020203" pitchFamily="34" charset="-34"/>
            </a:endParaRPr>
          </a:p>
        </p:txBody>
      </p:sp>
      <p:pic>
        <p:nvPicPr>
          <p:cNvPr id="24" name="Image 1" descr="preencoded.png">
            <a:extLst>
              <a:ext uri="{FF2B5EF4-FFF2-40B4-BE49-F238E27FC236}">
                <a16:creationId xmlns:a16="http://schemas.microsoft.com/office/drawing/2014/main" id="{9458C083-A0F3-7F74-C8D7-76ACC2D676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32311" y="10368877"/>
            <a:ext cx="2648917" cy="2132484"/>
          </a:xfrm>
          <a:prstGeom prst="rect">
            <a:avLst/>
          </a:prstGeom>
        </p:spPr>
      </p:pic>
      <p:sp>
        <p:nvSpPr>
          <p:cNvPr id="25" name="Text 4">
            <a:extLst>
              <a:ext uri="{FF2B5EF4-FFF2-40B4-BE49-F238E27FC236}">
                <a16:creationId xmlns:a16="http://schemas.microsoft.com/office/drawing/2014/main" id="{B46413BE-044B-816D-8C8E-64AD2D1A320D}"/>
              </a:ext>
            </a:extLst>
          </p:cNvPr>
          <p:cNvSpPr/>
          <p:nvPr/>
        </p:nvSpPr>
        <p:spPr>
          <a:xfrm>
            <a:off x="3327723" y="10507139"/>
            <a:ext cx="1794123"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Ancaman Deforestasi</a:t>
            </a:r>
            <a:endParaRPr lang="en-US" sz="1200" dirty="0">
              <a:latin typeface="Leelawadee UI" panose="020B0502040204020203" pitchFamily="34" charset="-34"/>
              <a:cs typeface="Leelawadee UI" panose="020B0502040204020203" pitchFamily="34" charset="-34"/>
            </a:endParaRPr>
          </a:p>
        </p:txBody>
      </p:sp>
      <p:sp>
        <p:nvSpPr>
          <p:cNvPr id="26" name="Text 5">
            <a:extLst>
              <a:ext uri="{FF2B5EF4-FFF2-40B4-BE49-F238E27FC236}">
                <a16:creationId xmlns:a16="http://schemas.microsoft.com/office/drawing/2014/main" id="{183EF301-18DC-64BE-355D-2A2F43CB2A7E}"/>
              </a:ext>
            </a:extLst>
          </p:cNvPr>
          <p:cNvSpPr/>
          <p:nvPr/>
        </p:nvSpPr>
        <p:spPr>
          <a:xfrm>
            <a:off x="3327723" y="10775401"/>
            <a:ext cx="2315245"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Alih fungsi lahan dan tekanan konversi terus mengurangi tutupan hutan tropis di Kalimantan. Tanpa intervensi sistemik, kemampuan ekosistem untuk menyimpan karbon, mengatur air, dan menyokong keanekaragaman hayati akan terus menurun.</a:t>
            </a:r>
            <a:endParaRPr lang="en-US" sz="950" dirty="0">
              <a:latin typeface="Leelawadee UI" panose="020B0502040204020203" pitchFamily="34" charset="-34"/>
              <a:cs typeface="Leelawadee UI" panose="020B0502040204020203" pitchFamily="34" charset="-34"/>
            </a:endParaRPr>
          </a:p>
        </p:txBody>
      </p:sp>
      <p:pic>
        <p:nvPicPr>
          <p:cNvPr id="27" name="Image 2" descr="preencoded.png">
            <a:extLst>
              <a:ext uri="{FF2B5EF4-FFF2-40B4-BE49-F238E27FC236}">
                <a16:creationId xmlns:a16="http://schemas.microsoft.com/office/drawing/2014/main" id="{45E44FE6-63B7-194E-772C-1C0F59C9F5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90915" y="10368877"/>
            <a:ext cx="2648843" cy="2132484"/>
          </a:xfrm>
          <a:prstGeom prst="rect">
            <a:avLst/>
          </a:prstGeom>
        </p:spPr>
      </p:pic>
      <p:sp>
        <p:nvSpPr>
          <p:cNvPr id="28" name="Text 6">
            <a:extLst>
              <a:ext uri="{FF2B5EF4-FFF2-40B4-BE49-F238E27FC236}">
                <a16:creationId xmlns:a16="http://schemas.microsoft.com/office/drawing/2014/main" id="{784AA2F0-A047-A3B0-2ED1-FB3B6CC1BBC4}"/>
              </a:ext>
            </a:extLst>
          </p:cNvPr>
          <p:cNvSpPr/>
          <p:nvPr/>
        </p:nvSpPr>
        <p:spPr>
          <a:xfrm>
            <a:off x="6086326" y="10507139"/>
            <a:ext cx="2196033"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Restorasi sebagai Jawaban</a:t>
            </a:r>
            <a:endParaRPr lang="en-US" sz="1200" dirty="0">
              <a:latin typeface="Leelawadee UI" panose="020B0502040204020203" pitchFamily="34" charset="-34"/>
              <a:cs typeface="Leelawadee UI" panose="020B0502040204020203" pitchFamily="34" charset="-34"/>
            </a:endParaRPr>
          </a:p>
        </p:txBody>
      </p:sp>
      <p:sp>
        <p:nvSpPr>
          <p:cNvPr id="29" name="Text 7">
            <a:extLst>
              <a:ext uri="{FF2B5EF4-FFF2-40B4-BE49-F238E27FC236}">
                <a16:creationId xmlns:a16="http://schemas.microsoft.com/office/drawing/2014/main" id="{17685D80-647E-F4C7-17F1-A3FE34F3277D}"/>
              </a:ext>
            </a:extLst>
          </p:cNvPr>
          <p:cNvSpPr/>
          <p:nvPr/>
        </p:nvSpPr>
        <p:spPr>
          <a:xfrm>
            <a:off x="6086326" y="10775401"/>
            <a:ext cx="2315170" cy="1587698"/>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restorasi gambut YNKI tidak hanya mendukung pencegahan kebakaran lahan gambut, tetapi juga menjadi langkah awal pemulihan ekosistem gambut untuk memastikan keberlanjutan jasa lingkungan — mulai dari penyerapan karbon hingga ketahanan pangan masyarakat lokal.</a:t>
            </a:r>
            <a:endParaRPr lang="en-US" sz="950" dirty="0">
              <a:latin typeface="Leelawadee UI" panose="020B0502040204020203" pitchFamily="34" charset="-34"/>
              <a:cs typeface="Leelawadee UI" panose="020B0502040204020203" pitchFamily="34" charset="-34"/>
            </a:endParaRPr>
          </a:p>
        </p:txBody>
      </p:sp>
      <p:sp>
        <p:nvSpPr>
          <p:cNvPr id="30" name="Text 0">
            <a:extLst>
              <a:ext uri="{FF2B5EF4-FFF2-40B4-BE49-F238E27FC236}">
                <a16:creationId xmlns:a16="http://schemas.microsoft.com/office/drawing/2014/main" id="{CE380A55-B5E4-873B-CB32-5BCC69433209}"/>
              </a:ext>
            </a:extLst>
          </p:cNvPr>
          <p:cNvSpPr/>
          <p:nvPr/>
        </p:nvSpPr>
        <p:spPr>
          <a:xfrm>
            <a:off x="388070" y="12947305"/>
            <a:ext cx="4302026" cy="310083"/>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Hasil Strategis yang Ingin Dicapai</a:t>
            </a:r>
            <a:endParaRPr lang="en-US" sz="2000" dirty="0">
              <a:latin typeface="Leelawadee UI" panose="020B0502040204020203" pitchFamily="34" charset="-34"/>
              <a:cs typeface="Leelawadee UI" panose="020B0502040204020203" pitchFamily="34" charset="-34"/>
            </a:endParaRPr>
          </a:p>
        </p:txBody>
      </p:sp>
      <p:sp>
        <p:nvSpPr>
          <p:cNvPr id="31" name="Text 1">
            <a:extLst>
              <a:ext uri="{FF2B5EF4-FFF2-40B4-BE49-F238E27FC236}">
                <a16:creationId xmlns:a16="http://schemas.microsoft.com/office/drawing/2014/main" id="{A3F6BF44-FC78-B698-7EE0-11872A18BE6F}"/>
              </a:ext>
            </a:extLst>
          </p:cNvPr>
          <p:cNvSpPr/>
          <p:nvPr/>
        </p:nvSpPr>
        <p:spPr>
          <a:xfrm>
            <a:off x="388070" y="13505411"/>
            <a:ext cx="8151763" cy="396925"/>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Program Natural Capital &amp; Restoration YNKI berorientasi pada lima hasil strategis yang saling terkait, membentuk ekosistem pemulihan yang menyeluruh dari skala lokal hingga lanskap.</a:t>
            </a:r>
            <a:endParaRPr lang="en-US" sz="1050" dirty="0">
              <a:latin typeface="Leelawadee UI" panose="020B0502040204020203" pitchFamily="34" charset="-34"/>
              <a:cs typeface="Leelawadee UI" panose="020B0502040204020203" pitchFamily="34" charset="-34"/>
            </a:endParaRPr>
          </a:p>
        </p:txBody>
      </p:sp>
      <p:pic>
        <p:nvPicPr>
          <p:cNvPr id="32" name="Image 0" descr="preencoded.png">
            <a:extLst>
              <a:ext uri="{FF2B5EF4-FFF2-40B4-BE49-F238E27FC236}">
                <a16:creationId xmlns:a16="http://schemas.microsoft.com/office/drawing/2014/main" id="{4F4346D4-8B6C-6F69-3BBF-12E21AD07A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070" y="14041862"/>
            <a:ext cx="248022" cy="248022"/>
          </a:xfrm>
          <a:prstGeom prst="rect">
            <a:avLst/>
          </a:prstGeom>
        </p:spPr>
      </p:pic>
      <p:sp>
        <p:nvSpPr>
          <p:cNvPr id="33" name="Text 2">
            <a:extLst>
              <a:ext uri="{FF2B5EF4-FFF2-40B4-BE49-F238E27FC236}">
                <a16:creationId xmlns:a16="http://schemas.microsoft.com/office/drawing/2014/main" id="{31A5A138-E07B-6532-1C5F-94FC639E4535}"/>
              </a:ext>
            </a:extLst>
          </p:cNvPr>
          <p:cNvSpPr/>
          <p:nvPr/>
        </p:nvSpPr>
        <p:spPr>
          <a:xfrm>
            <a:off x="388070" y="14444888"/>
            <a:ext cx="1776710"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Biodiversitas Terlindungi</a:t>
            </a:r>
            <a:endParaRPr lang="en-US" sz="1400" dirty="0">
              <a:latin typeface="Leelawadee UI" panose="020B0502040204020203" pitchFamily="34" charset="-34"/>
              <a:cs typeface="Leelawadee UI" panose="020B0502040204020203" pitchFamily="34" charset="-34"/>
            </a:endParaRPr>
          </a:p>
        </p:txBody>
      </p:sp>
      <p:sp>
        <p:nvSpPr>
          <p:cNvPr id="34" name="Text 3">
            <a:extLst>
              <a:ext uri="{FF2B5EF4-FFF2-40B4-BE49-F238E27FC236}">
                <a16:creationId xmlns:a16="http://schemas.microsoft.com/office/drawing/2014/main" id="{85D46B9C-900A-454C-7350-18357C730CA5}"/>
              </a:ext>
            </a:extLst>
          </p:cNvPr>
          <p:cNvSpPr/>
          <p:nvPr/>
        </p:nvSpPr>
        <p:spPr>
          <a:xfrm>
            <a:off x="388070" y="14713151"/>
            <a:ext cx="2613868" cy="793849"/>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Keanekaragaman hayati endemik Kalimantan terjaga dan populasi spesies prioritas dipulihkan melalui perlindungan habitat kritis.</a:t>
            </a:r>
            <a:endParaRPr lang="en-US" sz="1000" dirty="0">
              <a:latin typeface="Leelawadee UI" panose="020B0502040204020203" pitchFamily="34" charset="-34"/>
              <a:cs typeface="Leelawadee UI" panose="020B0502040204020203" pitchFamily="34" charset="-34"/>
            </a:endParaRPr>
          </a:p>
        </p:txBody>
      </p:sp>
      <p:pic>
        <p:nvPicPr>
          <p:cNvPr id="35" name="Image 1" descr="preencoded.png">
            <a:extLst>
              <a:ext uri="{FF2B5EF4-FFF2-40B4-BE49-F238E27FC236}">
                <a16:creationId xmlns:a16="http://schemas.microsoft.com/office/drawing/2014/main" id="{5823B7A6-7E32-9129-A194-B7346302A73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56942" y="14041862"/>
            <a:ext cx="248022" cy="248022"/>
          </a:xfrm>
          <a:prstGeom prst="rect">
            <a:avLst/>
          </a:prstGeom>
        </p:spPr>
      </p:pic>
      <p:sp>
        <p:nvSpPr>
          <p:cNvPr id="36" name="Text 4">
            <a:extLst>
              <a:ext uri="{FF2B5EF4-FFF2-40B4-BE49-F238E27FC236}">
                <a16:creationId xmlns:a16="http://schemas.microsoft.com/office/drawing/2014/main" id="{03023286-9483-0D21-2E21-0536B67E2693}"/>
              </a:ext>
            </a:extLst>
          </p:cNvPr>
          <p:cNvSpPr/>
          <p:nvPr/>
        </p:nvSpPr>
        <p:spPr>
          <a:xfrm>
            <a:off x="3156942" y="14444888"/>
            <a:ext cx="1816819"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Lanskap Kritis Dipulihkan</a:t>
            </a:r>
            <a:endParaRPr lang="en-US" sz="1400" dirty="0">
              <a:latin typeface="Leelawadee UI" panose="020B0502040204020203" pitchFamily="34" charset="-34"/>
              <a:cs typeface="Leelawadee UI" panose="020B0502040204020203" pitchFamily="34" charset="-34"/>
            </a:endParaRPr>
          </a:p>
        </p:txBody>
      </p:sp>
      <p:sp>
        <p:nvSpPr>
          <p:cNvPr id="37" name="Text 5">
            <a:extLst>
              <a:ext uri="{FF2B5EF4-FFF2-40B4-BE49-F238E27FC236}">
                <a16:creationId xmlns:a16="http://schemas.microsoft.com/office/drawing/2014/main" id="{EF32FB7D-EB54-A0AF-C509-E75AA6582359}"/>
              </a:ext>
            </a:extLst>
          </p:cNvPr>
          <p:cNvSpPr/>
          <p:nvPr/>
        </p:nvSpPr>
        <p:spPr>
          <a:xfrm>
            <a:off x="3156942" y="14713151"/>
            <a:ext cx="2613943" cy="595387"/>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Ekosistem gambut dan hutan terdegradasi dipulihkan melalui pendekatan restorasi terintegrasi bersama komunitas lokal.</a:t>
            </a:r>
            <a:endParaRPr lang="en-US" sz="1000" dirty="0">
              <a:latin typeface="Leelawadee UI" panose="020B0502040204020203" pitchFamily="34" charset="-34"/>
              <a:cs typeface="Leelawadee UI" panose="020B0502040204020203" pitchFamily="34" charset="-34"/>
            </a:endParaRPr>
          </a:p>
        </p:txBody>
      </p:sp>
      <p:pic>
        <p:nvPicPr>
          <p:cNvPr id="38" name="Image 2" descr="preencoded.png">
            <a:extLst>
              <a:ext uri="{FF2B5EF4-FFF2-40B4-BE49-F238E27FC236}">
                <a16:creationId xmlns:a16="http://schemas.microsoft.com/office/drawing/2014/main" id="{9AF97E4F-AD4A-B625-DDB5-11C9774DDAB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25890" y="14041862"/>
            <a:ext cx="248022" cy="248022"/>
          </a:xfrm>
          <a:prstGeom prst="rect">
            <a:avLst/>
          </a:prstGeom>
        </p:spPr>
      </p:pic>
      <p:sp>
        <p:nvSpPr>
          <p:cNvPr id="39" name="Text 6">
            <a:extLst>
              <a:ext uri="{FF2B5EF4-FFF2-40B4-BE49-F238E27FC236}">
                <a16:creationId xmlns:a16="http://schemas.microsoft.com/office/drawing/2014/main" id="{82130FE3-A43D-EC4F-7449-0D34673A6BF4}"/>
              </a:ext>
            </a:extLst>
          </p:cNvPr>
          <p:cNvSpPr/>
          <p:nvPr/>
        </p:nvSpPr>
        <p:spPr>
          <a:xfrm>
            <a:off x="5925890" y="14444888"/>
            <a:ext cx="1928292"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Ketahanan Iklim Ekosistem</a:t>
            </a:r>
            <a:endParaRPr lang="en-US" sz="1400" dirty="0">
              <a:latin typeface="Leelawadee UI" panose="020B0502040204020203" pitchFamily="34" charset="-34"/>
              <a:cs typeface="Leelawadee UI" panose="020B0502040204020203" pitchFamily="34" charset="-34"/>
            </a:endParaRPr>
          </a:p>
        </p:txBody>
      </p:sp>
      <p:sp>
        <p:nvSpPr>
          <p:cNvPr id="40" name="Text 7">
            <a:extLst>
              <a:ext uri="{FF2B5EF4-FFF2-40B4-BE49-F238E27FC236}">
                <a16:creationId xmlns:a16="http://schemas.microsoft.com/office/drawing/2014/main" id="{F841882C-83C5-AE1C-D507-AB2F68C54446}"/>
              </a:ext>
            </a:extLst>
          </p:cNvPr>
          <p:cNvSpPr/>
          <p:nvPr/>
        </p:nvSpPr>
        <p:spPr>
          <a:xfrm>
            <a:off x="5925890" y="14713151"/>
            <a:ext cx="2613943" cy="793849"/>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Gambut dan hutan yang sehat meningkatkan kapasitas penyerapan karbon dan mengurangi kerentanan terhadap dampak perubahan iklim.</a:t>
            </a:r>
            <a:endParaRPr lang="en-US" sz="1000" dirty="0">
              <a:latin typeface="Leelawadee UI" panose="020B0502040204020203" pitchFamily="34" charset="-34"/>
              <a:cs typeface="Leelawadee UI" panose="020B0502040204020203" pitchFamily="34" charset="-34"/>
            </a:endParaRPr>
          </a:p>
        </p:txBody>
      </p:sp>
      <p:pic>
        <p:nvPicPr>
          <p:cNvPr id="41" name="Image 3" descr="preencoded.png">
            <a:extLst>
              <a:ext uri="{FF2B5EF4-FFF2-40B4-BE49-F238E27FC236}">
                <a16:creationId xmlns:a16="http://schemas.microsoft.com/office/drawing/2014/main" id="{48EE07B6-2CBB-91C6-9283-75DB3B1B688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8070" y="15755022"/>
            <a:ext cx="248022" cy="248022"/>
          </a:xfrm>
          <a:prstGeom prst="rect">
            <a:avLst/>
          </a:prstGeom>
        </p:spPr>
      </p:pic>
      <p:sp>
        <p:nvSpPr>
          <p:cNvPr id="42" name="Text 8">
            <a:extLst>
              <a:ext uri="{FF2B5EF4-FFF2-40B4-BE49-F238E27FC236}">
                <a16:creationId xmlns:a16="http://schemas.microsoft.com/office/drawing/2014/main" id="{1B0E89B9-8D43-DC9F-0722-D30D113A328F}"/>
              </a:ext>
            </a:extLst>
          </p:cNvPr>
          <p:cNvSpPr/>
          <p:nvPr/>
        </p:nvSpPr>
        <p:spPr>
          <a:xfrm>
            <a:off x="388070" y="16158049"/>
            <a:ext cx="2427684"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Nature-based Solutions Diadopsi</a:t>
            </a:r>
            <a:endParaRPr lang="en-US" sz="1400" dirty="0">
              <a:latin typeface="Leelawadee UI" panose="020B0502040204020203" pitchFamily="34" charset="-34"/>
              <a:cs typeface="Leelawadee UI" panose="020B0502040204020203" pitchFamily="34" charset="-34"/>
            </a:endParaRPr>
          </a:p>
        </p:txBody>
      </p:sp>
      <p:sp>
        <p:nvSpPr>
          <p:cNvPr id="43" name="Text 9">
            <a:extLst>
              <a:ext uri="{FF2B5EF4-FFF2-40B4-BE49-F238E27FC236}">
                <a16:creationId xmlns:a16="http://schemas.microsoft.com/office/drawing/2014/main" id="{B3F4EEF0-77F7-CCA1-7B0B-7CF0421893B8}"/>
              </a:ext>
            </a:extLst>
          </p:cNvPr>
          <p:cNvSpPr/>
          <p:nvPr/>
        </p:nvSpPr>
        <p:spPr>
          <a:xfrm>
            <a:off x="388070" y="16426312"/>
            <a:ext cx="2613868" cy="793849"/>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Solusi berbasis alam berkembang dan diadopsi secara luas oleh pemangku kepentingan di tingkat lanskap, kebijakan, dan komunitas.</a:t>
            </a:r>
            <a:endParaRPr lang="en-US" sz="1000" dirty="0">
              <a:latin typeface="Leelawadee UI" panose="020B0502040204020203" pitchFamily="34" charset="-34"/>
              <a:cs typeface="Leelawadee UI" panose="020B0502040204020203" pitchFamily="34" charset="-34"/>
            </a:endParaRPr>
          </a:p>
        </p:txBody>
      </p:sp>
      <p:pic>
        <p:nvPicPr>
          <p:cNvPr id="44" name="Image 4" descr="preencoded.png">
            <a:extLst>
              <a:ext uri="{FF2B5EF4-FFF2-40B4-BE49-F238E27FC236}">
                <a16:creationId xmlns:a16="http://schemas.microsoft.com/office/drawing/2014/main" id="{C1913AC5-80C2-917B-B444-7990082024C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56942" y="15755022"/>
            <a:ext cx="248022" cy="248022"/>
          </a:xfrm>
          <a:prstGeom prst="rect">
            <a:avLst/>
          </a:prstGeom>
        </p:spPr>
      </p:pic>
      <p:sp>
        <p:nvSpPr>
          <p:cNvPr id="45" name="Text 10">
            <a:extLst>
              <a:ext uri="{FF2B5EF4-FFF2-40B4-BE49-F238E27FC236}">
                <a16:creationId xmlns:a16="http://schemas.microsoft.com/office/drawing/2014/main" id="{3D40F596-FA67-A2B8-F93D-07DCB5E7B788}"/>
              </a:ext>
            </a:extLst>
          </p:cNvPr>
          <p:cNvSpPr/>
          <p:nvPr/>
        </p:nvSpPr>
        <p:spPr>
          <a:xfrm>
            <a:off x="3156942" y="16158049"/>
            <a:ext cx="1576239"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Risiko Iklim Berkurang</a:t>
            </a:r>
            <a:endParaRPr lang="en-US" sz="1400" dirty="0">
              <a:latin typeface="Leelawadee UI" panose="020B0502040204020203" pitchFamily="34" charset="-34"/>
              <a:cs typeface="Leelawadee UI" panose="020B0502040204020203" pitchFamily="34" charset="-34"/>
            </a:endParaRPr>
          </a:p>
        </p:txBody>
      </p:sp>
      <p:sp>
        <p:nvSpPr>
          <p:cNvPr id="46" name="Text 11">
            <a:extLst>
              <a:ext uri="{FF2B5EF4-FFF2-40B4-BE49-F238E27FC236}">
                <a16:creationId xmlns:a16="http://schemas.microsoft.com/office/drawing/2014/main" id="{86C8BAB2-3FEE-E8D5-1386-E94B40329161}"/>
              </a:ext>
            </a:extLst>
          </p:cNvPr>
          <p:cNvSpPr/>
          <p:nvPr/>
        </p:nvSpPr>
        <p:spPr>
          <a:xfrm>
            <a:off x="3156942" y="16426312"/>
            <a:ext cx="2613943" cy="595387"/>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Mitigasi dan adaptasi berbasis ekosistem mengurangi risiko bencana iklim dan meningkatkan ketahanan komunitas rentan.</a:t>
            </a:r>
            <a:endParaRPr lang="en-US" sz="1000" dirty="0">
              <a:latin typeface="Leelawadee UI" panose="020B0502040204020203" pitchFamily="34" charset="-34"/>
              <a:cs typeface="Leelawadee UI" panose="020B0502040204020203" pitchFamily="34" charset="-34"/>
            </a:endParaRPr>
          </a:p>
        </p:txBody>
      </p:sp>
      <p:sp>
        <p:nvSpPr>
          <p:cNvPr id="47" name="Text 0">
            <a:extLst>
              <a:ext uri="{FF2B5EF4-FFF2-40B4-BE49-F238E27FC236}">
                <a16:creationId xmlns:a16="http://schemas.microsoft.com/office/drawing/2014/main" id="{E6CC36D6-1AE0-255D-7EC5-6FF12B5C6D7A}"/>
              </a:ext>
            </a:extLst>
          </p:cNvPr>
          <p:cNvSpPr/>
          <p:nvPr/>
        </p:nvSpPr>
        <p:spPr>
          <a:xfrm>
            <a:off x="373782" y="17441687"/>
            <a:ext cx="2629123" cy="256803"/>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Intervensi Inti Program</a:t>
            </a:r>
            <a:endParaRPr lang="en-US" sz="2000" dirty="0">
              <a:latin typeface="Leelawadee UI" panose="020B0502040204020203" pitchFamily="34" charset="-34"/>
              <a:cs typeface="Leelawadee UI" panose="020B0502040204020203" pitchFamily="34" charset="-34"/>
            </a:endParaRPr>
          </a:p>
        </p:txBody>
      </p:sp>
      <p:sp>
        <p:nvSpPr>
          <p:cNvPr id="48" name="Text 1">
            <a:extLst>
              <a:ext uri="{FF2B5EF4-FFF2-40B4-BE49-F238E27FC236}">
                <a16:creationId xmlns:a16="http://schemas.microsoft.com/office/drawing/2014/main" id="{9E9BF437-B2CE-04D3-5936-13BD0AE0D5B5}"/>
              </a:ext>
            </a:extLst>
          </p:cNvPr>
          <p:cNvSpPr/>
          <p:nvPr/>
        </p:nvSpPr>
        <p:spPr>
          <a:xfrm>
            <a:off x="373782" y="17895241"/>
            <a:ext cx="8100640" cy="470445"/>
          </a:xfrm>
          <a:prstGeom prst="rect">
            <a:avLst/>
          </a:prstGeom>
          <a:noFill/>
          <a:ln/>
        </p:spPr>
        <p:txBody>
          <a:bodyPr wrap="square" lIns="0" tIns="0" rIns="0" bIns="0" rtlCol="0" anchor="t">
            <a:noAutofit/>
          </a:bodyPr>
          <a:lstStyle/>
          <a:p>
            <a:pPr marL="0" indent="0" algn="l">
              <a:lnSpc>
                <a:spcPct val="122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mengimplementasikan enam intervensi inti yang saling melengkapi, dari penilaian ilmiah hingga pemberdayaan komunitas, untuk memastikan restorasi yang komprehensif dan berdampak jangka panjang.</a:t>
            </a:r>
            <a:endParaRPr lang="en-US" sz="1050" dirty="0">
              <a:latin typeface="Leelawadee UI" panose="020B0502040204020203" pitchFamily="34" charset="-34"/>
              <a:cs typeface="Leelawadee UI" panose="020B0502040204020203" pitchFamily="34" charset="-34"/>
            </a:endParaRPr>
          </a:p>
        </p:txBody>
      </p:sp>
      <p:sp>
        <p:nvSpPr>
          <p:cNvPr id="49" name="Shape 2">
            <a:extLst>
              <a:ext uri="{FF2B5EF4-FFF2-40B4-BE49-F238E27FC236}">
                <a16:creationId xmlns:a16="http://schemas.microsoft.com/office/drawing/2014/main" id="{3C3C2215-2284-47DF-BCB8-5720F23FD12F}"/>
              </a:ext>
            </a:extLst>
          </p:cNvPr>
          <p:cNvSpPr/>
          <p:nvPr/>
        </p:nvSpPr>
        <p:spPr>
          <a:xfrm>
            <a:off x="373782" y="18461383"/>
            <a:ext cx="4007793" cy="948557"/>
          </a:xfrm>
          <a:prstGeom prst="roundRect">
            <a:avLst>
              <a:gd name="adj" fmla="val 1388"/>
            </a:avLst>
          </a:prstGeom>
          <a:solidFill>
            <a:srgbClr val="EDEBE3"/>
          </a:solidFill>
          <a:ln/>
        </p:spPr>
      </p:sp>
      <p:sp>
        <p:nvSpPr>
          <p:cNvPr id="50" name="Shape 3">
            <a:extLst>
              <a:ext uri="{FF2B5EF4-FFF2-40B4-BE49-F238E27FC236}">
                <a16:creationId xmlns:a16="http://schemas.microsoft.com/office/drawing/2014/main" id="{A78342F8-AE4A-6F19-57DC-D6867EBBB3DB}"/>
              </a:ext>
            </a:extLst>
          </p:cNvPr>
          <p:cNvSpPr/>
          <p:nvPr/>
        </p:nvSpPr>
        <p:spPr>
          <a:xfrm>
            <a:off x="476473" y="18564075"/>
            <a:ext cx="308149" cy="308149"/>
          </a:xfrm>
          <a:prstGeom prst="roundRect">
            <a:avLst>
              <a:gd name="adj" fmla="val 18544368"/>
            </a:avLst>
          </a:prstGeom>
          <a:solidFill>
            <a:srgbClr val="28282F"/>
          </a:solidFill>
          <a:ln/>
        </p:spPr>
      </p:sp>
      <p:pic>
        <p:nvPicPr>
          <p:cNvPr id="51" name="Image 0" descr="preencoded.png">
            <a:extLst>
              <a:ext uri="{FF2B5EF4-FFF2-40B4-BE49-F238E27FC236}">
                <a16:creationId xmlns:a16="http://schemas.microsoft.com/office/drawing/2014/main" id="{4AEF1B4A-798E-6E35-30BD-1D722D810B3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1231" y="18648832"/>
            <a:ext cx="138633" cy="138633"/>
          </a:xfrm>
          <a:prstGeom prst="rect">
            <a:avLst/>
          </a:prstGeom>
        </p:spPr>
      </p:pic>
      <p:sp>
        <p:nvSpPr>
          <p:cNvPr id="52" name="Text 4">
            <a:extLst>
              <a:ext uri="{FF2B5EF4-FFF2-40B4-BE49-F238E27FC236}">
                <a16:creationId xmlns:a16="http://schemas.microsoft.com/office/drawing/2014/main" id="{5B61B4D9-E283-4A70-FA15-36EF03D7DCEF}"/>
              </a:ext>
            </a:extLst>
          </p:cNvPr>
          <p:cNvSpPr/>
          <p:nvPr/>
        </p:nvSpPr>
        <p:spPr>
          <a:xfrm>
            <a:off x="924016" y="18652237"/>
            <a:ext cx="1488653" cy="16051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Biodiversity Assessment</a:t>
            </a:r>
            <a:endParaRPr lang="en-US" sz="1100" dirty="0">
              <a:latin typeface="Leelawadee UI" panose="020B0502040204020203" pitchFamily="34" charset="-34"/>
              <a:cs typeface="Leelawadee UI" panose="020B0502040204020203" pitchFamily="34" charset="-34"/>
            </a:endParaRPr>
          </a:p>
        </p:txBody>
      </p:sp>
      <p:sp>
        <p:nvSpPr>
          <p:cNvPr id="53" name="Text 5">
            <a:extLst>
              <a:ext uri="{FF2B5EF4-FFF2-40B4-BE49-F238E27FC236}">
                <a16:creationId xmlns:a16="http://schemas.microsoft.com/office/drawing/2014/main" id="{C2D7D91A-BF84-61ED-16DA-26A134A445E1}"/>
              </a:ext>
            </a:extLst>
          </p:cNvPr>
          <p:cNvSpPr/>
          <p:nvPr/>
        </p:nvSpPr>
        <p:spPr>
          <a:xfrm>
            <a:off x="495215" y="18974915"/>
            <a:ext cx="3802410" cy="300335"/>
          </a:xfrm>
          <a:prstGeom prst="rect">
            <a:avLst/>
          </a:prstGeom>
          <a:noFill/>
          <a:ln/>
        </p:spPr>
        <p:txBody>
          <a:bodyPr wrap="square" lIns="0" tIns="0" rIns="0" bIns="0" rtlCol="0" anchor="t">
            <a:noAutofit/>
          </a:bodyPr>
          <a:lstStyle/>
          <a:p>
            <a:pPr marL="0" indent="0" algn="l">
              <a:lnSpc>
                <a:spcPct val="12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Penilaian dan pemetaan keanekaragaman hayati di lanskap prioritas untuk memandu intervensi berbasis bukti.</a:t>
            </a:r>
            <a:endParaRPr lang="en-US" sz="1000" dirty="0">
              <a:latin typeface="Leelawadee UI" panose="020B0502040204020203" pitchFamily="34" charset="-34"/>
              <a:cs typeface="Leelawadee UI" panose="020B0502040204020203" pitchFamily="34" charset="-34"/>
            </a:endParaRPr>
          </a:p>
        </p:txBody>
      </p:sp>
      <p:sp>
        <p:nvSpPr>
          <p:cNvPr id="54" name="Shape 6">
            <a:extLst>
              <a:ext uri="{FF2B5EF4-FFF2-40B4-BE49-F238E27FC236}">
                <a16:creationId xmlns:a16="http://schemas.microsoft.com/office/drawing/2014/main" id="{6055C720-C00C-5C13-C96B-B9799D3C9AF4}"/>
              </a:ext>
            </a:extLst>
          </p:cNvPr>
          <p:cNvSpPr/>
          <p:nvPr/>
        </p:nvSpPr>
        <p:spPr>
          <a:xfrm>
            <a:off x="4466629" y="18461384"/>
            <a:ext cx="4007793" cy="948556"/>
          </a:xfrm>
          <a:prstGeom prst="roundRect">
            <a:avLst>
              <a:gd name="adj" fmla="val 1388"/>
            </a:avLst>
          </a:prstGeom>
          <a:solidFill>
            <a:srgbClr val="EDEBE3"/>
          </a:solidFill>
          <a:ln/>
        </p:spPr>
      </p:sp>
      <p:sp>
        <p:nvSpPr>
          <p:cNvPr id="55" name="Shape 7">
            <a:extLst>
              <a:ext uri="{FF2B5EF4-FFF2-40B4-BE49-F238E27FC236}">
                <a16:creationId xmlns:a16="http://schemas.microsoft.com/office/drawing/2014/main" id="{FDDE0B5A-A41B-965D-F6DA-D085B516ECF2}"/>
              </a:ext>
            </a:extLst>
          </p:cNvPr>
          <p:cNvSpPr/>
          <p:nvPr/>
        </p:nvSpPr>
        <p:spPr>
          <a:xfrm>
            <a:off x="4569321" y="18564075"/>
            <a:ext cx="308149" cy="308149"/>
          </a:xfrm>
          <a:prstGeom prst="roundRect">
            <a:avLst>
              <a:gd name="adj" fmla="val 18544368"/>
            </a:avLst>
          </a:prstGeom>
          <a:solidFill>
            <a:srgbClr val="28282F"/>
          </a:solidFill>
          <a:ln/>
        </p:spPr>
      </p:sp>
      <p:pic>
        <p:nvPicPr>
          <p:cNvPr id="56" name="Image 1" descr="preencoded.png">
            <a:extLst>
              <a:ext uri="{FF2B5EF4-FFF2-40B4-BE49-F238E27FC236}">
                <a16:creationId xmlns:a16="http://schemas.microsoft.com/office/drawing/2014/main" id="{25DD021D-1C36-39B1-03F3-28957BBA119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654078" y="18648832"/>
            <a:ext cx="138633" cy="138633"/>
          </a:xfrm>
          <a:prstGeom prst="rect">
            <a:avLst/>
          </a:prstGeom>
        </p:spPr>
      </p:pic>
      <p:sp>
        <p:nvSpPr>
          <p:cNvPr id="57" name="Text 8">
            <a:extLst>
              <a:ext uri="{FF2B5EF4-FFF2-40B4-BE49-F238E27FC236}">
                <a16:creationId xmlns:a16="http://schemas.microsoft.com/office/drawing/2014/main" id="{94CAA7DF-C497-0737-F047-87BDB2281F76}"/>
              </a:ext>
            </a:extLst>
          </p:cNvPr>
          <p:cNvSpPr/>
          <p:nvPr/>
        </p:nvSpPr>
        <p:spPr>
          <a:xfrm>
            <a:off x="4973761" y="18652236"/>
            <a:ext cx="1286991" cy="16051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Habitat Conservation</a:t>
            </a:r>
            <a:endParaRPr lang="en-US" sz="1100" dirty="0">
              <a:latin typeface="Leelawadee UI" panose="020B0502040204020203" pitchFamily="34" charset="-34"/>
              <a:cs typeface="Leelawadee UI" panose="020B0502040204020203" pitchFamily="34" charset="-34"/>
            </a:endParaRPr>
          </a:p>
        </p:txBody>
      </p:sp>
      <p:sp>
        <p:nvSpPr>
          <p:cNvPr id="58" name="Text 9">
            <a:extLst>
              <a:ext uri="{FF2B5EF4-FFF2-40B4-BE49-F238E27FC236}">
                <a16:creationId xmlns:a16="http://schemas.microsoft.com/office/drawing/2014/main" id="{C0FF593F-6A83-F38A-56C4-7CD41BC26F3B}"/>
              </a:ext>
            </a:extLst>
          </p:cNvPr>
          <p:cNvSpPr/>
          <p:nvPr/>
        </p:nvSpPr>
        <p:spPr>
          <a:xfrm>
            <a:off x="4569321" y="18993945"/>
            <a:ext cx="3802410" cy="300335"/>
          </a:xfrm>
          <a:prstGeom prst="rect">
            <a:avLst/>
          </a:prstGeom>
          <a:noFill/>
          <a:ln/>
        </p:spPr>
        <p:txBody>
          <a:bodyPr wrap="square" lIns="0" tIns="0" rIns="0" bIns="0" rtlCol="0" anchor="t">
            <a:noAutofit/>
          </a:bodyPr>
          <a:lstStyle/>
          <a:p>
            <a:pPr marL="0" indent="0" algn="l">
              <a:lnSpc>
                <a:spcPct val="12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Perlindungan habitat alami dan kawasan konservasi dari ancaman degradasi dan alih fungsi lahan.</a:t>
            </a:r>
            <a:endParaRPr lang="en-US" sz="1000" dirty="0">
              <a:latin typeface="Leelawadee UI" panose="020B0502040204020203" pitchFamily="34" charset="-34"/>
              <a:cs typeface="Leelawadee UI" panose="020B0502040204020203" pitchFamily="34" charset="-34"/>
            </a:endParaRPr>
          </a:p>
        </p:txBody>
      </p:sp>
      <p:sp>
        <p:nvSpPr>
          <p:cNvPr id="59" name="Shape 10">
            <a:extLst>
              <a:ext uri="{FF2B5EF4-FFF2-40B4-BE49-F238E27FC236}">
                <a16:creationId xmlns:a16="http://schemas.microsoft.com/office/drawing/2014/main" id="{1B0F1A8D-2407-3953-1A9F-270C6592D7B4}"/>
              </a:ext>
            </a:extLst>
          </p:cNvPr>
          <p:cNvSpPr/>
          <p:nvPr/>
        </p:nvSpPr>
        <p:spPr>
          <a:xfrm>
            <a:off x="373782" y="19656845"/>
            <a:ext cx="4007793" cy="1018709"/>
          </a:xfrm>
          <a:prstGeom prst="roundRect">
            <a:avLst>
              <a:gd name="adj" fmla="val 1388"/>
            </a:avLst>
          </a:prstGeom>
          <a:solidFill>
            <a:srgbClr val="EDEBE3"/>
          </a:solidFill>
          <a:ln/>
        </p:spPr>
      </p:sp>
      <p:sp>
        <p:nvSpPr>
          <p:cNvPr id="60" name="Shape 11">
            <a:extLst>
              <a:ext uri="{FF2B5EF4-FFF2-40B4-BE49-F238E27FC236}">
                <a16:creationId xmlns:a16="http://schemas.microsoft.com/office/drawing/2014/main" id="{EBCB04D0-1A4D-8E69-CB7C-FFBAF1D94C97}"/>
              </a:ext>
            </a:extLst>
          </p:cNvPr>
          <p:cNvSpPr/>
          <p:nvPr/>
        </p:nvSpPr>
        <p:spPr>
          <a:xfrm>
            <a:off x="476473" y="19759536"/>
            <a:ext cx="308149" cy="308149"/>
          </a:xfrm>
          <a:prstGeom prst="roundRect">
            <a:avLst>
              <a:gd name="adj" fmla="val 18544368"/>
            </a:avLst>
          </a:prstGeom>
          <a:solidFill>
            <a:srgbClr val="28282F"/>
          </a:solidFill>
          <a:ln/>
        </p:spPr>
      </p:sp>
      <p:pic>
        <p:nvPicPr>
          <p:cNvPr id="61" name="Image 2" descr="preencoded.png">
            <a:extLst>
              <a:ext uri="{FF2B5EF4-FFF2-40B4-BE49-F238E27FC236}">
                <a16:creationId xmlns:a16="http://schemas.microsoft.com/office/drawing/2014/main" id="{137C8C5C-B53E-E557-4701-96A06124D57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1231" y="19844294"/>
            <a:ext cx="138633" cy="138633"/>
          </a:xfrm>
          <a:prstGeom prst="rect">
            <a:avLst/>
          </a:prstGeom>
        </p:spPr>
      </p:pic>
      <p:sp>
        <p:nvSpPr>
          <p:cNvPr id="62" name="Text 12">
            <a:extLst>
              <a:ext uri="{FF2B5EF4-FFF2-40B4-BE49-F238E27FC236}">
                <a16:creationId xmlns:a16="http://schemas.microsoft.com/office/drawing/2014/main" id="{B3F824C1-BB15-3CD5-1E25-FB75B97AADC4}"/>
              </a:ext>
            </a:extLst>
          </p:cNvPr>
          <p:cNvSpPr/>
          <p:nvPr/>
        </p:nvSpPr>
        <p:spPr>
          <a:xfrm>
            <a:off x="874961" y="19863325"/>
            <a:ext cx="1388194" cy="16051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Ecosystem Restoration</a:t>
            </a:r>
            <a:endParaRPr lang="en-US" sz="1100" dirty="0">
              <a:latin typeface="Leelawadee UI" panose="020B0502040204020203" pitchFamily="34" charset="-34"/>
              <a:cs typeface="Leelawadee UI" panose="020B0502040204020203" pitchFamily="34" charset="-34"/>
            </a:endParaRPr>
          </a:p>
        </p:txBody>
      </p:sp>
      <p:sp>
        <p:nvSpPr>
          <p:cNvPr id="63" name="Text 13">
            <a:extLst>
              <a:ext uri="{FF2B5EF4-FFF2-40B4-BE49-F238E27FC236}">
                <a16:creationId xmlns:a16="http://schemas.microsoft.com/office/drawing/2014/main" id="{493CD790-BEAC-64CE-47AE-4BF93D2175C1}"/>
              </a:ext>
            </a:extLst>
          </p:cNvPr>
          <p:cNvSpPr/>
          <p:nvPr/>
        </p:nvSpPr>
        <p:spPr>
          <a:xfrm>
            <a:off x="476473" y="20155694"/>
            <a:ext cx="3802410" cy="300335"/>
          </a:xfrm>
          <a:prstGeom prst="rect">
            <a:avLst/>
          </a:prstGeom>
          <a:noFill/>
          <a:ln/>
        </p:spPr>
        <p:txBody>
          <a:bodyPr wrap="square" lIns="0" tIns="0" rIns="0" bIns="0" rtlCol="0" anchor="t">
            <a:noAutofit/>
          </a:bodyPr>
          <a:lstStyle/>
          <a:p>
            <a:pPr marL="0" indent="0" algn="l">
              <a:lnSpc>
                <a:spcPct val="12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Restorasi ekosistem gambut, hutan, dan lahan kritis melalui pendekatan partisipatif bersama komunitas desa.</a:t>
            </a:r>
            <a:endParaRPr lang="en-US" sz="1000" dirty="0">
              <a:latin typeface="Leelawadee UI" panose="020B0502040204020203" pitchFamily="34" charset="-34"/>
              <a:cs typeface="Leelawadee UI" panose="020B0502040204020203" pitchFamily="34" charset="-34"/>
            </a:endParaRPr>
          </a:p>
        </p:txBody>
      </p:sp>
      <p:sp>
        <p:nvSpPr>
          <p:cNvPr id="64" name="Shape 14">
            <a:extLst>
              <a:ext uri="{FF2B5EF4-FFF2-40B4-BE49-F238E27FC236}">
                <a16:creationId xmlns:a16="http://schemas.microsoft.com/office/drawing/2014/main" id="{CE5F1BA4-DB09-2CA6-434B-4E01FCC0E5C3}"/>
              </a:ext>
            </a:extLst>
          </p:cNvPr>
          <p:cNvSpPr/>
          <p:nvPr/>
        </p:nvSpPr>
        <p:spPr>
          <a:xfrm>
            <a:off x="4466629" y="19656846"/>
            <a:ext cx="4007793" cy="1018708"/>
          </a:xfrm>
          <a:prstGeom prst="roundRect">
            <a:avLst>
              <a:gd name="adj" fmla="val 1388"/>
            </a:avLst>
          </a:prstGeom>
          <a:solidFill>
            <a:srgbClr val="EDEBE3"/>
          </a:solidFill>
          <a:ln/>
        </p:spPr>
      </p:sp>
      <p:sp>
        <p:nvSpPr>
          <p:cNvPr id="65" name="Shape 15">
            <a:extLst>
              <a:ext uri="{FF2B5EF4-FFF2-40B4-BE49-F238E27FC236}">
                <a16:creationId xmlns:a16="http://schemas.microsoft.com/office/drawing/2014/main" id="{D31E9CDD-30D4-06ED-2195-5EC342B184C7}"/>
              </a:ext>
            </a:extLst>
          </p:cNvPr>
          <p:cNvSpPr/>
          <p:nvPr/>
        </p:nvSpPr>
        <p:spPr>
          <a:xfrm>
            <a:off x="4569321" y="19759536"/>
            <a:ext cx="308149" cy="308149"/>
          </a:xfrm>
          <a:prstGeom prst="roundRect">
            <a:avLst>
              <a:gd name="adj" fmla="val 18544368"/>
            </a:avLst>
          </a:prstGeom>
          <a:solidFill>
            <a:srgbClr val="28282F"/>
          </a:solidFill>
          <a:ln/>
        </p:spPr>
      </p:sp>
      <p:pic>
        <p:nvPicPr>
          <p:cNvPr id="66" name="Image 3" descr="preencoded.png">
            <a:extLst>
              <a:ext uri="{FF2B5EF4-FFF2-40B4-BE49-F238E27FC236}">
                <a16:creationId xmlns:a16="http://schemas.microsoft.com/office/drawing/2014/main" id="{4D3AB33F-B8E4-A7A6-9BCC-01DD813BDCB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654078" y="19844294"/>
            <a:ext cx="138633" cy="138633"/>
          </a:xfrm>
          <a:prstGeom prst="rect">
            <a:avLst/>
          </a:prstGeom>
        </p:spPr>
      </p:pic>
      <p:sp>
        <p:nvSpPr>
          <p:cNvPr id="67" name="Text 16">
            <a:extLst>
              <a:ext uri="{FF2B5EF4-FFF2-40B4-BE49-F238E27FC236}">
                <a16:creationId xmlns:a16="http://schemas.microsoft.com/office/drawing/2014/main" id="{C981D18F-00AA-1694-6F07-DC4FA424CBCF}"/>
              </a:ext>
            </a:extLst>
          </p:cNvPr>
          <p:cNvSpPr/>
          <p:nvPr/>
        </p:nvSpPr>
        <p:spPr>
          <a:xfrm>
            <a:off x="4980162" y="19863325"/>
            <a:ext cx="1351583" cy="16051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Peatland Management</a:t>
            </a:r>
            <a:endParaRPr lang="en-US" sz="1100" dirty="0">
              <a:latin typeface="Leelawadee UI" panose="020B0502040204020203" pitchFamily="34" charset="-34"/>
              <a:cs typeface="Leelawadee UI" panose="020B0502040204020203" pitchFamily="34" charset="-34"/>
            </a:endParaRPr>
          </a:p>
        </p:txBody>
      </p:sp>
      <p:sp>
        <p:nvSpPr>
          <p:cNvPr id="68" name="Text 17">
            <a:extLst>
              <a:ext uri="{FF2B5EF4-FFF2-40B4-BE49-F238E27FC236}">
                <a16:creationId xmlns:a16="http://schemas.microsoft.com/office/drawing/2014/main" id="{97B9AE1C-F561-D29B-6FFE-B48AB486653F}"/>
              </a:ext>
            </a:extLst>
          </p:cNvPr>
          <p:cNvSpPr/>
          <p:nvPr/>
        </p:nvSpPr>
        <p:spPr>
          <a:xfrm>
            <a:off x="4583176" y="20077441"/>
            <a:ext cx="3802410" cy="300335"/>
          </a:xfrm>
          <a:prstGeom prst="rect">
            <a:avLst/>
          </a:prstGeom>
          <a:noFill/>
          <a:ln/>
        </p:spPr>
        <p:txBody>
          <a:bodyPr wrap="square" lIns="0" tIns="0" rIns="0" bIns="0" rtlCol="0" anchor="t">
            <a:noAutofit/>
          </a:bodyPr>
          <a:lstStyle/>
          <a:p>
            <a:pPr marL="0" indent="0" algn="l">
              <a:lnSpc>
                <a:spcPct val="12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Pengelolaan gambut berkelanjutan melalui pembuatan sekat kanal, pembibitan tanaman restorasi, agroforestri, dan penguatan ekonomi masyarakat.</a:t>
            </a:r>
            <a:endParaRPr lang="en-US" sz="1000" dirty="0">
              <a:latin typeface="Leelawadee UI" panose="020B0502040204020203" pitchFamily="34" charset="-34"/>
              <a:cs typeface="Leelawadee UI" panose="020B0502040204020203" pitchFamily="34" charset="-34"/>
            </a:endParaRPr>
          </a:p>
        </p:txBody>
      </p:sp>
      <p:sp>
        <p:nvSpPr>
          <p:cNvPr id="69" name="Shape 18">
            <a:extLst>
              <a:ext uri="{FF2B5EF4-FFF2-40B4-BE49-F238E27FC236}">
                <a16:creationId xmlns:a16="http://schemas.microsoft.com/office/drawing/2014/main" id="{331487E5-8AE5-57D5-004B-81402505BDFF}"/>
              </a:ext>
            </a:extLst>
          </p:cNvPr>
          <p:cNvSpPr/>
          <p:nvPr/>
        </p:nvSpPr>
        <p:spPr>
          <a:xfrm>
            <a:off x="373782" y="20852307"/>
            <a:ext cx="4007793" cy="1110407"/>
          </a:xfrm>
          <a:prstGeom prst="roundRect">
            <a:avLst>
              <a:gd name="adj" fmla="val 1388"/>
            </a:avLst>
          </a:prstGeom>
          <a:solidFill>
            <a:srgbClr val="EDEBE3"/>
          </a:solidFill>
          <a:ln/>
        </p:spPr>
      </p:sp>
      <p:sp>
        <p:nvSpPr>
          <p:cNvPr id="70" name="Shape 19">
            <a:extLst>
              <a:ext uri="{FF2B5EF4-FFF2-40B4-BE49-F238E27FC236}">
                <a16:creationId xmlns:a16="http://schemas.microsoft.com/office/drawing/2014/main" id="{508325DE-9F3B-EF44-D88E-09F982441C74}"/>
              </a:ext>
            </a:extLst>
          </p:cNvPr>
          <p:cNvSpPr/>
          <p:nvPr/>
        </p:nvSpPr>
        <p:spPr>
          <a:xfrm>
            <a:off x="476473" y="20954998"/>
            <a:ext cx="308149" cy="308149"/>
          </a:xfrm>
          <a:prstGeom prst="roundRect">
            <a:avLst>
              <a:gd name="adj" fmla="val 18544368"/>
            </a:avLst>
          </a:prstGeom>
          <a:solidFill>
            <a:srgbClr val="28282F"/>
          </a:solidFill>
          <a:ln/>
        </p:spPr>
      </p:sp>
      <p:pic>
        <p:nvPicPr>
          <p:cNvPr id="71" name="Image 4" descr="preencoded.png">
            <a:extLst>
              <a:ext uri="{FF2B5EF4-FFF2-40B4-BE49-F238E27FC236}">
                <a16:creationId xmlns:a16="http://schemas.microsoft.com/office/drawing/2014/main" id="{072293C5-D4D9-A8CD-39B9-BED73B5E09B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61231" y="21039756"/>
            <a:ext cx="138633" cy="138633"/>
          </a:xfrm>
          <a:prstGeom prst="rect">
            <a:avLst/>
          </a:prstGeom>
        </p:spPr>
      </p:pic>
      <p:sp>
        <p:nvSpPr>
          <p:cNvPr id="72" name="Text 20">
            <a:extLst>
              <a:ext uri="{FF2B5EF4-FFF2-40B4-BE49-F238E27FC236}">
                <a16:creationId xmlns:a16="http://schemas.microsoft.com/office/drawing/2014/main" id="{995613F8-7CF5-ABEF-1495-3C29799DD99B}"/>
              </a:ext>
            </a:extLst>
          </p:cNvPr>
          <p:cNvSpPr/>
          <p:nvPr/>
        </p:nvSpPr>
        <p:spPr>
          <a:xfrm>
            <a:off x="878979" y="21043011"/>
            <a:ext cx="1447205" cy="16051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Nature-based Solutions</a:t>
            </a:r>
            <a:endParaRPr lang="en-US" sz="1100" dirty="0">
              <a:latin typeface="Leelawadee UI" panose="020B0502040204020203" pitchFamily="34" charset="-34"/>
              <a:cs typeface="Leelawadee UI" panose="020B0502040204020203" pitchFamily="34" charset="-34"/>
            </a:endParaRPr>
          </a:p>
        </p:txBody>
      </p:sp>
      <p:sp>
        <p:nvSpPr>
          <p:cNvPr id="73" name="Text 21">
            <a:extLst>
              <a:ext uri="{FF2B5EF4-FFF2-40B4-BE49-F238E27FC236}">
                <a16:creationId xmlns:a16="http://schemas.microsoft.com/office/drawing/2014/main" id="{73AA9571-3382-E2E9-790F-50A7757836DE}"/>
              </a:ext>
            </a:extLst>
          </p:cNvPr>
          <p:cNvSpPr/>
          <p:nvPr/>
        </p:nvSpPr>
        <p:spPr>
          <a:xfrm>
            <a:off x="490328" y="21298177"/>
            <a:ext cx="3802410" cy="300335"/>
          </a:xfrm>
          <a:prstGeom prst="rect">
            <a:avLst/>
          </a:prstGeom>
          <a:noFill/>
          <a:ln/>
        </p:spPr>
        <p:txBody>
          <a:bodyPr wrap="square" lIns="0" tIns="0" rIns="0" bIns="0" rtlCol="0" anchor="t">
            <a:noAutofit/>
          </a:bodyPr>
          <a:lstStyle/>
          <a:p>
            <a:pPr marL="0" indent="0" algn="l">
              <a:lnSpc>
                <a:spcPct val="12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Pengembangan solusi berbasis alam untuk mitigasi dan adaptasi perubahan iklim dalam konteks lanskap gambut dan hutan tropis.</a:t>
            </a:r>
            <a:endParaRPr lang="en-US" sz="1000" dirty="0">
              <a:latin typeface="Leelawadee UI" panose="020B0502040204020203" pitchFamily="34" charset="-34"/>
              <a:cs typeface="Leelawadee UI" panose="020B0502040204020203" pitchFamily="34" charset="-34"/>
            </a:endParaRPr>
          </a:p>
        </p:txBody>
      </p:sp>
      <p:sp>
        <p:nvSpPr>
          <p:cNvPr id="74" name="Shape 22">
            <a:extLst>
              <a:ext uri="{FF2B5EF4-FFF2-40B4-BE49-F238E27FC236}">
                <a16:creationId xmlns:a16="http://schemas.microsoft.com/office/drawing/2014/main" id="{4A4402C5-EFBB-061D-334E-2F1C9E9F858F}"/>
              </a:ext>
            </a:extLst>
          </p:cNvPr>
          <p:cNvSpPr/>
          <p:nvPr/>
        </p:nvSpPr>
        <p:spPr>
          <a:xfrm>
            <a:off x="4466629" y="20852307"/>
            <a:ext cx="4007793" cy="1110407"/>
          </a:xfrm>
          <a:prstGeom prst="roundRect">
            <a:avLst>
              <a:gd name="adj" fmla="val 1388"/>
            </a:avLst>
          </a:prstGeom>
          <a:solidFill>
            <a:srgbClr val="EDEBE3"/>
          </a:solidFill>
          <a:ln/>
        </p:spPr>
      </p:sp>
      <p:sp>
        <p:nvSpPr>
          <p:cNvPr id="75" name="Shape 23">
            <a:extLst>
              <a:ext uri="{FF2B5EF4-FFF2-40B4-BE49-F238E27FC236}">
                <a16:creationId xmlns:a16="http://schemas.microsoft.com/office/drawing/2014/main" id="{082FC70B-006A-A137-3ECF-EC2F3CE87BBB}"/>
              </a:ext>
            </a:extLst>
          </p:cNvPr>
          <p:cNvSpPr/>
          <p:nvPr/>
        </p:nvSpPr>
        <p:spPr>
          <a:xfrm>
            <a:off x="4569321" y="20954998"/>
            <a:ext cx="308149" cy="308149"/>
          </a:xfrm>
          <a:prstGeom prst="roundRect">
            <a:avLst>
              <a:gd name="adj" fmla="val 18544368"/>
            </a:avLst>
          </a:prstGeom>
          <a:solidFill>
            <a:srgbClr val="28282F"/>
          </a:solidFill>
          <a:ln/>
        </p:spPr>
      </p:sp>
      <p:pic>
        <p:nvPicPr>
          <p:cNvPr id="76" name="Image 5" descr="preencoded.png">
            <a:extLst>
              <a:ext uri="{FF2B5EF4-FFF2-40B4-BE49-F238E27FC236}">
                <a16:creationId xmlns:a16="http://schemas.microsoft.com/office/drawing/2014/main" id="{725138D0-55DF-97F2-3FF3-1FEE31D66DF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654078" y="21039756"/>
            <a:ext cx="138633" cy="138633"/>
          </a:xfrm>
          <a:prstGeom prst="rect">
            <a:avLst/>
          </a:prstGeom>
        </p:spPr>
      </p:pic>
      <p:sp>
        <p:nvSpPr>
          <p:cNvPr id="77" name="Text 24">
            <a:extLst>
              <a:ext uri="{FF2B5EF4-FFF2-40B4-BE49-F238E27FC236}">
                <a16:creationId xmlns:a16="http://schemas.microsoft.com/office/drawing/2014/main" id="{D42B7983-71B0-57A7-5F6B-A04F06294C94}"/>
              </a:ext>
            </a:extLst>
          </p:cNvPr>
          <p:cNvSpPr/>
          <p:nvPr/>
        </p:nvSpPr>
        <p:spPr>
          <a:xfrm>
            <a:off x="4971827" y="21043011"/>
            <a:ext cx="1549896" cy="16051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Community Conservation</a:t>
            </a:r>
            <a:endParaRPr lang="en-US" sz="1100" dirty="0">
              <a:latin typeface="Leelawadee UI" panose="020B0502040204020203" pitchFamily="34" charset="-34"/>
              <a:cs typeface="Leelawadee UI" panose="020B0502040204020203" pitchFamily="34" charset="-34"/>
            </a:endParaRPr>
          </a:p>
        </p:txBody>
      </p:sp>
      <p:sp>
        <p:nvSpPr>
          <p:cNvPr id="78" name="Text 25">
            <a:extLst>
              <a:ext uri="{FF2B5EF4-FFF2-40B4-BE49-F238E27FC236}">
                <a16:creationId xmlns:a16="http://schemas.microsoft.com/office/drawing/2014/main" id="{5B2A3BC3-E7C5-D5A1-DFDA-A1CCB7BEC3C9}"/>
              </a:ext>
            </a:extLst>
          </p:cNvPr>
          <p:cNvSpPr/>
          <p:nvPr/>
        </p:nvSpPr>
        <p:spPr>
          <a:xfrm>
            <a:off x="4583176" y="21298177"/>
            <a:ext cx="3802410" cy="564803"/>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Pemberdayaan masyarakat sebagai aktor utama dalam konservasi dan restorasi melalui pelatihan, pendampingan, dan penguatan kelembagaan lokal.</a:t>
            </a:r>
            <a:endParaRPr lang="en-US" sz="900" dirty="0">
              <a:latin typeface="Leelawadee UI" panose="020B0502040204020203" pitchFamily="34" charset="-34"/>
              <a:cs typeface="Leelawadee UI" panose="020B0502040204020203" pitchFamily="34" charset="-34"/>
            </a:endParaRPr>
          </a:p>
        </p:txBody>
      </p:sp>
      <p:sp>
        <p:nvSpPr>
          <p:cNvPr id="79" name="Text 0">
            <a:extLst>
              <a:ext uri="{FF2B5EF4-FFF2-40B4-BE49-F238E27FC236}">
                <a16:creationId xmlns:a16="http://schemas.microsoft.com/office/drawing/2014/main" id="{556651AB-0D9D-B3EE-14BD-DDE1E3018547}"/>
              </a:ext>
            </a:extLst>
          </p:cNvPr>
          <p:cNvSpPr/>
          <p:nvPr/>
        </p:nvSpPr>
        <p:spPr>
          <a:xfrm>
            <a:off x="463079" y="22270648"/>
            <a:ext cx="2962424" cy="276151"/>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Contoh Inisiatif Program</a:t>
            </a:r>
            <a:endParaRPr lang="en-US" sz="2000" dirty="0">
              <a:latin typeface="Leelawadee UI" panose="020B0502040204020203" pitchFamily="34" charset="-34"/>
              <a:cs typeface="Leelawadee UI" panose="020B0502040204020203" pitchFamily="34" charset="-34"/>
            </a:endParaRPr>
          </a:p>
        </p:txBody>
      </p:sp>
      <p:sp>
        <p:nvSpPr>
          <p:cNvPr id="80" name="Text 1">
            <a:extLst>
              <a:ext uri="{FF2B5EF4-FFF2-40B4-BE49-F238E27FC236}">
                <a16:creationId xmlns:a16="http://schemas.microsoft.com/office/drawing/2014/main" id="{0E49468A-74BC-AD11-7053-9BB1C39D2643}"/>
              </a:ext>
            </a:extLst>
          </p:cNvPr>
          <p:cNvSpPr/>
          <p:nvPr/>
        </p:nvSpPr>
        <p:spPr>
          <a:xfrm>
            <a:off x="463080" y="22634533"/>
            <a:ext cx="7819280" cy="386804"/>
          </a:xfrm>
          <a:prstGeom prst="rect">
            <a:avLst/>
          </a:prstGeom>
          <a:noFill/>
          <a:ln/>
        </p:spPr>
        <p:txBody>
          <a:bodyPr wrap="none" lIns="0" tIns="0" rIns="0" bIns="0" rtlCol="0" anchor="t"/>
          <a:lstStyle/>
          <a:p>
            <a:pPr marL="0" indent="0" algn="l">
              <a:lnSpc>
                <a:spcPct val="126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Berikut adalah sebagian dari inisiatif nyata yang telah dan sedang dilaksanakan YNKI sebagai bagian dari Natural Capital &amp; Restoration </a:t>
            </a:r>
          </a:p>
          <a:p>
            <a:pPr marL="0" indent="0" algn="l">
              <a:lnSpc>
                <a:spcPct val="126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Program di lapangan.</a:t>
            </a:r>
            <a:endParaRPr lang="en-US" sz="1050" dirty="0">
              <a:latin typeface="Leelawadee UI" panose="020B0502040204020203" pitchFamily="34" charset="-34"/>
              <a:cs typeface="Leelawadee UI" panose="020B0502040204020203" pitchFamily="34" charset="-34"/>
            </a:endParaRPr>
          </a:p>
        </p:txBody>
      </p:sp>
      <p:pic>
        <p:nvPicPr>
          <p:cNvPr id="81" name="Image 0" descr="preencoded.png">
            <a:extLst>
              <a:ext uri="{FF2B5EF4-FFF2-40B4-BE49-F238E27FC236}">
                <a16:creationId xmlns:a16="http://schemas.microsoft.com/office/drawing/2014/main" id="{6664D2A7-8031-73DF-5556-3CDE60232A45}"/>
              </a:ext>
            </a:extLst>
          </p:cNvPr>
          <p:cNvPicPr>
            <a:picLocks noChangeAspect="1"/>
          </p:cNvPicPr>
          <p:nvPr/>
        </p:nvPicPr>
        <p:blipFill>
          <a:blip r:embed="rId17"/>
          <a:stretch>
            <a:fillRect/>
          </a:stretch>
        </p:blipFill>
        <p:spPr>
          <a:xfrm>
            <a:off x="463079" y="23149673"/>
            <a:ext cx="1128489" cy="697409"/>
          </a:xfrm>
          <a:prstGeom prst="rect">
            <a:avLst/>
          </a:prstGeom>
        </p:spPr>
      </p:pic>
      <p:sp>
        <p:nvSpPr>
          <p:cNvPr id="82" name="Text 2">
            <a:extLst>
              <a:ext uri="{FF2B5EF4-FFF2-40B4-BE49-F238E27FC236}">
                <a16:creationId xmlns:a16="http://schemas.microsoft.com/office/drawing/2014/main" id="{7BAF29A0-78FE-FC0A-3513-0192AB0DD02A}"/>
              </a:ext>
            </a:extLst>
          </p:cNvPr>
          <p:cNvSpPr/>
          <p:nvPr/>
        </p:nvSpPr>
        <p:spPr>
          <a:xfrm>
            <a:off x="463079" y="23970014"/>
            <a:ext cx="1945704" cy="345281"/>
          </a:xfrm>
          <a:prstGeom prst="rect">
            <a:avLst/>
          </a:prstGeom>
          <a:noFill/>
          <a:ln/>
        </p:spPr>
        <p:txBody>
          <a:bodyPr wrap="square" lIns="0" tIns="0" rIns="0" bIns="0" rtlCol="0" anchor="t">
            <a:no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Restorasi Gambut di Kubu Raya</a:t>
            </a:r>
            <a:endParaRPr lang="en-US" sz="1100" dirty="0">
              <a:latin typeface="Leelawadee UI" panose="020B0502040204020203" pitchFamily="34" charset="-34"/>
              <a:cs typeface="Leelawadee UI" panose="020B0502040204020203" pitchFamily="34" charset="-34"/>
            </a:endParaRPr>
          </a:p>
        </p:txBody>
      </p:sp>
      <p:sp>
        <p:nvSpPr>
          <p:cNvPr id="83" name="Text 3">
            <a:extLst>
              <a:ext uri="{FF2B5EF4-FFF2-40B4-BE49-F238E27FC236}">
                <a16:creationId xmlns:a16="http://schemas.microsoft.com/office/drawing/2014/main" id="{2AF90308-FAA7-1148-4301-F460ED142F2A}"/>
              </a:ext>
            </a:extLst>
          </p:cNvPr>
          <p:cNvSpPr/>
          <p:nvPr/>
        </p:nvSpPr>
        <p:spPr>
          <a:xfrm>
            <a:off x="463079" y="24156123"/>
            <a:ext cx="1945704" cy="1839571"/>
          </a:xfrm>
          <a:prstGeom prst="rect">
            <a:avLst/>
          </a:prstGeom>
          <a:noFill/>
          <a:ln/>
        </p:spPr>
        <p:txBody>
          <a:bodyPr wrap="square" lIns="0" tIns="0" rIns="0" bIns="0" rtlCol="0" anchor="t">
            <a:noAutofit/>
          </a:bodyPr>
          <a:lstStyle/>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Didukung oleh PM Haze, YNKI bekerja sama dengan LDPH di Desa Permata Jaya dan Limbung. Kegiatan mencakup pembuatan sekat kanal, pembibitan tanaman restorasi agroforestri, penguatan ketahanan pangan, dan survei kesadartahuan untuk mendengar suara masyarakat gambut.</a:t>
            </a:r>
            <a:endParaRPr lang="en-US" sz="1000" dirty="0">
              <a:latin typeface="Leelawadee UI" panose="020B0502040204020203" pitchFamily="34" charset="-34"/>
              <a:cs typeface="Leelawadee UI" panose="020B0502040204020203" pitchFamily="34" charset="-34"/>
            </a:endParaRPr>
          </a:p>
        </p:txBody>
      </p:sp>
      <p:pic>
        <p:nvPicPr>
          <p:cNvPr id="84" name="Image 1" descr="preencoded.png">
            <a:extLst>
              <a:ext uri="{FF2B5EF4-FFF2-40B4-BE49-F238E27FC236}">
                <a16:creationId xmlns:a16="http://schemas.microsoft.com/office/drawing/2014/main" id="{67F105F0-C2F2-BDAA-B072-A75260876C87}"/>
              </a:ext>
            </a:extLst>
          </p:cNvPr>
          <p:cNvPicPr>
            <a:picLocks noChangeAspect="1"/>
          </p:cNvPicPr>
          <p:nvPr/>
        </p:nvPicPr>
        <p:blipFill>
          <a:blip r:embed="rId18"/>
          <a:stretch>
            <a:fillRect/>
          </a:stretch>
        </p:blipFill>
        <p:spPr>
          <a:xfrm>
            <a:off x="2531715" y="23149673"/>
            <a:ext cx="1128489" cy="697409"/>
          </a:xfrm>
          <a:prstGeom prst="rect">
            <a:avLst/>
          </a:prstGeom>
        </p:spPr>
      </p:pic>
      <p:sp>
        <p:nvSpPr>
          <p:cNvPr id="85" name="Text 4">
            <a:extLst>
              <a:ext uri="{FF2B5EF4-FFF2-40B4-BE49-F238E27FC236}">
                <a16:creationId xmlns:a16="http://schemas.microsoft.com/office/drawing/2014/main" id="{31D0C3F4-801B-1C67-2AF9-7C504B88FFB9}"/>
              </a:ext>
            </a:extLst>
          </p:cNvPr>
          <p:cNvSpPr/>
          <p:nvPr/>
        </p:nvSpPr>
        <p:spPr>
          <a:xfrm>
            <a:off x="2531715" y="23970014"/>
            <a:ext cx="1799481" cy="17264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Penanaman Pohon Bersama</a:t>
            </a:r>
            <a:endParaRPr lang="en-US" sz="1100" dirty="0">
              <a:latin typeface="Leelawadee UI" panose="020B0502040204020203" pitchFamily="34" charset="-34"/>
              <a:cs typeface="Leelawadee UI" panose="020B0502040204020203" pitchFamily="34" charset="-34"/>
            </a:endParaRPr>
          </a:p>
        </p:txBody>
      </p:sp>
      <p:sp>
        <p:nvSpPr>
          <p:cNvPr id="86" name="Text 5">
            <a:extLst>
              <a:ext uri="{FF2B5EF4-FFF2-40B4-BE49-F238E27FC236}">
                <a16:creationId xmlns:a16="http://schemas.microsoft.com/office/drawing/2014/main" id="{0DAFEECC-DE75-B3F5-48A8-5A48E1939E3C}"/>
              </a:ext>
            </a:extLst>
          </p:cNvPr>
          <p:cNvSpPr/>
          <p:nvPr/>
        </p:nvSpPr>
        <p:spPr>
          <a:xfrm>
            <a:off x="2531715" y="24201665"/>
            <a:ext cx="1945779" cy="1914882"/>
          </a:xfrm>
          <a:prstGeom prst="rect">
            <a:avLst/>
          </a:prstGeom>
          <a:noFill/>
          <a:ln/>
        </p:spPr>
        <p:txBody>
          <a:bodyPr wrap="square" lIns="0" tIns="0" rIns="0" bIns="0" rtlCol="0" anchor="t">
            <a:noAutofit/>
          </a:bodyPr>
          <a:lstStyle/>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bersama LDPH menyelenggarakan kegiatan penanaman pohon bersama sebagai bagian dari upaya restorasi hutan dan penguatan ketahanan lingkungan. Kegiatan ini melibatkan warga desa secara langsung untuk membangun rasa kepemilikan atas lahan yang dipulihkan.</a:t>
            </a:r>
            <a:endParaRPr lang="en-US" sz="1000" dirty="0">
              <a:latin typeface="Leelawadee UI" panose="020B0502040204020203" pitchFamily="34" charset="-34"/>
              <a:cs typeface="Leelawadee UI" panose="020B0502040204020203" pitchFamily="34" charset="-34"/>
            </a:endParaRPr>
          </a:p>
        </p:txBody>
      </p:sp>
      <p:pic>
        <p:nvPicPr>
          <p:cNvPr id="87" name="Image 2" descr="preencoded.png">
            <a:extLst>
              <a:ext uri="{FF2B5EF4-FFF2-40B4-BE49-F238E27FC236}">
                <a16:creationId xmlns:a16="http://schemas.microsoft.com/office/drawing/2014/main" id="{3A27BFA3-32F3-349E-1BD2-B9DB9190E4E2}"/>
              </a:ext>
            </a:extLst>
          </p:cNvPr>
          <p:cNvPicPr>
            <a:picLocks noChangeAspect="1"/>
          </p:cNvPicPr>
          <p:nvPr/>
        </p:nvPicPr>
        <p:blipFill>
          <a:blip r:embed="rId19"/>
          <a:stretch>
            <a:fillRect/>
          </a:stretch>
        </p:blipFill>
        <p:spPr>
          <a:xfrm>
            <a:off x="4600426" y="23149673"/>
            <a:ext cx="1128489" cy="697409"/>
          </a:xfrm>
          <a:prstGeom prst="rect">
            <a:avLst/>
          </a:prstGeom>
        </p:spPr>
      </p:pic>
      <p:sp>
        <p:nvSpPr>
          <p:cNvPr id="88" name="Text 6">
            <a:extLst>
              <a:ext uri="{FF2B5EF4-FFF2-40B4-BE49-F238E27FC236}">
                <a16:creationId xmlns:a16="http://schemas.microsoft.com/office/drawing/2014/main" id="{9389BB53-F781-DC52-30BF-64112D18948C}"/>
              </a:ext>
            </a:extLst>
          </p:cNvPr>
          <p:cNvSpPr/>
          <p:nvPr/>
        </p:nvSpPr>
        <p:spPr>
          <a:xfrm>
            <a:off x="4600426" y="23970014"/>
            <a:ext cx="1945704" cy="345281"/>
          </a:xfrm>
          <a:prstGeom prst="rect">
            <a:avLst/>
          </a:prstGeom>
          <a:noFill/>
          <a:ln/>
        </p:spPr>
        <p:txBody>
          <a:bodyPr wrap="square" lIns="0" tIns="0" rIns="0" bIns="0" rtlCol="0" anchor="t">
            <a:no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Lokakarya Restorasi Partisipatif</a:t>
            </a:r>
            <a:endParaRPr lang="en-US" sz="1100" dirty="0">
              <a:latin typeface="Leelawadee UI" panose="020B0502040204020203" pitchFamily="34" charset="-34"/>
              <a:cs typeface="Leelawadee UI" panose="020B0502040204020203" pitchFamily="34" charset="-34"/>
            </a:endParaRPr>
          </a:p>
        </p:txBody>
      </p:sp>
      <p:sp>
        <p:nvSpPr>
          <p:cNvPr id="89" name="Text 7">
            <a:extLst>
              <a:ext uri="{FF2B5EF4-FFF2-40B4-BE49-F238E27FC236}">
                <a16:creationId xmlns:a16="http://schemas.microsoft.com/office/drawing/2014/main" id="{576FCFE0-FD24-5540-03FA-3CE7B9720435}"/>
              </a:ext>
            </a:extLst>
          </p:cNvPr>
          <p:cNvSpPr/>
          <p:nvPr/>
        </p:nvSpPr>
        <p:spPr>
          <a:xfrm>
            <a:off x="4583176" y="24184675"/>
            <a:ext cx="1945704" cy="1915829"/>
          </a:xfrm>
          <a:prstGeom prst="rect">
            <a:avLst/>
          </a:prstGeom>
          <a:noFill/>
          <a:ln/>
        </p:spPr>
        <p:txBody>
          <a:bodyPr wrap="square" lIns="0" tIns="0" rIns="0" bIns="0" rtlCol="0" anchor="t">
            <a:noAutofit/>
          </a:bodyPr>
          <a:lstStyle/>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menyelenggarakan lokakarya restorasi gambut di Parit Teluk Bakung, Desa Permata Jaya, mempertemukan masyarakat desa, Pemerintah Desa, BPD, LDPH, dan kelompok pengajar untuk membahas strategi restorasi berbasis solusi yang inklusif.</a:t>
            </a:r>
            <a:endParaRPr lang="en-US" sz="1000" dirty="0">
              <a:latin typeface="Leelawadee UI" panose="020B0502040204020203" pitchFamily="34" charset="-34"/>
              <a:cs typeface="Leelawadee UI" panose="020B0502040204020203" pitchFamily="34" charset="-34"/>
            </a:endParaRPr>
          </a:p>
        </p:txBody>
      </p:sp>
      <p:pic>
        <p:nvPicPr>
          <p:cNvPr id="90" name="Image 3" descr="preencoded.png">
            <a:extLst>
              <a:ext uri="{FF2B5EF4-FFF2-40B4-BE49-F238E27FC236}">
                <a16:creationId xmlns:a16="http://schemas.microsoft.com/office/drawing/2014/main" id="{7CEF162B-AFF7-145E-6264-A784DF52FCCF}"/>
              </a:ext>
            </a:extLst>
          </p:cNvPr>
          <p:cNvPicPr>
            <a:picLocks noChangeAspect="1"/>
          </p:cNvPicPr>
          <p:nvPr/>
        </p:nvPicPr>
        <p:blipFill>
          <a:blip r:embed="rId20"/>
          <a:stretch>
            <a:fillRect/>
          </a:stretch>
        </p:blipFill>
        <p:spPr>
          <a:xfrm>
            <a:off x="6669063" y="23149673"/>
            <a:ext cx="1128489" cy="697409"/>
          </a:xfrm>
          <a:prstGeom prst="rect">
            <a:avLst/>
          </a:prstGeom>
        </p:spPr>
      </p:pic>
      <p:sp>
        <p:nvSpPr>
          <p:cNvPr id="91" name="Text 8">
            <a:extLst>
              <a:ext uri="{FF2B5EF4-FFF2-40B4-BE49-F238E27FC236}">
                <a16:creationId xmlns:a16="http://schemas.microsoft.com/office/drawing/2014/main" id="{8E398C68-8299-E418-03D7-9FC36EEDF91A}"/>
              </a:ext>
            </a:extLst>
          </p:cNvPr>
          <p:cNvSpPr/>
          <p:nvPr/>
        </p:nvSpPr>
        <p:spPr>
          <a:xfrm>
            <a:off x="6669063" y="23970014"/>
            <a:ext cx="1945779" cy="345281"/>
          </a:xfrm>
          <a:prstGeom prst="rect">
            <a:avLst/>
          </a:prstGeom>
          <a:noFill/>
          <a:ln/>
        </p:spPr>
        <p:txBody>
          <a:bodyPr wrap="square" lIns="0" tIns="0" rIns="0" bIns="0" rtlCol="0" anchor="t">
            <a:no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Pengelolaan Danau Sungai Lingkaran (KalFor)</a:t>
            </a:r>
            <a:endParaRPr lang="en-US" sz="1100" dirty="0">
              <a:latin typeface="Leelawadee UI" panose="020B0502040204020203" pitchFamily="34" charset="-34"/>
              <a:cs typeface="Leelawadee UI" panose="020B0502040204020203" pitchFamily="34" charset="-34"/>
            </a:endParaRPr>
          </a:p>
        </p:txBody>
      </p:sp>
      <p:sp>
        <p:nvSpPr>
          <p:cNvPr id="92" name="Text 9">
            <a:extLst>
              <a:ext uri="{FF2B5EF4-FFF2-40B4-BE49-F238E27FC236}">
                <a16:creationId xmlns:a16="http://schemas.microsoft.com/office/drawing/2014/main" id="{01B6977D-EEA0-9E93-B82C-083404D41ABA}"/>
              </a:ext>
            </a:extLst>
          </p:cNvPr>
          <p:cNvSpPr/>
          <p:nvPr/>
        </p:nvSpPr>
        <p:spPr>
          <a:xfrm>
            <a:off x="6669063" y="24374305"/>
            <a:ext cx="1945779" cy="1726200"/>
          </a:xfrm>
          <a:prstGeom prst="rect">
            <a:avLst/>
          </a:prstGeom>
          <a:noFill/>
          <a:ln/>
        </p:spPr>
        <p:txBody>
          <a:bodyPr wrap="square" lIns="0" tIns="0" rIns="0" bIns="0" rtlCol="0" anchor="t">
            <a:noAutofit/>
          </a:bodyPr>
          <a:lstStyle/>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Melalui KalFor Project, YNKI menginisiasi pengelolaan sumber daya Danau Sungai Lingkaran di Desa Ulak Medang. Hasil tangkapan ikan diolah menjadi ikan asin dan kerupuk ikan — sumber pemasukan dan pangan harian masyarakat yang berkelanjutan.</a:t>
            </a:r>
            <a:endParaRPr lang="en-US" sz="1000" dirty="0">
              <a:latin typeface="Leelawadee UI" panose="020B0502040204020203" pitchFamily="34" charset="-34"/>
              <a:cs typeface="Leelawadee UI" panose="020B0502040204020203" pitchFamily="34" charset="-34"/>
            </a:endParaRPr>
          </a:p>
        </p:txBody>
      </p:sp>
      <p:sp>
        <p:nvSpPr>
          <p:cNvPr id="93" name="Shape 10">
            <a:extLst>
              <a:ext uri="{FF2B5EF4-FFF2-40B4-BE49-F238E27FC236}">
                <a16:creationId xmlns:a16="http://schemas.microsoft.com/office/drawing/2014/main" id="{342F8798-3603-A322-D70E-F84E9BE10DA2}"/>
              </a:ext>
            </a:extLst>
          </p:cNvPr>
          <p:cNvSpPr/>
          <p:nvPr/>
        </p:nvSpPr>
        <p:spPr>
          <a:xfrm>
            <a:off x="465336" y="26231561"/>
            <a:ext cx="8151763" cy="646166"/>
          </a:xfrm>
          <a:prstGeom prst="roundRect">
            <a:avLst>
              <a:gd name="adj" fmla="val 2259"/>
            </a:avLst>
          </a:prstGeom>
          <a:solidFill>
            <a:srgbClr val="B6D6FC"/>
          </a:solidFill>
          <a:ln/>
        </p:spPr>
      </p:sp>
      <p:pic>
        <p:nvPicPr>
          <p:cNvPr id="94" name="Image 4" descr="preencoded.png">
            <a:extLst>
              <a:ext uri="{FF2B5EF4-FFF2-40B4-BE49-F238E27FC236}">
                <a16:creationId xmlns:a16="http://schemas.microsoft.com/office/drawing/2014/main" id="{CD49315A-0FF6-1C47-760F-4676FDD1B3A9}"/>
              </a:ext>
            </a:extLst>
          </p:cNvPr>
          <p:cNvPicPr>
            <a:picLocks noChangeAspect="1"/>
          </p:cNvPicPr>
          <p:nvPr/>
        </p:nvPicPr>
        <p:blipFill>
          <a:blip r:embed="rId21"/>
          <a:stretch>
            <a:fillRect/>
          </a:stretch>
        </p:blipFill>
        <p:spPr>
          <a:xfrm>
            <a:off x="575766" y="26294916"/>
            <a:ext cx="138038" cy="110430"/>
          </a:xfrm>
          <a:prstGeom prst="rect">
            <a:avLst/>
          </a:prstGeom>
        </p:spPr>
      </p:pic>
      <p:sp>
        <p:nvSpPr>
          <p:cNvPr id="95" name="Text 11">
            <a:extLst>
              <a:ext uri="{FF2B5EF4-FFF2-40B4-BE49-F238E27FC236}">
                <a16:creationId xmlns:a16="http://schemas.microsoft.com/office/drawing/2014/main" id="{D5CEEF6B-4AE3-2188-46AE-5BF3ADCC7D77}"/>
              </a:ext>
            </a:extLst>
          </p:cNvPr>
          <p:cNvSpPr/>
          <p:nvPr/>
        </p:nvSpPr>
        <p:spPr>
          <a:xfrm>
            <a:off x="824235" y="26260163"/>
            <a:ext cx="7682433" cy="966993"/>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Berbagi Pengetahuan Lintas Wilayah:</a:t>
            </a: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YNKI melakukan studi banding ke Pulau Tebing Tinggi, Desa Sungai Tohor, Kabupaten Kepulauan Meranti, Riau — berbagi pengalaman restorasi gambut lintas wilayah untuk memperkuat kapasitas komunitas dan lembaga lokal di seluruh Indonesia.</a:t>
            </a:r>
            <a:endParaRPr lang="en-US" sz="1000" dirty="0">
              <a:latin typeface="Leelawadee UI" panose="020B0502040204020203" pitchFamily="34" charset="-34"/>
              <a:cs typeface="Leelawadee UI" panose="020B0502040204020203" pitchFamily="34" charset="-34"/>
            </a:endParaRPr>
          </a:p>
        </p:txBody>
      </p:sp>
      <p:sp>
        <p:nvSpPr>
          <p:cNvPr id="96" name="Text 0">
            <a:extLst>
              <a:ext uri="{FF2B5EF4-FFF2-40B4-BE49-F238E27FC236}">
                <a16:creationId xmlns:a16="http://schemas.microsoft.com/office/drawing/2014/main" id="{EAC5867B-F585-83BB-FB5A-AC8176FC81E6}"/>
              </a:ext>
            </a:extLst>
          </p:cNvPr>
          <p:cNvSpPr/>
          <p:nvPr/>
        </p:nvSpPr>
        <p:spPr>
          <a:xfrm>
            <a:off x="496119" y="27074680"/>
            <a:ext cx="3400425" cy="203522"/>
          </a:xfrm>
          <a:prstGeom prst="rect">
            <a:avLst/>
          </a:prstGeom>
          <a:noFill/>
          <a:ln/>
        </p:spPr>
        <p:txBody>
          <a:bodyPr wrap="none" lIns="0" tIns="0" rIns="0" bIns="0" rtlCol="0" anchor="t"/>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Terintegrasi dengan Program Lain YNKI</a:t>
            </a:r>
            <a:endParaRPr lang="en-US" sz="2000" dirty="0">
              <a:latin typeface="Leelawadee UI" panose="020B0502040204020203" pitchFamily="34" charset="-34"/>
              <a:cs typeface="Leelawadee UI" panose="020B0502040204020203" pitchFamily="34" charset="-34"/>
            </a:endParaRPr>
          </a:p>
        </p:txBody>
      </p:sp>
      <p:sp>
        <p:nvSpPr>
          <p:cNvPr id="97" name="Text 1">
            <a:extLst>
              <a:ext uri="{FF2B5EF4-FFF2-40B4-BE49-F238E27FC236}">
                <a16:creationId xmlns:a16="http://schemas.microsoft.com/office/drawing/2014/main" id="{C78EA8E0-6E8F-9F9D-76ED-26FE7B57C050}"/>
              </a:ext>
            </a:extLst>
          </p:cNvPr>
          <p:cNvSpPr/>
          <p:nvPr/>
        </p:nvSpPr>
        <p:spPr>
          <a:xfrm>
            <a:off x="496119" y="27542501"/>
            <a:ext cx="7605144" cy="386804"/>
          </a:xfrm>
          <a:prstGeom prst="rect">
            <a:avLst/>
          </a:prstGeom>
          <a:noFill/>
          <a:ln/>
        </p:spPr>
        <p:txBody>
          <a:bodyPr wrap="square" lIns="0" tIns="0" rIns="0" bIns="0" rtlCol="0" anchor="t">
            <a:noAutofit/>
          </a:bodyPr>
          <a:lstStyle/>
          <a:p>
            <a:pPr marL="0" indent="0" algn="l">
              <a:lnSpc>
                <a:spcPct val="11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Natural Capital &amp; Restoration Program tidak berdiri sendiri. Program ini terintegrasi erat dengan empat program strategis lainnya dalam portofolio YNKI, menciptakan sinergi yang memperkuat dampak tata kelola lanskap secara menyeluruh.</a:t>
            </a:r>
            <a:endParaRPr lang="en-US" sz="1050" dirty="0">
              <a:latin typeface="Leelawadee UI" panose="020B0502040204020203" pitchFamily="34" charset="-34"/>
              <a:cs typeface="Leelawadee UI" panose="020B0502040204020203" pitchFamily="34" charset="-34"/>
            </a:endParaRPr>
          </a:p>
        </p:txBody>
      </p:sp>
      <p:pic>
        <p:nvPicPr>
          <p:cNvPr id="98" name="Image 0" descr="preencoded.png">
            <a:extLst>
              <a:ext uri="{FF2B5EF4-FFF2-40B4-BE49-F238E27FC236}">
                <a16:creationId xmlns:a16="http://schemas.microsoft.com/office/drawing/2014/main" id="{5C8149F3-7216-CD5C-7FCF-84E2D863CCC5}"/>
              </a:ext>
            </a:extLst>
          </p:cNvPr>
          <p:cNvPicPr>
            <a:picLocks noChangeAspect="1"/>
          </p:cNvPicPr>
          <p:nvPr/>
        </p:nvPicPr>
        <p:blipFill>
          <a:blip r:embed="rId22"/>
          <a:stretch>
            <a:fillRect/>
          </a:stretch>
        </p:blipFill>
        <p:spPr>
          <a:xfrm>
            <a:off x="497756" y="27915314"/>
            <a:ext cx="6419404" cy="3582888"/>
          </a:xfrm>
          <a:prstGeom prst="rect">
            <a:avLst/>
          </a:prstGeom>
        </p:spPr>
      </p:pic>
      <p:sp>
        <p:nvSpPr>
          <p:cNvPr id="99" name="Text 2">
            <a:extLst>
              <a:ext uri="{FF2B5EF4-FFF2-40B4-BE49-F238E27FC236}">
                <a16:creationId xmlns:a16="http://schemas.microsoft.com/office/drawing/2014/main" id="{FE7B11BA-8C96-AA87-D3EB-B1941563BE2B}"/>
              </a:ext>
            </a:extLst>
          </p:cNvPr>
          <p:cNvSpPr/>
          <p:nvPr/>
        </p:nvSpPr>
        <p:spPr>
          <a:xfrm>
            <a:off x="497756" y="31558255"/>
            <a:ext cx="8042002" cy="654292"/>
          </a:xfrm>
          <a:prstGeom prst="rect">
            <a:avLst/>
          </a:prstGeom>
          <a:noFill/>
          <a:ln/>
        </p:spPr>
        <p:txBody>
          <a:bodyPr wrap="square" lIns="0" tIns="0" rIns="0" bIns="0" rtlCol="0" anchor="t">
            <a:normAutofit/>
          </a:bodyPr>
          <a:lstStyle/>
          <a:p>
            <a:pPr marL="0" indent="0" algn="l">
              <a:lnSpc>
                <a:spcPct val="11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Integrasi lintas program ini memastikan bahwa setiap upaya restorasi didukung oleh tata kelola yang kuat, data yang akurat, rantai pasok yang bertanggung jawab, dan kemitraan strategis yang berkelanjutan — mewujudkan visi YNKI sebagai </a:t>
            </a:r>
            <a:r>
              <a:rPr lang="en-US" sz="1050" i="1" dirty="0">
                <a:solidFill>
                  <a:srgbClr val="161613"/>
                </a:solidFill>
                <a:latin typeface="Leelawadee UI" panose="020B0502040204020203" pitchFamily="34" charset="-34"/>
                <a:ea typeface="Inter" pitchFamily="34" charset="-122"/>
                <a:cs typeface="Leelawadee UI" panose="020B0502040204020203" pitchFamily="34" charset="-34"/>
              </a:rPr>
              <a:t>Landscape Governance Backbone Organization</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di Kalimantan Barat.</a:t>
            </a:r>
            <a:endParaRPr lang="en-US" sz="1050" dirty="0">
              <a:latin typeface="Leelawadee UI" panose="020B0502040204020203" pitchFamily="34" charset="-34"/>
              <a:cs typeface="Leelawadee UI" panose="020B0502040204020203" pitchFamily="34" charset="-34"/>
            </a:endParaRPr>
          </a:p>
        </p:txBody>
      </p:sp>
      <p:sp>
        <p:nvSpPr>
          <p:cNvPr id="100" name="Text 0">
            <a:extLst>
              <a:ext uri="{FF2B5EF4-FFF2-40B4-BE49-F238E27FC236}">
                <a16:creationId xmlns:a16="http://schemas.microsoft.com/office/drawing/2014/main" id="{0C512ACE-C306-BFA9-FA83-64864631C670}"/>
              </a:ext>
            </a:extLst>
          </p:cNvPr>
          <p:cNvSpPr/>
          <p:nvPr/>
        </p:nvSpPr>
        <p:spPr>
          <a:xfrm>
            <a:off x="1572591" y="32197178"/>
            <a:ext cx="6440239" cy="310083"/>
          </a:xfrm>
          <a:prstGeom prst="rect">
            <a:avLst/>
          </a:prstGeom>
          <a:noFill/>
          <a:ln/>
        </p:spPr>
        <p:txBody>
          <a:bodyPr wrap="none" lIns="0" tIns="0" rIns="0" bIns="0" rtlCol="0" anchor="t"/>
          <a:lstStyle/>
          <a:p>
            <a:pPr marL="0" indent="0" algn="ctr">
              <a:lnSpc>
                <a:spcPct val="104000"/>
              </a:lnSpc>
              <a:buNone/>
            </a:pPr>
            <a:r>
              <a:rPr lang="en-US" sz="1950" dirty="0">
                <a:solidFill>
                  <a:srgbClr val="161613"/>
                </a:solidFill>
                <a:latin typeface="Leelawadee UI" panose="020B0502040204020203" pitchFamily="34" charset="-34"/>
                <a:ea typeface="DM Sans Medium" pitchFamily="34" charset="-122"/>
                <a:cs typeface="Leelawadee UI" panose="020B0502040204020203" pitchFamily="34" charset="-34"/>
              </a:rPr>
              <a:t>Dukung Program </a:t>
            </a: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Natural</a:t>
            </a:r>
            <a:r>
              <a:rPr lang="en-US" sz="1950" dirty="0">
                <a:solidFill>
                  <a:srgbClr val="161613"/>
                </a:solidFill>
                <a:latin typeface="Leelawadee UI" panose="020B0502040204020203" pitchFamily="34" charset="-34"/>
                <a:ea typeface="DM Sans Medium" pitchFamily="34" charset="-122"/>
                <a:cs typeface="Leelawadee UI" panose="020B0502040204020203" pitchFamily="34" charset="-34"/>
              </a:rPr>
              <a:t> Capital &amp; Restoration YNKI</a:t>
            </a:r>
            <a:endParaRPr lang="en-US" sz="1950" dirty="0">
              <a:latin typeface="Leelawadee UI" panose="020B0502040204020203" pitchFamily="34" charset="-34"/>
              <a:cs typeface="Leelawadee UI" panose="020B0502040204020203" pitchFamily="34" charset="-34"/>
            </a:endParaRPr>
          </a:p>
        </p:txBody>
      </p:sp>
      <p:sp>
        <p:nvSpPr>
          <p:cNvPr id="101" name="Text 1">
            <a:extLst>
              <a:ext uri="{FF2B5EF4-FFF2-40B4-BE49-F238E27FC236}">
                <a16:creationId xmlns:a16="http://schemas.microsoft.com/office/drawing/2014/main" id="{EA2A2813-9318-825A-B7A7-3CF9452668AC}"/>
              </a:ext>
            </a:extLst>
          </p:cNvPr>
          <p:cNvSpPr/>
          <p:nvPr/>
        </p:nvSpPr>
        <p:spPr>
          <a:xfrm>
            <a:off x="600348" y="32523521"/>
            <a:ext cx="8151763" cy="1110407"/>
          </a:xfrm>
          <a:prstGeom prst="rect">
            <a:avLst/>
          </a:prstGeom>
          <a:noFill/>
          <a:ln/>
        </p:spPr>
        <p:txBody>
          <a:bodyPr wrap="square" lIns="0" tIns="0" rIns="0" bIns="0" rtlCol="0" anchor="t">
            <a:normAutofit/>
          </a:bodyPr>
          <a:lstStyle/>
          <a:p>
            <a:pPr marL="0" indent="0" algn="ctr">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Pemulihan modal alam adalah investasi bagi masa depan kita bersama. Setiap kontribusi — baik berupa dana, kemitraan, maupun advokasi — membantu YNKI melindungi dan memulihkan ekosistem gambut, keanekaragaman hayati, dan ketahanan iklim di Kalimantan Barat untuk generasi yang akan datang.</a:t>
            </a:r>
            <a:endParaRPr lang="en-US" sz="1050" dirty="0">
              <a:latin typeface="Leelawadee UI" panose="020B0502040204020203" pitchFamily="34" charset="-34"/>
              <a:cs typeface="Leelawadee UI" panose="020B0502040204020203" pitchFamily="34" charset="-34"/>
            </a:endParaRPr>
          </a:p>
        </p:txBody>
      </p:sp>
      <p:pic>
        <p:nvPicPr>
          <p:cNvPr id="102" name="Image 0" descr="preencoded.png">
            <a:hlinkClick r:id="" action="ppaction://noaction"/>
            <a:extLst>
              <a:ext uri="{FF2B5EF4-FFF2-40B4-BE49-F238E27FC236}">
                <a16:creationId xmlns:a16="http://schemas.microsoft.com/office/drawing/2014/main" id="{74C8D81D-C6A5-6BE5-FA6B-1A086C722095}"/>
              </a:ext>
            </a:extLst>
          </p:cNvPr>
          <p:cNvPicPr>
            <a:picLocks noChangeAspect="1"/>
          </p:cNvPicPr>
          <p:nvPr/>
        </p:nvPicPr>
        <p:blipFill>
          <a:blip r:embed="rId23"/>
          <a:stretch>
            <a:fillRect/>
          </a:stretch>
        </p:blipFill>
        <p:spPr>
          <a:xfrm>
            <a:off x="3141067" y="33258434"/>
            <a:ext cx="1260202" cy="341114"/>
          </a:xfrm>
          <a:prstGeom prst="rect">
            <a:avLst/>
          </a:prstGeom>
        </p:spPr>
      </p:pic>
      <p:pic>
        <p:nvPicPr>
          <p:cNvPr id="103" name="Image 1" descr="preencoded.png">
            <a:hlinkClick r:id="" action="ppaction://noaction"/>
            <a:extLst>
              <a:ext uri="{FF2B5EF4-FFF2-40B4-BE49-F238E27FC236}">
                <a16:creationId xmlns:a16="http://schemas.microsoft.com/office/drawing/2014/main" id="{D8AB3D8B-85AC-4A72-8DE7-6B861F3C9737}"/>
              </a:ext>
            </a:extLst>
          </p:cNvPr>
          <p:cNvPicPr>
            <a:picLocks noChangeAspect="1"/>
          </p:cNvPicPr>
          <p:nvPr/>
        </p:nvPicPr>
        <p:blipFill>
          <a:blip r:embed="rId24"/>
          <a:stretch>
            <a:fillRect/>
          </a:stretch>
        </p:blipFill>
        <p:spPr>
          <a:xfrm>
            <a:off x="4463256" y="33258434"/>
            <a:ext cx="1748061" cy="341114"/>
          </a:xfrm>
          <a:prstGeom prst="rect">
            <a:avLst/>
          </a:prstGeom>
        </p:spPr>
      </p:pic>
      <p:sp>
        <p:nvSpPr>
          <p:cNvPr id="104" name="Shape 2">
            <a:extLst>
              <a:ext uri="{FF2B5EF4-FFF2-40B4-BE49-F238E27FC236}">
                <a16:creationId xmlns:a16="http://schemas.microsoft.com/office/drawing/2014/main" id="{DC3F3E3C-09FC-B53E-6274-11F0B58181B7}"/>
              </a:ext>
            </a:extLst>
          </p:cNvPr>
          <p:cNvSpPr/>
          <p:nvPr/>
        </p:nvSpPr>
        <p:spPr>
          <a:xfrm>
            <a:off x="600348" y="33770031"/>
            <a:ext cx="8151763" cy="15478"/>
          </a:xfrm>
          <a:prstGeom prst="roundRect">
            <a:avLst>
              <a:gd name="adj" fmla="val 120215"/>
            </a:avLst>
          </a:prstGeom>
          <a:solidFill>
            <a:srgbClr val="161613">
              <a:alpha val="50000"/>
            </a:srgbClr>
          </a:solidFill>
          <a:ln/>
        </p:spPr>
      </p:sp>
      <p:sp>
        <p:nvSpPr>
          <p:cNvPr id="105" name="Shape 3">
            <a:extLst>
              <a:ext uri="{FF2B5EF4-FFF2-40B4-BE49-F238E27FC236}">
                <a16:creationId xmlns:a16="http://schemas.microsoft.com/office/drawing/2014/main" id="{A5CD13D3-2914-483C-AD6F-FD01833158C0}"/>
              </a:ext>
            </a:extLst>
          </p:cNvPr>
          <p:cNvSpPr/>
          <p:nvPr/>
        </p:nvSpPr>
        <p:spPr>
          <a:xfrm>
            <a:off x="511051" y="33955992"/>
            <a:ext cx="2890118" cy="1855812"/>
          </a:xfrm>
          <a:prstGeom prst="roundRect">
            <a:avLst>
              <a:gd name="adj" fmla="val 1003"/>
            </a:avLst>
          </a:prstGeom>
          <a:solidFill>
            <a:srgbClr val="28282F"/>
          </a:solidFill>
          <a:ln/>
        </p:spPr>
      </p:sp>
      <p:sp>
        <p:nvSpPr>
          <p:cNvPr id="106" name="Text 4">
            <a:extLst>
              <a:ext uri="{FF2B5EF4-FFF2-40B4-BE49-F238E27FC236}">
                <a16:creationId xmlns:a16="http://schemas.microsoft.com/office/drawing/2014/main" id="{75454381-AFC3-444C-D225-D5F439DDA0DB}"/>
              </a:ext>
            </a:extLst>
          </p:cNvPr>
          <p:cNvSpPr/>
          <p:nvPr/>
        </p:nvSpPr>
        <p:spPr>
          <a:xfrm>
            <a:off x="635025" y="34079966"/>
            <a:ext cx="2901479" cy="19384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400" dirty="0">
              <a:latin typeface="Leelawadee UI" panose="020B0502040204020203" pitchFamily="34" charset="-34"/>
              <a:cs typeface="Leelawadee UI" panose="020B0502040204020203" pitchFamily="34" charset="-34"/>
            </a:endParaRPr>
          </a:p>
        </p:txBody>
      </p:sp>
      <p:sp>
        <p:nvSpPr>
          <p:cNvPr id="107" name="Text 5">
            <a:extLst>
              <a:ext uri="{FF2B5EF4-FFF2-40B4-BE49-F238E27FC236}">
                <a16:creationId xmlns:a16="http://schemas.microsoft.com/office/drawing/2014/main" id="{62CC6E0B-713C-31EF-A23A-14918AA50410}"/>
              </a:ext>
            </a:extLst>
          </p:cNvPr>
          <p:cNvSpPr/>
          <p:nvPr/>
        </p:nvSpPr>
        <p:spPr>
          <a:xfrm>
            <a:off x="635025" y="34397788"/>
            <a:ext cx="2445841" cy="1302395"/>
          </a:xfrm>
          <a:prstGeom prst="rect">
            <a:avLst/>
          </a:prstGeom>
          <a:noFill/>
          <a:ln/>
        </p:spPr>
        <p:txBody>
          <a:bodyPr wrap="square" lIns="0" tIns="0" rIns="0" bIns="0" rtlCol="0" anchor="t">
            <a:noAutofit/>
          </a:bodyPr>
          <a:lstStyle/>
          <a:p>
            <a:pPr marL="0" indent="0" algn="l">
              <a:lnSpc>
                <a:spcPct val="133000"/>
              </a:lnSpc>
              <a:buNone/>
            </a:pPr>
            <a:r>
              <a:rPr lang="en-US" sz="1000" b="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100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1000" dirty="0">
              <a:latin typeface="Leelawadee UI" panose="020B0502040204020203" pitchFamily="34" charset="-34"/>
              <a:cs typeface="Leelawadee UI" panose="020B0502040204020203" pitchFamily="34" charset="-34"/>
            </a:endParaRPr>
          </a:p>
        </p:txBody>
      </p:sp>
      <p:sp>
        <p:nvSpPr>
          <p:cNvPr id="108" name="Text 6">
            <a:extLst>
              <a:ext uri="{FF2B5EF4-FFF2-40B4-BE49-F238E27FC236}">
                <a16:creationId xmlns:a16="http://schemas.microsoft.com/office/drawing/2014/main" id="{A99F2EB3-B6FD-7AD4-47BA-6ED09105A2A4}"/>
              </a:ext>
            </a:extLst>
          </p:cNvPr>
          <p:cNvSpPr/>
          <p:nvPr/>
        </p:nvSpPr>
        <p:spPr>
          <a:xfrm>
            <a:off x="3631419" y="34079966"/>
            <a:ext cx="20077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400" dirty="0">
              <a:latin typeface="Leelawadee UI" panose="020B0502040204020203" pitchFamily="34" charset="-34"/>
              <a:cs typeface="Leelawadee UI" panose="020B0502040204020203" pitchFamily="34" charset="-34"/>
            </a:endParaRPr>
          </a:p>
        </p:txBody>
      </p:sp>
      <p:sp>
        <p:nvSpPr>
          <p:cNvPr id="109" name="Text 7">
            <a:extLst>
              <a:ext uri="{FF2B5EF4-FFF2-40B4-BE49-F238E27FC236}">
                <a16:creationId xmlns:a16="http://schemas.microsoft.com/office/drawing/2014/main" id="{A9C2225C-8797-74D2-0616-4D34B36B29A3}"/>
              </a:ext>
            </a:extLst>
          </p:cNvPr>
          <p:cNvSpPr/>
          <p:nvPr/>
        </p:nvSpPr>
        <p:spPr>
          <a:xfrm>
            <a:off x="3609474" y="34397788"/>
            <a:ext cx="2033494"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1000" dirty="0">
              <a:latin typeface="Leelawadee UI" panose="020B0502040204020203" pitchFamily="34" charset="-34"/>
              <a:cs typeface="Leelawadee UI" panose="020B0502040204020203" pitchFamily="34" charset="-34"/>
            </a:endParaRPr>
          </a:p>
        </p:txBody>
      </p:sp>
      <p:sp>
        <p:nvSpPr>
          <p:cNvPr id="110" name="Text 8">
            <a:extLst>
              <a:ext uri="{FF2B5EF4-FFF2-40B4-BE49-F238E27FC236}">
                <a16:creationId xmlns:a16="http://schemas.microsoft.com/office/drawing/2014/main" id="{B7667041-7453-4C3B-EF6D-7EFB9492DA8D}"/>
              </a:ext>
            </a:extLst>
          </p:cNvPr>
          <p:cNvSpPr/>
          <p:nvPr/>
        </p:nvSpPr>
        <p:spPr>
          <a:xfrm>
            <a:off x="6245398" y="34079966"/>
            <a:ext cx="20077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Hubungi Kami</a:t>
            </a:r>
            <a:endParaRPr lang="en-US" sz="1400" dirty="0">
              <a:latin typeface="Leelawadee UI" panose="020B0502040204020203" pitchFamily="34" charset="-34"/>
              <a:cs typeface="Leelawadee UI" panose="020B0502040204020203" pitchFamily="34" charset="-34"/>
            </a:endParaRPr>
          </a:p>
        </p:txBody>
      </p:sp>
      <p:sp>
        <p:nvSpPr>
          <p:cNvPr id="111" name="Text 9">
            <a:extLst>
              <a:ext uri="{FF2B5EF4-FFF2-40B4-BE49-F238E27FC236}">
                <a16:creationId xmlns:a16="http://schemas.microsoft.com/office/drawing/2014/main" id="{F37B80D5-E937-E699-EEBF-0959E7386ACA}"/>
              </a:ext>
            </a:extLst>
          </p:cNvPr>
          <p:cNvSpPr/>
          <p:nvPr/>
        </p:nvSpPr>
        <p:spPr>
          <a:xfrm>
            <a:off x="6245398" y="34397788"/>
            <a:ext cx="2515195" cy="72129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(Placeholder Telepon)</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LinkedIn · YouTube · Instagram</a:t>
            </a:r>
            <a:endParaRPr lang="en-US" sz="1000" dirty="0">
              <a:latin typeface="Leelawadee UI" panose="020B0502040204020203" pitchFamily="34" charset="-34"/>
              <a:cs typeface="Leelawadee UI" panose="020B0502040204020203" pitchFamily="34" charset="-34"/>
            </a:endParaRPr>
          </a:p>
        </p:txBody>
      </p:sp>
      <p:sp>
        <p:nvSpPr>
          <p:cNvPr id="112" name="Text 10">
            <a:extLst>
              <a:ext uri="{FF2B5EF4-FFF2-40B4-BE49-F238E27FC236}">
                <a16:creationId xmlns:a16="http://schemas.microsoft.com/office/drawing/2014/main" id="{1EACA342-7730-30FF-4FD3-D8216B15F6B2}"/>
              </a:ext>
            </a:extLst>
          </p:cNvPr>
          <p:cNvSpPr/>
          <p:nvPr/>
        </p:nvSpPr>
        <p:spPr>
          <a:xfrm>
            <a:off x="5770886" y="35230705"/>
            <a:ext cx="2989708" cy="386804"/>
          </a:xfrm>
          <a:prstGeom prst="rect">
            <a:avLst/>
          </a:prstGeom>
          <a:noFill/>
          <a:ln/>
        </p:spPr>
        <p:txBody>
          <a:bodyPr wrap="square" lIns="0" tIns="0" rIns="0" bIns="0" rtlCol="0" anchor="t">
            <a:normAutofit/>
          </a:bodyPr>
          <a:lstStyle/>
          <a:p>
            <a:pPr marL="0" indent="0" algn="l">
              <a:lnSpc>
                <a:spcPct val="133000"/>
              </a:lnSpc>
              <a:buNone/>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8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41373206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TotalTime>
  <Words>1070</Words>
  <Application>Microsoft Office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2026-06-22T10:12:30Z</dcterms:created>
  <dcterms:modified xsi:type="dcterms:W3CDTF">2026-06-22T10:29:12Z</dcterms:modified>
</cp:coreProperties>
</file>