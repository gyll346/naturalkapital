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899953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60" d="100"/>
          <a:sy n="60" d="100"/>
        </p:scale>
        <p:origin x="3066" y="5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7070108"/>
            <a:ext cx="7649607" cy="1504022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22690338"/>
            <a:ext cx="6749654" cy="1043015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B90451-68D3-428C-B781-D9354EBB4D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1061077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B90451-68D3-428C-B781-D9354EBB4D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310269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10770172"/>
            <a:ext cx="7762102" cy="17970262"/>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8910440"/>
            <a:ext cx="7762102" cy="9450136"/>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B90451-68D3-428C-B781-D9354EBB4D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856230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B90451-68D3-428C-B781-D9354EBB4DBE}"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21337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2300044"/>
            <a:ext cx="7762102" cy="8350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10590160"/>
            <a:ext cx="380722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5780233"/>
            <a:ext cx="380722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10590160"/>
            <a:ext cx="382597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5780233"/>
            <a:ext cx="382597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B90451-68D3-428C-B781-D9354EBB4DBE}"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24128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B90451-68D3-428C-B781-D9354EBB4DBE}"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3907617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B90451-68D3-428C-B781-D9354EBB4DBE}"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768967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6220102"/>
            <a:ext cx="4556016" cy="30700453"/>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15B90451-68D3-428C-B781-D9354EBB4DBE}"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60209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6220102"/>
            <a:ext cx="4556016" cy="30700453"/>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15B90451-68D3-428C-B781-D9354EBB4DBE}"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2190283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B90451-68D3-428C-B781-D9354EBB4D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2535184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2300034"/>
            <a:ext cx="1940525" cy="366105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2300034"/>
            <a:ext cx="5709082" cy="366105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B90451-68D3-428C-B781-D9354EBB4DBE}"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69B72EEA-9443-40E3-BE07-2C8955154D4D}" type="slidenum">
              <a:rPr lang="en-ID" smtClean="0"/>
              <a:t>‹#›</a:t>
            </a:fld>
            <a:endParaRPr lang="en-ID"/>
          </a:p>
        </p:txBody>
      </p:sp>
    </p:spTree>
    <p:extLst>
      <p:ext uri="{BB962C8B-B14F-4D97-AF65-F5344CB8AC3E}">
        <p14:creationId xmlns:p14="http://schemas.microsoft.com/office/powerpoint/2010/main" val="1184930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2300044"/>
            <a:ext cx="7762102" cy="8350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1500170"/>
            <a:ext cx="7762102" cy="27410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40040601"/>
            <a:ext cx="2024896" cy="2300034"/>
          </a:xfrm>
          <a:prstGeom prst="rect">
            <a:avLst/>
          </a:prstGeom>
        </p:spPr>
        <p:txBody>
          <a:bodyPr vert="horz" lIns="91440" tIns="45720" rIns="91440" bIns="45720" rtlCol="0" anchor="ctr"/>
          <a:lstStyle>
            <a:lvl1pPr algn="l">
              <a:defRPr sz="1181">
                <a:solidFill>
                  <a:schemeClr val="tx1">
                    <a:tint val="75000"/>
                  </a:schemeClr>
                </a:solidFill>
              </a:defRPr>
            </a:lvl1pPr>
          </a:lstStyle>
          <a:p>
            <a:fld id="{15B90451-68D3-428C-B781-D9354EBB4DBE}" type="datetimeFigureOut">
              <a:rPr lang="en-ID" smtClean="0"/>
              <a:t>22/06/2026</a:t>
            </a:fld>
            <a:endParaRPr lang="en-ID"/>
          </a:p>
        </p:txBody>
      </p:sp>
      <p:sp>
        <p:nvSpPr>
          <p:cNvPr id="5" name="Footer Placeholder 4"/>
          <p:cNvSpPr>
            <a:spLocks noGrp="1"/>
          </p:cNvSpPr>
          <p:nvPr>
            <p:ph type="ftr" sz="quarter" idx="3"/>
          </p:nvPr>
        </p:nvSpPr>
        <p:spPr>
          <a:xfrm>
            <a:off x="2981097" y="40040601"/>
            <a:ext cx="3037344" cy="2300034"/>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40040601"/>
            <a:ext cx="2024896" cy="2300034"/>
          </a:xfrm>
          <a:prstGeom prst="rect">
            <a:avLst/>
          </a:prstGeom>
        </p:spPr>
        <p:txBody>
          <a:bodyPr vert="horz" lIns="91440" tIns="45720" rIns="91440" bIns="45720" rtlCol="0" anchor="ctr"/>
          <a:lstStyle>
            <a:lvl1pPr algn="r">
              <a:defRPr sz="1181">
                <a:solidFill>
                  <a:schemeClr val="tx1">
                    <a:tint val="75000"/>
                  </a:schemeClr>
                </a:solidFill>
              </a:defRPr>
            </a:lvl1pPr>
          </a:lstStyle>
          <a:p>
            <a:fld id="{69B72EEA-9443-40E3-BE07-2C8955154D4D}" type="slidenum">
              <a:rPr lang="en-ID" smtClean="0"/>
              <a:t>‹#›</a:t>
            </a:fld>
            <a:endParaRPr lang="en-ID"/>
          </a:p>
        </p:txBody>
      </p:sp>
    </p:spTree>
    <p:extLst>
      <p:ext uri="{BB962C8B-B14F-4D97-AF65-F5344CB8AC3E}">
        <p14:creationId xmlns:p14="http://schemas.microsoft.com/office/powerpoint/2010/main" val="9507066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18" Type="http://schemas.openxmlformats.org/officeDocument/2006/relationships/image" Target="../media/image16.svg"/><Relationship Id="rId26" Type="http://schemas.openxmlformats.org/officeDocument/2006/relationships/image" Target="../media/image24.png"/><Relationship Id="rId3" Type="http://schemas.microsoft.com/office/2007/relationships/hdphoto" Target="../media/hdphoto1.wdp"/><Relationship Id="rId21" Type="http://schemas.openxmlformats.org/officeDocument/2006/relationships/image" Target="../media/image19.png"/><Relationship Id="rId7" Type="http://schemas.openxmlformats.org/officeDocument/2006/relationships/image" Target="../media/image5.svg"/><Relationship Id="rId12" Type="http://schemas.openxmlformats.org/officeDocument/2006/relationships/image" Target="../media/image10.svg"/><Relationship Id="rId17" Type="http://schemas.openxmlformats.org/officeDocument/2006/relationships/image" Target="../media/image15.svg"/><Relationship Id="rId25" Type="http://schemas.openxmlformats.org/officeDocument/2006/relationships/image" Target="../media/image23.png"/><Relationship Id="rId2" Type="http://schemas.openxmlformats.org/officeDocument/2006/relationships/image" Target="../media/image1.png"/><Relationship Id="rId16" Type="http://schemas.openxmlformats.org/officeDocument/2006/relationships/image" Target="../media/image14.sv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svg"/><Relationship Id="rId23" Type="http://schemas.openxmlformats.org/officeDocument/2006/relationships/image" Target="../media/image21.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sv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 name="Image 0" descr="preencoded.png">
            <a:extLst>
              <a:ext uri="{FF2B5EF4-FFF2-40B4-BE49-F238E27FC236}">
                <a16:creationId xmlns:a16="http://schemas.microsoft.com/office/drawing/2014/main" id="{D0913195-4D98-E7F9-2751-F037DC0B6AC3}"/>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a14:imgEffect>
                  </a14:imgLayer>
                </a14:imgProps>
              </a:ext>
            </a:extLst>
          </a:blip>
          <a:stretch>
            <a:fillRect/>
          </a:stretch>
        </p:blipFill>
        <p:spPr>
          <a:xfrm>
            <a:off x="-26875" y="-1391007"/>
            <a:ext cx="9144000" cy="5143500"/>
          </a:xfrm>
          <a:prstGeom prst="rect">
            <a:avLst/>
          </a:prstGeom>
        </p:spPr>
      </p:pic>
      <p:sp>
        <p:nvSpPr>
          <p:cNvPr id="125" name="Shape 1">
            <a:extLst>
              <a:ext uri="{FF2B5EF4-FFF2-40B4-BE49-F238E27FC236}">
                <a16:creationId xmlns:a16="http://schemas.microsoft.com/office/drawing/2014/main" id="{E43F016A-9D9A-F666-8374-C00EB3AECF1D}"/>
              </a:ext>
            </a:extLst>
          </p:cNvPr>
          <p:cNvSpPr/>
          <p:nvPr/>
        </p:nvSpPr>
        <p:spPr>
          <a:xfrm>
            <a:off x="391817" y="2611564"/>
            <a:ext cx="4564559" cy="242739"/>
          </a:xfrm>
          <a:prstGeom prst="roundRect">
            <a:avLst>
              <a:gd name="adj" fmla="val 6132"/>
            </a:avLst>
          </a:prstGeom>
          <a:noFill/>
          <a:ln w="4763">
            <a:solidFill>
              <a:srgbClr val="28282F"/>
            </a:solidFill>
            <a:prstDash val="solid"/>
          </a:ln>
        </p:spPr>
      </p:sp>
      <p:sp>
        <p:nvSpPr>
          <p:cNvPr id="126" name="Text 2">
            <a:extLst>
              <a:ext uri="{FF2B5EF4-FFF2-40B4-BE49-F238E27FC236}">
                <a16:creationId xmlns:a16="http://schemas.microsoft.com/office/drawing/2014/main" id="{83135977-6C09-42C9-C889-10198B52A940}"/>
              </a:ext>
            </a:extLst>
          </p:cNvPr>
          <p:cNvSpPr/>
          <p:nvPr/>
        </p:nvSpPr>
        <p:spPr>
          <a:xfrm>
            <a:off x="470993" y="2653534"/>
            <a:ext cx="4863405" cy="158800"/>
          </a:xfrm>
          <a:prstGeom prst="rect">
            <a:avLst/>
          </a:prstGeom>
          <a:noFill/>
          <a:ln/>
        </p:spPr>
        <p:txBody>
          <a:bodyPr wrap="none" lIns="0" tIns="0" rIns="0" bIns="0" rtlCol="0" anchor="t"/>
          <a:lstStyle/>
          <a:p>
            <a:pPr marL="0" indent="0" algn="l">
              <a:lnSpc>
                <a:spcPct val="133000"/>
              </a:lnSpc>
              <a:buNone/>
            </a:pPr>
            <a:r>
              <a:rPr lang="en-US" sz="750" dirty="0">
                <a:solidFill>
                  <a:schemeClr val="bg1"/>
                </a:solidFill>
                <a:latin typeface="Leelawadee UI" panose="020B0502040204020203" pitchFamily="34" charset="-34"/>
                <a:ea typeface="Inter" pitchFamily="34" charset="-122"/>
                <a:cs typeface="Leelawadee UI" panose="020B0502040204020203" pitchFamily="34" charset="-34"/>
              </a:rPr>
              <a:t>BERANDA / PROGRAM KAMI / INSTITUTIONAL SUSTAINABILITY &amp; PARTNERSHIPS PROGRAM</a:t>
            </a:r>
            <a:endParaRPr lang="en-US" sz="750" dirty="0">
              <a:solidFill>
                <a:schemeClr val="bg1"/>
              </a:solidFill>
              <a:latin typeface="Leelawadee UI" panose="020B0502040204020203" pitchFamily="34" charset="-34"/>
              <a:cs typeface="Leelawadee UI" panose="020B0502040204020203" pitchFamily="34" charset="-34"/>
            </a:endParaRPr>
          </a:p>
        </p:txBody>
      </p:sp>
      <p:sp>
        <p:nvSpPr>
          <p:cNvPr id="127" name="Text 3">
            <a:extLst>
              <a:ext uri="{FF2B5EF4-FFF2-40B4-BE49-F238E27FC236}">
                <a16:creationId xmlns:a16="http://schemas.microsoft.com/office/drawing/2014/main" id="{B126F5BE-7F54-A06C-180E-60A036A727E5}"/>
              </a:ext>
            </a:extLst>
          </p:cNvPr>
          <p:cNvSpPr/>
          <p:nvPr/>
        </p:nvSpPr>
        <p:spPr>
          <a:xfrm>
            <a:off x="434133" y="3397204"/>
            <a:ext cx="7789813" cy="387548"/>
          </a:xfrm>
          <a:prstGeom prst="rect">
            <a:avLst/>
          </a:prstGeom>
          <a:noFill/>
          <a:ln/>
        </p:spPr>
        <p:txBody>
          <a:bodyPr wrap="none" lIns="0" tIns="0" rIns="0" bIns="0" rtlCol="0" anchor="t"/>
          <a:lstStyle/>
          <a:p>
            <a:pPr marL="0" indent="0" algn="l">
              <a:lnSpc>
                <a:spcPct val="104000"/>
              </a:lnSpc>
              <a:buNone/>
            </a:pPr>
            <a:r>
              <a:rPr lang="en-US" sz="2400" dirty="0">
                <a:solidFill>
                  <a:schemeClr val="bg1"/>
                </a:solidFill>
                <a:latin typeface="Leelawadee UI" panose="020B0502040204020203" pitchFamily="34" charset="-34"/>
                <a:ea typeface="DM Sans Medium" pitchFamily="34" charset="-122"/>
                <a:cs typeface="Leelawadee UI" panose="020B0502040204020203" pitchFamily="34" charset="-34"/>
              </a:rPr>
              <a:t>Institutional Sustainability &amp; Partnerships Program</a:t>
            </a:r>
            <a:endParaRPr lang="en-US" sz="2400" dirty="0">
              <a:solidFill>
                <a:schemeClr val="bg1"/>
              </a:solidFill>
              <a:latin typeface="Leelawadee UI" panose="020B0502040204020203" pitchFamily="34" charset="-34"/>
              <a:cs typeface="Leelawadee UI" panose="020B0502040204020203" pitchFamily="34" charset="-34"/>
            </a:endParaRPr>
          </a:p>
        </p:txBody>
      </p:sp>
      <p:pic>
        <p:nvPicPr>
          <p:cNvPr id="129" name="Image 1" descr="preencoded.png">
            <a:hlinkClick r:id="" action="ppaction://noaction"/>
            <a:extLst>
              <a:ext uri="{FF2B5EF4-FFF2-40B4-BE49-F238E27FC236}">
                <a16:creationId xmlns:a16="http://schemas.microsoft.com/office/drawing/2014/main" id="{0B503244-3723-D736-0D7E-BBF90107744C}"/>
              </a:ext>
            </a:extLst>
          </p:cNvPr>
          <p:cNvPicPr>
            <a:picLocks noChangeAspect="1"/>
          </p:cNvPicPr>
          <p:nvPr/>
        </p:nvPicPr>
        <p:blipFill>
          <a:blip r:embed="rId4"/>
          <a:stretch>
            <a:fillRect/>
          </a:stretch>
        </p:blipFill>
        <p:spPr>
          <a:xfrm>
            <a:off x="434133" y="2953545"/>
            <a:ext cx="1748061" cy="341114"/>
          </a:xfrm>
          <a:prstGeom prst="rect">
            <a:avLst/>
          </a:prstGeom>
        </p:spPr>
      </p:pic>
      <p:pic>
        <p:nvPicPr>
          <p:cNvPr id="130" name="Image 2" descr="preencoded.png">
            <a:hlinkClick r:id="" action="ppaction://noaction"/>
            <a:extLst>
              <a:ext uri="{FF2B5EF4-FFF2-40B4-BE49-F238E27FC236}">
                <a16:creationId xmlns:a16="http://schemas.microsoft.com/office/drawing/2014/main" id="{75E2B68E-1867-D1AF-B53A-D002A9B6D0FB}"/>
              </a:ext>
            </a:extLst>
          </p:cNvPr>
          <p:cNvPicPr>
            <a:picLocks noChangeAspect="1"/>
          </p:cNvPicPr>
          <p:nvPr/>
        </p:nvPicPr>
        <p:blipFill>
          <a:blip r:embed="rId5"/>
          <a:stretch>
            <a:fillRect/>
          </a:stretch>
        </p:blipFill>
        <p:spPr>
          <a:xfrm>
            <a:off x="2244180" y="2953545"/>
            <a:ext cx="2103313" cy="341114"/>
          </a:xfrm>
          <a:prstGeom prst="rect">
            <a:avLst/>
          </a:prstGeom>
        </p:spPr>
      </p:pic>
      <p:sp>
        <p:nvSpPr>
          <p:cNvPr id="131" name="Shape 0">
            <a:extLst>
              <a:ext uri="{FF2B5EF4-FFF2-40B4-BE49-F238E27FC236}">
                <a16:creationId xmlns:a16="http://schemas.microsoft.com/office/drawing/2014/main" id="{6F537EAB-4DB7-8881-8A94-45D9A5D5282D}"/>
              </a:ext>
            </a:extLst>
          </p:cNvPr>
          <p:cNvSpPr/>
          <p:nvPr/>
        </p:nvSpPr>
        <p:spPr>
          <a:xfrm>
            <a:off x="485876" y="4127205"/>
            <a:ext cx="1283492" cy="277713"/>
          </a:xfrm>
          <a:prstGeom prst="roundRect">
            <a:avLst>
              <a:gd name="adj" fmla="val 6383"/>
            </a:avLst>
          </a:prstGeom>
          <a:solidFill>
            <a:srgbClr val="E3E3E8"/>
          </a:solidFill>
          <a:ln/>
        </p:spPr>
      </p:sp>
      <p:sp>
        <p:nvSpPr>
          <p:cNvPr id="132" name="Text 1">
            <a:extLst>
              <a:ext uri="{FF2B5EF4-FFF2-40B4-BE49-F238E27FC236}">
                <a16:creationId xmlns:a16="http://schemas.microsoft.com/office/drawing/2014/main" id="{C0738C86-1718-3CB8-3596-E54D8AE2B39E}"/>
              </a:ext>
            </a:extLst>
          </p:cNvPr>
          <p:cNvSpPr/>
          <p:nvPr/>
        </p:nvSpPr>
        <p:spPr>
          <a:xfrm>
            <a:off x="560290" y="4164413"/>
            <a:ext cx="1393552" cy="158800"/>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TUJUAN PROGRAM</a:t>
            </a:r>
            <a:endParaRPr lang="en-US" sz="1000" dirty="0">
              <a:latin typeface="Leelawadee UI" panose="020B0502040204020203" pitchFamily="34" charset="-34"/>
              <a:cs typeface="Leelawadee UI" panose="020B0502040204020203" pitchFamily="34" charset="-34"/>
            </a:endParaRPr>
          </a:p>
        </p:txBody>
      </p:sp>
      <p:sp>
        <p:nvSpPr>
          <p:cNvPr id="133" name="Text 2">
            <a:extLst>
              <a:ext uri="{FF2B5EF4-FFF2-40B4-BE49-F238E27FC236}">
                <a16:creationId xmlns:a16="http://schemas.microsoft.com/office/drawing/2014/main" id="{AE83ADA7-4E63-3C32-B45E-DA4B77AD64AA}"/>
              </a:ext>
            </a:extLst>
          </p:cNvPr>
          <p:cNvSpPr/>
          <p:nvPr/>
        </p:nvSpPr>
        <p:spPr>
          <a:xfrm>
            <a:off x="485876" y="4409980"/>
            <a:ext cx="4337000" cy="387548"/>
          </a:xfrm>
          <a:prstGeom prst="rect">
            <a:avLst/>
          </a:prstGeom>
          <a:noFill/>
          <a:ln/>
        </p:spPr>
        <p:txBody>
          <a:bodyPr wrap="none" lIns="0" tIns="0" rIns="0" bIns="0" rtlCol="0" anchor="t"/>
          <a:lstStyle/>
          <a:p>
            <a:pPr marL="0" indent="0" algn="l">
              <a:lnSpc>
                <a:spcPct val="104000"/>
              </a:lnSpc>
              <a:buNone/>
            </a:pPr>
            <a:r>
              <a:rPr lang="en-US" sz="2400" dirty="0" err="1">
                <a:solidFill>
                  <a:srgbClr val="161613"/>
                </a:solidFill>
                <a:latin typeface="Leelawadee UI" panose="020B0502040204020203" pitchFamily="34" charset="-34"/>
                <a:ea typeface="DM Sans Medium" pitchFamily="34" charset="-122"/>
                <a:cs typeface="Leelawadee UI" panose="020B0502040204020203" pitchFamily="34" charset="-34"/>
              </a:rPr>
              <a:t>Tentang</a:t>
            </a: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 Program</a:t>
            </a:r>
            <a:endParaRPr lang="en-US" sz="2400" dirty="0">
              <a:latin typeface="Leelawadee UI" panose="020B0502040204020203" pitchFamily="34" charset="-34"/>
              <a:cs typeface="Leelawadee UI" panose="020B0502040204020203" pitchFamily="34" charset="-34"/>
            </a:endParaRPr>
          </a:p>
        </p:txBody>
      </p:sp>
      <p:sp>
        <p:nvSpPr>
          <p:cNvPr id="134" name="Shape 3">
            <a:extLst>
              <a:ext uri="{FF2B5EF4-FFF2-40B4-BE49-F238E27FC236}">
                <a16:creationId xmlns:a16="http://schemas.microsoft.com/office/drawing/2014/main" id="{228B3DCE-C27B-11BE-62A5-785EB19ED68A}"/>
              </a:ext>
            </a:extLst>
          </p:cNvPr>
          <p:cNvSpPr/>
          <p:nvPr/>
        </p:nvSpPr>
        <p:spPr>
          <a:xfrm>
            <a:off x="485876" y="4983563"/>
            <a:ext cx="14288" cy="680740"/>
          </a:xfrm>
          <a:prstGeom prst="roundRect">
            <a:avLst>
              <a:gd name="adj" fmla="val 59998"/>
            </a:avLst>
          </a:prstGeom>
          <a:solidFill>
            <a:srgbClr val="28282F"/>
          </a:solidFill>
          <a:ln/>
        </p:spPr>
      </p:sp>
      <p:sp>
        <p:nvSpPr>
          <p:cNvPr id="135" name="Text 4">
            <a:extLst>
              <a:ext uri="{FF2B5EF4-FFF2-40B4-BE49-F238E27FC236}">
                <a16:creationId xmlns:a16="http://schemas.microsoft.com/office/drawing/2014/main" id="{077114B1-7669-0498-6B9A-771308021B8A}"/>
              </a:ext>
            </a:extLst>
          </p:cNvPr>
          <p:cNvSpPr/>
          <p:nvPr/>
        </p:nvSpPr>
        <p:spPr>
          <a:xfrm>
            <a:off x="671911" y="5123090"/>
            <a:ext cx="7965728" cy="401687"/>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Memastikan keberlanjutan organisasi melalui penguatan kapasitas internal, kemitraan strategis, dan pengembangan sumber daya yang mendukung misi jangka panjang YNKI dalam mewujudkan tata kelola lanskap yang inklusif dan kolaboratif.</a:t>
            </a:r>
            <a:endParaRPr lang="en-US" sz="1050" dirty="0">
              <a:latin typeface="Leelawadee UI" panose="020B0502040204020203" pitchFamily="34" charset="-34"/>
              <a:cs typeface="Leelawadee UI" panose="020B0502040204020203" pitchFamily="34" charset="-34"/>
            </a:endParaRPr>
          </a:p>
        </p:txBody>
      </p:sp>
      <p:sp>
        <p:nvSpPr>
          <p:cNvPr id="136" name="Text 5">
            <a:extLst>
              <a:ext uri="{FF2B5EF4-FFF2-40B4-BE49-F238E27FC236}">
                <a16:creationId xmlns:a16="http://schemas.microsoft.com/office/drawing/2014/main" id="{BF859CE9-0233-C9D0-01CD-1A3D25CDF264}"/>
              </a:ext>
            </a:extLst>
          </p:cNvPr>
          <p:cNvSpPr/>
          <p:nvPr/>
        </p:nvSpPr>
        <p:spPr>
          <a:xfrm>
            <a:off x="485876" y="5803830"/>
            <a:ext cx="815176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Yayasan Natural Kapital Indonesia (YNKI) adalah organisasi nirlaba yang didedikasikan untuk mempromosikan praktik penggunaan lahan berkelanjutan dan meningkatkan kesejahteraan masyarakat melalui pendekatan lanskap holistik. Program ini merupakan salah satu dari lima program strategis YNKI yang saling terintegrasi, memastikan bahwa fondasi kelembagaan cukup kuat untuk menopang seluruh dampak yang ingin diwujudkan di Kalimantan Barat dan sekitarnya.</a:t>
            </a:r>
            <a:endParaRPr lang="en-US" sz="950" dirty="0">
              <a:latin typeface="Leelawadee UI" panose="020B0502040204020203" pitchFamily="34" charset="-34"/>
              <a:cs typeface="Leelawadee UI" panose="020B0502040204020203" pitchFamily="34" charset="-34"/>
            </a:endParaRPr>
          </a:p>
        </p:txBody>
      </p:sp>
      <p:sp>
        <p:nvSpPr>
          <p:cNvPr id="137" name="Shape 6">
            <a:extLst>
              <a:ext uri="{FF2B5EF4-FFF2-40B4-BE49-F238E27FC236}">
                <a16:creationId xmlns:a16="http://schemas.microsoft.com/office/drawing/2014/main" id="{2FCC0677-1E4D-B572-E4DE-2A380AED6FB3}"/>
              </a:ext>
            </a:extLst>
          </p:cNvPr>
          <p:cNvSpPr/>
          <p:nvPr/>
        </p:nvSpPr>
        <p:spPr>
          <a:xfrm>
            <a:off x="396579" y="6737205"/>
            <a:ext cx="4103191" cy="1148804"/>
          </a:xfrm>
          <a:prstGeom prst="roundRect">
            <a:avLst>
              <a:gd name="adj" fmla="val 1620"/>
            </a:avLst>
          </a:prstGeom>
          <a:solidFill>
            <a:srgbClr val="28282F"/>
          </a:solidFill>
          <a:ln/>
        </p:spPr>
      </p:sp>
      <p:sp>
        <p:nvSpPr>
          <p:cNvPr id="138" name="Text 7">
            <a:extLst>
              <a:ext uri="{FF2B5EF4-FFF2-40B4-BE49-F238E27FC236}">
                <a16:creationId xmlns:a16="http://schemas.microsoft.com/office/drawing/2014/main" id="{5562A6A3-D004-B515-65E5-F4FD781DE585}"/>
              </a:ext>
            </a:extLst>
          </p:cNvPr>
          <p:cNvSpPr/>
          <p:nvPr/>
        </p:nvSpPr>
        <p:spPr>
          <a:xfrm>
            <a:off x="520553" y="686117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 Misi Kami</a:t>
            </a:r>
            <a:endParaRPr lang="en-US" sz="1200" dirty="0">
              <a:latin typeface="Leelawadee UI" panose="020B0502040204020203" pitchFamily="34" charset="-34"/>
              <a:cs typeface="Leelawadee UI" panose="020B0502040204020203" pitchFamily="34" charset="-34"/>
            </a:endParaRPr>
          </a:p>
        </p:txBody>
      </p:sp>
      <p:sp>
        <p:nvSpPr>
          <p:cNvPr id="139" name="Text 8">
            <a:extLst>
              <a:ext uri="{FF2B5EF4-FFF2-40B4-BE49-F238E27FC236}">
                <a16:creationId xmlns:a16="http://schemas.microsoft.com/office/drawing/2014/main" id="{359F301F-7DA9-9501-F183-1ACA50401FA0}"/>
              </a:ext>
            </a:extLst>
          </p:cNvPr>
          <p:cNvSpPr/>
          <p:nvPr/>
        </p:nvSpPr>
        <p:spPr>
          <a:xfrm>
            <a:off x="520553" y="7179002"/>
            <a:ext cx="385524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Memperkuat tata kelola lanskap yang inklusif dan kolaboratif demi lanskap yang sehat dan masyarakat yang sejahtera.</a:t>
            </a:r>
            <a:endParaRPr lang="en-US" sz="950" dirty="0">
              <a:latin typeface="Leelawadee UI" panose="020B0502040204020203" pitchFamily="34" charset="-34"/>
              <a:cs typeface="Leelawadee UI" panose="020B0502040204020203" pitchFamily="34" charset="-34"/>
            </a:endParaRPr>
          </a:p>
        </p:txBody>
      </p:sp>
      <p:sp>
        <p:nvSpPr>
          <p:cNvPr id="140" name="Text 9">
            <a:extLst>
              <a:ext uri="{FF2B5EF4-FFF2-40B4-BE49-F238E27FC236}">
                <a16:creationId xmlns:a16="http://schemas.microsoft.com/office/drawing/2014/main" id="{83DAF0F1-91F7-C619-9DB8-6FB8201209CA}"/>
              </a:ext>
            </a:extLst>
          </p:cNvPr>
          <p:cNvSpPr/>
          <p:nvPr/>
        </p:nvSpPr>
        <p:spPr>
          <a:xfrm>
            <a:off x="4717803" y="686117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Fokus Program</a:t>
            </a:r>
            <a:endParaRPr lang="en-US" sz="1200" dirty="0">
              <a:latin typeface="Leelawadee UI" panose="020B0502040204020203" pitchFamily="34" charset="-34"/>
              <a:cs typeface="Leelawadee UI" panose="020B0502040204020203" pitchFamily="34" charset="-34"/>
            </a:endParaRPr>
          </a:p>
        </p:txBody>
      </p:sp>
      <p:sp>
        <p:nvSpPr>
          <p:cNvPr id="141" name="Text 10">
            <a:extLst>
              <a:ext uri="{FF2B5EF4-FFF2-40B4-BE49-F238E27FC236}">
                <a16:creationId xmlns:a16="http://schemas.microsoft.com/office/drawing/2014/main" id="{067534B8-F0C2-BCB5-1068-26D0D23958D3}"/>
              </a:ext>
            </a:extLst>
          </p:cNvPr>
          <p:cNvSpPr/>
          <p:nvPr/>
        </p:nvSpPr>
        <p:spPr>
          <a:xfrm>
            <a:off x="4717803" y="7179002"/>
            <a:ext cx="392459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Penguatan kapasitas internal, diversifikasi pendanaan, dan pengembangan kemitraan strategis lintas sektor — pemerintah, swasta, dan masyarakat sipil.</a:t>
            </a:r>
            <a:endParaRPr lang="en-US" sz="950" dirty="0">
              <a:latin typeface="Leelawadee UI" panose="020B0502040204020203" pitchFamily="34" charset="-34"/>
              <a:cs typeface="Leelawadee UI" panose="020B0502040204020203" pitchFamily="34" charset="-34"/>
            </a:endParaRPr>
          </a:p>
        </p:txBody>
      </p:sp>
      <p:sp>
        <p:nvSpPr>
          <p:cNvPr id="142" name="Shape 0">
            <a:extLst>
              <a:ext uri="{FF2B5EF4-FFF2-40B4-BE49-F238E27FC236}">
                <a16:creationId xmlns:a16="http://schemas.microsoft.com/office/drawing/2014/main" id="{3933810B-8070-9399-8309-B4B6DDF8E508}"/>
              </a:ext>
            </a:extLst>
          </p:cNvPr>
          <p:cNvSpPr/>
          <p:nvPr/>
        </p:nvSpPr>
        <p:spPr>
          <a:xfrm>
            <a:off x="379947" y="8467331"/>
            <a:ext cx="1403710" cy="253257"/>
          </a:xfrm>
          <a:prstGeom prst="roundRect">
            <a:avLst>
              <a:gd name="adj" fmla="val 6418"/>
            </a:avLst>
          </a:prstGeom>
          <a:solidFill>
            <a:srgbClr val="E3E3E8"/>
          </a:solidFill>
          <a:ln/>
        </p:spPr>
      </p:sp>
      <p:sp>
        <p:nvSpPr>
          <p:cNvPr id="143" name="Text 1">
            <a:extLst>
              <a:ext uri="{FF2B5EF4-FFF2-40B4-BE49-F238E27FC236}">
                <a16:creationId xmlns:a16="http://schemas.microsoft.com/office/drawing/2014/main" id="{12F5C443-9B83-4AF1-704A-A7C38B96A3D2}"/>
              </a:ext>
            </a:extLst>
          </p:cNvPr>
          <p:cNvSpPr/>
          <p:nvPr/>
        </p:nvSpPr>
        <p:spPr>
          <a:xfrm>
            <a:off x="453170" y="8503944"/>
            <a:ext cx="2067892" cy="155079"/>
          </a:xfrm>
          <a:prstGeom prst="rect">
            <a:avLst/>
          </a:prstGeom>
          <a:noFill/>
          <a:ln/>
        </p:spPr>
        <p:txBody>
          <a:bodyPr wrap="none" lIns="0" tIns="0" rIns="0" bIns="0" rtlCol="0" anchor="t"/>
          <a:lstStyle/>
          <a:p>
            <a:pPr marL="0" indent="0" algn="l">
              <a:lnSpc>
                <a:spcPct val="13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TENTANG PROGRAM</a:t>
            </a:r>
            <a:endParaRPr lang="en-US" sz="1000" dirty="0">
              <a:latin typeface="Leelawadee UI" panose="020B0502040204020203" pitchFamily="34" charset="-34"/>
              <a:cs typeface="Leelawadee UI" panose="020B0502040204020203" pitchFamily="34" charset="-34"/>
            </a:endParaRPr>
          </a:p>
        </p:txBody>
      </p:sp>
      <p:sp>
        <p:nvSpPr>
          <p:cNvPr id="144" name="Text 2">
            <a:extLst>
              <a:ext uri="{FF2B5EF4-FFF2-40B4-BE49-F238E27FC236}">
                <a16:creationId xmlns:a16="http://schemas.microsoft.com/office/drawing/2014/main" id="{F8DCFF43-5161-1BA6-474F-DF1E4085BE42}"/>
              </a:ext>
            </a:extLst>
          </p:cNvPr>
          <p:cNvSpPr/>
          <p:nvPr/>
        </p:nvSpPr>
        <p:spPr>
          <a:xfrm>
            <a:off x="379947" y="8848108"/>
            <a:ext cx="8562901" cy="277119"/>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Kelembagaan yang Tangguh, Dampak yang Berkelanjutan</a:t>
            </a:r>
            <a:endParaRPr lang="en-US" sz="2400" dirty="0">
              <a:latin typeface="Leelawadee UI" panose="020B0502040204020203" pitchFamily="34" charset="-34"/>
              <a:cs typeface="Leelawadee UI" panose="020B0502040204020203" pitchFamily="34" charset="-34"/>
            </a:endParaRPr>
          </a:p>
        </p:txBody>
      </p:sp>
      <p:sp>
        <p:nvSpPr>
          <p:cNvPr id="145" name="Text 3">
            <a:extLst>
              <a:ext uri="{FF2B5EF4-FFF2-40B4-BE49-F238E27FC236}">
                <a16:creationId xmlns:a16="http://schemas.microsoft.com/office/drawing/2014/main" id="{2B6CCF5B-F744-F9EF-7C20-406402C0D5F7}"/>
              </a:ext>
            </a:extLst>
          </p:cNvPr>
          <p:cNvSpPr/>
          <p:nvPr/>
        </p:nvSpPr>
        <p:spPr>
          <a:xfrm>
            <a:off x="396579" y="9338523"/>
            <a:ext cx="8151763" cy="1103175"/>
          </a:xfrm>
          <a:prstGeom prst="rect">
            <a:avLst/>
          </a:prstGeom>
          <a:noFill/>
          <a:ln/>
        </p:spPr>
        <p:txBody>
          <a:bodyPr wrap="square" lIns="0" tIns="0" rIns="0" bIns="0" rtlCol="0" anchor="t">
            <a:normAutofit/>
          </a:bodyPr>
          <a:lstStyle/>
          <a:p>
            <a:pPr marL="0" indent="0" algn="l">
              <a:lnSpc>
                <a:spcPct val="132000"/>
              </a:lnSpc>
              <a:spcAft>
                <a:spcPts val="1050"/>
              </a:spcAft>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Transformasi lanskap yang berkelanjutan membutuhkan organisasi yang kuat, adaptif, dan mampu bekerja lintas sektor dalam jangka panjang. Tanpa kelembagaan yang tangguh, perubahan yang telah dicapai melalui berbagai proyek dan program dapat hilang ketika proyek berakhir atau ketika terjadi pergantian staf dan kepemimpinan.</a:t>
            </a:r>
            <a:endParaRPr lang="en-US" sz="950" dirty="0">
              <a:latin typeface="Leelawadee UI" panose="020B0502040204020203" pitchFamily="34" charset="-34"/>
              <a:cs typeface="Leelawadee UI" panose="020B0502040204020203" pitchFamily="34" charset="-34"/>
            </a:endParaRPr>
          </a:p>
          <a:p>
            <a:pPr marL="0" indent="0" algn="l">
              <a:lnSpc>
                <a:spcPct val="13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meyakini bahwa </a:t>
            </a: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keberlanjutan organisasi adalah prasyarat bagi keberlanjutan dampak</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Penguatan kapasitas internal, diversifikasi sumber pendanaan, dan pengembangan kemitraan strategis menjadi fondasi bagi seluruh program YNKI.</a:t>
            </a:r>
            <a:endParaRPr lang="en-US" sz="950" dirty="0">
              <a:latin typeface="Leelawadee UI" panose="020B0502040204020203" pitchFamily="34" charset="-34"/>
              <a:cs typeface="Leelawadee UI" panose="020B0502040204020203" pitchFamily="34" charset="-34"/>
            </a:endParaRPr>
          </a:p>
        </p:txBody>
      </p:sp>
      <p:sp>
        <p:nvSpPr>
          <p:cNvPr id="146" name="Shape 4">
            <a:extLst>
              <a:ext uri="{FF2B5EF4-FFF2-40B4-BE49-F238E27FC236}">
                <a16:creationId xmlns:a16="http://schemas.microsoft.com/office/drawing/2014/main" id="{C4927F78-9938-0537-356E-FDC2C52BCED8}"/>
              </a:ext>
            </a:extLst>
          </p:cNvPr>
          <p:cNvSpPr/>
          <p:nvPr/>
        </p:nvSpPr>
        <p:spPr>
          <a:xfrm>
            <a:off x="379947" y="10545121"/>
            <a:ext cx="4015755" cy="894606"/>
          </a:xfrm>
          <a:prstGeom prst="roundRect">
            <a:avLst>
              <a:gd name="adj" fmla="val 2047"/>
            </a:avLst>
          </a:prstGeom>
          <a:solidFill>
            <a:srgbClr val="EDEBE3"/>
          </a:solidFill>
          <a:ln/>
        </p:spPr>
      </p:sp>
      <p:sp>
        <p:nvSpPr>
          <p:cNvPr id="147" name="Text 5">
            <a:extLst>
              <a:ext uri="{FF2B5EF4-FFF2-40B4-BE49-F238E27FC236}">
                <a16:creationId xmlns:a16="http://schemas.microsoft.com/office/drawing/2014/main" id="{79FB6106-7B99-F1A5-F3E1-9679B2658C64}"/>
              </a:ext>
            </a:extLst>
          </p:cNvPr>
          <p:cNvSpPr/>
          <p:nvPr/>
        </p:nvSpPr>
        <p:spPr>
          <a:xfrm>
            <a:off x="501986" y="10667160"/>
            <a:ext cx="1932533" cy="190723"/>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Participatory Development</a:t>
            </a:r>
            <a:endParaRPr lang="en-US" sz="1200" dirty="0">
              <a:latin typeface="Leelawadee UI" panose="020B0502040204020203" pitchFamily="34" charset="-34"/>
              <a:cs typeface="Leelawadee UI" panose="020B0502040204020203" pitchFamily="34" charset="-34"/>
            </a:endParaRPr>
          </a:p>
        </p:txBody>
      </p:sp>
      <p:sp>
        <p:nvSpPr>
          <p:cNvPr id="148" name="Text 6">
            <a:extLst>
              <a:ext uri="{FF2B5EF4-FFF2-40B4-BE49-F238E27FC236}">
                <a16:creationId xmlns:a16="http://schemas.microsoft.com/office/drawing/2014/main" id="{63EBC254-F454-324F-C2A7-30DFDB4795FE}"/>
              </a:ext>
            </a:extLst>
          </p:cNvPr>
          <p:cNvSpPr/>
          <p:nvPr/>
        </p:nvSpPr>
        <p:spPr>
          <a:xfrm>
            <a:off x="501986" y="10929991"/>
            <a:ext cx="3771677"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Keputusan diambil bersama pemangku kepentingan secara inklusif.</a:t>
            </a:r>
            <a:endParaRPr lang="en-US" sz="950" dirty="0">
              <a:latin typeface="Leelawadee UI" panose="020B0502040204020203" pitchFamily="34" charset="-34"/>
              <a:cs typeface="Leelawadee UI" panose="020B0502040204020203" pitchFamily="34" charset="-34"/>
            </a:endParaRPr>
          </a:p>
        </p:txBody>
      </p:sp>
      <p:sp>
        <p:nvSpPr>
          <p:cNvPr id="149" name="Shape 7">
            <a:extLst>
              <a:ext uri="{FF2B5EF4-FFF2-40B4-BE49-F238E27FC236}">
                <a16:creationId xmlns:a16="http://schemas.microsoft.com/office/drawing/2014/main" id="{48AEF417-1A48-4712-4AA6-3411CE372861}"/>
              </a:ext>
            </a:extLst>
          </p:cNvPr>
          <p:cNvSpPr/>
          <p:nvPr/>
        </p:nvSpPr>
        <p:spPr>
          <a:xfrm>
            <a:off x="4515880" y="10545121"/>
            <a:ext cx="4015829" cy="894606"/>
          </a:xfrm>
          <a:prstGeom prst="roundRect">
            <a:avLst>
              <a:gd name="adj" fmla="val 2047"/>
            </a:avLst>
          </a:prstGeom>
          <a:solidFill>
            <a:srgbClr val="EDEBE3"/>
          </a:solidFill>
          <a:ln/>
        </p:spPr>
      </p:sp>
      <p:sp>
        <p:nvSpPr>
          <p:cNvPr id="150" name="Text 8">
            <a:extLst>
              <a:ext uri="{FF2B5EF4-FFF2-40B4-BE49-F238E27FC236}">
                <a16:creationId xmlns:a16="http://schemas.microsoft.com/office/drawing/2014/main" id="{0788040F-2442-C751-EAB8-B9CF58EAB118}"/>
              </a:ext>
            </a:extLst>
          </p:cNvPr>
          <p:cNvSpPr/>
          <p:nvPr/>
        </p:nvSpPr>
        <p:spPr>
          <a:xfrm>
            <a:off x="4637919" y="10667160"/>
            <a:ext cx="1526307" cy="190723"/>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Good Governance</a:t>
            </a:r>
            <a:endParaRPr lang="en-US" sz="1200" dirty="0">
              <a:latin typeface="Leelawadee UI" panose="020B0502040204020203" pitchFamily="34" charset="-34"/>
              <a:cs typeface="Leelawadee UI" panose="020B0502040204020203" pitchFamily="34" charset="-34"/>
            </a:endParaRPr>
          </a:p>
        </p:txBody>
      </p:sp>
      <p:sp>
        <p:nvSpPr>
          <p:cNvPr id="151" name="Text 9">
            <a:extLst>
              <a:ext uri="{FF2B5EF4-FFF2-40B4-BE49-F238E27FC236}">
                <a16:creationId xmlns:a16="http://schemas.microsoft.com/office/drawing/2014/main" id="{9B55C83B-00B5-A45C-C0D4-38DCF78EE2B6}"/>
              </a:ext>
            </a:extLst>
          </p:cNvPr>
          <p:cNvSpPr/>
          <p:nvPr/>
        </p:nvSpPr>
        <p:spPr>
          <a:xfrm>
            <a:off x="4637919" y="10929991"/>
            <a:ext cx="3771751"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Menjaga transparansi, akuntabilitas, dan efektivitas kelembagaan.</a:t>
            </a:r>
            <a:endParaRPr lang="en-US" sz="950" dirty="0">
              <a:latin typeface="Leelawadee UI" panose="020B0502040204020203" pitchFamily="34" charset="-34"/>
              <a:cs typeface="Leelawadee UI" panose="020B0502040204020203" pitchFamily="34" charset="-34"/>
            </a:endParaRPr>
          </a:p>
        </p:txBody>
      </p:sp>
      <p:sp>
        <p:nvSpPr>
          <p:cNvPr id="152" name="Shape 10">
            <a:extLst>
              <a:ext uri="{FF2B5EF4-FFF2-40B4-BE49-F238E27FC236}">
                <a16:creationId xmlns:a16="http://schemas.microsoft.com/office/drawing/2014/main" id="{722C7422-6883-C6C3-DCEE-ED0D232D79C9}"/>
              </a:ext>
            </a:extLst>
          </p:cNvPr>
          <p:cNvSpPr/>
          <p:nvPr/>
        </p:nvSpPr>
        <p:spPr>
          <a:xfrm>
            <a:off x="379947" y="11559906"/>
            <a:ext cx="4015755" cy="894606"/>
          </a:xfrm>
          <a:prstGeom prst="roundRect">
            <a:avLst>
              <a:gd name="adj" fmla="val 2047"/>
            </a:avLst>
          </a:prstGeom>
          <a:solidFill>
            <a:srgbClr val="EDEBE3"/>
          </a:solidFill>
          <a:ln/>
        </p:spPr>
      </p:sp>
      <p:sp>
        <p:nvSpPr>
          <p:cNvPr id="153" name="Text 11">
            <a:extLst>
              <a:ext uri="{FF2B5EF4-FFF2-40B4-BE49-F238E27FC236}">
                <a16:creationId xmlns:a16="http://schemas.microsoft.com/office/drawing/2014/main" id="{634D9532-0030-3E7F-AAED-7CD424FC8D82}"/>
              </a:ext>
            </a:extLst>
          </p:cNvPr>
          <p:cNvSpPr/>
          <p:nvPr/>
        </p:nvSpPr>
        <p:spPr>
          <a:xfrm>
            <a:off x="501986" y="11681945"/>
            <a:ext cx="2582689" cy="190723"/>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Democratic Landscape Governance</a:t>
            </a:r>
            <a:endParaRPr lang="en-US" sz="1200" dirty="0">
              <a:latin typeface="Leelawadee UI" panose="020B0502040204020203" pitchFamily="34" charset="-34"/>
              <a:cs typeface="Leelawadee UI" panose="020B0502040204020203" pitchFamily="34" charset="-34"/>
            </a:endParaRPr>
          </a:p>
        </p:txBody>
      </p:sp>
      <p:sp>
        <p:nvSpPr>
          <p:cNvPr id="154" name="Text 12">
            <a:extLst>
              <a:ext uri="{FF2B5EF4-FFF2-40B4-BE49-F238E27FC236}">
                <a16:creationId xmlns:a16="http://schemas.microsoft.com/office/drawing/2014/main" id="{CFDA4EE4-1822-34A4-78A3-7F0655B622D9}"/>
              </a:ext>
            </a:extLst>
          </p:cNvPr>
          <p:cNvSpPr/>
          <p:nvPr/>
        </p:nvSpPr>
        <p:spPr>
          <a:xfrm>
            <a:off x="501986" y="11944775"/>
            <a:ext cx="3771677" cy="193849"/>
          </a:xfrm>
          <a:prstGeom prst="rect">
            <a:avLst/>
          </a:prstGeom>
          <a:noFill/>
          <a:ln/>
        </p:spPr>
        <p:txBody>
          <a:bodyPr wrap="none" lIns="0" tIns="0" rIns="0" bIns="0" rtlCol="0" anchor="t"/>
          <a:lstStyle/>
          <a:p>
            <a:pPr marL="0" indent="0" algn="l">
              <a:lnSpc>
                <a:spcPct val="13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Mendorong partisipasi demokratis dalam tata kelola lanskap.</a:t>
            </a:r>
            <a:endParaRPr lang="en-US" sz="950" dirty="0">
              <a:latin typeface="Leelawadee UI" panose="020B0502040204020203" pitchFamily="34" charset="-34"/>
              <a:cs typeface="Leelawadee UI" panose="020B0502040204020203" pitchFamily="34" charset="-34"/>
            </a:endParaRPr>
          </a:p>
        </p:txBody>
      </p:sp>
      <p:sp>
        <p:nvSpPr>
          <p:cNvPr id="155" name="Shape 13">
            <a:extLst>
              <a:ext uri="{FF2B5EF4-FFF2-40B4-BE49-F238E27FC236}">
                <a16:creationId xmlns:a16="http://schemas.microsoft.com/office/drawing/2014/main" id="{A4242144-9718-942D-51E1-05FCA7F2A021}"/>
              </a:ext>
            </a:extLst>
          </p:cNvPr>
          <p:cNvSpPr/>
          <p:nvPr/>
        </p:nvSpPr>
        <p:spPr>
          <a:xfrm>
            <a:off x="4515880" y="11559906"/>
            <a:ext cx="4015829" cy="894606"/>
          </a:xfrm>
          <a:prstGeom prst="roundRect">
            <a:avLst>
              <a:gd name="adj" fmla="val 2047"/>
            </a:avLst>
          </a:prstGeom>
          <a:solidFill>
            <a:srgbClr val="EDEBE3"/>
          </a:solidFill>
          <a:ln/>
        </p:spPr>
      </p:sp>
      <p:sp>
        <p:nvSpPr>
          <p:cNvPr id="156" name="Text 14">
            <a:extLst>
              <a:ext uri="{FF2B5EF4-FFF2-40B4-BE49-F238E27FC236}">
                <a16:creationId xmlns:a16="http://schemas.microsoft.com/office/drawing/2014/main" id="{CD0FAF85-4578-6B7D-3159-5A92F66802EA}"/>
              </a:ext>
            </a:extLst>
          </p:cNvPr>
          <p:cNvSpPr/>
          <p:nvPr/>
        </p:nvSpPr>
        <p:spPr>
          <a:xfrm>
            <a:off x="4637919" y="11681945"/>
            <a:ext cx="1778422" cy="190723"/>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Biodiversity Stewardship</a:t>
            </a:r>
            <a:endParaRPr lang="en-US" sz="1200" dirty="0">
              <a:latin typeface="Leelawadee UI" panose="020B0502040204020203" pitchFamily="34" charset="-34"/>
              <a:cs typeface="Leelawadee UI" panose="020B0502040204020203" pitchFamily="34" charset="-34"/>
            </a:endParaRPr>
          </a:p>
        </p:txBody>
      </p:sp>
      <p:sp>
        <p:nvSpPr>
          <p:cNvPr id="157" name="Text 15">
            <a:extLst>
              <a:ext uri="{FF2B5EF4-FFF2-40B4-BE49-F238E27FC236}">
                <a16:creationId xmlns:a16="http://schemas.microsoft.com/office/drawing/2014/main" id="{4C05B413-CBA8-B8D3-8738-4E6B4DECEC2E}"/>
              </a:ext>
            </a:extLst>
          </p:cNvPr>
          <p:cNvSpPr/>
          <p:nvPr/>
        </p:nvSpPr>
        <p:spPr>
          <a:xfrm>
            <a:off x="4637919" y="11944775"/>
            <a:ext cx="3771751" cy="387697"/>
          </a:xfrm>
          <a:prstGeom prst="rect">
            <a:avLst/>
          </a:prstGeom>
          <a:noFill/>
          <a:ln/>
        </p:spPr>
        <p:txBody>
          <a:bodyPr wrap="square" lIns="0" tIns="0" rIns="0" bIns="0" rtlCol="0" anchor="t">
            <a:normAutofit/>
          </a:bodyPr>
          <a:lstStyle/>
          <a:p>
            <a:pPr marL="0" indent="0" algn="l">
              <a:lnSpc>
                <a:spcPct val="132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Merawat keanekaragaman hayati sebagai tanggung jawab bersama.</a:t>
            </a:r>
            <a:endParaRPr lang="en-US" sz="950" dirty="0">
              <a:latin typeface="Leelawadee UI" panose="020B0502040204020203" pitchFamily="34" charset="-34"/>
              <a:cs typeface="Leelawadee UI" panose="020B0502040204020203" pitchFamily="34" charset="-34"/>
            </a:endParaRPr>
          </a:p>
        </p:txBody>
      </p:sp>
      <p:sp>
        <p:nvSpPr>
          <p:cNvPr id="158" name="Shape 0">
            <a:extLst>
              <a:ext uri="{FF2B5EF4-FFF2-40B4-BE49-F238E27FC236}">
                <a16:creationId xmlns:a16="http://schemas.microsoft.com/office/drawing/2014/main" id="{625B9F3C-C7A5-0BF2-55C7-C2226B0B075D}"/>
              </a:ext>
            </a:extLst>
          </p:cNvPr>
          <p:cNvSpPr/>
          <p:nvPr/>
        </p:nvSpPr>
        <p:spPr>
          <a:xfrm>
            <a:off x="396578" y="13026085"/>
            <a:ext cx="1174477" cy="248948"/>
          </a:xfrm>
          <a:prstGeom prst="roundRect">
            <a:avLst>
              <a:gd name="adj" fmla="val 6383"/>
            </a:avLst>
          </a:prstGeom>
          <a:solidFill>
            <a:srgbClr val="E3E3E8"/>
          </a:solidFill>
          <a:ln/>
        </p:spPr>
      </p:sp>
      <p:sp>
        <p:nvSpPr>
          <p:cNvPr id="159" name="Text 1">
            <a:extLst>
              <a:ext uri="{FF2B5EF4-FFF2-40B4-BE49-F238E27FC236}">
                <a16:creationId xmlns:a16="http://schemas.microsoft.com/office/drawing/2014/main" id="{1BC182AF-DCDC-BF7A-3B68-E246FC7128D2}"/>
              </a:ext>
            </a:extLst>
          </p:cNvPr>
          <p:cNvSpPr/>
          <p:nvPr/>
        </p:nvSpPr>
        <p:spPr>
          <a:xfrm>
            <a:off x="470993" y="13063292"/>
            <a:ext cx="1312664" cy="158800"/>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HASIL STRATEGIS</a:t>
            </a:r>
            <a:endParaRPr lang="en-US" sz="1000" dirty="0">
              <a:latin typeface="Leelawadee UI" panose="020B0502040204020203" pitchFamily="34" charset="-34"/>
              <a:cs typeface="Leelawadee UI" panose="020B0502040204020203" pitchFamily="34" charset="-34"/>
            </a:endParaRPr>
          </a:p>
        </p:txBody>
      </p:sp>
      <p:sp>
        <p:nvSpPr>
          <p:cNvPr id="160" name="Text 2">
            <a:extLst>
              <a:ext uri="{FF2B5EF4-FFF2-40B4-BE49-F238E27FC236}">
                <a16:creationId xmlns:a16="http://schemas.microsoft.com/office/drawing/2014/main" id="{C63CEA02-A3CF-A920-3DC5-6F4E4E889C6F}"/>
              </a:ext>
            </a:extLst>
          </p:cNvPr>
          <p:cNvSpPr/>
          <p:nvPr/>
        </p:nvSpPr>
        <p:spPr>
          <a:xfrm>
            <a:off x="396579" y="13308859"/>
            <a:ext cx="5264125"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Hasil Strategis yang Ingin Dicapai</a:t>
            </a:r>
            <a:endParaRPr lang="en-US" sz="2400" dirty="0">
              <a:latin typeface="Leelawadee UI" panose="020B0502040204020203" pitchFamily="34" charset="-34"/>
              <a:cs typeface="Leelawadee UI" panose="020B0502040204020203" pitchFamily="34" charset="-34"/>
            </a:endParaRPr>
          </a:p>
        </p:txBody>
      </p:sp>
      <p:sp>
        <p:nvSpPr>
          <p:cNvPr id="161" name="Text 3">
            <a:extLst>
              <a:ext uri="{FF2B5EF4-FFF2-40B4-BE49-F238E27FC236}">
                <a16:creationId xmlns:a16="http://schemas.microsoft.com/office/drawing/2014/main" id="{654EDFED-A601-DDEB-1B80-0992B9E05567}"/>
              </a:ext>
            </a:extLst>
          </p:cNvPr>
          <p:cNvSpPr/>
          <p:nvPr/>
        </p:nvSpPr>
        <p:spPr>
          <a:xfrm>
            <a:off x="396579" y="13882442"/>
            <a:ext cx="8151763" cy="39692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ini dirancang untuk menghasilkan perubahan nyata dan terukur pada keberlanjutan organisasi YNKI serta memperluas jangkauan dampaknya di tingkat nasional dan internasional.</a:t>
            </a:r>
            <a:endParaRPr lang="en-US" sz="1000" dirty="0">
              <a:latin typeface="Leelawadee UI" panose="020B0502040204020203" pitchFamily="34" charset="-34"/>
              <a:cs typeface="Leelawadee UI" panose="020B0502040204020203" pitchFamily="34" charset="-34"/>
            </a:endParaRPr>
          </a:p>
        </p:txBody>
      </p:sp>
      <p:pic>
        <p:nvPicPr>
          <p:cNvPr id="162" name="Image 0" descr="preencoded.png">
            <a:extLst>
              <a:ext uri="{FF2B5EF4-FFF2-40B4-BE49-F238E27FC236}">
                <a16:creationId xmlns:a16="http://schemas.microsoft.com/office/drawing/2014/main" id="{77A76E0B-95B1-E75C-6C1A-7A77C07DDFC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6579" y="14418893"/>
            <a:ext cx="310083" cy="310083"/>
          </a:xfrm>
          <a:prstGeom prst="rect">
            <a:avLst/>
          </a:prstGeom>
        </p:spPr>
      </p:pic>
      <p:sp>
        <p:nvSpPr>
          <p:cNvPr id="163" name="Text 4">
            <a:extLst>
              <a:ext uri="{FF2B5EF4-FFF2-40B4-BE49-F238E27FC236}">
                <a16:creationId xmlns:a16="http://schemas.microsoft.com/office/drawing/2014/main" id="{7B178531-5D40-504B-FBF9-78464F1BE2E2}"/>
              </a:ext>
            </a:extLst>
          </p:cNvPr>
          <p:cNvSpPr/>
          <p:nvPr/>
        </p:nvSpPr>
        <p:spPr>
          <a:xfrm>
            <a:off x="396579" y="14883981"/>
            <a:ext cx="1717923"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Diversifikasi Pendanaan</a:t>
            </a:r>
            <a:endParaRPr lang="en-US" sz="1200" dirty="0">
              <a:latin typeface="Leelawadee UI" panose="020B0502040204020203" pitchFamily="34" charset="-34"/>
              <a:cs typeface="Leelawadee UI" panose="020B0502040204020203" pitchFamily="34" charset="-34"/>
            </a:endParaRPr>
          </a:p>
        </p:txBody>
      </p:sp>
      <p:sp>
        <p:nvSpPr>
          <p:cNvPr id="164" name="Text 5">
            <a:extLst>
              <a:ext uri="{FF2B5EF4-FFF2-40B4-BE49-F238E27FC236}">
                <a16:creationId xmlns:a16="http://schemas.microsoft.com/office/drawing/2014/main" id="{D6EE89F8-AA78-1C5F-6D1B-7BD056F95724}"/>
              </a:ext>
            </a:extLst>
          </p:cNvPr>
          <p:cNvSpPr/>
          <p:nvPr/>
        </p:nvSpPr>
        <p:spPr>
          <a:xfrm>
            <a:off x="396579" y="15152244"/>
            <a:ext cx="261386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Pendanaan makin beragam, sehingga ketergantungan pada satu donor berkurang.</a:t>
            </a:r>
            <a:endParaRPr lang="en-US" sz="950" dirty="0">
              <a:latin typeface="Leelawadee UI" panose="020B0502040204020203" pitchFamily="34" charset="-34"/>
              <a:cs typeface="Leelawadee UI" panose="020B0502040204020203" pitchFamily="34" charset="-34"/>
            </a:endParaRPr>
          </a:p>
        </p:txBody>
      </p:sp>
      <p:pic>
        <p:nvPicPr>
          <p:cNvPr id="165" name="Image 1" descr="preencoded.png">
            <a:extLst>
              <a:ext uri="{FF2B5EF4-FFF2-40B4-BE49-F238E27FC236}">
                <a16:creationId xmlns:a16="http://schemas.microsoft.com/office/drawing/2014/main" id="{B3676069-6FCA-83BE-A5CD-757BF13120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65451" y="14418893"/>
            <a:ext cx="310083" cy="310083"/>
          </a:xfrm>
          <a:prstGeom prst="rect">
            <a:avLst/>
          </a:prstGeom>
        </p:spPr>
      </p:pic>
      <p:sp>
        <p:nvSpPr>
          <p:cNvPr id="166" name="Text 6">
            <a:extLst>
              <a:ext uri="{FF2B5EF4-FFF2-40B4-BE49-F238E27FC236}">
                <a16:creationId xmlns:a16="http://schemas.microsoft.com/office/drawing/2014/main" id="{377E09EE-1008-15DF-A991-FACC83AF5D5A}"/>
              </a:ext>
            </a:extLst>
          </p:cNvPr>
          <p:cNvSpPr/>
          <p:nvPr/>
        </p:nvSpPr>
        <p:spPr>
          <a:xfrm>
            <a:off x="3165451" y="1488398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Kemitraan Strategis</a:t>
            </a:r>
            <a:endParaRPr lang="en-US" sz="1200" dirty="0">
              <a:latin typeface="Leelawadee UI" panose="020B0502040204020203" pitchFamily="34" charset="-34"/>
              <a:cs typeface="Leelawadee UI" panose="020B0502040204020203" pitchFamily="34" charset="-34"/>
            </a:endParaRPr>
          </a:p>
        </p:txBody>
      </p:sp>
      <p:sp>
        <p:nvSpPr>
          <p:cNvPr id="167" name="Text 7">
            <a:extLst>
              <a:ext uri="{FF2B5EF4-FFF2-40B4-BE49-F238E27FC236}">
                <a16:creationId xmlns:a16="http://schemas.microsoft.com/office/drawing/2014/main" id="{5DC8F7E1-3DE3-5B28-7481-426A42BD49E3}"/>
              </a:ext>
            </a:extLst>
          </p:cNvPr>
          <p:cNvSpPr/>
          <p:nvPr/>
        </p:nvSpPr>
        <p:spPr>
          <a:xfrm>
            <a:off x="3165451" y="15152244"/>
            <a:ext cx="261394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Kemitraan nasional dan internasional meluas, memperkuat kapasitas dan jaringan pengaruh YNKI.</a:t>
            </a:r>
            <a:endParaRPr lang="en-US" sz="950" dirty="0">
              <a:latin typeface="Leelawadee UI" panose="020B0502040204020203" pitchFamily="34" charset="-34"/>
              <a:cs typeface="Leelawadee UI" panose="020B0502040204020203" pitchFamily="34" charset="-34"/>
            </a:endParaRPr>
          </a:p>
        </p:txBody>
      </p:sp>
      <p:pic>
        <p:nvPicPr>
          <p:cNvPr id="168" name="Image 2" descr="preencoded.png">
            <a:extLst>
              <a:ext uri="{FF2B5EF4-FFF2-40B4-BE49-F238E27FC236}">
                <a16:creationId xmlns:a16="http://schemas.microsoft.com/office/drawing/2014/main" id="{74D11E81-8CFD-CB56-A427-B52A205CF26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34399" y="14418893"/>
            <a:ext cx="310083" cy="310083"/>
          </a:xfrm>
          <a:prstGeom prst="rect">
            <a:avLst/>
          </a:prstGeom>
        </p:spPr>
      </p:pic>
      <p:sp>
        <p:nvSpPr>
          <p:cNvPr id="169" name="Text 8">
            <a:extLst>
              <a:ext uri="{FF2B5EF4-FFF2-40B4-BE49-F238E27FC236}">
                <a16:creationId xmlns:a16="http://schemas.microsoft.com/office/drawing/2014/main" id="{CEEE4319-E259-7D2C-7A37-634E50D3DD76}"/>
              </a:ext>
            </a:extLst>
          </p:cNvPr>
          <p:cNvSpPr/>
          <p:nvPr/>
        </p:nvSpPr>
        <p:spPr>
          <a:xfrm>
            <a:off x="5934399" y="1488398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Kapasitas Organisasi</a:t>
            </a:r>
            <a:endParaRPr lang="en-US" sz="1200" dirty="0">
              <a:latin typeface="Leelawadee UI" panose="020B0502040204020203" pitchFamily="34" charset="-34"/>
              <a:cs typeface="Leelawadee UI" panose="020B0502040204020203" pitchFamily="34" charset="-34"/>
            </a:endParaRPr>
          </a:p>
        </p:txBody>
      </p:sp>
      <p:sp>
        <p:nvSpPr>
          <p:cNvPr id="170" name="Text 9">
            <a:extLst>
              <a:ext uri="{FF2B5EF4-FFF2-40B4-BE49-F238E27FC236}">
                <a16:creationId xmlns:a16="http://schemas.microsoft.com/office/drawing/2014/main" id="{CE3377B7-071A-8B0B-9FA2-4662DECE9E4D}"/>
              </a:ext>
            </a:extLst>
          </p:cNvPr>
          <p:cNvSpPr/>
          <p:nvPr/>
        </p:nvSpPr>
        <p:spPr>
          <a:xfrm>
            <a:off x="5934399" y="15152244"/>
            <a:ext cx="261394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Kapasitas meningkat berkelanjutan lewat pengembangan SDM, sistem, dan proses yang adaptif.</a:t>
            </a:r>
            <a:endParaRPr lang="en-US" sz="950" dirty="0">
              <a:latin typeface="Leelawadee UI" panose="020B0502040204020203" pitchFamily="34" charset="-34"/>
              <a:cs typeface="Leelawadee UI" panose="020B0502040204020203" pitchFamily="34" charset="-34"/>
            </a:endParaRPr>
          </a:p>
        </p:txBody>
      </p:sp>
      <p:pic>
        <p:nvPicPr>
          <p:cNvPr id="171" name="Image 3" descr="preencoded.png">
            <a:extLst>
              <a:ext uri="{FF2B5EF4-FFF2-40B4-BE49-F238E27FC236}">
                <a16:creationId xmlns:a16="http://schemas.microsoft.com/office/drawing/2014/main" id="{73160EAF-CCDB-26CA-C66F-8224FB176CB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96579" y="15995653"/>
            <a:ext cx="310083" cy="310083"/>
          </a:xfrm>
          <a:prstGeom prst="rect">
            <a:avLst/>
          </a:prstGeom>
        </p:spPr>
      </p:pic>
      <p:sp>
        <p:nvSpPr>
          <p:cNvPr id="172" name="Text 10">
            <a:extLst>
              <a:ext uri="{FF2B5EF4-FFF2-40B4-BE49-F238E27FC236}">
                <a16:creationId xmlns:a16="http://schemas.microsoft.com/office/drawing/2014/main" id="{472B6099-6F26-5DB9-A3F8-9BD2C9FD1AEF}"/>
              </a:ext>
            </a:extLst>
          </p:cNvPr>
          <p:cNvSpPr/>
          <p:nvPr/>
        </p:nvSpPr>
        <p:spPr>
          <a:xfrm>
            <a:off x="396579" y="1646074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Pengaruh Kebijakan</a:t>
            </a:r>
            <a:endParaRPr lang="en-US" sz="1200" dirty="0">
              <a:latin typeface="Leelawadee UI" panose="020B0502040204020203" pitchFamily="34" charset="-34"/>
              <a:cs typeface="Leelawadee UI" panose="020B0502040204020203" pitchFamily="34" charset="-34"/>
            </a:endParaRPr>
          </a:p>
        </p:txBody>
      </p:sp>
      <p:sp>
        <p:nvSpPr>
          <p:cNvPr id="173" name="Text 11">
            <a:extLst>
              <a:ext uri="{FF2B5EF4-FFF2-40B4-BE49-F238E27FC236}">
                <a16:creationId xmlns:a16="http://schemas.microsoft.com/office/drawing/2014/main" id="{DFCC0653-055E-70AB-A8EB-22969693109A}"/>
              </a:ext>
            </a:extLst>
          </p:cNvPr>
          <p:cNvSpPr/>
          <p:nvPr/>
        </p:nvSpPr>
        <p:spPr>
          <a:xfrm>
            <a:off x="396579" y="16729004"/>
            <a:ext cx="261386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Pengaruh organisasi makin luas dalam kebijakan dan praktik tata kelola lanskap.</a:t>
            </a:r>
            <a:endParaRPr lang="en-US" sz="950" dirty="0">
              <a:latin typeface="Leelawadee UI" panose="020B0502040204020203" pitchFamily="34" charset="-34"/>
              <a:cs typeface="Leelawadee UI" panose="020B0502040204020203" pitchFamily="34" charset="-34"/>
            </a:endParaRPr>
          </a:p>
        </p:txBody>
      </p:sp>
      <p:pic>
        <p:nvPicPr>
          <p:cNvPr id="174" name="Image 4" descr="preencoded.png">
            <a:extLst>
              <a:ext uri="{FF2B5EF4-FFF2-40B4-BE49-F238E27FC236}">
                <a16:creationId xmlns:a16="http://schemas.microsoft.com/office/drawing/2014/main" id="{255EEDD4-A1FF-D526-0FFD-C7C88F5B36B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65451" y="15995653"/>
            <a:ext cx="310083" cy="310083"/>
          </a:xfrm>
          <a:prstGeom prst="rect">
            <a:avLst/>
          </a:prstGeom>
        </p:spPr>
      </p:pic>
      <p:sp>
        <p:nvSpPr>
          <p:cNvPr id="175" name="Text 12">
            <a:extLst>
              <a:ext uri="{FF2B5EF4-FFF2-40B4-BE49-F238E27FC236}">
                <a16:creationId xmlns:a16="http://schemas.microsoft.com/office/drawing/2014/main" id="{8EC72CED-8863-568B-7AB4-8CB9D7FB8FA9}"/>
              </a:ext>
            </a:extLst>
          </p:cNvPr>
          <p:cNvSpPr/>
          <p:nvPr/>
        </p:nvSpPr>
        <p:spPr>
          <a:xfrm>
            <a:off x="3165451" y="16460741"/>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Resiliensi Organisasi</a:t>
            </a:r>
            <a:endParaRPr lang="en-US" sz="1200" dirty="0">
              <a:latin typeface="Leelawadee UI" panose="020B0502040204020203" pitchFamily="34" charset="-34"/>
              <a:cs typeface="Leelawadee UI" panose="020B0502040204020203" pitchFamily="34" charset="-34"/>
            </a:endParaRPr>
          </a:p>
        </p:txBody>
      </p:sp>
      <p:sp>
        <p:nvSpPr>
          <p:cNvPr id="176" name="Text 13">
            <a:extLst>
              <a:ext uri="{FF2B5EF4-FFF2-40B4-BE49-F238E27FC236}">
                <a16:creationId xmlns:a16="http://schemas.microsoft.com/office/drawing/2014/main" id="{8650800B-F9C5-F202-047B-ADF62701C961}"/>
              </a:ext>
            </a:extLst>
          </p:cNvPr>
          <p:cNvSpPr/>
          <p:nvPr/>
        </p:nvSpPr>
        <p:spPr>
          <a:xfrm>
            <a:off x="3165451" y="16729004"/>
            <a:ext cx="261394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Organisasi lebih tangguh menghadapi perubahan politik, ekonomi, dan pendanaan.</a:t>
            </a:r>
            <a:endParaRPr lang="en-US" sz="950" dirty="0">
              <a:latin typeface="Leelawadee UI" panose="020B0502040204020203" pitchFamily="34" charset="-34"/>
              <a:cs typeface="Leelawadee UI" panose="020B0502040204020203" pitchFamily="34" charset="-34"/>
            </a:endParaRPr>
          </a:p>
        </p:txBody>
      </p:sp>
      <p:sp>
        <p:nvSpPr>
          <p:cNvPr id="177" name="Shape 0">
            <a:extLst>
              <a:ext uri="{FF2B5EF4-FFF2-40B4-BE49-F238E27FC236}">
                <a16:creationId xmlns:a16="http://schemas.microsoft.com/office/drawing/2014/main" id="{D199219B-3B50-06DE-C680-AE330A3B07E4}"/>
              </a:ext>
            </a:extLst>
          </p:cNvPr>
          <p:cNvSpPr/>
          <p:nvPr/>
        </p:nvSpPr>
        <p:spPr>
          <a:xfrm>
            <a:off x="396578" y="17506514"/>
            <a:ext cx="1174478" cy="233213"/>
          </a:xfrm>
          <a:prstGeom prst="roundRect">
            <a:avLst>
              <a:gd name="adj" fmla="val 7281"/>
            </a:avLst>
          </a:prstGeom>
          <a:solidFill>
            <a:srgbClr val="E3E3E8"/>
          </a:solidFill>
          <a:ln/>
        </p:spPr>
      </p:sp>
      <p:sp>
        <p:nvSpPr>
          <p:cNvPr id="178" name="Text 1">
            <a:extLst>
              <a:ext uri="{FF2B5EF4-FFF2-40B4-BE49-F238E27FC236}">
                <a16:creationId xmlns:a16="http://schemas.microsoft.com/office/drawing/2014/main" id="{23993811-4173-002C-6E08-4B8A2BA98EE8}"/>
              </a:ext>
            </a:extLst>
          </p:cNvPr>
          <p:cNvSpPr/>
          <p:nvPr/>
        </p:nvSpPr>
        <p:spPr>
          <a:xfrm>
            <a:off x="500164" y="17526106"/>
            <a:ext cx="969318" cy="83344"/>
          </a:xfrm>
          <a:prstGeom prst="rect">
            <a:avLst/>
          </a:prstGeom>
          <a:noFill/>
          <a:ln/>
        </p:spPr>
        <p:txBody>
          <a:bodyPr wrap="none" lIns="0" tIns="0" rIns="0" bIns="0" rtlCol="0" anchor="t"/>
          <a:lstStyle/>
          <a:p>
            <a:pPr marL="0" indent="0" algn="l">
              <a:lnSpc>
                <a:spcPct val="109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INTERVENSI INTI</a:t>
            </a:r>
            <a:endParaRPr lang="en-US" sz="1000" dirty="0">
              <a:latin typeface="Leelawadee UI" panose="020B0502040204020203" pitchFamily="34" charset="-34"/>
              <a:cs typeface="Leelawadee UI" panose="020B0502040204020203" pitchFamily="34" charset="-34"/>
            </a:endParaRPr>
          </a:p>
        </p:txBody>
      </p:sp>
      <p:sp>
        <p:nvSpPr>
          <p:cNvPr id="179" name="Text 2">
            <a:extLst>
              <a:ext uri="{FF2B5EF4-FFF2-40B4-BE49-F238E27FC236}">
                <a16:creationId xmlns:a16="http://schemas.microsoft.com/office/drawing/2014/main" id="{D7F67602-14BC-B37F-5D61-8224ED8D582F}"/>
              </a:ext>
            </a:extLst>
          </p:cNvPr>
          <p:cNvSpPr/>
          <p:nvPr/>
        </p:nvSpPr>
        <p:spPr>
          <a:xfrm>
            <a:off x="396579" y="17762845"/>
            <a:ext cx="3217143" cy="248320"/>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Tujuh Pilar Intervensi Program</a:t>
            </a:r>
            <a:endParaRPr lang="en-US" sz="2400" dirty="0">
              <a:latin typeface="Leelawadee UI" panose="020B0502040204020203" pitchFamily="34" charset="-34"/>
              <a:cs typeface="Leelawadee UI" panose="020B0502040204020203" pitchFamily="34" charset="-34"/>
            </a:endParaRPr>
          </a:p>
        </p:txBody>
      </p:sp>
      <p:sp>
        <p:nvSpPr>
          <p:cNvPr id="180" name="Text 3">
            <a:extLst>
              <a:ext uri="{FF2B5EF4-FFF2-40B4-BE49-F238E27FC236}">
                <a16:creationId xmlns:a16="http://schemas.microsoft.com/office/drawing/2014/main" id="{4AA9BD3C-0C98-C995-4CAE-332BD6AA33BA}"/>
              </a:ext>
            </a:extLst>
          </p:cNvPr>
          <p:cNvSpPr/>
          <p:nvPr/>
        </p:nvSpPr>
        <p:spPr>
          <a:xfrm>
            <a:off x="396579" y="18176315"/>
            <a:ext cx="8013091" cy="481181"/>
          </a:xfrm>
          <a:prstGeom prst="rect">
            <a:avLst/>
          </a:prstGeom>
          <a:noFill/>
          <a:ln/>
        </p:spPr>
        <p:txBody>
          <a:bodyPr wrap="square" lIns="0" tIns="0" rIns="0" bIns="0" rtlCol="0" anchor="t">
            <a:noAutofit/>
          </a:bodyPr>
          <a:lstStyle/>
          <a:p>
            <a:pPr marL="0" indent="0" algn="l">
              <a:lnSpc>
                <a:spcPct val="109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ini dijalankan melalui tujuh intervensi inti yang saling memperkuat, mencakup seluruh dimensi keberlanjutan organisasi — dari pengembangan kepemimpinan hingga mobilisasi sumber daya dan komunikasi strategis.</a:t>
            </a:r>
            <a:endParaRPr lang="en-US" sz="1000" dirty="0">
              <a:latin typeface="Leelawadee UI" panose="020B0502040204020203" pitchFamily="34" charset="-34"/>
              <a:cs typeface="Leelawadee UI" panose="020B0502040204020203" pitchFamily="34" charset="-34"/>
            </a:endParaRPr>
          </a:p>
        </p:txBody>
      </p:sp>
      <p:pic>
        <p:nvPicPr>
          <p:cNvPr id="181" name="Image 0" descr="preencoded.png">
            <a:extLst>
              <a:ext uri="{FF2B5EF4-FFF2-40B4-BE49-F238E27FC236}">
                <a16:creationId xmlns:a16="http://schemas.microsoft.com/office/drawing/2014/main" id="{0719E627-E69A-8316-D576-79E063F7DDD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579" y="18742081"/>
            <a:ext cx="8013091" cy="575496"/>
          </a:xfrm>
          <a:prstGeom prst="rect">
            <a:avLst/>
          </a:prstGeom>
        </p:spPr>
      </p:pic>
      <p:pic>
        <p:nvPicPr>
          <p:cNvPr id="182" name="Image 1" descr="preencoded.png">
            <a:extLst>
              <a:ext uri="{FF2B5EF4-FFF2-40B4-BE49-F238E27FC236}">
                <a16:creationId xmlns:a16="http://schemas.microsoft.com/office/drawing/2014/main" id="{171D61F4-89EE-CF18-0B39-748C7343782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5447" y="18920823"/>
            <a:ext cx="119137" cy="119137"/>
          </a:xfrm>
          <a:prstGeom prst="rect">
            <a:avLst/>
          </a:prstGeom>
        </p:spPr>
      </p:pic>
      <p:sp>
        <p:nvSpPr>
          <p:cNvPr id="183" name="Text 4">
            <a:extLst>
              <a:ext uri="{FF2B5EF4-FFF2-40B4-BE49-F238E27FC236}">
                <a16:creationId xmlns:a16="http://schemas.microsoft.com/office/drawing/2014/main" id="{0C5BEB99-F499-F953-9180-E57C90B16D81}"/>
              </a:ext>
            </a:extLst>
          </p:cNvPr>
          <p:cNvSpPr/>
          <p:nvPr/>
        </p:nvSpPr>
        <p:spPr>
          <a:xfrm>
            <a:off x="926183" y="18831748"/>
            <a:ext cx="1321519"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Organizational Development</a:t>
            </a:r>
            <a:endParaRPr lang="en-US" sz="1100" dirty="0">
              <a:latin typeface="Leelawadee UI" panose="020B0502040204020203" pitchFamily="34" charset="-34"/>
              <a:cs typeface="Leelawadee UI" panose="020B0502040204020203" pitchFamily="34" charset="-34"/>
            </a:endParaRPr>
          </a:p>
        </p:txBody>
      </p:sp>
      <p:sp>
        <p:nvSpPr>
          <p:cNvPr id="184" name="Text 5">
            <a:extLst>
              <a:ext uri="{FF2B5EF4-FFF2-40B4-BE49-F238E27FC236}">
                <a16:creationId xmlns:a16="http://schemas.microsoft.com/office/drawing/2014/main" id="{6F26E232-6EB6-E80F-A781-2270B0EE3B19}"/>
              </a:ext>
            </a:extLst>
          </p:cNvPr>
          <p:cNvSpPr/>
          <p:nvPr/>
        </p:nvSpPr>
        <p:spPr>
          <a:xfrm>
            <a:off x="909551" y="19035667"/>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Mengembangkan struktur, sistem, dan budaya organisasi yang adaptif dan profesional.</a:t>
            </a:r>
            <a:endParaRPr lang="en-US" sz="1050" dirty="0">
              <a:latin typeface="Leelawadee UI" panose="020B0502040204020203" pitchFamily="34" charset="-34"/>
              <a:cs typeface="Leelawadee UI" panose="020B0502040204020203" pitchFamily="34" charset="-34"/>
            </a:endParaRPr>
          </a:p>
        </p:txBody>
      </p:sp>
      <p:pic>
        <p:nvPicPr>
          <p:cNvPr id="185" name="Image 2" descr="preencoded.png">
            <a:extLst>
              <a:ext uri="{FF2B5EF4-FFF2-40B4-BE49-F238E27FC236}">
                <a16:creationId xmlns:a16="http://schemas.microsoft.com/office/drawing/2014/main" id="{74C90F01-6A49-5EBF-A2E7-47C35B9D9FC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579" y="19349382"/>
            <a:ext cx="8013091" cy="575496"/>
          </a:xfrm>
          <a:prstGeom prst="rect">
            <a:avLst/>
          </a:prstGeom>
        </p:spPr>
      </p:pic>
      <p:pic>
        <p:nvPicPr>
          <p:cNvPr id="186" name="Image 3" descr="preencoded.png">
            <a:extLst>
              <a:ext uri="{FF2B5EF4-FFF2-40B4-BE49-F238E27FC236}">
                <a16:creationId xmlns:a16="http://schemas.microsoft.com/office/drawing/2014/main" id="{8A82A689-D9F2-991A-4708-CE4CD78CD33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05447" y="19528124"/>
            <a:ext cx="119137" cy="119137"/>
          </a:xfrm>
          <a:prstGeom prst="rect">
            <a:avLst/>
          </a:prstGeom>
        </p:spPr>
      </p:pic>
      <p:sp>
        <p:nvSpPr>
          <p:cNvPr id="187" name="Text 6">
            <a:extLst>
              <a:ext uri="{FF2B5EF4-FFF2-40B4-BE49-F238E27FC236}">
                <a16:creationId xmlns:a16="http://schemas.microsoft.com/office/drawing/2014/main" id="{5B1C6354-A917-B4EB-8E0A-206181C2D36C}"/>
              </a:ext>
            </a:extLst>
          </p:cNvPr>
          <p:cNvSpPr/>
          <p:nvPr/>
        </p:nvSpPr>
        <p:spPr>
          <a:xfrm>
            <a:off x="926183" y="19439050"/>
            <a:ext cx="1169789"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Leadership Development</a:t>
            </a:r>
            <a:endParaRPr lang="en-US" sz="1100" dirty="0">
              <a:latin typeface="Leelawadee UI" panose="020B0502040204020203" pitchFamily="34" charset="-34"/>
              <a:cs typeface="Leelawadee UI" panose="020B0502040204020203" pitchFamily="34" charset="-34"/>
            </a:endParaRPr>
          </a:p>
        </p:txBody>
      </p:sp>
      <p:sp>
        <p:nvSpPr>
          <p:cNvPr id="188" name="Text 7">
            <a:extLst>
              <a:ext uri="{FF2B5EF4-FFF2-40B4-BE49-F238E27FC236}">
                <a16:creationId xmlns:a16="http://schemas.microsoft.com/office/drawing/2014/main" id="{72F422BA-57AF-642C-60B3-061627A18962}"/>
              </a:ext>
            </a:extLst>
          </p:cNvPr>
          <p:cNvSpPr/>
          <p:nvPr/>
        </p:nvSpPr>
        <p:spPr>
          <a:xfrm>
            <a:off x="909551" y="19642968"/>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Mengembangkan kapasitas kepemimpinan di seluruh tingkat organisasi untuk memimpin perubahan kompleks.</a:t>
            </a:r>
            <a:endParaRPr lang="en-US" sz="1050" dirty="0">
              <a:latin typeface="Leelawadee UI" panose="020B0502040204020203" pitchFamily="34" charset="-34"/>
              <a:cs typeface="Leelawadee UI" panose="020B0502040204020203" pitchFamily="34" charset="-34"/>
            </a:endParaRPr>
          </a:p>
        </p:txBody>
      </p:sp>
      <p:pic>
        <p:nvPicPr>
          <p:cNvPr id="189" name="Image 4" descr="preencoded.png">
            <a:extLst>
              <a:ext uri="{FF2B5EF4-FFF2-40B4-BE49-F238E27FC236}">
                <a16:creationId xmlns:a16="http://schemas.microsoft.com/office/drawing/2014/main" id="{C1FE9026-51B9-B21B-86E5-D8D18A83D67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579" y="19970836"/>
            <a:ext cx="8013091" cy="575496"/>
          </a:xfrm>
          <a:prstGeom prst="rect">
            <a:avLst/>
          </a:prstGeom>
        </p:spPr>
      </p:pic>
      <p:pic>
        <p:nvPicPr>
          <p:cNvPr id="190" name="Image 5" descr="preencoded.png">
            <a:extLst>
              <a:ext uri="{FF2B5EF4-FFF2-40B4-BE49-F238E27FC236}">
                <a16:creationId xmlns:a16="http://schemas.microsoft.com/office/drawing/2014/main" id="{B37F2AA1-0602-7F45-9EC3-32C5BC6C224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05447" y="20149578"/>
            <a:ext cx="119137" cy="119137"/>
          </a:xfrm>
          <a:prstGeom prst="rect">
            <a:avLst/>
          </a:prstGeom>
        </p:spPr>
      </p:pic>
      <p:sp>
        <p:nvSpPr>
          <p:cNvPr id="191" name="Text 8">
            <a:extLst>
              <a:ext uri="{FF2B5EF4-FFF2-40B4-BE49-F238E27FC236}">
                <a16:creationId xmlns:a16="http://schemas.microsoft.com/office/drawing/2014/main" id="{E9603569-D005-817F-42C0-F3D258609453}"/>
              </a:ext>
            </a:extLst>
          </p:cNvPr>
          <p:cNvSpPr/>
          <p:nvPr/>
        </p:nvSpPr>
        <p:spPr>
          <a:xfrm>
            <a:off x="926183" y="20060504"/>
            <a:ext cx="1024161"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Resource Mobilization</a:t>
            </a:r>
            <a:endParaRPr lang="en-US" sz="1100" dirty="0">
              <a:latin typeface="Leelawadee UI" panose="020B0502040204020203" pitchFamily="34" charset="-34"/>
              <a:cs typeface="Leelawadee UI" panose="020B0502040204020203" pitchFamily="34" charset="-34"/>
            </a:endParaRPr>
          </a:p>
        </p:txBody>
      </p:sp>
      <p:sp>
        <p:nvSpPr>
          <p:cNvPr id="192" name="Text 9">
            <a:extLst>
              <a:ext uri="{FF2B5EF4-FFF2-40B4-BE49-F238E27FC236}">
                <a16:creationId xmlns:a16="http://schemas.microsoft.com/office/drawing/2014/main" id="{85A89787-2D57-0FF1-27B6-B1E9FA9A2C25}"/>
              </a:ext>
            </a:extLst>
          </p:cNvPr>
          <p:cNvSpPr/>
          <p:nvPr/>
        </p:nvSpPr>
        <p:spPr>
          <a:xfrm>
            <a:off x="909551" y="20264422"/>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Mengembangkan strategi mobilisasi sumber daya yang beragam dan berkelanjutan.</a:t>
            </a:r>
            <a:endParaRPr lang="en-US" sz="1050" dirty="0">
              <a:latin typeface="Leelawadee UI" panose="020B0502040204020203" pitchFamily="34" charset="-34"/>
              <a:cs typeface="Leelawadee UI" panose="020B0502040204020203" pitchFamily="34" charset="-34"/>
            </a:endParaRPr>
          </a:p>
        </p:txBody>
      </p:sp>
      <p:pic>
        <p:nvPicPr>
          <p:cNvPr id="193" name="Image 6" descr="preencoded.png">
            <a:extLst>
              <a:ext uri="{FF2B5EF4-FFF2-40B4-BE49-F238E27FC236}">
                <a16:creationId xmlns:a16="http://schemas.microsoft.com/office/drawing/2014/main" id="{71776EB9-E026-6DBE-1357-4E62AC7E54E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579" y="20592290"/>
            <a:ext cx="8013091" cy="575496"/>
          </a:xfrm>
          <a:prstGeom prst="rect">
            <a:avLst/>
          </a:prstGeom>
        </p:spPr>
      </p:pic>
      <p:pic>
        <p:nvPicPr>
          <p:cNvPr id="194" name="Image 7" descr="preencoded.png">
            <a:extLst>
              <a:ext uri="{FF2B5EF4-FFF2-40B4-BE49-F238E27FC236}">
                <a16:creationId xmlns:a16="http://schemas.microsoft.com/office/drawing/2014/main" id="{0861968D-F52F-CF84-9692-9A8DE216E4F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05447" y="20771033"/>
            <a:ext cx="119137" cy="119137"/>
          </a:xfrm>
          <a:prstGeom prst="rect">
            <a:avLst/>
          </a:prstGeom>
        </p:spPr>
      </p:pic>
      <p:sp>
        <p:nvSpPr>
          <p:cNvPr id="195" name="Text 10">
            <a:extLst>
              <a:ext uri="{FF2B5EF4-FFF2-40B4-BE49-F238E27FC236}">
                <a16:creationId xmlns:a16="http://schemas.microsoft.com/office/drawing/2014/main" id="{93A1174B-260D-B92F-DA0A-537BFDC98362}"/>
              </a:ext>
            </a:extLst>
          </p:cNvPr>
          <p:cNvSpPr/>
          <p:nvPr/>
        </p:nvSpPr>
        <p:spPr>
          <a:xfrm>
            <a:off x="926183" y="20681958"/>
            <a:ext cx="993279"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Sustainable Finance</a:t>
            </a:r>
            <a:endParaRPr lang="en-US" sz="1100" dirty="0">
              <a:latin typeface="Leelawadee UI" panose="020B0502040204020203" pitchFamily="34" charset="-34"/>
              <a:cs typeface="Leelawadee UI" panose="020B0502040204020203" pitchFamily="34" charset="-34"/>
            </a:endParaRPr>
          </a:p>
        </p:txBody>
      </p:sp>
      <p:sp>
        <p:nvSpPr>
          <p:cNvPr id="196" name="Text 11">
            <a:extLst>
              <a:ext uri="{FF2B5EF4-FFF2-40B4-BE49-F238E27FC236}">
                <a16:creationId xmlns:a16="http://schemas.microsoft.com/office/drawing/2014/main" id="{1008CE1A-E632-A993-5AE0-E6A424494D1C}"/>
              </a:ext>
            </a:extLst>
          </p:cNvPr>
          <p:cNvSpPr/>
          <p:nvPr/>
        </p:nvSpPr>
        <p:spPr>
          <a:xfrm>
            <a:off x="909551" y="20885876"/>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Mengembangkan pembiayaan berkelanjutan untuk mendukung program jangka panjang dan ketahanan finansial.</a:t>
            </a:r>
            <a:endParaRPr lang="en-US" sz="1050" dirty="0">
              <a:latin typeface="Leelawadee UI" panose="020B0502040204020203" pitchFamily="34" charset="-34"/>
              <a:cs typeface="Leelawadee UI" panose="020B0502040204020203" pitchFamily="34" charset="-34"/>
            </a:endParaRPr>
          </a:p>
        </p:txBody>
      </p:sp>
      <p:pic>
        <p:nvPicPr>
          <p:cNvPr id="197" name="Image 8" descr="preencoded.png">
            <a:extLst>
              <a:ext uri="{FF2B5EF4-FFF2-40B4-BE49-F238E27FC236}">
                <a16:creationId xmlns:a16="http://schemas.microsoft.com/office/drawing/2014/main" id="{53045C43-7AF2-404F-D5C3-E1A898B4D73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579" y="21202401"/>
            <a:ext cx="8013091" cy="575496"/>
          </a:xfrm>
          <a:prstGeom prst="rect">
            <a:avLst/>
          </a:prstGeom>
        </p:spPr>
      </p:pic>
      <p:pic>
        <p:nvPicPr>
          <p:cNvPr id="198" name="Image 9" descr="preencoded.png">
            <a:extLst>
              <a:ext uri="{FF2B5EF4-FFF2-40B4-BE49-F238E27FC236}">
                <a16:creationId xmlns:a16="http://schemas.microsoft.com/office/drawing/2014/main" id="{B892CF25-4D44-964D-E81D-AB557BFDA6B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05447" y="21381144"/>
            <a:ext cx="119137" cy="119137"/>
          </a:xfrm>
          <a:prstGeom prst="rect">
            <a:avLst/>
          </a:prstGeom>
        </p:spPr>
      </p:pic>
      <p:sp>
        <p:nvSpPr>
          <p:cNvPr id="199" name="Text 12">
            <a:extLst>
              <a:ext uri="{FF2B5EF4-FFF2-40B4-BE49-F238E27FC236}">
                <a16:creationId xmlns:a16="http://schemas.microsoft.com/office/drawing/2014/main" id="{FA7B2BD2-D656-0F78-F436-ADE0DEF23104}"/>
              </a:ext>
            </a:extLst>
          </p:cNvPr>
          <p:cNvSpPr/>
          <p:nvPr/>
        </p:nvSpPr>
        <p:spPr>
          <a:xfrm>
            <a:off x="926183" y="21292069"/>
            <a:ext cx="1041871"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Strategic Partnerships</a:t>
            </a:r>
            <a:endParaRPr lang="en-US" sz="1100" dirty="0">
              <a:latin typeface="Leelawadee UI" panose="020B0502040204020203" pitchFamily="34" charset="-34"/>
              <a:cs typeface="Leelawadee UI" panose="020B0502040204020203" pitchFamily="34" charset="-34"/>
            </a:endParaRPr>
          </a:p>
        </p:txBody>
      </p:sp>
      <p:sp>
        <p:nvSpPr>
          <p:cNvPr id="200" name="Text 13">
            <a:extLst>
              <a:ext uri="{FF2B5EF4-FFF2-40B4-BE49-F238E27FC236}">
                <a16:creationId xmlns:a16="http://schemas.microsoft.com/office/drawing/2014/main" id="{E9CF5B7F-512A-A010-1F99-741CF8CE6FDA}"/>
              </a:ext>
            </a:extLst>
          </p:cNvPr>
          <p:cNvSpPr/>
          <p:nvPr/>
        </p:nvSpPr>
        <p:spPr>
          <a:xfrm>
            <a:off x="909551" y="21495987"/>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Membangun dan memperkuat kemitraan dengan pemerintah, swasta, donor, dan masyarakat sipil.</a:t>
            </a:r>
            <a:endParaRPr lang="en-US" sz="1050" dirty="0">
              <a:latin typeface="Leelawadee UI" panose="020B0502040204020203" pitchFamily="34" charset="-34"/>
              <a:cs typeface="Leelawadee UI" panose="020B0502040204020203" pitchFamily="34" charset="-34"/>
            </a:endParaRPr>
          </a:p>
        </p:txBody>
      </p:sp>
      <p:pic>
        <p:nvPicPr>
          <p:cNvPr id="201" name="Image 10" descr="preencoded.png">
            <a:extLst>
              <a:ext uri="{FF2B5EF4-FFF2-40B4-BE49-F238E27FC236}">
                <a16:creationId xmlns:a16="http://schemas.microsoft.com/office/drawing/2014/main" id="{E2B611C6-AED4-4CC0-50ED-98533C5BFA2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9947" y="21795255"/>
            <a:ext cx="8013091" cy="575496"/>
          </a:xfrm>
          <a:prstGeom prst="rect">
            <a:avLst/>
          </a:prstGeom>
        </p:spPr>
      </p:pic>
      <p:pic>
        <p:nvPicPr>
          <p:cNvPr id="202" name="Image 11" descr="preencoded.png">
            <a:extLst>
              <a:ext uri="{FF2B5EF4-FFF2-40B4-BE49-F238E27FC236}">
                <a16:creationId xmlns:a16="http://schemas.microsoft.com/office/drawing/2014/main" id="{65C11380-B862-05FC-7CC4-988C6BF260A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88815" y="21973998"/>
            <a:ext cx="119137" cy="119137"/>
          </a:xfrm>
          <a:prstGeom prst="rect">
            <a:avLst/>
          </a:prstGeom>
        </p:spPr>
      </p:pic>
      <p:sp>
        <p:nvSpPr>
          <p:cNvPr id="203" name="Text 14">
            <a:extLst>
              <a:ext uri="{FF2B5EF4-FFF2-40B4-BE49-F238E27FC236}">
                <a16:creationId xmlns:a16="http://schemas.microsoft.com/office/drawing/2014/main" id="{D76C8590-2D2F-2743-CBFD-A850EC16FE9C}"/>
              </a:ext>
            </a:extLst>
          </p:cNvPr>
          <p:cNvSpPr/>
          <p:nvPr/>
        </p:nvSpPr>
        <p:spPr>
          <a:xfrm>
            <a:off x="909551" y="21884923"/>
            <a:ext cx="993279"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Communications</a:t>
            </a:r>
            <a:endParaRPr lang="en-US" sz="1100" dirty="0">
              <a:latin typeface="Leelawadee UI" panose="020B0502040204020203" pitchFamily="34" charset="-34"/>
              <a:cs typeface="Leelawadee UI" panose="020B0502040204020203" pitchFamily="34" charset="-34"/>
            </a:endParaRPr>
          </a:p>
        </p:txBody>
      </p:sp>
      <p:sp>
        <p:nvSpPr>
          <p:cNvPr id="204" name="Text 15">
            <a:extLst>
              <a:ext uri="{FF2B5EF4-FFF2-40B4-BE49-F238E27FC236}">
                <a16:creationId xmlns:a16="http://schemas.microsoft.com/office/drawing/2014/main" id="{8267AC90-6678-E8D1-E95B-C47AB5488A22}"/>
              </a:ext>
            </a:extLst>
          </p:cNvPr>
          <p:cNvSpPr/>
          <p:nvPr/>
        </p:nvSpPr>
        <p:spPr>
          <a:xfrm>
            <a:off x="892919" y="22088841"/>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Memperkuat komunikasi organisasi untuk membangun kepercayaan dan memperluas pengaruh.</a:t>
            </a:r>
            <a:endParaRPr lang="en-US" sz="1050" dirty="0">
              <a:latin typeface="Leelawadee UI" panose="020B0502040204020203" pitchFamily="34" charset="-34"/>
              <a:cs typeface="Leelawadee UI" panose="020B0502040204020203" pitchFamily="34" charset="-34"/>
            </a:endParaRPr>
          </a:p>
        </p:txBody>
      </p:sp>
      <p:pic>
        <p:nvPicPr>
          <p:cNvPr id="205" name="Image 12" descr="preencoded.png">
            <a:extLst>
              <a:ext uri="{FF2B5EF4-FFF2-40B4-BE49-F238E27FC236}">
                <a16:creationId xmlns:a16="http://schemas.microsoft.com/office/drawing/2014/main" id="{147C9743-EDC5-4259-2903-37451A11A3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579" y="22419022"/>
            <a:ext cx="8013091" cy="575496"/>
          </a:xfrm>
          <a:prstGeom prst="rect">
            <a:avLst/>
          </a:prstGeom>
        </p:spPr>
      </p:pic>
      <p:pic>
        <p:nvPicPr>
          <p:cNvPr id="206" name="Image 13" descr="preencoded.png">
            <a:extLst>
              <a:ext uri="{FF2B5EF4-FFF2-40B4-BE49-F238E27FC236}">
                <a16:creationId xmlns:a16="http://schemas.microsoft.com/office/drawing/2014/main" id="{D57823ED-FD82-A1AC-CAA0-7A69A170BE55}"/>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05447" y="22597765"/>
            <a:ext cx="119137" cy="119137"/>
          </a:xfrm>
          <a:prstGeom prst="rect">
            <a:avLst/>
          </a:prstGeom>
        </p:spPr>
      </p:pic>
      <p:sp>
        <p:nvSpPr>
          <p:cNvPr id="207" name="Text 16">
            <a:extLst>
              <a:ext uri="{FF2B5EF4-FFF2-40B4-BE49-F238E27FC236}">
                <a16:creationId xmlns:a16="http://schemas.microsoft.com/office/drawing/2014/main" id="{FD50D639-0E29-507C-1B95-9B9F375B8FE4}"/>
              </a:ext>
            </a:extLst>
          </p:cNvPr>
          <p:cNvSpPr/>
          <p:nvPr/>
        </p:nvSpPr>
        <p:spPr>
          <a:xfrm>
            <a:off x="926183" y="22508690"/>
            <a:ext cx="993279" cy="124123"/>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Institutional Learning</a:t>
            </a:r>
            <a:endParaRPr lang="en-US" sz="1100" dirty="0">
              <a:latin typeface="Leelawadee UI" panose="020B0502040204020203" pitchFamily="34" charset="-34"/>
              <a:cs typeface="Leelawadee UI" panose="020B0502040204020203" pitchFamily="34" charset="-34"/>
            </a:endParaRPr>
          </a:p>
        </p:txBody>
      </p:sp>
      <p:sp>
        <p:nvSpPr>
          <p:cNvPr id="208" name="Text 17">
            <a:extLst>
              <a:ext uri="{FF2B5EF4-FFF2-40B4-BE49-F238E27FC236}">
                <a16:creationId xmlns:a16="http://schemas.microsoft.com/office/drawing/2014/main" id="{1A14979D-4389-A289-6F86-4CAEFAF7BA17}"/>
              </a:ext>
            </a:extLst>
          </p:cNvPr>
          <p:cNvSpPr/>
          <p:nvPr/>
        </p:nvSpPr>
        <p:spPr>
          <a:xfrm>
            <a:off x="909551" y="22712609"/>
            <a:ext cx="5799386" cy="104254"/>
          </a:xfrm>
          <a:prstGeom prst="rect">
            <a:avLst/>
          </a:prstGeom>
          <a:noFill/>
          <a:ln/>
        </p:spPr>
        <p:txBody>
          <a:bodyPr wrap="none" lIns="0" tIns="0" rIns="0" bIns="0" rtlCol="0" anchor="t"/>
          <a:lstStyle/>
          <a:p>
            <a:pPr marL="0" indent="0" algn="l">
              <a:lnSpc>
                <a:spcPct val="109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Mendorong pembelajaran kelembagaan dan adaptive management agar organisasi terus relevan.</a:t>
            </a:r>
            <a:endParaRPr lang="en-US" sz="1050" dirty="0">
              <a:latin typeface="Leelawadee UI" panose="020B0502040204020203" pitchFamily="34" charset="-34"/>
              <a:cs typeface="Leelawadee UI" panose="020B0502040204020203" pitchFamily="34" charset="-34"/>
            </a:endParaRPr>
          </a:p>
        </p:txBody>
      </p:sp>
      <p:sp>
        <p:nvSpPr>
          <p:cNvPr id="209" name="Shape 0">
            <a:extLst>
              <a:ext uri="{FF2B5EF4-FFF2-40B4-BE49-F238E27FC236}">
                <a16:creationId xmlns:a16="http://schemas.microsoft.com/office/drawing/2014/main" id="{3984E7C8-3499-D513-605D-8047A95DBB42}"/>
              </a:ext>
            </a:extLst>
          </p:cNvPr>
          <p:cNvSpPr/>
          <p:nvPr/>
        </p:nvSpPr>
        <p:spPr>
          <a:xfrm>
            <a:off x="387139" y="23167965"/>
            <a:ext cx="1349524" cy="231549"/>
          </a:xfrm>
          <a:prstGeom prst="roundRect">
            <a:avLst>
              <a:gd name="adj" fmla="val 6943"/>
            </a:avLst>
          </a:prstGeom>
          <a:solidFill>
            <a:srgbClr val="E3E3E8"/>
          </a:solidFill>
          <a:ln/>
        </p:spPr>
      </p:sp>
      <p:sp>
        <p:nvSpPr>
          <p:cNvPr id="210" name="Text 1">
            <a:extLst>
              <a:ext uri="{FF2B5EF4-FFF2-40B4-BE49-F238E27FC236}">
                <a16:creationId xmlns:a16="http://schemas.microsoft.com/office/drawing/2014/main" id="{B02151CB-D671-1729-6DDA-A07709CCD549}"/>
              </a:ext>
            </a:extLst>
          </p:cNvPr>
          <p:cNvSpPr/>
          <p:nvPr/>
        </p:nvSpPr>
        <p:spPr>
          <a:xfrm>
            <a:off x="453170" y="23195545"/>
            <a:ext cx="1137568" cy="107305"/>
          </a:xfrm>
          <a:prstGeom prst="rect">
            <a:avLst/>
          </a:prstGeom>
          <a:noFill/>
          <a:ln/>
        </p:spPr>
        <p:txBody>
          <a:bodyPr wrap="none" lIns="0" tIns="0" rIns="0" bIns="0" rtlCol="0" anchor="t"/>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CONTOH INISIATIF</a:t>
            </a:r>
            <a:endParaRPr lang="en-US" sz="1000" dirty="0">
              <a:latin typeface="Leelawadee UI" panose="020B0502040204020203" pitchFamily="34" charset="-34"/>
              <a:cs typeface="Leelawadee UI" panose="020B0502040204020203" pitchFamily="34" charset="-34"/>
            </a:endParaRPr>
          </a:p>
        </p:txBody>
      </p:sp>
      <p:sp>
        <p:nvSpPr>
          <p:cNvPr id="211" name="Text 2">
            <a:extLst>
              <a:ext uri="{FF2B5EF4-FFF2-40B4-BE49-F238E27FC236}">
                <a16:creationId xmlns:a16="http://schemas.microsoft.com/office/drawing/2014/main" id="{6F778374-CE91-74D1-8EC8-945D1993C2EE}"/>
              </a:ext>
            </a:extLst>
          </p:cNvPr>
          <p:cNvSpPr/>
          <p:nvPr/>
        </p:nvSpPr>
        <p:spPr>
          <a:xfrm>
            <a:off x="419298" y="23544002"/>
            <a:ext cx="4451375" cy="296763"/>
          </a:xfrm>
          <a:prstGeom prst="rect">
            <a:avLst/>
          </a:prstGeom>
          <a:noFill/>
          <a:ln/>
        </p:spPr>
        <p:txBody>
          <a:bodyPr wrap="none" lIns="0" tIns="0" rIns="0" bIns="0" rtlCol="0" anchor="t"/>
          <a:lstStyle/>
          <a:p>
            <a:pPr marL="0" indent="0" algn="l">
              <a:lnSpc>
                <a:spcPct val="104000"/>
              </a:lnSpc>
              <a:buNone/>
            </a:pPr>
            <a:r>
              <a:rPr lang="en-US" sz="1850" dirty="0">
                <a:solidFill>
                  <a:srgbClr val="161613"/>
                </a:solidFill>
                <a:latin typeface="Leelawadee UI" panose="020B0502040204020203" pitchFamily="34" charset="-34"/>
                <a:ea typeface="DM Sans Medium" pitchFamily="34" charset="-122"/>
                <a:cs typeface="Leelawadee UI" panose="020B0502040204020203" pitchFamily="34" charset="-34"/>
              </a:rPr>
              <a:t>Inisiatif Program yang Telah Berjalan</a:t>
            </a:r>
            <a:endParaRPr lang="en-US" sz="1850" dirty="0">
              <a:latin typeface="Leelawadee UI" panose="020B0502040204020203" pitchFamily="34" charset="-34"/>
              <a:cs typeface="Leelawadee UI" panose="020B0502040204020203" pitchFamily="34" charset="-34"/>
            </a:endParaRPr>
          </a:p>
        </p:txBody>
      </p:sp>
      <p:sp>
        <p:nvSpPr>
          <p:cNvPr id="212" name="Text 3">
            <a:extLst>
              <a:ext uri="{FF2B5EF4-FFF2-40B4-BE49-F238E27FC236}">
                <a16:creationId xmlns:a16="http://schemas.microsoft.com/office/drawing/2014/main" id="{4CE07C5E-448F-F88F-B45A-05BD56BAE4E5}"/>
              </a:ext>
            </a:extLst>
          </p:cNvPr>
          <p:cNvSpPr/>
          <p:nvPr/>
        </p:nvSpPr>
        <p:spPr>
          <a:xfrm>
            <a:off x="419298" y="23903490"/>
            <a:ext cx="7489254" cy="818160"/>
          </a:xfrm>
          <a:prstGeom prst="rect">
            <a:avLst/>
          </a:prstGeom>
          <a:noFill/>
          <a:ln/>
        </p:spPr>
        <p:txBody>
          <a:bodyPr wrap="square" lIns="0" tIns="0" rIns="0" bIns="0" rtlCol="0" anchor="t">
            <a:normAutofit/>
          </a:bodyPr>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Berikut adalah contoh nyata dari implementasi program ini — kemitraan yang telah dibangun, kapasitas yang telah diperkuat, dan kolaborasi yang tengah mendorong transformasi tata kelola lanskap di lapangan.</a:t>
            </a:r>
            <a:endParaRPr lang="en-US" sz="1000" dirty="0">
              <a:latin typeface="Leelawadee UI" panose="020B0502040204020203" pitchFamily="34" charset="-34"/>
              <a:cs typeface="Leelawadee UI" panose="020B0502040204020203" pitchFamily="34" charset="-34"/>
            </a:endParaRPr>
          </a:p>
        </p:txBody>
      </p:sp>
      <p:pic>
        <p:nvPicPr>
          <p:cNvPr id="213" name="Image 0" descr="preencoded.png">
            <a:extLst>
              <a:ext uri="{FF2B5EF4-FFF2-40B4-BE49-F238E27FC236}">
                <a16:creationId xmlns:a16="http://schemas.microsoft.com/office/drawing/2014/main" id="{B2E021C4-18F1-D995-CF82-C93C3C33BFCB}"/>
              </a:ext>
            </a:extLst>
          </p:cNvPr>
          <p:cNvPicPr>
            <a:picLocks noChangeAspect="1"/>
          </p:cNvPicPr>
          <p:nvPr/>
        </p:nvPicPr>
        <p:blipFill>
          <a:blip r:embed="rId19"/>
          <a:stretch>
            <a:fillRect/>
          </a:stretch>
        </p:blipFill>
        <p:spPr>
          <a:xfrm>
            <a:off x="419298" y="24477732"/>
            <a:ext cx="523205" cy="323329"/>
          </a:xfrm>
          <a:prstGeom prst="rect">
            <a:avLst/>
          </a:prstGeom>
        </p:spPr>
      </p:pic>
      <p:sp>
        <p:nvSpPr>
          <p:cNvPr id="214" name="Text 4">
            <a:extLst>
              <a:ext uri="{FF2B5EF4-FFF2-40B4-BE49-F238E27FC236}">
                <a16:creationId xmlns:a16="http://schemas.microsoft.com/office/drawing/2014/main" id="{EA929844-5064-54AA-6CD5-74CB9FFF75CE}"/>
              </a:ext>
            </a:extLst>
          </p:cNvPr>
          <p:cNvSpPr/>
          <p:nvPr/>
        </p:nvSpPr>
        <p:spPr>
          <a:xfrm>
            <a:off x="1033361" y="24477732"/>
            <a:ext cx="2017442" cy="444922"/>
          </a:xfrm>
          <a:prstGeom prst="rect">
            <a:avLst/>
          </a:prstGeom>
          <a:noFill/>
          <a:ln/>
        </p:spPr>
        <p:txBody>
          <a:bodyPr wrap="square" lIns="0" tIns="0" rIns="0" bIns="0" rtlCol="0" anchor="t">
            <a:no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Kemitraan Strategis dengan Pemerintah Daerah</a:t>
            </a:r>
            <a:endParaRPr lang="en-US" sz="1200" dirty="0">
              <a:latin typeface="Leelawadee UI" panose="020B0502040204020203" pitchFamily="34" charset="-34"/>
              <a:cs typeface="Leelawadee UI" panose="020B0502040204020203" pitchFamily="34" charset="-34"/>
            </a:endParaRPr>
          </a:p>
        </p:txBody>
      </p:sp>
      <p:sp>
        <p:nvSpPr>
          <p:cNvPr id="215" name="Text 5">
            <a:extLst>
              <a:ext uri="{FF2B5EF4-FFF2-40B4-BE49-F238E27FC236}">
                <a16:creationId xmlns:a16="http://schemas.microsoft.com/office/drawing/2014/main" id="{14B13541-15DB-900F-D4EB-24EECBEF7EB9}"/>
              </a:ext>
            </a:extLst>
          </p:cNvPr>
          <p:cNvSpPr/>
          <p:nvPr/>
        </p:nvSpPr>
        <p:spPr>
          <a:xfrm>
            <a:off x="419298" y="24966260"/>
            <a:ext cx="2390954" cy="1340941"/>
          </a:xfrm>
          <a:prstGeom prst="rect">
            <a:avLst/>
          </a:prstGeom>
          <a:noFill/>
          <a:ln/>
        </p:spPr>
        <p:txBody>
          <a:bodyPr wrap="square" lIns="0" tIns="0" rIns="0" bIns="0" rtlCol="0" anchor="t">
            <a:normAutofit/>
          </a:bodyPr>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bermitra dengan Dinas Perkebunan Kalimantan Barat untuk kebijakan ketertelusuran karet rakyat, serta dengan DPMPD Kalimantan Barat untuk pengentasan kemiskinan dan pengurangan desa tertinggal.</a:t>
            </a:r>
            <a:endParaRPr lang="en-US" sz="1000" dirty="0">
              <a:latin typeface="Leelawadee UI" panose="020B0502040204020203" pitchFamily="34" charset="-34"/>
              <a:cs typeface="Leelawadee UI" panose="020B0502040204020203" pitchFamily="34" charset="-34"/>
            </a:endParaRPr>
          </a:p>
        </p:txBody>
      </p:sp>
      <p:pic>
        <p:nvPicPr>
          <p:cNvPr id="216" name="Image 1" descr="preencoded.png">
            <a:extLst>
              <a:ext uri="{FF2B5EF4-FFF2-40B4-BE49-F238E27FC236}">
                <a16:creationId xmlns:a16="http://schemas.microsoft.com/office/drawing/2014/main" id="{8BD682CA-8E8D-4DA1-B77F-4D2AB1745E1E}"/>
              </a:ext>
            </a:extLst>
          </p:cNvPr>
          <p:cNvPicPr>
            <a:picLocks noChangeAspect="1"/>
          </p:cNvPicPr>
          <p:nvPr/>
        </p:nvPicPr>
        <p:blipFill>
          <a:blip r:embed="rId20"/>
          <a:stretch>
            <a:fillRect/>
          </a:stretch>
        </p:blipFill>
        <p:spPr>
          <a:xfrm>
            <a:off x="3356745" y="24491380"/>
            <a:ext cx="523205" cy="323329"/>
          </a:xfrm>
          <a:prstGeom prst="rect">
            <a:avLst/>
          </a:prstGeom>
        </p:spPr>
      </p:pic>
      <p:sp>
        <p:nvSpPr>
          <p:cNvPr id="217" name="Text 6">
            <a:extLst>
              <a:ext uri="{FF2B5EF4-FFF2-40B4-BE49-F238E27FC236}">
                <a16:creationId xmlns:a16="http://schemas.microsoft.com/office/drawing/2014/main" id="{22904B40-01B1-2C4C-7203-225D9BF47EE2}"/>
              </a:ext>
            </a:extLst>
          </p:cNvPr>
          <p:cNvSpPr/>
          <p:nvPr/>
        </p:nvSpPr>
        <p:spPr>
          <a:xfrm>
            <a:off x="3970809" y="24491380"/>
            <a:ext cx="1675059" cy="348456"/>
          </a:xfrm>
          <a:prstGeom prst="rect">
            <a:avLst/>
          </a:prstGeom>
          <a:noFill/>
          <a:ln/>
        </p:spPr>
        <p:txBody>
          <a:bodyPr wrap="square" lIns="0" tIns="0" rIns="0" bIns="0" rtlCol="0" anchor="t">
            <a:no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Kemitraan dengan Sektor Swasta</a:t>
            </a:r>
            <a:endParaRPr lang="en-US" sz="1200" dirty="0">
              <a:latin typeface="Leelawadee UI" panose="020B0502040204020203" pitchFamily="34" charset="-34"/>
              <a:cs typeface="Leelawadee UI" panose="020B0502040204020203" pitchFamily="34" charset="-34"/>
            </a:endParaRPr>
          </a:p>
        </p:txBody>
      </p:sp>
      <p:sp>
        <p:nvSpPr>
          <p:cNvPr id="218" name="Text 7">
            <a:extLst>
              <a:ext uri="{FF2B5EF4-FFF2-40B4-BE49-F238E27FC236}">
                <a16:creationId xmlns:a16="http://schemas.microsoft.com/office/drawing/2014/main" id="{58436EC6-3A62-2009-44CE-495186FBEB51}"/>
              </a:ext>
            </a:extLst>
          </p:cNvPr>
          <p:cNvSpPr/>
          <p:nvPr/>
        </p:nvSpPr>
        <p:spPr>
          <a:xfrm>
            <a:off x="3356743" y="24979908"/>
            <a:ext cx="2289126" cy="938659"/>
          </a:xfrm>
          <a:prstGeom prst="rect">
            <a:avLst/>
          </a:prstGeom>
          <a:noFill/>
          <a:ln/>
        </p:spPr>
        <p:txBody>
          <a:bodyPr wrap="square" lIns="0" tIns="0" rIns="0" bIns="0" rtlCol="0" anchor="t">
            <a:normAutofit/>
          </a:bodyPr>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dan UNDP KalFor berdiskusi dengan PT. Sinar Karya Mandiri untuk menjajaki kemitraan pengelolaan sumber daya alam berkelanjutan dan penanganan karhutla.</a:t>
            </a:r>
            <a:endParaRPr lang="en-US" sz="1000" dirty="0">
              <a:latin typeface="Leelawadee UI" panose="020B0502040204020203" pitchFamily="34" charset="-34"/>
              <a:cs typeface="Leelawadee UI" panose="020B0502040204020203" pitchFamily="34" charset="-34"/>
            </a:endParaRPr>
          </a:p>
        </p:txBody>
      </p:sp>
      <p:pic>
        <p:nvPicPr>
          <p:cNvPr id="219" name="Image 2" descr="preencoded.png">
            <a:extLst>
              <a:ext uri="{FF2B5EF4-FFF2-40B4-BE49-F238E27FC236}">
                <a16:creationId xmlns:a16="http://schemas.microsoft.com/office/drawing/2014/main" id="{5E57C1C0-8F0F-099A-471D-995E832A9EEF}"/>
              </a:ext>
            </a:extLst>
          </p:cNvPr>
          <p:cNvPicPr>
            <a:picLocks noChangeAspect="1"/>
          </p:cNvPicPr>
          <p:nvPr/>
        </p:nvPicPr>
        <p:blipFill>
          <a:blip r:embed="rId21"/>
          <a:stretch>
            <a:fillRect/>
          </a:stretch>
        </p:blipFill>
        <p:spPr>
          <a:xfrm>
            <a:off x="5969593" y="24477733"/>
            <a:ext cx="523205" cy="323329"/>
          </a:xfrm>
          <a:prstGeom prst="rect">
            <a:avLst/>
          </a:prstGeom>
        </p:spPr>
      </p:pic>
      <p:sp>
        <p:nvSpPr>
          <p:cNvPr id="220" name="Text 8">
            <a:extLst>
              <a:ext uri="{FF2B5EF4-FFF2-40B4-BE49-F238E27FC236}">
                <a16:creationId xmlns:a16="http://schemas.microsoft.com/office/drawing/2014/main" id="{DFB6CF66-5E4E-C0CF-AFF8-64EBBB9D3A00}"/>
              </a:ext>
            </a:extLst>
          </p:cNvPr>
          <p:cNvSpPr/>
          <p:nvPr/>
        </p:nvSpPr>
        <p:spPr>
          <a:xfrm>
            <a:off x="6583657" y="24477733"/>
            <a:ext cx="1811178" cy="444922"/>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Kemitraan dengan Lembaga Internasional</a:t>
            </a:r>
            <a:endParaRPr lang="en-US" sz="1200" dirty="0">
              <a:latin typeface="Leelawadee UI" panose="020B0502040204020203" pitchFamily="34" charset="-34"/>
              <a:cs typeface="Leelawadee UI" panose="020B0502040204020203" pitchFamily="34" charset="-34"/>
            </a:endParaRPr>
          </a:p>
        </p:txBody>
      </p:sp>
      <p:sp>
        <p:nvSpPr>
          <p:cNvPr id="221" name="Text 9">
            <a:extLst>
              <a:ext uri="{FF2B5EF4-FFF2-40B4-BE49-F238E27FC236}">
                <a16:creationId xmlns:a16="http://schemas.microsoft.com/office/drawing/2014/main" id="{8D2736B2-9023-B5B8-A9AF-A184AC21B7FE}"/>
              </a:ext>
            </a:extLst>
          </p:cNvPr>
          <p:cNvSpPr/>
          <p:nvPr/>
        </p:nvSpPr>
        <p:spPr>
          <a:xfrm>
            <a:off x="5969593" y="24966261"/>
            <a:ext cx="2425242" cy="804565"/>
          </a:xfrm>
          <a:prstGeom prst="rect">
            <a:avLst/>
          </a:prstGeom>
          <a:noFill/>
          <a:ln/>
        </p:spPr>
        <p:txBody>
          <a:bodyPr wrap="square" lIns="0" tIns="0" rIns="0" bIns="0" rtlCol="0" anchor="t">
            <a:normAutofit/>
          </a:bodyPr>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bermitra dengan UNDP KalFor dalam pengembangan desa berkelanjutan dan dengan PM Haze untuk restorasi gambut di Kubu Raya.</a:t>
            </a:r>
            <a:endParaRPr lang="en-US" sz="1000" dirty="0">
              <a:latin typeface="Leelawadee UI" panose="020B0502040204020203" pitchFamily="34" charset="-34"/>
              <a:cs typeface="Leelawadee UI" panose="020B0502040204020203" pitchFamily="34" charset="-34"/>
            </a:endParaRPr>
          </a:p>
        </p:txBody>
      </p:sp>
      <p:pic>
        <p:nvPicPr>
          <p:cNvPr id="222" name="Image 3" descr="preencoded.png">
            <a:extLst>
              <a:ext uri="{FF2B5EF4-FFF2-40B4-BE49-F238E27FC236}">
                <a16:creationId xmlns:a16="http://schemas.microsoft.com/office/drawing/2014/main" id="{17650F76-9DC9-E95F-A3B0-2C8DDAF3DB84}"/>
              </a:ext>
            </a:extLst>
          </p:cNvPr>
          <p:cNvPicPr>
            <a:picLocks noChangeAspect="1"/>
          </p:cNvPicPr>
          <p:nvPr/>
        </p:nvPicPr>
        <p:blipFill>
          <a:blip r:embed="rId22"/>
          <a:stretch>
            <a:fillRect/>
          </a:stretch>
        </p:blipFill>
        <p:spPr>
          <a:xfrm>
            <a:off x="3430574" y="26273328"/>
            <a:ext cx="523205" cy="323329"/>
          </a:xfrm>
          <a:prstGeom prst="rect">
            <a:avLst/>
          </a:prstGeom>
        </p:spPr>
      </p:pic>
      <p:sp>
        <p:nvSpPr>
          <p:cNvPr id="223" name="Text 10">
            <a:extLst>
              <a:ext uri="{FF2B5EF4-FFF2-40B4-BE49-F238E27FC236}">
                <a16:creationId xmlns:a16="http://schemas.microsoft.com/office/drawing/2014/main" id="{0B9FF300-87D6-67CC-9575-CC2A3DE596E8}"/>
              </a:ext>
            </a:extLst>
          </p:cNvPr>
          <p:cNvSpPr/>
          <p:nvPr/>
        </p:nvSpPr>
        <p:spPr>
          <a:xfrm>
            <a:off x="4044639" y="26273328"/>
            <a:ext cx="2185008" cy="444922"/>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Pengembangan Kapasitas Organisasi &amp; SDM</a:t>
            </a:r>
            <a:endParaRPr lang="en-US" sz="1200" dirty="0">
              <a:latin typeface="Leelawadee UI" panose="020B0502040204020203" pitchFamily="34" charset="-34"/>
              <a:cs typeface="Leelawadee UI" panose="020B0502040204020203" pitchFamily="34" charset="-34"/>
            </a:endParaRPr>
          </a:p>
        </p:txBody>
      </p:sp>
      <p:sp>
        <p:nvSpPr>
          <p:cNvPr id="224" name="Text 11">
            <a:extLst>
              <a:ext uri="{FF2B5EF4-FFF2-40B4-BE49-F238E27FC236}">
                <a16:creationId xmlns:a16="http://schemas.microsoft.com/office/drawing/2014/main" id="{81C568E8-67FC-62E2-CD76-C2D260C43DDE}"/>
              </a:ext>
            </a:extLst>
          </p:cNvPr>
          <p:cNvSpPr/>
          <p:nvPr/>
        </p:nvSpPr>
        <p:spPr>
          <a:xfrm>
            <a:off x="3430573" y="26761856"/>
            <a:ext cx="2215296" cy="938659"/>
          </a:xfrm>
          <a:prstGeom prst="rect">
            <a:avLst/>
          </a:prstGeom>
          <a:noFill/>
          <a:ln/>
        </p:spPr>
        <p:txBody>
          <a:bodyPr wrap="square" lIns="0" tIns="0" rIns="0" bIns="0" rtlCol="0" anchor="t">
            <a:normAutofit/>
          </a:bodyPr>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memperkuat kapasitas melalui pelatihan staf, pengembangan sistem manajemen, dan tata kelola yang transparan serta akuntabel.</a:t>
            </a:r>
            <a:endParaRPr lang="en-US" sz="1000" dirty="0">
              <a:latin typeface="Leelawadee UI" panose="020B0502040204020203" pitchFamily="34" charset="-34"/>
              <a:cs typeface="Leelawadee UI" panose="020B0502040204020203" pitchFamily="34" charset="-34"/>
            </a:endParaRPr>
          </a:p>
        </p:txBody>
      </p:sp>
      <p:pic>
        <p:nvPicPr>
          <p:cNvPr id="225" name="Image 4" descr="preencoded.png">
            <a:extLst>
              <a:ext uri="{FF2B5EF4-FFF2-40B4-BE49-F238E27FC236}">
                <a16:creationId xmlns:a16="http://schemas.microsoft.com/office/drawing/2014/main" id="{8A2C9F1F-5CFD-9B04-68B3-7D33D0316147}"/>
              </a:ext>
            </a:extLst>
          </p:cNvPr>
          <p:cNvPicPr>
            <a:picLocks noChangeAspect="1"/>
          </p:cNvPicPr>
          <p:nvPr/>
        </p:nvPicPr>
        <p:blipFill>
          <a:blip r:embed="rId23"/>
          <a:stretch>
            <a:fillRect/>
          </a:stretch>
        </p:blipFill>
        <p:spPr>
          <a:xfrm>
            <a:off x="419298" y="26228334"/>
            <a:ext cx="523205" cy="323329"/>
          </a:xfrm>
          <a:prstGeom prst="rect">
            <a:avLst/>
          </a:prstGeom>
        </p:spPr>
      </p:pic>
      <p:sp>
        <p:nvSpPr>
          <p:cNvPr id="226" name="Text 12">
            <a:extLst>
              <a:ext uri="{FF2B5EF4-FFF2-40B4-BE49-F238E27FC236}">
                <a16:creationId xmlns:a16="http://schemas.microsoft.com/office/drawing/2014/main" id="{4BB3FA56-29EB-7428-A54A-90E5B44F6D49}"/>
              </a:ext>
            </a:extLst>
          </p:cNvPr>
          <p:cNvSpPr/>
          <p:nvPr/>
        </p:nvSpPr>
        <p:spPr>
          <a:xfrm>
            <a:off x="1033362" y="26228334"/>
            <a:ext cx="1962250" cy="444922"/>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Mobilisasi Sumber Daya &amp; Diversifikasi Pendanaan</a:t>
            </a:r>
            <a:endParaRPr lang="en-US" sz="1200" dirty="0">
              <a:latin typeface="Leelawadee UI" panose="020B0502040204020203" pitchFamily="34" charset="-34"/>
              <a:cs typeface="Leelawadee UI" panose="020B0502040204020203" pitchFamily="34" charset="-34"/>
            </a:endParaRPr>
          </a:p>
        </p:txBody>
      </p:sp>
      <p:sp>
        <p:nvSpPr>
          <p:cNvPr id="227" name="Text 13">
            <a:extLst>
              <a:ext uri="{FF2B5EF4-FFF2-40B4-BE49-F238E27FC236}">
                <a16:creationId xmlns:a16="http://schemas.microsoft.com/office/drawing/2014/main" id="{AD011D4C-28CA-5645-4C06-A6570B626B21}"/>
              </a:ext>
            </a:extLst>
          </p:cNvPr>
          <p:cNvSpPr/>
          <p:nvPr/>
        </p:nvSpPr>
        <p:spPr>
          <a:xfrm>
            <a:off x="413092" y="26730510"/>
            <a:ext cx="2582520" cy="938659"/>
          </a:xfrm>
          <a:prstGeom prst="rect">
            <a:avLst/>
          </a:prstGeom>
          <a:noFill/>
          <a:ln/>
        </p:spPr>
        <p:txBody>
          <a:bodyPr wrap="square" lIns="0" tIns="0" rIns="0" bIns="0" rtlCol="0" anchor="t">
            <a:normAutofit/>
          </a:bodyPr>
          <a:lstStyle/>
          <a:p>
            <a:pPr marL="0" indent="0" algn="l">
              <a:lnSpc>
                <a:spcPct val="11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mengembangkan strategi pendanaan dari hibah donor, kemitraan swasta, dan pembiayaan berkelanjutan untuk menjaga keberlanjutan jangka panjang.</a:t>
            </a:r>
            <a:endParaRPr lang="en-US" sz="1000" dirty="0">
              <a:latin typeface="Leelawadee UI" panose="020B0502040204020203" pitchFamily="34" charset="-34"/>
              <a:cs typeface="Leelawadee UI" panose="020B0502040204020203" pitchFamily="34" charset="-34"/>
            </a:endParaRPr>
          </a:p>
        </p:txBody>
      </p:sp>
      <p:sp>
        <p:nvSpPr>
          <p:cNvPr id="228" name="Shape 0">
            <a:extLst>
              <a:ext uri="{FF2B5EF4-FFF2-40B4-BE49-F238E27FC236}">
                <a16:creationId xmlns:a16="http://schemas.microsoft.com/office/drawing/2014/main" id="{575E785E-6D94-3E7F-2985-2FAB5FB2E450}"/>
              </a:ext>
            </a:extLst>
          </p:cNvPr>
          <p:cNvSpPr/>
          <p:nvPr/>
        </p:nvSpPr>
        <p:spPr>
          <a:xfrm>
            <a:off x="453170" y="27983614"/>
            <a:ext cx="1754856" cy="267252"/>
          </a:xfrm>
          <a:prstGeom prst="roundRect">
            <a:avLst>
              <a:gd name="adj" fmla="val 6383"/>
            </a:avLst>
          </a:prstGeom>
          <a:solidFill>
            <a:srgbClr val="E3E3E8"/>
          </a:solidFill>
          <a:ln/>
        </p:spPr>
      </p:sp>
      <p:sp>
        <p:nvSpPr>
          <p:cNvPr id="229" name="Text 1">
            <a:extLst>
              <a:ext uri="{FF2B5EF4-FFF2-40B4-BE49-F238E27FC236}">
                <a16:creationId xmlns:a16="http://schemas.microsoft.com/office/drawing/2014/main" id="{CE3C54C2-3AE2-CEE9-6B50-069CCB6C6B3E}"/>
              </a:ext>
            </a:extLst>
          </p:cNvPr>
          <p:cNvSpPr/>
          <p:nvPr/>
        </p:nvSpPr>
        <p:spPr>
          <a:xfrm>
            <a:off x="527584" y="28020821"/>
            <a:ext cx="1835125" cy="158800"/>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JARINGAN KEMITRAAN YNKI</a:t>
            </a:r>
            <a:endParaRPr lang="en-US" sz="1000" dirty="0">
              <a:latin typeface="Leelawadee UI" panose="020B0502040204020203" pitchFamily="34" charset="-34"/>
              <a:cs typeface="Leelawadee UI" panose="020B0502040204020203" pitchFamily="34" charset="-34"/>
            </a:endParaRPr>
          </a:p>
        </p:txBody>
      </p:sp>
      <p:sp>
        <p:nvSpPr>
          <p:cNvPr id="230" name="Text 2">
            <a:extLst>
              <a:ext uri="{FF2B5EF4-FFF2-40B4-BE49-F238E27FC236}">
                <a16:creationId xmlns:a16="http://schemas.microsoft.com/office/drawing/2014/main" id="{28E71546-A7CA-D0FD-F4FC-5AA5F2742202}"/>
              </a:ext>
            </a:extLst>
          </p:cNvPr>
          <p:cNvSpPr/>
          <p:nvPr/>
        </p:nvSpPr>
        <p:spPr>
          <a:xfrm>
            <a:off x="453170" y="28266387"/>
            <a:ext cx="6817965"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Jaringan Kemitraan yang Terus Berkembang</a:t>
            </a:r>
            <a:endParaRPr lang="en-US" sz="2400" dirty="0">
              <a:latin typeface="Leelawadee UI" panose="020B0502040204020203" pitchFamily="34" charset="-34"/>
              <a:cs typeface="Leelawadee UI" panose="020B0502040204020203" pitchFamily="34" charset="-34"/>
            </a:endParaRPr>
          </a:p>
        </p:txBody>
      </p:sp>
      <p:sp>
        <p:nvSpPr>
          <p:cNvPr id="231" name="Text 3">
            <a:extLst>
              <a:ext uri="{FF2B5EF4-FFF2-40B4-BE49-F238E27FC236}">
                <a16:creationId xmlns:a16="http://schemas.microsoft.com/office/drawing/2014/main" id="{51B37CC8-4F9E-2031-7F60-537FF59966FB}"/>
              </a:ext>
            </a:extLst>
          </p:cNvPr>
          <p:cNvSpPr/>
          <p:nvPr/>
        </p:nvSpPr>
        <p:spPr>
          <a:xfrm>
            <a:off x="453170" y="28839971"/>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bekerja sama dengan berbagai mitra strategis dari berbagai sektor. Kolaborasi lintas sektor ini memperkuat kapasitas kami dalam mendorong transformasi tata kelola lanskap di Kalimantan Barat dan sekitarnya secara inklusif dan berkelanjutan.</a:t>
            </a:r>
            <a:endParaRPr lang="en-US" sz="950" dirty="0">
              <a:latin typeface="Leelawadee UI" panose="020B0502040204020203" pitchFamily="34" charset="-34"/>
              <a:cs typeface="Leelawadee UI" panose="020B0502040204020203" pitchFamily="34" charset="-34"/>
            </a:endParaRPr>
          </a:p>
        </p:txBody>
      </p:sp>
      <p:sp>
        <p:nvSpPr>
          <p:cNvPr id="232" name="Shape 4">
            <a:extLst>
              <a:ext uri="{FF2B5EF4-FFF2-40B4-BE49-F238E27FC236}">
                <a16:creationId xmlns:a16="http://schemas.microsoft.com/office/drawing/2014/main" id="{8DA42E9B-1DC6-E689-C4AC-6F1E9973B131}"/>
              </a:ext>
            </a:extLst>
          </p:cNvPr>
          <p:cNvSpPr/>
          <p:nvPr/>
        </p:nvSpPr>
        <p:spPr>
          <a:xfrm>
            <a:off x="453170" y="29376422"/>
            <a:ext cx="4013895" cy="1440210"/>
          </a:xfrm>
          <a:prstGeom prst="roundRect">
            <a:avLst>
              <a:gd name="adj" fmla="val 1292"/>
            </a:avLst>
          </a:prstGeom>
          <a:solidFill>
            <a:srgbClr val="EDEBE3"/>
          </a:solidFill>
          <a:ln/>
        </p:spPr>
      </p:sp>
      <p:sp>
        <p:nvSpPr>
          <p:cNvPr id="233" name="Text 5">
            <a:extLst>
              <a:ext uri="{FF2B5EF4-FFF2-40B4-BE49-F238E27FC236}">
                <a16:creationId xmlns:a16="http://schemas.microsoft.com/office/drawing/2014/main" id="{FFD3CEA6-52B6-7509-77B6-F3E5953C7D5B}"/>
              </a:ext>
            </a:extLst>
          </p:cNvPr>
          <p:cNvSpPr/>
          <p:nvPr/>
        </p:nvSpPr>
        <p:spPr>
          <a:xfrm>
            <a:off x="577143" y="2950039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Pemerintah</a:t>
            </a:r>
            <a:endParaRPr lang="en-US" sz="1200" dirty="0">
              <a:latin typeface="Leelawadee UI" panose="020B0502040204020203" pitchFamily="34" charset="-34"/>
              <a:cs typeface="Leelawadee UI" panose="020B0502040204020203" pitchFamily="34" charset="-34"/>
            </a:endParaRPr>
          </a:p>
        </p:txBody>
      </p:sp>
      <p:sp>
        <p:nvSpPr>
          <p:cNvPr id="234" name="Text 6">
            <a:extLst>
              <a:ext uri="{FF2B5EF4-FFF2-40B4-BE49-F238E27FC236}">
                <a16:creationId xmlns:a16="http://schemas.microsoft.com/office/drawing/2014/main" id="{1AF4EBFB-62E9-0C26-7105-B41B37D9C727}"/>
              </a:ext>
            </a:extLst>
          </p:cNvPr>
          <p:cNvSpPr/>
          <p:nvPr/>
        </p:nvSpPr>
        <p:spPr>
          <a:xfrm>
            <a:off x="577143" y="29768658"/>
            <a:ext cx="3765947"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Dinas Perkebunan Kalimantan Barat</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DPMPD Provinsi Kalimantan Barat</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Pemerintah Kabupaten Kubu Raya</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Pemerintah Kabupaten Ketapang</a:t>
            </a:r>
            <a:endParaRPr lang="en-US" sz="950" dirty="0">
              <a:latin typeface="Leelawadee UI" panose="020B0502040204020203" pitchFamily="34" charset="-34"/>
              <a:cs typeface="Leelawadee UI" panose="020B0502040204020203" pitchFamily="34" charset="-34"/>
            </a:endParaRPr>
          </a:p>
        </p:txBody>
      </p:sp>
      <p:sp>
        <p:nvSpPr>
          <p:cNvPr id="235" name="Shape 7">
            <a:extLst>
              <a:ext uri="{FF2B5EF4-FFF2-40B4-BE49-F238E27FC236}">
                <a16:creationId xmlns:a16="http://schemas.microsoft.com/office/drawing/2014/main" id="{89885868-1A1D-08F7-2DFF-61E2A0A107CE}"/>
              </a:ext>
            </a:extLst>
          </p:cNvPr>
          <p:cNvSpPr/>
          <p:nvPr/>
        </p:nvSpPr>
        <p:spPr>
          <a:xfrm>
            <a:off x="4591038" y="29376422"/>
            <a:ext cx="4013895" cy="1440210"/>
          </a:xfrm>
          <a:prstGeom prst="roundRect">
            <a:avLst>
              <a:gd name="adj" fmla="val 1292"/>
            </a:avLst>
          </a:prstGeom>
          <a:solidFill>
            <a:srgbClr val="EDEBE3"/>
          </a:solidFill>
          <a:ln/>
        </p:spPr>
      </p:sp>
      <p:sp>
        <p:nvSpPr>
          <p:cNvPr id="236" name="Text 8">
            <a:extLst>
              <a:ext uri="{FF2B5EF4-FFF2-40B4-BE49-F238E27FC236}">
                <a16:creationId xmlns:a16="http://schemas.microsoft.com/office/drawing/2014/main" id="{3E2D9E8A-2B83-DDD9-3836-A580904545E9}"/>
              </a:ext>
            </a:extLst>
          </p:cNvPr>
          <p:cNvSpPr/>
          <p:nvPr/>
        </p:nvSpPr>
        <p:spPr>
          <a:xfrm>
            <a:off x="4715012" y="29500396"/>
            <a:ext cx="1812429"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Donor &amp; Internasional</a:t>
            </a:r>
            <a:endParaRPr lang="en-US" sz="1200" dirty="0">
              <a:latin typeface="Leelawadee UI" panose="020B0502040204020203" pitchFamily="34" charset="-34"/>
              <a:cs typeface="Leelawadee UI" panose="020B0502040204020203" pitchFamily="34" charset="-34"/>
            </a:endParaRPr>
          </a:p>
        </p:txBody>
      </p:sp>
      <p:sp>
        <p:nvSpPr>
          <p:cNvPr id="237" name="Text 9">
            <a:extLst>
              <a:ext uri="{FF2B5EF4-FFF2-40B4-BE49-F238E27FC236}">
                <a16:creationId xmlns:a16="http://schemas.microsoft.com/office/drawing/2014/main" id="{7B22DC30-F9B1-82F1-220F-D7967EDFC2C7}"/>
              </a:ext>
            </a:extLst>
          </p:cNvPr>
          <p:cNvSpPr/>
          <p:nvPr/>
        </p:nvSpPr>
        <p:spPr>
          <a:xfrm>
            <a:off x="4715012" y="29768658"/>
            <a:ext cx="3765947" cy="44030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UNDP KalFor</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PM Haze</a:t>
            </a:r>
            <a:endParaRPr lang="en-US" sz="950" dirty="0">
              <a:latin typeface="Leelawadee UI" panose="020B0502040204020203" pitchFamily="34" charset="-34"/>
              <a:cs typeface="Leelawadee UI" panose="020B0502040204020203" pitchFamily="34" charset="-34"/>
            </a:endParaRPr>
          </a:p>
        </p:txBody>
      </p:sp>
      <p:sp>
        <p:nvSpPr>
          <p:cNvPr id="238" name="Shape 10">
            <a:extLst>
              <a:ext uri="{FF2B5EF4-FFF2-40B4-BE49-F238E27FC236}">
                <a16:creationId xmlns:a16="http://schemas.microsoft.com/office/drawing/2014/main" id="{C6A0EA31-DCD8-6F90-D9BC-C70D4AB9DB2A}"/>
              </a:ext>
            </a:extLst>
          </p:cNvPr>
          <p:cNvSpPr/>
          <p:nvPr/>
        </p:nvSpPr>
        <p:spPr>
          <a:xfrm>
            <a:off x="453170" y="30940606"/>
            <a:ext cx="4013895" cy="1198364"/>
          </a:xfrm>
          <a:prstGeom prst="roundRect">
            <a:avLst>
              <a:gd name="adj" fmla="val 1553"/>
            </a:avLst>
          </a:prstGeom>
          <a:solidFill>
            <a:srgbClr val="EDEBE3"/>
          </a:solidFill>
          <a:ln/>
        </p:spPr>
      </p:sp>
      <p:sp>
        <p:nvSpPr>
          <p:cNvPr id="239" name="Text 11">
            <a:extLst>
              <a:ext uri="{FF2B5EF4-FFF2-40B4-BE49-F238E27FC236}">
                <a16:creationId xmlns:a16="http://schemas.microsoft.com/office/drawing/2014/main" id="{80DAB127-AC96-5DF9-F002-3FF060A9C271}"/>
              </a:ext>
            </a:extLst>
          </p:cNvPr>
          <p:cNvSpPr/>
          <p:nvPr/>
        </p:nvSpPr>
        <p:spPr>
          <a:xfrm>
            <a:off x="577143" y="3106457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Sektor Swasta</a:t>
            </a:r>
            <a:endParaRPr lang="en-US" sz="1200" dirty="0">
              <a:latin typeface="Leelawadee UI" panose="020B0502040204020203" pitchFamily="34" charset="-34"/>
              <a:cs typeface="Leelawadee UI" panose="020B0502040204020203" pitchFamily="34" charset="-34"/>
            </a:endParaRPr>
          </a:p>
        </p:txBody>
      </p:sp>
      <p:sp>
        <p:nvSpPr>
          <p:cNvPr id="240" name="Text 12">
            <a:extLst>
              <a:ext uri="{FF2B5EF4-FFF2-40B4-BE49-F238E27FC236}">
                <a16:creationId xmlns:a16="http://schemas.microsoft.com/office/drawing/2014/main" id="{EED6F63E-244B-448A-C4EC-4BF67D8119B6}"/>
              </a:ext>
            </a:extLst>
          </p:cNvPr>
          <p:cNvSpPr/>
          <p:nvPr/>
        </p:nvSpPr>
        <p:spPr>
          <a:xfrm>
            <a:off x="577143" y="31332842"/>
            <a:ext cx="3765947" cy="44030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PT. Sinar Karya Mandiri (SKM)</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GOZCO Plantation</a:t>
            </a:r>
            <a:endParaRPr lang="en-US" sz="950" dirty="0">
              <a:latin typeface="Leelawadee UI" panose="020B0502040204020203" pitchFamily="34" charset="-34"/>
              <a:cs typeface="Leelawadee UI" panose="020B0502040204020203" pitchFamily="34" charset="-34"/>
            </a:endParaRPr>
          </a:p>
        </p:txBody>
      </p:sp>
      <p:sp>
        <p:nvSpPr>
          <p:cNvPr id="241" name="Shape 13">
            <a:extLst>
              <a:ext uri="{FF2B5EF4-FFF2-40B4-BE49-F238E27FC236}">
                <a16:creationId xmlns:a16="http://schemas.microsoft.com/office/drawing/2014/main" id="{B17C1175-4BB3-BAB0-7B9F-5B8B6F79EA3D}"/>
              </a:ext>
            </a:extLst>
          </p:cNvPr>
          <p:cNvSpPr/>
          <p:nvPr/>
        </p:nvSpPr>
        <p:spPr>
          <a:xfrm>
            <a:off x="4591038" y="30940606"/>
            <a:ext cx="4013895" cy="1198364"/>
          </a:xfrm>
          <a:prstGeom prst="roundRect">
            <a:avLst>
              <a:gd name="adj" fmla="val 1553"/>
            </a:avLst>
          </a:prstGeom>
          <a:solidFill>
            <a:srgbClr val="EDEBE3"/>
          </a:solidFill>
          <a:ln/>
        </p:spPr>
      </p:sp>
      <p:sp>
        <p:nvSpPr>
          <p:cNvPr id="242" name="Text 14">
            <a:extLst>
              <a:ext uri="{FF2B5EF4-FFF2-40B4-BE49-F238E27FC236}">
                <a16:creationId xmlns:a16="http://schemas.microsoft.com/office/drawing/2014/main" id="{417C6B2B-0C2B-3C22-4408-F016A777F86F}"/>
              </a:ext>
            </a:extLst>
          </p:cNvPr>
          <p:cNvSpPr/>
          <p:nvPr/>
        </p:nvSpPr>
        <p:spPr>
          <a:xfrm>
            <a:off x="4715012" y="31064579"/>
            <a:ext cx="2036192"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Masyarakat &amp; Komunitas</a:t>
            </a:r>
            <a:endParaRPr lang="en-US" sz="1200" dirty="0">
              <a:latin typeface="Leelawadee UI" panose="020B0502040204020203" pitchFamily="34" charset="-34"/>
              <a:cs typeface="Leelawadee UI" panose="020B0502040204020203" pitchFamily="34" charset="-34"/>
            </a:endParaRPr>
          </a:p>
        </p:txBody>
      </p:sp>
      <p:sp>
        <p:nvSpPr>
          <p:cNvPr id="243" name="Text 15">
            <a:extLst>
              <a:ext uri="{FF2B5EF4-FFF2-40B4-BE49-F238E27FC236}">
                <a16:creationId xmlns:a16="http://schemas.microsoft.com/office/drawing/2014/main" id="{10278537-F129-4F12-0A1A-00E21F1A337C}"/>
              </a:ext>
            </a:extLst>
          </p:cNvPr>
          <p:cNvSpPr/>
          <p:nvPr/>
        </p:nvSpPr>
        <p:spPr>
          <a:xfrm>
            <a:off x="4715012" y="31332842"/>
            <a:ext cx="3765947" cy="68215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Lembaga Desa Pengelola Hutan (LDPH)</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Kelompok Tani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Kelompok Petani Madu Hutan Desa Ulak Medang</a:t>
            </a:r>
            <a:endParaRPr lang="en-US" sz="950" dirty="0">
              <a:latin typeface="Leelawadee UI" panose="020B0502040204020203" pitchFamily="34" charset="-34"/>
              <a:cs typeface="Leelawadee UI" panose="020B0502040204020203" pitchFamily="34" charset="-34"/>
            </a:endParaRPr>
          </a:p>
        </p:txBody>
      </p:sp>
      <p:sp>
        <p:nvSpPr>
          <p:cNvPr id="244" name="Shape 0">
            <a:extLst>
              <a:ext uri="{FF2B5EF4-FFF2-40B4-BE49-F238E27FC236}">
                <a16:creationId xmlns:a16="http://schemas.microsoft.com/office/drawing/2014/main" id="{7C236314-9F35-D8E4-ACC5-3AA75655DDFD}"/>
              </a:ext>
            </a:extLst>
          </p:cNvPr>
          <p:cNvSpPr/>
          <p:nvPr/>
        </p:nvSpPr>
        <p:spPr>
          <a:xfrm>
            <a:off x="418678" y="32877457"/>
            <a:ext cx="1612440" cy="272498"/>
          </a:xfrm>
          <a:prstGeom prst="roundRect">
            <a:avLst>
              <a:gd name="adj" fmla="val 7328"/>
            </a:avLst>
          </a:prstGeom>
          <a:solidFill>
            <a:srgbClr val="E3E3E8"/>
          </a:solidFill>
          <a:ln/>
        </p:spPr>
      </p:sp>
      <p:sp>
        <p:nvSpPr>
          <p:cNvPr id="245" name="Text 1">
            <a:extLst>
              <a:ext uri="{FF2B5EF4-FFF2-40B4-BE49-F238E27FC236}">
                <a16:creationId xmlns:a16="http://schemas.microsoft.com/office/drawing/2014/main" id="{93072EAD-B954-B17D-6618-385D03871112}"/>
              </a:ext>
            </a:extLst>
          </p:cNvPr>
          <p:cNvSpPr/>
          <p:nvPr/>
        </p:nvSpPr>
        <p:spPr>
          <a:xfrm>
            <a:off x="455699" y="32933848"/>
            <a:ext cx="1207815" cy="80516"/>
          </a:xfrm>
          <a:prstGeom prst="rect">
            <a:avLst/>
          </a:prstGeom>
          <a:noFill/>
          <a:ln/>
        </p:spPr>
        <p:txBody>
          <a:bodyPr wrap="none" lIns="0" tIns="0" rIns="0" bIns="0" rtlCol="0" anchor="t"/>
          <a:lstStyle/>
          <a:p>
            <a:pPr marL="0" indent="0" algn="l">
              <a:lnSpc>
                <a:spcPct val="10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KETERKAITAN PROGRAM</a:t>
            </a:r>
            <a:endParaRPr lang="en-US" sz="1000" dirty="0">
              <a:latin typeface="Leelawadee UI" panose="020B0502040204020203" pitchFamily="34" charset="-34"/>
              <a:cs typeface="Leelawadee UI" panose="020B0502040204020203" pitchFamily="34" charset="-34"/>
            </a:endParaRPr>
          </a:p>
        </p:txBody>
      </p:sp>
      <p:sp>
        <p:nvSpPr>
          <p:cNvPr id="246" name="Text 2">
            <a:extLst>
              <a:ext uri="{FF2B5EF4-FFF2-40B4-BE49-F238E27FC236}">
                <a16:creationId xmlns:a16="http://schemas.microsoft.com/office/drawing/2014/main" id="{252FC14F-6588-02B0-4EA9-3FA9E1B94DB9}"/>
              </a:ext>
            </a:extLst>
          </p:cNvPr>
          <p:cNvSpPr/>
          <p:nvPr/>
        </p:nvSpPr>
        <p:spPr>
          <a:xfrm>
            <a:off x="396578" y="33360372"/>
            <a:ext cx="5150644" cy="242292"/>
          </a:xfrm>
          <a:prstGeom prst="rect">
            <a:avLst/>
          </a:prstGeom>
          <a:noFill/>
          <a:ln/>
        </p:spPr>
        <p:txBody>
          <a:bodyPr wrap="none" lIns="0" tIns="0" rIns="0" bIns="0" rtlCol="0" anchor="t"/>
          <a:lstStyle/>
          <a:p>
            <a:pPr marL="0" indent="0" algn="l">
              <a:lnSpc>
                <a:spcPct val="104000"/>
              </a:lnSpc>
              <a:buNone/>
            </a:pPr>
            <a:r>
              <a:rPr lang="en-US" sz="1500" dirty="0">
                <a:solidFill>
                  <a:srgbClr val="161613"/>
                </a:solidFill>
                <a:latin typeface="Leelawadee UI" panose="020B0502040204020203" pitchFamily="34" charset="-34"/>
                <a:ea typeface="DM Sans Medium" pitchFamily="34" charset="-122"/>
                <a:cs typeface="Leelawadee UI" panose="020B0502040204020203" pitchFamily="34" charset="-34"/>
              </a:rPr>
              <a:t>Terintegrasi dengan Program Strategis YNKI Lainnya</a:t>
            </a:r>
            <a:endParaRPr lang="en-US" sz="1500" dirty="0">
              <a:latin typeface="Leelawadee UI" panose="020B0502040204020203" pitchFamily="34" charset="-34"/>
              <a:cs typeface="Leelawadee UI" panose="020B0502040204020203" pitchFamily="34" charset="-34"/>
            </a:endParaRPr>
          </a:p>
        </p:txBody>
      </p:sp>
      <p:sp>
        <p:nvSpPr>
          <p:cNvPr id="247" name="Text 3">
            <a:extLst>
              <a:ext uri="{FF2B5EF4-FFF2-40B4-BE49-F238E27FC236}">
                <a16:creationId xmlns:a16="http://schemas.microsoft.com/office/drawing/2014/main" id="{7CC7FC81-D07F-1F91-CAC2-3A07B1BD9A31}"/>
              </a:ext>
            </a:extLst>
          </p:cNvPr>
          <p:cNvSpPr/>
          <p:nvPr/>
        </p:nvSpPr>
        <p:spPr>
          <a:xfrm>
            <a:off x="413415" y="33610885"/>
            <a:ext cx="8013091" cy="741645"/>
          </a:xfrm>
          <a:prstGeom prst="rect">
            <a:avLst/>
          </a:prstGeom>
          <a:noFill/>
          <a:ln/>
        </p:spPr>
        <p:txBody>
          <a:bodyPr wrap="square" lIns="0" tIns="0" rIns="0" bIns="0" rtlCol="0" anchor="t">
            <a:normAutofit/>
          </a:bodyPr>
          <a:lstStyle/>
          <a:p>
            <a:pPr marL="0" indent="0" algn="l">
              <a:lnSpc>
                <a:spcPct val="108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Institutional Sustainability &amp; Partnerships Program tidak berdiri sendiri. Program ini menjadi tulang punggung yang memperkuat dan menghubungkan empat program strategis lainnya dalam portofolio YNKI — memastikan setiap program memiliki fondasi kelembagaan yang kokoh untuk berdampak secara nyata.</a:t>
            </a:r>
            <a:endParaRPr lang="en-US" sz="1050" dirty="0">
              <a:latin typeface="Leelawadee UI" panose="020B0502040204020203" pitchFamily="34" charset="-34"/>
              <a:cs typeface="Leelawadee UI" panose="020B0502040204020203" pitchFamily="34" charset="-34"/>
            </a:endParaRPr>
          </a:p>
        </p:txBody>
      </p:sp>
      <p:pic>
        <p:nvPicPr>
          <p:cNvPr id="248" name="Image 0" descr="preencoded.png">
            <a:extLst>
              <a:ext uri="{FF2B5EF4-FFF2-40B4-BE49-F238E27FC236}">
                <a16:creationId xmlns:a16="http://schemas.microsoft.com/office/drawing/2014/main" id="{2FD8DCCA-8C26-0F73-44A4-2FD36ADC2E21}"/>
              </a:ext>
            </a:extLst>
          </p:cNvPr>
          <p:cNvPicPr>
            <a:picLocks noChangeAspect="1"/>
          </p:cNvPicPr>
          <p:nvPr/>
        </p:nvPicPr>
        <p:blipFill>
          <a:blip r:embed="rId24"/>
          <a:stretch>
            <a:fillRect/>
          </a:stretch>
        </p:blipFill>
        <p:spPr>
          <a:xfrm>
            <a:off x="1127659" y="34352530"/>
            <a:ext cx="6113711" cy="3412257"/>
          </a:xfrm>
          <a:prstGeom prst="rect">
            <a:avLst/>
          </a:prstGeom>
        </p:spPr>
      </p:pic>
      <p:sp>
        <p:nvSpPr>
          <p:cNvPr id="249" name="Text 4">
            <a:extLst>
              <a:ext uri="{FF2B5EF4-FFF2-40B4-BE49-F238E27FC236}">
                <a16:creationId xmlns:a16="http://schemas.microsoft.com/office/drawing/2014/main" id="{B475B13A-FB61-F387-68C2-728F2AD9A072}"/>
              </a:ext>
            </a:extLst>
          </p:cNvPr>
          <p:cNvSpPr/>
          <p:nvPr/>
        </p:nvSpPr>
        <p:spPr>
          <a:xfrm>
            <a:off x="379947" y="37976792"/>
            <a:ext cx="8029723" cy="476772"/>
          </a:xfrm>
          <a:prstGeom prst="rect">
            <a:avLst/>
          </a:prstGeom>
          <a:noFill/>
          <a:ln/>
        </p:spPr>
        <p:txBody>
          <a:bodyPr wrap="square" lIns="0" tIns="0" rIns="0" bIns="0" rtlCol="0" anchor="t">
            <a:normAutofit/>
          </a:bodyPr>
          <a:lstStyle/>
          <a:p>
            <a:pPr marL="0" indent="0" algn="l">
              <a:lnSpc>
                <a:spcPct val="108000"/>
              </a:lnSpc>
              <a:buNone/>
            </a:pPr>
            <a:r>
              <a:rPr lang="id-ID" sz="1000" noProof="0" dirty="0">
                <a:solidFill>
                  <a:srgbClr val="161613"/>
                </a:solidFill>
                <a:latin typeface="Leelawadee UI" panose="020B0502040204020203" pitchFamily="34" charset="-34"/>
                <a:ea typeface="Inter" pitchFamily="34" charset="-122"/>
                <a:cs typeface="Leelawadee UI" panose="020B0502040204020203" pitchFamily="34" charset="-34"/>
              </a:rPr>
              <a:t>Dengan pendekatan terintegrasi ini, YNKI memastikan bahwa setiap investasi dalam keberlanjutan organisasi secara langsung memperkuat kapasitas untuk berdampak</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di lapangan — </a:t>
            </a:r>
            <a:r>
              <a:rPr lang="id-ID" sz="1000" noProof="0" dirty="0">
                <a:solidFill>
                  <a:srgbClr val="161613"/>
                </a:solidFill>
                <a:latin typeface="Leelawadee UI" panose="020B0502040204020203" pitchFamily="34" charset="-34"/>
                <a:ea typeface="Inter" pitchFamily="34" charset="-122"/>
                <a:cs typeface="Leelawadee UI" panose="020B0502040204020203" pitchFamily="34" charset="-34"/>
              </a:rPr>
              <a:t>dari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tata kelola lanskap hingga inovasi pengetahuan.</a:t>
            </a:r>
            <a:endParaRPr lang="en-US" sz="1000" dirty="0">
              <a:latin typeface="Leelawadee UI" panose="020B0502040204020203" pitchFamily="34" charset="-34"/>
              <a:cs typeface="Leelawadee UI" panose="020B0502040204020203" pitchFamily="34" charset="-34"/>
            </a:endParaRPr>
          </a:p>
        </p:txBody>
      </p:sp>
      <p:sp>
        <p:nvSpPr>
          <p:cNvPr id="265" name="Shape 0">
            <a:extLst>
              <a:ext uri="{FF2B5EF4-FFF2-40B4-BE49-F238E27FC236}">
                <a16:creationId xmlns:a16="http://schemas.microsoft.com/office/drawing/2014/main" id="{9B994AE3-A5B8-1F4B-185F-D651D028C945}"/>
              </a:ext>
            </a:extLst>
          </p:cNvPr>
          <p:cNvSpPr/>
          <p:nvPr/>
        </p:nvSpPr>
        <p:spPr>
          <a:xfrm>
            <a:off x="469244" y="38695918"/>
            <a:ext cx="1020839" cy="308244"/>
          </a:xfrm>
          <a:prstGeom prst="roundRect">
            <a:avLst>
              <a:gd name="adj" fmla="val 6383"/>
            </a:avLst>
          </a:prstGeom>
          <a:solidFill>
            <a:srgbClr val="E3E3E8"/>
          </a:solidFill>
          <a:ln/>
        </p:spPr>
      </p:sp>
      <p:sp>
        <p:nvSpPr>
          <p:cNvPr id="266" name="Text 1">
            <a:extLst>
              <a:ext uri="{FF2B5EF4-FFF2-40B4-BE49-F238E27FC236}">
                <a16:creationId xmlns:a16="http://schemas.microsoft.com/office/drawing/2014/main" id="{34C38947-86D4-DEDE-2762-CAE38F689E4E}"/>
              </a:ext>
            </a:extLst>
          </p:cNvPr>
          <p:cNvSpPr/>
          <p:nvPr/>
        </p:nvSpPr>
        <p:spPr>
          <a:xfrm>
            <a:off x="543658" y="38733125"/>
            <a:ext cx="1155055" cy="158800"/>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DUKUNG YNKI</a:t>
            </a:r>
            <a:endParaRPr lang="en-US" sz="1000" dirty="0">
              <a:latin typeface="Leelawadee UI" panose="020B0502040204020203" pitchFamily="34" charset="-34"/>
              <a:cs typeface="Leelawadee UI" panose="020B0502040204020203" pitchFamily="34" charset="-34"/>
            </a:endParaRPr>
          </a:p>
        </p:txBody>
      </p:sp>
      <p:sp>
        <p:nvSpPr>
          <p:cNvPr id="267" name="Text 2">
            <a:extLst>
              <a:ext uri="{FF2B5EF4-FFF2-40B4-BE49-F238E27FC236}">
                <a16:creationId xmlns:a16="http://schemas.microsoft.com/office/drawing/2014/main" id="{E249B213-29CD-AFBE-21AD-B1B9BA03D11F}"/>
              </a:ext>
            </a:extLst>
          </p:cNvPr>
          <p:cNvSpPr/>
          <p:nvPr/>
        </p:nvSpPr>
        <p:spPr>
          <a:xfrm>
            <a:off x="2342841" y="38978692"/>
            <a:ext cx="4404568" cy="387548"/>
          </a:xfrm>
          <a:prstGeom prst="rect">
            <a:avLst/>
          </a:prstGeom>
          <a:noFill/>
          <a:ln/>
        </p:spPr>
        <p:txBody>
          <a:bodyPr wrap="none" lIns="0" tIns="0" rIns="0" bIns="0" rtlCol="0" anchor="t"/>
          <a:lstStyle/>
          <a:p>
            <a:pPr marL="0" indent="0" algn="ctr">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Dukung Keberlanjutan YNKI</a:t>
            </a:r>
            <a:endParaRPr lang="en-US" sz="2400" dirty="0">
              <a:latin typeface="Leelawadee UI" panose="020B0502040204020203" pitchFamily="34" charset="-34"/>
              <a:cs typeface="Leelawadee UI" panose="020B0502040204020203" pitchFamily="34" charset="-34"/>
            </a:endParaRPr>
          </a:p>
        </p:txBody>
      </p:sp>
      <p:sp>
        <p:nvSpPr>
          <p:cNvPr id="268" name="Text 3">
            <a:extLst>
              <a:ext uri="{FF2B5EF4-FFF2-40B4-BE49-F238E27FC236}">
                <a16:creationId xmlns:a16="http://schemas.microsoft.com/office/drawing/2014/main" id="{EC143501-7E23-C0D6-ECDF-F9F57B6793FD}"/>
              </a:ext>
            </a:extLst>
          </p:cNvPr>
          <p:cNvSpPr/>
          <p:nvPr/>
        </p:nvSpPr>
        <p:spPr>
          <a:xfrm>
            <a:off x="470993" y="39406509"/>
            <a:ext cx="8151763" cy="396925"/>
          </a:xfrm>
          <a:prstGeom prst="rect">
            <a:avLst/>
          </a:prstGeom>
          <a:noFill/>
          <a:ln/>
        </p:spPr>
        <p:txBody>
          <a:bodyPr wrap="square" lIns="0" tIns="0" rIns="0" bIns="0" rtlCol="0" anchor="t">
            <a:normAutofit lnSpcReduction="10000"/>
          </a:bodyPr>
          <a:lstStyle/>
          <a:p>
            <a:pPr marL="0" indent="0" algn="ctr">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Keberlanjutan organisasi adalah kunci bagi keberlanjutan dampak. Dukung upaya YNKI dalam memperkuat kapasitas kelembagaan dan kemitraan strategis untuk mewujudkan lanskap yang sehat dan masyarakat yang sejahtera di Kalimantan Barat.</a:t>
            </a:r>
            <a:endParaRPr lang="en-US" sz="1050" dirty="0">
              <a:latin typeface="Leelawadee UI" panose="020B0502040204020203" pitchFamily="34" charset="-34"/>
              <a:cs typeface="Leelawadee UI" panose="020B0502040204020203" pitchFamily="34" charset="-34"/>
            </a:endParaRPr>
          </a:p>
        </p:txBody>
      </p:sp>
      <p:pic>
        <p:nvPicPr>
          <p:cNvPr id="269" name="Image 0" descr="preencoded.png">
            <a:hlinkClick r:id="" action="ppaction://noaction"/>
            <a:extLst>
              <a:ext uri="{FF2B5EF4-FFF2-40B4-BE49-F238E27FC236}">
                <a16:creationId xmlns:a16="http://schemas.microsoft.com/office/drawing/2014/main" id="{C1FCDD41-25BE-1BD3-4270-0BA29B2D9D0D}"/>
              </a:ext>
            </a:extLst>
          </p:cNvPr>
          <p:cNvPicPr>
            <a:picLocks noChangeAspect="1"/>
          </p:cNvPicPr>
          <p:nvPr/>
        </p:nvPicPr>
        <p:blipFill>
          <a:blip r:embed="rId25"/>
          <a:stretch>
            <a:fillRect/>
          </a:stretch>
        </p:blipFill>
        <p:spPr>
          <a:xfrm>
            <a:off x="469244" y="40088726"/>
            <a:ext cx="1260202" cy="341114"/>
          </a:xfrm>
          <a:prstGeom prst="rect">
            <a:avLst/>
          </a:prstGeom>
        </p:spPr>
      </p:pic>
      <p:pic>
        <p:nvPicPr>
          <p:cNvPr id="270" name="Image 1" descr="preencoded.png">
            <a:hlinkClick r:id="" action="ppaction://noaction"/>
            <a:extLst>
              <a:ext uri="{FF2B5EF4-FFF2-40B4-BE49-F238E27FC236}">
                <a16:creationId xmlns:a16="http://schemas.microsoft.com/office/drawing/2014/main" id="{3212C3EB-7561-E947-F35E-380EDEF839E9}"/>
              </a:ext>
            </a:extLst>
          </p:cNvPr>
          <p:cNvPicPr>
            <a:picLocks noChangeAspect="1"/>
          </p:cNvPicPr>
          <p:nvPr/>
        </p:nvPicPr>
        <p:blipFill>
          <a:blip r:embed="rId26"/>
          <a:stretch>
            <a:fillRect/>
          </a:stretch>
        </p:blipFill>
        <p:spPr>
          <a:xfrm>
            <a:off x="1791433" y="40088726"/>
            <a:ext cx="1748061" cy="341114"/>
          </a:xfrm>
          <a:prstGeom prst="rect">
            <a:avLst/>
          </a:prstGeom>
        </p:spPr>
      </p:pic>
      <p:pic>
        <p:nvPicPr>
          <p:cNvPr id="271" name="Image 2" descr="preencoded.png">
            <a:hlinkClick r:id="" action="ppaction://noaction"/>
            <a:extLst>
              <a:ext uri="{FF2B5EF4-FFF2-40B4-BE49-F238E27FC236}">
                <a16:creationId xmlns:a16="http://schemas.microsoft.com/office/drawing/2014/main" id="{D79221CA-EC56-034E-EDFC-E2144C412D09}"/>
              </a:ext>
            </a:extLst>
          </p:cNvPr>
          <p:cNvPicPr>
            <a:picLocks noChangeAspect="1"/>
          </p:cNvPicPr>
          <p:nvPr/>
        </p:nvPicPr>
        <p:blipFill>
          <a:blip r:embed="rId5"/>
          <a:stretch>
            <a:fillRect/>
          </a:stretch>
        </p:blipFill>
        <p:spPr>
          <a:xfrm>
            <a:off x="3601480" y="40088726"/>
            <a:ext cx="2103313" cy="341114"/>
          </a:xfrm>
          <a:prstGeom prst="rect">
            <a:avLst/>
          </a:prstGeom>
        </p:spPr>
      </p:pic>
      <p:sp>
        <p:nvSpPr>
          <p:cNvPr id="272" name="Shape 4">
            <a:extLst>
              <a:ext uri="{FF2B5EF4-FFF2-40B4-BE49-F238E27FC236}">
                <a16:creationId xmlns:a16="http://schemas.microsoft.com/office/drawing/2014/main" id="{0A269E7C-2E01-2C10-3D53-ACAEBBC16AEA}"/>
              </a:ext>
            </a:extLst>
          </p:cNvPr>
          <p:cNvSpPr/>
          <p:nvPr/>
        </p:nvSpPr>
        <p:spPr>
          <a:xfrm>
            <a:off x="469244" y="40600323"/>
            <a:ext cx="8151763" cy="15478"/>
          </a:xfrm>
          <a:prstGeom prst="roundRect">
            <a:avLst>
              <a:gd name="adj" fmla="val 120215"/>
            </a:avLst>
          </a:prstGeom>
          <a:solidFill>
            <a:srgbClr val="161613">
              <a:alpha val="50000"/>
            </a:srgbClr>
          </a:solidFill>
          <a:ln/>
        </p:spPr>
      </p:sp>
      <p:sp>
        <p:nvSpPr>
          <p:cNvPr id="273" name="Shape 5">
            <a:extLst>
              <a:ext uri="{FF2B5EF4-FFF2-40B4-BE49-F238E27FC236}">
                <a16:creationId xmlns:a16="http://schemas.microsoft.com/office/drawing/2014/main" id="{22E07AA9-CF7B-163E-AC8C-CAE3B0688B8E}"/>
              </a:ext>
            </a:extLst>
          </p:cNvPr>
          <p:cNvSpPr/>
          <p:nvPr/>
        </p:nvSpPr>
        <p:spPr>
          <a:xfrm>
            <a:off x="379947" y="40786283"/>
            <a:ext cx="2693789" cy="2161282"/>
          </a:xfrm>
          <a:prstGeom prst="roundRect">
            <a:avLst>
              <a:gd name="adj" fmla="val 861"/>
            </a:avLst>
          </a:prstGeom>
          <a:solidFill>
            <a:srgbClr val="28282F"/>
          </a:solidFill>
          <a:ln/>
        </p:spPr>
      </p:sp>
      <p:sp>
        <p:nvSpPr>
          <p:cNvPr id="274" name="Text 6">
            <a:extLst>
              <a:ext uri="{FF2B5EF4-FFF2-40B4-BE49-F238E27FC236}">
                <a16:creationId xmlns:a16="http://schemas.microsoft.com/office/drawing/2014/main" id="{D14E56FA-B364-3DF7-E0C6-B06E3F9EB76C}"/>
              </a:ext>
            </a:extLst>
          </p:cNvPr>
          <p:cNvSpPr/>
          <p:nvPr/>
        </p:nvSpPr>
        <p:spPr>
          <a:xfrm>
            <a:off x="503921" y="40910257"/>
            <a:ext cx="2445841"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 Yayasan Natural Kapital Indonesia</a:t>
            </a:r>
            <a:endParaRPr lang="en-US" sz="1200" dirty="0">
              <a:latin typeface="Leelawadee UI" panose="020B0502040204020203" pitchFamily="34" charset="-34"/>
              <a:cs typeface="Leelawadee UI" panose="020B0502040204020203" pitchFamily="34" charset="-34"/>
            </a:endParaRPr>
          </a:p>
        </p:txBody>
      </p:sp>
      <p:sp>
        <p:nvSpPr>
          <p:cNvPr id="275" name="Text 7">
            <a:extLst>
              <a:ext uri="{FF2B5EF4-FFF2-40B4-BE49-F238E27FC236}">
                <a16:creationId xmlns:a16="http://schemas.microsoft.com/office/drawing/2014/main" id="{C536154C-D4D8-04E3-66A0-3426D3F0B468}"/>
              </a:ext>
            </a:extLst>
          </p:cNvPr>
          <p:cNvSpPr/>
          <p:nvPr/>
        </p:nvSpPr>
        <p:spPr>
          <a:xfrm>
            <a:off x="503921" y="41421928"/>
            <a:ext cx="2445841" cy="1414016"/>
          </a:xfrm>
          <a:prstGeom prst="rect">
            <a:avLst/>
          </a:prstGeom>
          <a:noFill/>
          <a:ln/>
        </p:spPr>
        <p:txBody>
          <a:bodyPr wrap="square" lIns="0" tIns="0" rIns="0" bIns="0" rtlCol="0" anchor="t"/>
          <a:lstStyle/>
          <a:p>
            <a:pPr marL="0" indent="0" algn="l">
              <a:lnSpc>
                <a:spcPct val="133000"/>
              </a:lnSpc>
              <a:spcAft>
                <a:spcPts val="850"/>
              </a:spcAft>
              <a:buNone/>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950" dirty="0">
              <a:latin typeface="Leelawadee UI" panose="020B0502040204020203" pitchFamily="34" charset="-34"/>
              <a:cs typeface="Leelawadee UI" panose="020B0502040204020203" pitchFamily="34" charset="-34"/>
            </a:endParaRPr>
          </a:p>
        </p:txBody>
      </p:sp>
      <p:sp>
        <p:nvSpPr>
          <p:cNvPr id="276" name="Text 8">
            <a:extLst>
              <a:ext uri="{FF2B5EF4-FFF2-40B4-BE49-F238E27FC236}">
                <a16:creationId xmlns:a16="http://schemas.microsoft.com/office/drawing/2014/main" id="{F9C7E2DE-CD86-F9C7-5B49-FDAAFEF06292}"/>
              </a:ext>
            </a:extLst>
          </p:cNvPr>
          <p:cNvSpPr/>
          <p:nvPr/>
        </p:nvSpPr>
        <p:spPr>
          <a:xfrm>
            <a:off x="3291769" y="40910257"/>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277" name="Text 9">
            <a:extLst>
              <a:ext uri="{FF2B5EF4-FFF2-40B4-BE49-F238E27FC236}">
                <a16:creationId xmlns:a16="http://schemas.microsoft.com/office/drawing/2014/main" id="{503CDEDA-DBD9-4F23-879E-20910C7EFB67}"/>
              </a:ext>
            </a:extLst>
          </p:cNvPr>
          <p:cNvSpPr/>
          <p:nvPr/>
        </p:nvSpPr>
        <p:spPr>
          <a:xfrm>
            <a:off x="3291769" y="41228080"/>
            <a:ext cx="2515195"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950" dirty="0">
              <a:latin typeface="Leelawadee UI" panose="020B0502040204020203" pitchFamily="34" charset="-34"/>
              <a:cs typeface="Leelawadee UI" panose="020B0502040204020203" pitchFamily="34" charset="-34"/>
            </a:endParaRPr>
          </a:p>
        </p:txBody>
      </p:sp>
      <p:sp>
        <p:nvSpPr>
          <p:cNvPr id="278" name="Text 10">
            <a:extLst>
              <a:ext uri="{FF2B5EF4-FFF2-40B4-BE49-F238E27FC236}">
                <a16:creationId xmlns:a16="http://schemas.microsoft.com/office/drawing/2014/main" id="{6108425E-AC4D-0EB7-67AE-5A5EDCFFFE25}"/>
              </a:ext>
            </a:extLst>
          </p:cNvPr>
          <p:cNvSpPr/>
          <p:nvPr/>
        </p:nvSpPr>
        <p:spPr>
          <a:xfrm>
            <a:off x="6114294" y="40910257"/>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Hubungi Kami</a:t>
            </a:r>
            <a:endParaRPr lang="en-US" sz="1200" dirty="0">
              <a:latin typeface="Leelawadee UI" panose="020B0502040204020203" pitchFamily="34" charset="-34"/>
              <a:cs typeface="Leelawadee UI" panose="020B0502040204020203" pitchFamily="34" charset="-34"/>
            </a:endParaRPr>
          </a:p>
        </p:txBody>
      </p:sp>
      <p:sp>
        <p:nvSpPr>
          <p:cNvPr id="279" name="Text 11">
            <a:extLst>
              <a:ext uri="{FF2B5EF4-FFF2-40B4-BE49-F238E27FC236}">
                <a16:creationId xmlns:a16="http://schemas.microsoft.com/office/drawing/2014/main" id="{C80B7F99-AABA-67CD-74E8-BFABF081ED86}"/>
              </a:ext>
            </a:extLst>
          </p:cNvPr>
          <p:cNvSpPr/>
          <p:nvPr/>
        </p:nvSpPr>
        <p:spPr>
          <a:xfrm>
            <a:off x="6114294" y="41228080"/>
            <a:ext cx="2515195" cy="1341462"/>
          </a:xfrm>
          <a:prstGeom prst="rect">
            <a:avLst/>
          </a:prstGeom>
          <a:noFill/>
          <a:ln/>
        </p:spPr>
        <p:txBody>
          <a:bodyPr wrap="square" lIns="0" tIns="0" rIns="0" bIns="0" rtlCol="0" anchor="t"/>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(Segera tersedia)</a:t>
            </a:r>
            <a:endParaRPr lang="en-US" sz="95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LinkedIn · YouTube · Instagram</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Kebijakan Privasi</a:t>
            </a:r>
            <a:endParaRPr lang="en-US" sz="9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26255258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TotalTime>
  <Words>969</Words>
  <Application>Microsoft Office PowerPoint</Application>
  <PresentationFormat>Custom</PresentationFormat>
  <Paragraphs>105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2026-06-22T11:48:25Z</dcterms:created>
  <dcterms:modified xsi:type="dcterms:W3CDTF">2026-06-22T16:30:28Z</dcterms:modified>
</cp:coreProperties>
</file>