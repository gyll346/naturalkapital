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8999538" cy="432006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78" autoAdjust="0"/>
    <p:restoredTop sz="94660"/>
  </p:normalViewPr>
  <p:slideViewPr>
    <p:cSldViewPr snapToGrid="0">
      <p:cViewPr>
        <p:scale>
          <a:sx n="50" d="100"/>
          <a:sy n="50" d="100"/>
        </p:scale>
        <p:origin x="738"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74966" y="7070108"/>
            <a:ext cx="7649607" cy="15040222"/>
          </a:xfrm>
        </p:spPr>
        <p:txBody>
          <a:bodyPr anchor="b"/>
          <a:lstStyle>
            <a:lvl1pPr algn="ctr">
              <a:defRPr sz="5905"/>
            </a:lvl1pPr>
          </a:lstStyle>
          <a:p>
            <a:r>
              <a:rPr lang="en-US"/>
              <a:t>Click to edit Master title style</a:t>
            </a:r>
            <a:endParaRPr lang="en-US" dirty="0"/>
          </a:p>
        </p:txBody>
      </p:sp>
      <p:sp>
        <p:nvSpPr>
          <p:cNvPr id="3" name="Subtitle 2"/>
          <p:cNvSpPr>
            <a:spLocks noGrp="1"/>
          </p:cNvSpPr>
          <p:nvPr>
            <p:ph type="subTitle" idx="1"/>
          </p:nvPr>
        </p:nvSpPr>
        <p:spPr>
          <a:xfrm>
            <a:off x="1124942" y="22690338"/>
            <a:ext cx="6749654" cy="10430151"/>
          </a:xfrm>
        </p:spPr>
        <p:txBody>
          <a:bodyPr/>
          <a:lstStyle>
            <a:lvl1pPr marL="0" indent="0" algn="ctr">
              <a:buNone/>
              <a:defRPr sz="2362"/>
            </a:lvl1pPr>
            <a:lvl2pPr marL="449976" indent="0" algn="ctr">
              <a:buNone/>
              <a:defRPr sz="1968"/>
            </a:lvl2pPr>
            <a:lvl3pPr marL="899952" indent="0" algn="ctr">
              <a:buNone/>
              <a:defRPr sz="1772"/>
            </a:lvl3pPr>
            <a:lvl4pPr marL="1349929" indent="0" algn="ctr">
              <a:buNone/>
              <a:defRPr sz="1575"/>
            </a:lvl4pPr>
            <a:lvl5pPr marL="1799905" indent="0" algn="ctr">
              <a:buNone/>
              <a:defRPr sz="1575"/>
            </a:lvl5pPr>
            <a:lvl6pPr marL="2249881" indent="0" algn="ctr">
              <a:buNone/>
              <a:defRPr sz="1575"/>
            </a:lvl6pPr>
            <a:lvl7pPr marL="2699857" indent="0" algn="ctr">
              <a:buNone/>
              <a:defRPr sz="1575"/>
            </a:lvl7pPr>
            <a:lvl8pPr marL="3149834" indent="0" algn="ctr">
              <a:buNone/>
              <a:defRPr sz="1575"/>
            </a:lvl8pPr>
            <a:lvl9pPr marL="3599810" indent="0" algn="ctr">
              <a:buNone/>
              <a:defRPr sz="1575"/>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58DD8DA-754B-41ED-9BDA-093F3525D576}"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470E8A3C-E3E9-4828-901F-AAD6FEE48A4D}" type="slidenum">
              <a:rPr lang="en-ID" smtClean="0"/>
              <a:t>‹#›</a:t>
            </a:fld>
            <a:endParaRPr lang="en-ID"/>
          </a:p>
        </p:txBody>
      </p:sp>
    </p:spTree>
    <p:extLst>
      <p:ext uri="{BB962C8B-B14F-4D97-AF65-F5344CB8AC3E}">
        <p14:creationId xmlns:p14="http://schemas.microsoft.com/office/powerpoint/2010/main" val="9670449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8DD8DA-754B-41ED-9BDA-093F3525D576}"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470E8A3C-E3E9-4828-901F-AAD6FEE48A4D}" type="slidenum">
              <a:rPr lang="en-ID" smtClean="0"/>
              <a:t>‹#›</a:t>
            </a:fld>
            <a:endParaRPr lang="en-ID"/>
          </a:p>
        </p:txBody>
      </p:sp>
    </p:spTree>
    <p:extLst>
      <p:ext uri="{BB962C8B-B14F-4D97-AF65-F5344CB8AC3E}">
        <p14:creationId xmlns:p14="http://schemas.microsoft.com/office/powerpoint/2010/main" val="1857933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14031" y="10770172"/>
            <a:ext cx="7762102" cy="17970262"/>
          </a:xfrm>
        </p:spPr>
        <p:txBody>
          <a:bodyPr anchor="b"/>
          <a:lstStyle>
            <a:lvl1pPr>
              <a:defRPr sz="5905"/>
            </a:lvl1pPr>
          </a:lstStyle>
          <a:p>
            <a:r>
              <a:rPr lang="en-US"/>
              <a:t>Click to edit Master title style</a:t>
            </a:r>
            <a:endParaRPr lang="en-US" dirty="0"/>
          </a:p>
        </p:txBody>
      </p:sp>
      <p:sp>
        <p:nvSpPr>
          <p:cNvPr id="3" name="Text Placeholder 2"/>
          <p:cNvSpPr>
            <a:spLocks noGrp="1"/>
          </p:cNvSpPr>
          <p:nvPr>
            <p:ph type="body" idx="1"/>
          </p:nvPr>
        </p:nvSpPr>
        <p:spPr>
          <a:xfrm>
            <a:off x="614031" y="28910440"/>
            <a:ext cx="7762102" cy="9450136"/>
          </a:xfrm>
        </p:spPr>
        <p:txBody>
          <a:bodyPr/>
          <a:lstStyle>
            <a:lvl1pPr marL="0" indent="0">
              <a:buNone/>
              <a:defRPr sz="2362">
                <a:solidFill>
                  <a:schemeClr val="tx1"/>
                </a:solidFill>
              </a:defRPr>
            </a:lvl1pPr>
            <a:lvl2pPr marL="449976" indent="0">
              <a:buNone/>
              <a:defRPr sz="1968">
                <a:solidFill>
                  <a:schemeClr val="tx1">
                    <a:tint val="75000"/>
                  </a:schemeClr>
                </a:solidFill>
              </a:defRPr>
            </a:lvl2pPr>
            <a:lvl3pPr marL="899952" indent="0">
              <a:buNone/>
              <a:defRPr sz="1772">
                <a:solidFill>
                  <a:schemeClr val="tx1">
                    <a:tint val="75000"/>
                  </a:schemeClr>
                </a:solidFill>
              </a:defRPr>
            </a:lvl3pPr>
            <a:lvl4pPr marL="1349929" indent="0">
              <a:buNone/>
              <a:defRPr sz="1575">
                <a:solidFill>
                  <a:schemeClr val="tx1">
                    <a:tint val="75000"/>
                  </a:schemeClr>
                </a:solidFill>
              </a:defRPr>
            </a:lvl4pPr>
            <a:lvl5pPr marL="1799905" indent="0">
              <a:buNone/>
              <a:defRPr sz="1575">
                <a:solidFill>
                  <a:schemeClr val="tx1">
                    <a:tint val="75000"/>
                  </a:schemeClr>
                </a:solidFill>
              </a:defRPr>
            </a:lvl5pPr>
            <a:lvl6pPr marL="2249881" indent="0">
              <a:buNone/>
              <a:defRPr sz="1575">
                <a:solidFill>
                  <a:schemeClr val="tx1">
                    <a:tint val="75000"/>
                  </a:schemeClr>
                </a:solidFill>
              </a:defRPr>
            </a:lvl6pPr>
            <a:lvl7pPr marL="2699857" indent="0">
              <a:buNone/>
              <a:defRPr sz="1575">
                <a:solidFill>
                  <a:schemeClr val="tx1">
                    <a:tint val="75000"/>
                  </a:schemeClr>
                </a:solidFill>
              </a:defRPr>
            </a:lvl7pPr>
            <a:lvl8pPr marL="3149834" indent="0">
              <a:buNone/>
              <a:defRPr sz="1575">
                <a:solidFill>
                  <a:schemeClr val="tx1">
                    <a:tint val="75000"/>
                  </a:schemeClr>
                </a:solidFill>
              </a:defRPr>
            </a:lvl8pPr>
            <a:lvl9pPr marL="3599810" indent="0">
              <a:buNone/>
              <a:defRPr sz="157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8DD8DA-754B-41ED-9BDA-093F3525D576}"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470E8A3C-E3E9-4828-901F-AAD6FEE48A4D}" type="slidenum">
              <a:rPr lang="en-ID" smtClean="0"/>
              <a:t>‹#›</a:t>
            </a:fld>
            <a:endParaRPr lang="en-ID"/>
          </a:p>
        </p:txBody>
      </p:sp>
    </p:spTree>
    <p:extLst>
      <p:ext uri="{BB962C8B-B14F-4D97-AF65-F5344CB8AC3E}">
        <p14:creationId xmlns:p14="http://schemas.microsoft.com/office/powerpoint/2010/main" val="24715341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18718" y="11500170"/>
            <a:ext cx="3824804" cy="27410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56016" y="11500170"/>
            <a:ext cx="3824804" cy="27410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8DD8DA-754B-41ED-9BDA-093F3525D576}" type="datetimeFigureOut">
              <a:rPr lang="en-ID" smtClean="0"/>
              <a:t>22/06/2026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470E8A3C-E3E9-4828-901F-AAD6FEE48A4D}" type="slidenum">
              <a:rPr lang="en-ID" smtClean="0"/>
              <a:t>‹#›</a:t>
            </a:fld>
            <a:endParaRPr lang="en-ID"/>
          </a:p>
        </p:txBody>
      </p:sp>
    </p:spTree>
    <p:extLst>
      <p:ext uri="{BB962C8B-B14F-4D97-AF65-F5344CB8AC3E}">
        <p14:creationId xmlns:p14="http://schemas.microsoft.com/office/powerpoint/2010/main" val="3899802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9890" y="2300044"/>
            <a:ext cx="7762102" cy="8350126"/>
          </a:xfrm>
        </p:spPr>
        <p:txBody>
          <a:bodyPr/>
          <a:lstStyle/>
          <a:p>
            <a:r>
              <a:rPr lang="en-US"/>
              <a:t>Click to edit Master title style</a:t>
            </a:r>
            <a:endParaRPr lang="en-US" dirty="0"/>
          </a:p>
        </p:txBody>
      </p:sp>
      <p:sp>
        <p:nvSpPr>
          <p:cNvPr id="3" name="Text Placeholder 2"/>
          <p:cNvSpPr>
            <a:spLocks noGrp="1"/>
          </p:cNvSpPr>
          <p:nvPr>
            <p:ph type="body" idx="1"/>
          </p:nvPr>
        </p:nvSpPr>
        <p:spPr>
          <a:xfrm>
            <a:off x="619891" y="10590160"/>
            <a:ext cx="3807226" cy="5190073"/>
          </a:xfrm>
        </p:spPr>
        <p:txBody>
          <a:bodyPr anchor="b"/>
          <a:lstStyle>
            <a:lvl1pPr marL="0" indent="0">
              <a:buNone/>
              <a:defRPr sz="2362" b="1"/>
            </a:lvl1pPr>
            <a:lvl2pPr marL="449976" indent="0">
              <a:buNone/>
              <a:defRPr sz="1968" b="1"/>
            </a:lvl2pPr>
            <a:lvl3pPr marL="899952" indent="0">
              <a:buNone/>
              <a:defRPr sz="1772" b="1"/>
            </a:lvl3pPr>
            <a:lvl4pPr marL="1349929" indent="0">
              <a:buNone/>
              <a:defRPr sz="1575" b="1"/>
            </a:lvl4pPr>
            <a:lvl5pPr marL="1799905" indent="0">
              <a:buNone/>
              <a:defRPr sz="1575" b="1"/>
            </a:lvl5pPr>
            <a:lvl6pPr marL="2249881" indent="0">
              <a:buNone/>
              <a:defRPr sz="1575" b="1"/>
            </a:lvl6pPr>
            <a:lvl7pPr marL="2699857" indent="0">
              <a:buNone/>
              <a:defRPr sz="1575" b="1"/>
            </a:lvl7pPr>
            <a:lvl8pPr marL="3149834" indent="0">
              <a:buNone/>
              <a:defRPr sz="1575" b="1"/>
            </a:lvl8pPr>
            <a:lvl9pPr marL="3599810" indent="0">
              <a:buNone/>
              <a:defRPr sz="1575" b="1"/>
            </a:lvl9pPr>
          </a:lstStyle>
          <a:p>
            <a:pPr lvl="0"/>
            <a:r>
              <a:rPr lang="en-US"/>
              <a:t>Click to edit Master text styles</a:t>
            </a:r>
          </a:p>
        </p:txBody>
      </p:sp>
      <p:sp>
        <p:nvSpPr>
          <p:cNvPr id="4" name="Content Placeholder 3"/>
          <p:cNvSpPr>
            <a:spLocks noGrp="1"/>
          </p:cNvSpPr>
          <p:nvPr>
            <p:ph sz="half" idx="2"/>
          </p:nvPr>
        </p:nvSpPr>
        <p:spPr>
          <a:xfrm>
            <a:off x="619891" y="15780233"/>
            <a:ext cx="3807226" cy="23210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56017" y="10590160"/>
            <a:ext cx="3825976" cy="5190073"/>
          </a:xfrm>
        </p:spPr>
        <p:txBody>
          <a:bodyPr anchor="b"/>
          <a:lstStyle>
            <a:lvl1pPr marL="0" indent="0">
              <a:buNone/>
              <a:defRPr sz="2362" b="1"/>
            </a:lvl1pPr>
            <a:lvl2pPr marL="449976" indent="0">
              <a:buNone/>
              <a:defRPr sz="1968" b="1"/>
            </a:lvl2pPr>
            <a:lvl3pPr marL="899952" indent="0">
              <a:buNone/>
              <a:defRPr sz="1772" b="1"/>
            </a:lvl3pPr>
            <a:lvl4pPr marL="1349929" indent="0">
              <a:buNone/>
              <a:defRPr sz="1575" b="1"/>
            </a:lvl4pPr>
            <a:lvl5pPr marL="1799905" indent="0">
              <a:buNone/>
              <a:defRPr sz="1575" b="1"/>
            </a:lvl5pPr>
            <a:lvl6pPr marL="2249881" indent="0">
              <a:buNone/>
              <a:defRPr sz="1575" b="1"/>
            </a:lvl6pPr>
            <a:lvl7pPr marL="2699857" indent="0">
              <a:buNone/>
              <a:defRPr sz="1575" b="1"/>
            </a:lvl7pPr>
            <a:lvl8pPr marL="3149834" indent="0">
              <a:buNone/>
              <a:defRPr sz="1575" b="1"/>
            </a:lvl8pPr>
            <a:lvl9pPr marL="3599810" indent="0">
              <a:buNone/>
              <a:defRPr sz="1575" b="1"/>
            </a:lvl9pPr>
          </a:lstStyle>
          <a:p>
            <a:pPr lvl="0"/>
            <a:r>
              <a:rPr lang="en-US"/>
              <a:t>Click to edit Master text styles</a:t>
            </a:r>
          </a:p>
        </p:txBody>
      </p:sp>
      <p:sp>
        <p:nvSpPr>
          <p:cNvPr id="6" name="Content Placeholder 5"/>
          <p:cNvSpPr>
            <a:spLocks noGrp="1"/>
          </p:cNvSpPr>
          <p:nvPr>
            <p:ph sz="quarter" idx="4"/>
          </p:nvPr>
        </p:nvSpPr>
        <p:spPr>
          <a:xfrm>
            <a:off x="4556017" y="15780233"/>
            <a:ext cx="3825976" cy="23210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58DD8DA-754B-41ED-9BDA-093F3525D576}" type="datetimeFigureOut">
              <a:rPr lang="en-ID" smtClean="0"/>
              <a:t>22/06/2026</a:t>
            </a:fld>
            <a:endParaRPr lang="en-ID"/>
          </a:p>
        </p:txBody>
      </p:sp>
      <p:sp>
        <p:nvSpPr>
          <p:cNvPr id="8" name="Footer Placeholder 7"/>
          <p:cNvSpPr>
            <a:spLocks noGrp="1"/>
          </p:cNvSpPr>
          <p:nvPr>
            <p:ph type="ftr" sz="quarter" idx="11"/>
          </p:nvPr>
        </p:nvSpPr>
        <p:spPr/>
        <p:txBody>
          <a:bodyPr/>
          <a:lstStyle/>
          <a:p>
            <a:endParaRPr lang="en-ID"/>
          </a:p>
        </p:txBody>
      </p:sp>
      <p:sp>
        <p:nvSpPr>
          <p:cNvPr id="9" name="Slide Number Placeholder 8"/>
          <p:cNvSpPr>
            <a:spLocks noGrp="1"/>
          </p:cNvSpPr>
          <p:nvPr>
            <p:ph type="sldNum" sz="quarter" idx="12"/>
          </p:nvPr>
        </p:nvSpPr>
        <p:spPr/>
        <p:txBody>
          <a:bodyPr/>
          <a:lstStyle/>
          <a:p>
            <a:fld id="{470E8A3C-E3E9-4828-901F-AAD6FEE48A4D}" type="slidenum">
              <a:rPr lang="en-ID" smtClean="0"/>
              <a:t>‹#›</a:t>
            </a:fld>
            <a:endParaRPr lang="en-ID"/>
          </a:p>
        </p:txBody>
      </p:sp>
    </p:spTree>
    <p:extLst>
      <p:ext uri="{BB962C8B-B14F-4D97-AF65-F5344CB8AC3E}">
        <p14:creationId xmlns:p14="http://schemas.microsoft.com/office/powerpoint/2010/main" val="14251647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58DD8DA-754B-41ED-9BDA-093F3525D576}" type="datetimeFigureOut">
              <a:rPr lang="en-ID" smtClean="0"/>
              <a:t>22/06/2026</a:t>
            </a:fld>
            <a:endParaRPr lang="en-ID"/>
          </a:p>
        </p:txBody>
      </p:sp>
      <p:sp>
        <p:nvSpPr>
          <p:cNvPr id="4" name="Footer Placeholder 3"/>
          <p:cNvSpPr>
            <a:spLocks noGrp="1"/>
          </p:cNvSpPr>
          <p:nvPr>
            <p:ph type="ftr" sz="quarter" idx="11"/>
          </p:nvPr>
        </p:nvSpPr>
        <p:spPr/>
        <p:txBody>
          <a:bodyPr/>
          <a:lstStyle/>
          <a:p>
            <a:endParaRPr lang="en-ID"/>
          </a:p>
        </p:txBody>
      </p:sp>
      <p:sp>
        <p:nvSpPr>
          <p:cNvPr id="5" name="Slide Number Placeholder 4"/>
          <p:cNvSpPr>
            <a:spLocks noGrp="1"/>
          </p:cNvSpPr>
          <p:nvPr>
            <p:ph type="sldNum" sz="quarter" idx="12"/>
          </p:nvPr>
        </p:nvSpPr>
        <p:spPr/>
        <p:txBody>
          <a:bodyPr/>
          <a:lstStyle/>
          <a:p>
            <a:fld id="{470E8A3C-E3E9-4828-901F-AAD6FEE48A4D}" type="slidenum">
              <a:rPr lang="en-ID" smtClean="0"/>
              <a:t>‹#›</a:t>
            </a:fld>
            <a:endParaRPr lang="en-ID"/>
          </a:p>
        </p:txBody>
      </p:sp>
    </p:spTree>
    <p:extLst>
      <p:ext uri="{BB962C8B-B14F-4D97-AF65-F5344CB8AC3E}">
        <p14:creationId xmlns:p14="http://schemas.microsoft.com/office/powerpoint/2010/main" val="25609178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8DD8DA-754B-41ED-9BDA-093F3525D576}" type="datetimeFigureOut">
              <a:rPr lang="en-ID" smtClean="0"/>
              <a:t>22/06/2026</a:t>
            </a:fld>
            <a:endParaRPr lang="en-ID"/>
          </a:p>
        </p:txBody>
      </p:sp>
      <p:sp>
        <p:nvSpPr>
          <p:cNvPr id="3" name="Footer Placeholder 2"/>
          <p:cNvSpPr>
            <a:spLocks noGrp="1"/>
          </p:cNvSpPr>
          <p:nvPr>
            <p:ph type="ftr" sz="quarter" idx="11"/>
          </p:nvPr>
        </p:nvSpPr>
        <p:spPr/>
        <p:txBody>
          <a:bodyPr/>
          <a:lstStyle/>
          <a:p>
            <a:endParaRPr lang="en-ID"/>
          </a:p>
        </p:txBody>
      </p:sp>
      <p:sp>
        <p:nvSpPr>
          <p:cNvPr id="4" name="Slide Number Placeholder 3"/>
          <p:cNvSpPr>
            <a:spLocks noGrp="1"/>
          </p:cNvSpPr>
          <p:nvPr>
            <p:ph type="sldNum" sz="quarter" idx="12"/>
          </p:nvPr>
        </p:nvSpPr>
        <p:spPr/>
        <p:txBody>
          <a:bodyPr/>
          <a:lstStyle/>
          <a:p>
            <a:fld id="{470E8A3C-E3E9-4828-901F-AAD6FEE48A4D}" type="slidenum">
              <a:rPr lang="en-ID" smtClean="0"/>
              <a:t>‹#›</a:t>
            </a:fld>
            <a:endParaRPr lang="en-ID"/>
          </a:p>
        </p:txBody>
      </p:sp>
    </p:spTree>
    <p:extLst>
      <p:ext uri="{BB962C8B-B14F-4D97-AF65-F5344CB8AC3E}">
        <p14:creationId xmlns:p14="http://schemas.microsoft.com/office/powerpoint/2010/main" val="21004139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9891" y="2880042"/>
            <a:ext cx="2902585" cy="10080149"/>
          </a:xfrm>
        </p:spPr>
        <p:txBody>
          <a:bodyPr anchor="b"/>
          <a:lstStyle>
            <a:lvl1pPr>
              <a:defRPr sz="3149"/>
            </a:lvl1pPr>
          </a:lstStyle>
          <a:p>
            <a:r>
              <a:rPr lang="en-US"/>
              <a:t>Click to edit Master title style</a:t>
            </a:r>
            <a:endParaRPr lang="en-US" dirty="0"/>
          </a:p>
        </p:txBody>
      </p:sp>
      <p:sp>
        <p:nvSpPr>
          <p:cNvPr id="3" name="Content Placeholder 2"/>
          <p:cNvSpPr>
            <a:spLocks noGrp="1"/>
          </p:cNvSpPr>
          <p:nvPr>
            <p:ph idx="1"/>
          </p:nvPr>
        </p:nvSpPr>
        <p:spPr>
          <a:xfrm>
            <a:off x="3825976" y="6220102"/>
            <a:ext cx="4556016" cy="30700453"/>
          </a:xfrm>
        </p:spPr>
        <p:txBody>
          <a:bodyPr/>
          <a:lstStyle>
            <a:lvl1pPr>
              <a:defRPr sz="3149"/>
            </a:lvl1pPr>
            <a:lvl2pPr>
              <a:defRPr sz="2756"/>
            </a:lvl2pPr>
            <a:lvl3pPr>
              <a:defRPr sz="2362"/>
            </a:lvl3pPr>
            <a:lvl4pPr>
              <a:defRPr sz="1968"/>
            </a:lvl4pPr>
            <a:lvl5pPr>
              <a:defRPr sz="1968"/>
            </a:lvl5pPr>
            <a:lvl6pPr>
              <a:defRPr sz="1968"/>
            </a:lvl6pPr>
            <a:lvl7pPr>
              <a:defRPr sz="1968"/>
            </a:lvl7pPr>
            <a:lvl8pPr>
              <a:defRPr sz="1968"/>
            </a:lvl8pPr>
            <a:lvl9pPr>
              <a:defRPr sz="196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19891" y="12960191"/>
            <a:ext cx="2902585" cy="24010358"/>
          </a:xfrm>
        </p:spPr>
        <p:txBody>
          <a:bodyPr/>
          <a:lstStyle>
            <a:lvl1pPr marL="0" indent="0">
              <a:buNone/>
              <a:defRPr sz="1575"/>
            </a:lvl1pPr>
            <a:lvl2pPr marL="449976" indent="0">
              <a:buNone/>
              <a:defRPr sz="1378"/>
            </a:lvl2pPr>
            <a:lvl3pPr marL="899952" indent="0">
              <a:buNone/>
              <a:defRPr sz="1181"/>
            </a:lvl3pPr>
            <a:lvl4pPr marL="1349929" indent="0">
              <a:buNone/>
              <a:defRPr sz="984"/>
            </a:lvl4pPr>
            <a:lvl5pPr marL="1799905" indent="0">
              <a:buNone/>
              <a:defRPr sz="984"/>
            </a:lvl5pPr>
            <a:lvl6pPr marL="2249881" indent="0">
              <a:buNone/>
              <a:defRPr sz="984"/>
            </a:lvl6pPr>
            <a:lvl7pPr marL="2699857" indent="0">
              <a:buNone/>
              <a:defRPr sz="984"/>
            </a:lvl7pPr>
            <a:lvl8pPr marL="3149834" indent="0">
              <a:buNone/>
              <a:defRPr sz="984"/>
            </a:lvl8pPr>
            <a:lvl9pPr marL="3599810" indent="0">
              <a:buNone/>
              <a:defRPr sz="984"/>
            </a:lvl9pPr>
          </a:lstStyle>
          <a:p>
            <a:pPr lvl="0"/>
            <a:r>
              <a:rPr lang="en-US"/>
              <a:t>Click to edit Master text styles</a:t>
            </a:r>
          </a:p>
        </p:txBody>
      </p:sp>
      <p:sp>
        <p:nvSpPr>
          <p:cNvPr id="5" name="Date Placeholder 4"/>
          <p:cNvSpPr>
            <a:spLocks noGrp="1"/>
          </p:cNvSpPr>
          <p:nvPr>
            <p:ph type="dt" sz="half" idx="10"/>
          </p:nvPr>
        </p:nvSpPr>
        <p:spPr/>
        <p:txBody>
          <a:bodyPr/>
          <a:lstStyle/>
          <a:p>
            <a:fld id="{E58DD8DA-754B-41ED-9BDA-093F3525D576}" type="datetimeFigureOut">
              <a:rPr lang="en-ID" smtClean="0"/>
              <a:t>22/06/2026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470E8A3C-E3E9-4828-901F-AAD6FEE48A4D}" type="slidenum">
              <a:rPr lang="en-ID" smtClean="0"/>
              <a:t>‹#›</a:t>
            </a:fld>
            <a:endParaRPr lang="en-ID"/>
          </a:p>
        </p:txBody>
      </p:sp>
    </p:spTree>
    <p:extLst>
      <p:ext uri="{BB962C8B-B14F-4D97-AF65-F5344CB8AC3E}">
        <p14:creationId xmlns:p14="http://schemas.microsoft.com/office/powerpoint/2010/main" val="2006510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9891" y="2880042"/>
            <a:ext cx="2902585" cy="10080149"/>
          </a:xfrm>
        </p:spPr>
        <p:txBody>
          <a:bodyPr anchor="b"/>
          <a:lstStyle>
            <a:lvl1pPr>
              <a:defRPr sz="3149"/>
            </a:lvl1pPr>
          </a:lstStyle>
          <a:p>
            <a:r>
              <a:rPr lang="en-US"/>
              <a:t>Click to edit Master title style</a:t>
            </a:r>
            <a:endParaRPr lang="en-US" dirty="0"/>
          </a:p>
        </p:txBody>
      </p:sp>
      <p:sp>
        <p:nvSpPr>
          <p:cNvPr id="3" name="Picture Placeholder 2"/>
          <p:cNvSpPr>
            <a:spLocks noGrp="1" noChangeAspect="1"/>
          </p:cNvSpPr>
          <p:nvPr>
            <p:ph type="pic" idx="1"/>
          </p:nvPr>
        </p:nvSpPr>
        <p:spPr>
          <a:xfrm>
            <a:off x="3825976" y="6220102"/>
            <a:ext cx="4556016" cy="30700453"/>
          </a:xfrm>
        </p:spPr>
        <p:txBody>
          <a:bodyPr anchor="t"/>
          <a:lstStyle>
            <a:lvl1pPr marL="0" indent="0">
              <a:buNone/>
              <a:defRPr sz="3149"/>
            </a:lvl1pPr>
            <a:lvl2pPr marL="449976" indent="0">
              <a:buNone/>
              <a:defRPr sz="2756"/>
            </a:lvl2pPr>
            <a:lvl3pPr marL="899952" indent="0">
              <a:buNone/>
              <a:defRPr sz="2362"/>
            </a:lvl3pPr>
            <a:lvl4pPr marL="1349929" indent="0">
              <a:buNone/>
              <a:defRPr sz="1968"/>
            </a:lvl4pPr>
            <a:lvl5pPr marL="1799905" indent="0">
              <a:buNone/>
              <a:defRPr sz="1968"/>
            </a:lvl5pPr>
            <a:lvl6pPr marL="2249881" indent="0">
              <a:buNone/>
              <a:defRPr sz="1968"/>
            </a:lvl6pPr>
            <a:lvl7pPr marL="2699857" indent="0">
              <a:buNone/>
              <a:defRPr sz="1968"/>
            </a:lvl7pPr>
            <a:lvl8pPr marL="3149834" indent="0">
              <a:buNone/>
              <a:defRPr sz="1968"/>
            </a:lvl8pPr>
            <a:lvl9pPr marL="3599810" indent="0">
              <a:buNone/>
              <a:defRPr sz="1968"/>
            </a:lvl9pPr>
          </a:lstStyle>
          <a:p>
            <a:r>
              <a:rPr lang="en-US"/>
              <a:t>Click icon to add picture</a:t>
            </a:r>
            <a:endParaRPr lang="en-US" dirty="0"/>
          </a:p>
        </p:txBody>
      </p:sp>
      <p:sp>
        <p:nvSpPr>
          <p:cNvPr id="4" name="Text Placeholder 3"/>
          <p:cNvSpPr>
            <a:spLocks noGrp="1"/>
          </p:cNvSpPr>
          <p:nvPr>
            <p:ph type="body" sz="half" idx="2"/>
          </p:nvPr>
        </p:nvSpPr>
        <p:spPr>
          <a:xfrm>
            <a:off x="619891" y="12960191"/>
            <a:ext cx="2902585" cy="24010358"/>
          </a:xfrm>
        </p:spPr>
        <p:txBody>
          <a:bodyPr/>
          <a:lstStyle>
            <a:lvl1pPr marL="0" indent="0">
              <a:buNone/>
              <a:defRPr sz="1575"/>
            </a:lvl1pPr>
            <a:lvl2pPr marL="449976" indent="0">
              <a:buNone/>
              <a:defRPr sz="1378"/>
            </a:lvl2pPr>
            <a:lvl3pPr marL="899952" indent="0">
              <a:buNone/>
              <a:defRPr sz="1181"/>
            </a:lvl3pPr>
            <a:lvl4pPr marL="1349929" indent="0">
              <a:buNone/>
              <a:defRPr sz="984"/>
            </a:lvl4pPr>
            <a:lvl5pPr marL="1799905" indent="0">
              <a:buNone/>
              <a:defRPr sz="984"/>
            </a:lvl5pPr>
            <a:lvl6pPr marL="2249881" indent="0">
              <a:buNone/>
              <a:defRPr sz="984"/>
            </a:lvl6pPr>
            <a:lvl7pPr marL="2699857" indent="0">
              <a:buNone/>
              <a:defRPr sz="984"/>
            </a:lvl7pPr>
            <a:lvl8pPr marL="3149834" indent="0">
              <a:buNone/>
              <a:defRPr sz="984"/>
            </a:lvl8pPr>
            <a:lvl9pPr marL="3599810" indent="0">
              <a:buNone/>
              <a:defRPr sz="984"/>
            </a:lvl9pPr>
          </a:lstStyle>
          <a:p>
            <a:pPr lvl="0"/>
            <a:r>
              <a:rPr lang="en-US"/>
              <a:t>Click to edit Master text styles</a:t>
            </a:r>
          </a:p>
        </p:txBody>
      </p:sp>
      <p:sp>
        <p:nvSpPr>
          <p:cNvPr id="5" name="Date Placeholder 4"/>
          <p:cNvSpPr>
            <a:spLocks noGrp="1"/>
          </p:cNvSpPr>
          <p:nvPr>
            <p:ph type="dt" sz="half" idx="10"/>
          </p:nvPr>
        </p:nvSpPr>
        <p:spPr/>
        <p:txBody>
          <a:bodyPr/>
          <a:lstStyle/>
          <a:p>
            <a:fld id="{E58DD8DA-754B-41ED-9BDA-093F3525D576}" type="datetimeFigureOut">
              <a:rPr lang="en-ID" smtClean="0"/>
              <a:t>22/06/2026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470E8A3C-E3E9-4828-901F-AAD6FEE48A4D}" type="slidenum">
              <a:rPr lang="en-ID" smtClean="0"/>
              <a:t>‹#›</a:t>
            </a:fld>
            <a:endParaRPr lang="en-ID"/>
          </a:p>
        </p:txBody>
      </p:sp>
    </p:spTree>
    <p:extLst>
      <p:ext uri="{BB962C8B-B14F-4D97-AF65-F5344CB8AC3E}">
        <p14:creationId xmlns:p14="http://schemas.microsoft.com/office/powerpoint/2010/main" val="2324551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8DD8DA-754B-41ED-9BDA-093F3525D576}"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470E8A3C-E3E9-4828-901F-AAD6FEE48A4D}" type="slidenum">
              <a:rPr lang="en-ID" smtClean="0"/>
              <a:t>‹#›</a:t>
            </a:fld>
            <a:endParaRPr lang="en-ID"/>
          </a:p>
        </p:txBody>
      </p:sp>
    </p:spTree>
    <p:extLst>
      <p:ext uri="{BB962C8B-B14F-4D97-AF65-F5344CB8AC3E}">
        <p14:creationId xmlns:p14="http://schemas.microsoft.com/office/powerpoint/2010/main" val="3486355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40295" y="2300034"/>
            <a:ext cx="1940525" cy="366105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18719" y="2300034"/>
            <a:ext cx="5709082" cy="366105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8DD8DA-754B-41ED-9BDA-093F3525D576}"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470E8A3C-E3E9-4828-901F-AAD6FEE48A4D}" type="slidenum">
              <a:rPr lang="en-ID" smtClean="0"/>
              <a:t>‹#›</a:t>
            </a:fld>
            <a:endParaRPr lang="en-ID"/>
          </a:p>
        </p:txBody>
      </p:sp>
    </p:spTree>
    <p:extLst>
      <p:ext uri="{BB962C8B-B14F-4D97-AF65-F5344CB8AC3E}">
        <p14:creationId xmlns:p14="http://schemas.microsoft.com/office/powerpoint/2010/main" val="37465936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8718" y="2300044"/>
            <a:ext cx="7762102" cy="835012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18718" y="11500170"/>
            <a:ext cx="7762102" cy="2741040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18718" y="40040601"/>
            <a:ext cx="2024896" cy="2300034"/>
          </a:xfrm>
          <a:prstGeom prst="rect">
            <a:avLst/>
          </a:prstGeom>
        </p:spPr>
        <p:txBody>
          <a:bodyPr vert="horz" lIns="91440" tIns="45720" rIns="91440" bIns="45720" rtlCol="0" anchor="ctr"/>
          <a:lstStyle>
            <a:lvl1pPr algn="l">
              <a:defRPr sz="1181">
                <a:solidFill>
                  <a:schemeClr val="tx1">
                    <a:tint val="75000"/>
                  </a:schemeClr>
                </a:solidFill>
              </a:defRPr>
            </a:lvl1pPr>
          </a:lstStyle>
          <a:p>
            <a:fld id="{E58DD8DA-754B-41ED-9BDA-093F3525D576}" type="datetimeFigureOut">
              <a:rPr lang="en-ID" smtClean="0"/>
              <a:t>22/06/2026</a:t>
            </a:fld>
            <a:endParaRPr lang="en-ID"/>
          </a:p>
        </p:txBody>
      </p:sp>
      <p:sp>
        <p:nvSpPr>
          <p:cNvPr id="5" name="Footer Placeholder 4"/>
          <p:cNvSpPr>
            <a:spLocks noGrp="1"/>
          </p:cNvSpPr>
          <p:nvPr>
            <p:ph type="ftr" sz="quarter" idx="3"/>
          </p:nvPr>
        </p:nvSpPr>
        <p:spPr>
          <a:xfrm>
            <a:off x="2981097" y="40040601"/>
            <a:ext cx="3037344" cy="2300034"/>
          </a:xfrm>
          <a:prstGeom prst="rect">
            <a:avLst/>
          </a:prstGeom>
        </p:spPr>
        <p:txBody>
          <a:bodyPr vert="horz" lIns="91440" tIns="45720" rIns="91440" bIns="45720" rtlCol="0" anchor="ctr"/>
          <a:lstStyle>
            <a:lvl1pPr algn="ctr">
              <a:defRPr sz="1181">
                <a:solidFill>
                  <a:schemeClr val="tx1">
                    <a:tint val="75000"/>
                  </a:schemeClr>
                </a:solidFill>
              </a:defRPr>
            </a:lvl1pPr>
          </a:lstStyle>
          <a:p>
            <a:endParaRPr lang="en-ID"/>
          </a:p>
        </p:txBody>
      </p:sp>
      <p:sp>
        <p:nvSpPr>
          <p:cNvPr id="6" name="Slide Number Placeholder 5"/>
          <p:cNvSpPr>
            <a:spLocks noGrp="1"/>
          </p:cNvSpPr>
          <p:nvPr>
            <p:ph type="sldNum" sz="quarter" idx="4"/>
          </p:nvPr>
        </p:nvSpPr>
        <p:spPr>
          <a:xfrm>
            <a:off x="6355924" y="40040601"/>
            <a:ext cx="2024896" cy="2300034"/>
          </a:xfrm>
          <a:prstGeom prst="rect">
            <a:avLst/>
          </a:prstGeom>
        </p:spPr>
        <p:txBody>
          <a:bodyPr vert="horz" lIns="91440" tIns="45720" rIns="91440" bIns="45720" rtlCol="0" anchor="ctr"/>
          <a:lstStyle>
            <a:lvl1pPr algn="r">
              <a:defRPr sz="1181">
                <a:solidFill>
                  <a:schemeClr val="tx1">
                    <a:tint val="75000"/>
                  </a:schemeClr>
                </a:solidFill>
              </a:defRPr>
            </a:lvl1pPr>
          </a:lstStyle>
          <a:p>
            <a:fld id="{470E8A3C-E3E9-4828-901F-AAD6FEE48A4D}" type="slidenum">
              <a:rPr lang="en-ID" smtClean="0"/>
              <a:t>‹#›</a:t>
            </a:fld>
            <a:endParaRPr lang="en-ID"/>
          </a:p>
        </p:txBody>
      </p:sp>
    </p:spTree>
    <p:extLst>
      <p:ext uri="{BB962C8B-B14F-4D97-AF65-F5344CB8AC3E}">
        <p14:creationId xmlns:p14="http://schemas.microsoft.com/office/powerpoint/2010/main" val="19003672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899952" rtl="0" eaLnBrk="1" latinLnBrk="0" hangingPunct="1">
        <a:lnSpc>
          <a:spcPct val="90000"/>
        </a:lnSpc>
        <a:spcBef>
          <a:spcPct val="0"/>
        </a:spcBef>
        <a:buNone/>
        <a:defRPr sz="4330" kern="1200">
          <a:solidFill>
            <a:schemeClr val="tx1"/>
          </a:solidFill>
          <a:latin typeface="+mj-lt"/>
          <a:ea typeface="+mj-ea"/>
          <a:cs typeface="+mj-cs"/>
        </a:defRPr>
      </a:lvl1pPr>
    </p:titleStyle>
    <p:bodyStyle>
      <a:lvl1pPr marL="224988" indent="-224988" algn="l" defTabSz="899952" rtl="0" eaLnBrk="1" latinLnBrk="0" hangingPunct="1">
        <a:lnSpc>
          <a:spcPct val="90000"/>
        </a:lnSpc>
        <a:spcBef>
          <a:spcPts val="984"/>
        </a:spcBef>
        <a:buFont typeface="Arial" panose="020B0604020202020204" pitchFamily="34" charset="0"/>
        <a:buChar char="•"/>
        <a:defRPr sz="2756" kern="1200">
          <a:solidFill>
            <a:schemeClr val="tx1"/>
          </a:solidFill>
          <a:latin typeface="+mn-lt"/>
          <a:ea typeface="+mn-ea"/>
          <a:cs typeface="+mn-cs"/>
        </a:defRPr>
      </a:lvl1pPr>
      <a:lvl2pPr marL="674964" indent="-224988" algn="l" defTabSz="899952" rtl="0" eaLnBrk="1" latinLnBrk="0" hangingPunct="1">
        <a:lnSpc>
          <a:spcPct val="90000"/>
        </a:lnSpc>
        <a:spcBef>
          <a:spcPts val="492"/>
        </a:spcBef>
        <a:buFont typeface="Arial" panose="020B0604020202020204" pitchFamily="34" charset="0"/>
        <a:buChar char="•"/>
        <a:defRPr sz="2362" kern="1200">
          <a:solidFill>
            <a:schemeClr val="tx1"/>
          </a:solidFill>
          <a:latin typeface="+mn-lt"/>
          <a:ea typeface="+mn-ea"/>
          <a:cs typeface="+mn-cs"/>
        </a:defRPr>
      </a:lvl2pPr>
      <a:lvl3pPr marL="1124941" indent="-224988" algn="l" defTabSz="899952" rtl="0" eaLnBrk="1" latinLnBrk="0" hangingPunct="1">
        <a:lnSpc>
          <a:spcPct val="90000"/>
        </a:lnSpc>
        <a:spcBef>
          <a:spcPts val="492"/>
        </a:spcBef>
        <a:buFont typeface="Arial" panose="020B0604020202020204" pitchFamily="34" charset="0"/>
        <a:buChar char="•"/>
        <a:defRPr sz="1968" kern="1200">
          <a:solidFill>
            <a:schemeClr val="tx1"/>
          </a:solidFill>
          <a:latin typeface="+mn-lt"/>
          <a:ea typeface="+mn-ea"/>
          <a:cs typeface="+mn-cs"/>
        </a:defRPr>
      </a:lvl3pPr>
      <a:lvl4pPr marL="1574917"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4pPr>
      <a:lvl5pPr marL="2024893"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5pPr>
      <a:lvl6pPr marL="2474869"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6pPr>
      <a:lvl7pPr marL="2924846"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7pPr>
      <a:lvl8pPr marL="3374822"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8pPr>
      <a:lvl9pPr marL="3824798"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9pPr>
    </p:bodyStyle>
    <p:otherStyle>
      <a:defPPr>
        <a:defRPr lang="en-US"/>
      </a:defPPr>
      <a:lvl1pPr marL="0" algn="l" defTabSz="899952" rtl="0" eaLnBrk="1" latinLnBrk="0" hangingPunct="1">
        <a:defRPr sz="1772" kern="1200">
          <a:solidFill>
            <a:schemeClr val="tx1"/>
          </a:solidFill>
          <a:latin typeface="+mn-lt"/>
          <a:ea typeface="+mn-ea"/>
          <a:cs typeface="+mn-cs"/>
        </a:defRPr>
      </a:lvl1pPr>
      <a:lvl2pPr marL="449976" algn="l" defTabSz="899952" rtl="0" eaLnBrk="1" latinLnBrk="0" hangingPunct="1">
        <a:defRPr sz="1772" kern="1200">
          <a:solidFill>
            <a:schemeClr val="tx1"/>
          </a:solidFill>
          <a:latin typeface="+mn-lt"/>
          <a:ea typeface="+mn-ea"/>
          <a:cs typeface="+mn-cs"/>
        </a:defRPr>
      </a:lvl2pPr>
      <a:lvl3pPr marL="899952" algn="l" defTabSz="899952" rtl="0" eaLnBrk="1" latinLnBrk="0" hangingPunct="1">
        <a:defRPr sz="1772" kern="1200">
          <a:solidFill>
            <a:schemeClr val="tx1"/>
          </a:solidFill>
          <a:latin typeface="+mn-lt"/>
          <a:ea typeface="+mn-ea"/>
          <a:cs typeface="+mn-cs"/>
        </a:defRPr>
      </a:lvl3pPr>
      <a:lvl4pPr marL="1349929" algn="l" defTabSz="899952" rtl="0" eaLnBrk="1" latinLnBrk="0" hangingPunct="1">
        <a:defRPr sz="1772" kern="1200">
          <a:solidFill>
            <a:schemeClr val="tx1"/>
          </a:solidFill>
          <a:latin typeface="+mn-lt"/>
          <a:ea typeface="+mn-ea"/>
          <a:cs typeface="+mn-cs"/>
        </a:defRPr>
      </a:lvl4pPr>
      <a:lvl5pPr marL="1799905" algn="l" defTabSz="899952" rtl="0" eaLnBrk="1" latinLnBrk="0" hangingPunct="1">
        <a:defRPr sz="1772" kern="1200">
          <a:solidFill>
            <a:schemeClr val="tx1"/>
          </a:solidFill>
          <a:latin typeface="+mn-lt"/>
          <a:ea typeface="+mn-ea"/>
          <a:cs typeface="+mn-cs"/>
        </a:defRPr>
      </a:lvl5pPr>
      <a:lvl6pPr marL="2249881" algn="l" defTabSz="899952" rtl="0" eaLnBrk="1" latinLnBrk="0" hangingPunct="1">
        <a:defRPr sz="1772" kern="1200">
          <a:solidFill>
            <a:schemeClr val="tx1"/>
          </a:solidFill>
          <a:latin typeface="+mn-lt"/>
          <a:ea typeface="+mn-ea"/>
          <a:cs typeface="+mn-cs"/>
        </a:defRPr>
      </a:lvl6pPr>
      <a:lvl7pPr marL="2699857" algn="l" defTabSz="899952" rtl="0" eaLnBrk="1" latinLnBrk="0" hangingPunct="1">
        <a:defRPr sz="1772" kern="1200">
          <a:solidFill>
            <a:schemeClr val="tx1"/>
          </a:solidFill>
          <a:latin typeface="+mn-lt"/>
          <a:ea typeface="+mn-ea"/>
          <a:cs typeface="+mn-cs"/>
        </a:defRPr>
      </a:lvl7pPr>
      <a:lvl8pPr marL="3149834" algn="l" defTabSz="899952" rtl="0" eaLnBrk="1" latinLnBrk="0" hangingPunct="1">
        <a:defRPr sz="1772" kern="1200">
          <a:solidFill>
            <a:schemeClr val="tx1"/>
          </a:solidFill>
          <a:latin typeface="+mn-lt"/>
          <a:ea typeface="+mn-ea"/>
          <a:cs typeface="+mn-cs"/>
        </a:defRPr>
      </a:lvl8pPr>
      <a:lvl9pPr marL="3599810" algn="l" defTabSz="899952" rtl="0" eaLnBrk="1" latinLnBrk="0" hangingPunct="1">
        <a:defRPr sz="177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png"/><Relationship Id="rId21" Type="http://schemas.openxmlformats.org/officeDocument/2006/relationships/image" Target="../media/image20.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19" Type="http://schemas.openxmlformats.org/officeDocument/2006/relationships/image" Target="../media/image18.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 Id="rId22"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0" descr="preencoded.png">
            <a:extLst>
              <a:ext uri="{FF2B5EF4-FFF2-40B4-BE49-F238E27FC236}">
                <a16:creationId xmlns:a16="http://schemas.microsoft.com/office/drawing/2014/main" id="{E27D8866-F731-E32C-6DA0-AFF1A2BFE388}"/>
              </a:ext>
            </a:extLst>
          </p:cNvPr>
          <p:cNvPicPr>
            <a:picLocks noChangeAspect="1"/>
          </p:cNvPicPr>
          <p:nvPr/>
        </p:nvPicPr>
        <p:blipFill>
          <a:blip r:embed="rId2"/>
          <a:stretch>
            <a:fillRect/>
          </a:stretch>
        </p:blipFill>
        <p:spPr>
          <a:xfrm>
            <a:off x="6580188" y="0"/>
            <a:ext cx="2419350" cy="3629025"/>
          </a:xfrm>
          <a:prstGeom prst="rect">
            <a:avLst/>
          </a:prstGeom>
        </p:spPr>
      </p:pic>
      <p:sp>
        <p:nvSpPr>
          <p:cNvPr id="5" name="Text 0">
            <a:extLst>
              <a:ext uri="{FF2B5EF4-FFF2-40B4-BE49-F238E27FC236}">
                <a16:creationId xmlns:a16="http://schemas.microsoft.com/office/drawing/2014/main" id="{AB3AAACC-E592-C523-E01B-08F85F99992C}"/>
              </a:ext>
            </a:extLst>
          </p:cNvPr>
          <p:cNvSpPr/>
          <p:nvPr/>
        </p:nvSpPr>
        <p:spPr>
          <a:xfrm>
            <a:off x="572319" y="427360"/>
            <a:ext cx="3375124" cy="158800"/>
          </a:xfrm>
          <a:prstGeom prst="rect">
            <a:avLst/>
          </a:prstGeom>
          <a:noFill/>
          <a:ln/>
        </p:spPr>
        <p:txBody>
          <a:bodyPr wrap="none" lIns="0" tIns="0" rIns="0" bIns="0" rtlCol="0" anchor="t"/>
          <a:lstStyle/>
          <a:p>
            <a:pPr marL="0" indent="0" algn="l">
              <a:lnSpc>
                <a:spcPct val="133000"/>
              </a:lnSpc>
              <a:buNone/>
            </a:pPr>
            <a:r>
              <a:rPr lang="en-US" sz="1000" dirty="0">
                <a:solidFill>
                  <a:srgbClr val="28282F"/>
                </a:solidFill>
                <a:latin typeface="Leelawadee UI" panose="020B0502040204020203" pitchFamily="34" charset="-34"/>
                <a:ea typeface="Inter" pitchFamily="34" charset="-122"/>
                <a:cs typeface="Leelawadee UI" panose="020B0502040204020203" pitchFamily="34" charset="-34"/>
              </a:rPr>
              <a:t>BERANDA / DAMPAK &amp; PEMBELAJARAN / KISAH PERUBAHAN</a:t>
            </a:r>
            <a:endParaRPr lang="en-US" sz="1000" dirty="0">
              <a:latin typeface="Leelawadee UI" panose="020B0502040204020203" pitchFamily="34" charset="-34"/>
              <a:cs typeface="Leelawadee UI" panose="020B0502040204020203" pitchFamily="34" charset="-34"/>
            </a:endParaRPr>
          </a:p>
        </p:txBody>
      </p:sp>
      <p:sp>
        <p:nvSpPr>
          <p:cNvPr id="6" name="Text 1">
            <a:extLst>
              <a:ext uri="{FF2B5EF4-FFF2-40B4-BE49-F238E27FC236}">
                <a16:creationId xmlns:a16="http://schemas.microsoft.com/office/drawing/2014/main" id="{30194F1B-0401-61D3-CB5E-7786811899BF}"/>
              </a:ext>
            </a:extLst>
          </p:cNvPr>
          <p:cNvSpPr/>
          <p:nvPr/>
        </p:nvSpPr>
        <p:spPr>
          <a:xfrm>
            <a:off x="572319" y="879946"/>
            <a:ext cx="4722763" cy="861119"/>
          </a:xfrm>
          <a:prstGeom prst="rect">
            <a:avLst/>
          </a:prstGeom>
          <a:noFill/>
          <a:ln/>
        </p:spPr>
        <p:txBody>
          <a:bodyPr wrap="square" lIns="0" tIns="0" rIns="0" bIns="0" rtlCol="0" anchor="t">
            <a:normAutofit/>
          </a:bodyPr>
          <a:lstStyle/>
          <a:p>
            <a:pPr marL="0" indent="0" algn="l">
              <a:lnSpc>
                <a:spcPct val="104000"/>
              </a:lnSpc>
              <a:buNone/>
            </a:pP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Kisah Perubahan Nyata dari Lapangan</a:t>
            </a:r>
            <a:endParaRPr lang="en-US" sz="2400" dirty="0">
              <a:latin typeface="Leelawadee UI" panose="020B0502040204020203" pitchFamily="34" charset="-34"/>
              <a:cs typeface="Leelawadee UI" panose="020B0502040204020203" pitchFamily="34" charset="-34"/>
            </a:endParaRPr>
          </a:p>
        </p:txBody>
      </p:sp>
      <p:sp>
        <p:nvSpPr>
          <p:cNvPr id="7" name="Text 2">
            <a:extLst>
              <a:ext uri="{FF2B5EF4-FFF2-40B4-BE49-F238E27FC236}">
                <a16:creationId xmlns:a16="http://schemas.microsoft.com/office/drawing/2014/main" id="{5F27597D-E3EC-1C28-4168-24C55BB65688}"/>
              </a:ext>
            </a:extLst>
          </p:cNvPr>
          <p:cNvSpPr/>
          <p:nvPr/>
        </p:nvSpPr>
        <p:spPr>
          <a:xfrm>
            <a:off x="572319" y="1634057"/>
            <a:ext cx="5758904" cy="2197075"/>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Di balik setiap program dan intervensi YNKI, terdapat cerita perubahan yang dialami oleh masyarakat, kelembagaan, dan lanskap. Melalui metode </a:t>
            </a: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Outcome Harvesting</a:t>
            </a: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 dan </a:t>
            </a: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Most Significant Change</a:t>
            </a: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 kami mendokumentasikan kisah-kisah ini sebagai bukti bahwa perubahan yang berkelanjutan benar-benar terjadi. Setiap kisah adalah cerminan dari perjalanan bersama menuju </a:t>
            </a:r>
            <a:r>
              <a:rPr lang="en-US" sz="1050" i="1" dirty="0">
                <a:solidFill>
                  <a:srgbClr val="161613"/>
                </a:solidFill>
                <a:latin typeface="Leelawadee UI" panose="020B0502040204020203" pitchFamily="34" charset="-34"/>
                <a:ea typeface="Inter" pitchFamily="34" charset="-122"/>
                <a:cs typeface="Leelawadee UI" panose="020B0502040204020203" pitchFamily="34" charset="-34"/>
              </a:rPr>
              <a:t>Healthy Landscapes, Thriving Communities</a:t>
            </a: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a:t>
            </a:r>
            <a:endParaRPr lang="en-US" sz="1050" dirty="0">
              <a:latin typeface="Leelawadee UI" panose="020B0502040204020203" pitchFamily="34" charset="-34"/>
              <a:cs typeface="Leelawadee UI" panose="020B0502040204020203" pitchFamily="34" charset="-34"/>
            </a:endParaRPr>
          </a:p>
        </p:txBody>
      </p:sp>
      <p:pic>
        <p:nvPicPr>
          <p:cNvPr id="8" name="Image 1" descr="preencoded.png">
            <a:hlinkClick r:id="" action="ppaction://noaction"/>
            <a:extLst>
              <a:ext uri="{FF2B5EF4-FFF2-40B4-BE49-F238E27FC236}">
                <a16:creationId xmlns:a16="http://schemas.microsoft.com/office/drawing/2014/main" id="{6C75AB0E-B936-0847-1C5E-A047F9E6D3D3}"/>
              </a:ext>
            </a:extLst>
          </p:cNvPr>
          <p:cNvPicPr>
            <a:picLocks noChangeAspect="1"/>
          </p:cNvPicPr>
          <p:nvPr/>
        </p:nvPicPr>
        <p:blipFill>
          <a:blip r:embed="rId3"/>
          <a:stretch>
            <a:fillRect/>
          </a:stretch>
        </p:blipFill>
        <p:spPr>
          <a:xfrm>
            <a:off x="572319" y="2964359"/>
            <a:ext cx="1566342" cy="341114"/>
          </a:xfrm>
          <a:prstGeom prst="rect">
            <a:avLst/>
          </a:prstGeom>
        </p:spPr>
      </p:pic>
      <p:pic>
        <p:nvPicPr>
          <p:cNvPr id="9" name="Image 2" descr="preencoded.png">
            <a:hlinkClick r:id="" action="ppaction://noaction"/>
            <a:extLst>
              <a:ext uri="{FF2B5EF4-FFF2-40B4-BE49-F238E27FC236}">
                <a16:creationId xmlns:a16="http://schemas.microsoft.com/office/drawing/2014/main" id="{D0D97DFE-5967-57DC-03A5-3A1106D28E50}"/>
              </a:ext>
            </a:extLst>
          </p:cNvPr>
          <p:cNvPicPr>
            <a:picLocks noChangeAspect="1"/>
          </p:cNvPicPr>
          <p:nvPr/>
        </p:nvPicPr>
        <p:blipFill>
          <a:blip r:embed="rId4"/>
          <a:stretch>
            <a:fillRect/>
          </a:stretch>
        </p:blipFill>
        <p:spPr>
          <a:xfrm>
            <a:off x="2200647" y="2964359"/>
            <a:ext cx="1441624" cy="341114"/>
          </a:xfrm>
          <a:prstGeom prst="rect">
            <a:avLst/>
          </a:prstGeom>
        </p:spPr>
      </p:pic>
      <p:sp>
        <p:nvSpPr>
          <p:cNvPr id="10" name="Shape 0">
            <a:extLst>
              <a:ext uri="{FF2B5EF4-FFF2-40B4-BE49-F238E27FC236}">
                <a16:creationId xmlns:a16="http://schemas.microsoft.com/office/drawing/2014/main" id="{8D283797-F10B-7D0C-1987-A93A0BB018D5}"/>
              </a:ext>
            </a:extLst>
          </p:cNvPr>
          <p:cNvSpPr/>
          <p:nvPr/>
        </p:nvSpPr>
        <p:spPr>
          <a:xfrm>
            <a:off x="572319" y="3977504"/>
            <a:ext cx="1556668" cy="256731"/>
          </a:xfrm>
          <a:prstGeom prst="roundRect">
            <a:avLst>
              <a:gd name="adj" fmla="val 6383"/>
            </a:avLst>
          </a:prstGeom>
          <a:solidFill>
            <a:srgbClr val="E3E3E8"/>
          </a:solidFill>
          <a:ln/>
        </p:spPr>
      </p:sp>
      <p:sp>
        <p:nvSpPr>
          <p:cNvPr id="11" name="Text 1">
            <a:extLst>
              <a:ext uri="{FF2B5EF4-FFF2-40B4-BE49-F238E27FC236}">
                <a16:creationId xmlns:a16="http://schemas.microsoft.com/office/drawing/2014/main" id="{28A68259-D286-DB77-C349-C5A76D371C5D}"/>
              </a:ext>
            </a:extLst>
          </p:cNvPr>
          <p:cNvSpPr/>
          <p:nvPr/>
        </p:nvSpPr>
        <p:spPr>
          <a:xfrm>
            <a:off x="691903" y="4019997"/>
            <a:ext cx="1353815" cy="158800"/>
          </a:xfrm>
          <a:prstGeom prst="rect">
            <a:avLst/>
          </a:prstGeom>
          <a:noFill/>
          <a:ln/>
        </p:spPr>
        <p:txBody>
          <a:bodyPr wrap="none" lIns="0" tIns="0" rIns="0" bIns="0" rtlCol="0" anchor="t"/>
          <a:lstStyle/>
          <a:p>
            <a:pPr marL="0" indent="0" algn="l">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METODOLOGI MEL</a:t>
            </a:r>
            <a:endParaRPr lang="en-US" sz="1000" dirty="0">
              <a:latin typeface="Leelawadee UI" panose="020B0502040204020203" pitchFamily="34" charset="-34"/>
              <a:cs typeface="Leelawadee UI" panose="020B0502040204020203" pitchFamily="34" charset="-34"/>
            </a:endParaRPr>
          </a:p>
        </p:txBody>
      </p:sp>
      <p:sp>
        <p:nvSpPr>
          <p:cNvPr id="12" name="Text 2">
            <a:extLst>
              <a:ext uri="{FF2B5EF4-FFF2-40B4-BE49-F238E27FC236}">
                <a16:creationId xmlns:a16="http://schemas.microsoft.com/office/drawing/2014/main" id="{AA88EEAB-F3F2-CBD3-C701-05165240DA60}"/>
              </a:ext>
            </a:extLst>
          </p:cNvPr>
          <p:cNvSpPr/>
          <p:nvPr/>
        </p:nvSpPr>
        <p:spPr>
          <a:xfrm>
            <a:off x="572319" y="4283794"/>
            <a:ext cx="7614270" cy="387548"/>
          </a:xfrm>
          <a:prstGeom prst="rect">
            <a:avLst/>
          </a:prstGeom>
          <a:noFill/>
          <a:ln/>
        </p:spPr>
        <p:txBody>
          <a:bodyPr wrap="none" lIns="0" tIns="0" rIns="0" bIns="0" rtlCol="0" anchor="t"/>
          <a:lstStyle/>
          <a:p>
            <a:pPr marL="0" indent="0" algn="l">
              <a:lnSpc>
                <a:spcPct val="104000"/>
              </a:lnSpc>
              <a:buNone/>
            </a:pP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Bagaimana Kami Mendokumentasikan Perubahan</a:t>
            </a:r>
            <a:endParaRPr lang="en-US" sz="2400" dirty="0">
              <a:latin typeface="Leelawadee UI" panose="020B0502040204020203" pitchFamily="34" charset="-34"/>
              <a:cs typeface="Leelawadee UI" panose="020B0502040204020203" pitchFamily="34" charset="-34"/>
            </a:endParaRPr>
          </a:p>
        </p:txBody>
      </p:sp>
      <p:sp>
        <p:nvSpPr>
          <p:cNvPr id="13" name="Text 3">
            <a:extLst>
              <a:ext uri="{FF2B5EF4-FFF2-40B4-BE49-F238E27FC236}">
                <a16:creationId xmlns:a16="http://schemas.microsoft.com/office/drawing/2014/main" id="{55AAC79B-59F7-4CF9-77DB-6654ED1FBE79}"/>
              </a:ext>
            </a:extLst>
          </p:cNvPr>
          <p:cNvSpPr/>
          <p:nvPr/>
        </p:nvSpPr>
        <p:spPr>
          <a:xfrm>
            <a:off x="572319" y="4781848"/>
            <a:ext cx="8151763" cy="1044398"/>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YNKI menggunakan metode </a:t>
            </a: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Outcome Harvesting</a:t>
            </a: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 dan </a:t>
            </a: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Most Significant Change (MSC)</a:t>
            </a: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 untuk mengidentifikasi, mendokumentasikan, dan menganalisis perubahan-perubahan yang terjadi sebagai hasil dari program dan intervensi kami. Metode ini memungkinkan kami untuk menangkap perubahan yang tidak selalu terukur secara kuantitatif—seperti perubahan perilaku, perubahan kelembagaan, dan perubahan sistem—yang seringkali menjadi indikator paling bermakna dari keberhasilan jangka panjang.</a:t>
            </a:r>
            <a:endParaRPr lang="en-US" sz="1050" dirty="0">
              <a:latin typeface="Leelawadee UI" panose="020B0502040204020203" pitchFamily="34" charset="-34"/>
              <a:cs typeface="Leelawadee UI" panose="020B0502040204020203" pitchFamily="34" charset="-34"/>
            </a:endParaRPr>
          </a:p>
        </p:txBody>
      </p:sp>
      <p:sp>
        <p:nvSpPr>
          <p:cNvPr id="14" name="Shape 4">
            <a:extLst>
              <a:ext uri="{FF2B5EF4-FFF2-40B4-BE49-F238E27FC236}">
                <a16:creationId xmlns:a16="http://schemas.microsoft.com/office/drawing/2014/main" id="{0C5A37F1-E398-483A-F6CC-7B7E02DCF041}"/>
              </a:ext>
            </a:extLst>
          </p:cNvPr>
          <p:cNvSpPr/>
          <p:nvPr/>
        </p:nvSpPr>
        <p:spPr>
          <a:xfrm>
            <a:off x="572319" y="5790754"/>
            <a:ext cx="14288" cy="675977"/>
          </a:xfrm>
          <a:prstGeom prst="roundRect">
            <a:avLst>
              <a:gd name="adj" fmla="val 59998"/>
            </a:avLst>
          </a:prstGeom>
          <a:solidFill>
            <a:srgbClr val="28282F"/>
          </a:solidFill>
          <a:ln/>
        </p:spPr>
      </p:sp>
      <p:sp>
        <p:nvSpPr>
          <p:cNvPr id="15" name="Text 5">
            <a:extLst>
              <a:ext uri="{FF2B5EF4-FFF2-40B4-BE49-F238E27FC236}">
                <a16:creationId xmlns:a16="http://schemas.microsoft.com/office/drawing/2014/main" id="{6C10AD5F-4027-363B-CE7E-B2A171A06880}"/>
              </a:ext>
            </a:extLst>
          </p:cNvPr>
          <p:cNvSpPr/>
          <p:nvPr/>
        </p:nvSpPr>
        <p:spPr>
          <a:xfrm>
            <a:off x="758354" y="5930280"/>
            <a:ext cx="7965728" cy="396925"/>
          </a:xfrm>
          <a:prstGeom prst="rect">
            <a:avLst/>
          </a:prstGeom>
          <a:noFill/>
          <a:ln/>
        </p:spPr>
        <p:txBody>
          <a:bodyPr wrap="square" lIns="0" tIns="0" rIns="0" bIns="0" rtlCol="0" anchor="t">
            <a:normAutofit lnSpcReduction="10000"/>
          </a:bodyPr>
          <a:lstStyle/>
          <a:p>
            <a:pPr marL="0" indent="0" algn="l">
              <a:lnSpc>
                <a:spcPct val="133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Setiap kisah yang kami publikasikan telah melalui proses verifikasi dan refleksi bersama dengan para pemangku kepentingan yang terlibat—memastikan bahwa suara masyarakat menjadi pusat dari setiap narasi perubahan.</a:t>
            </a:r>
            <a:endParaRPr lang="en-US" sz="1050" dirty="0">
              <a:latin typeface="Leelawadee UI" panose="020B0502040204020203" pitchFamily="34" charset="-34"/>
              <a:cs typeface="Leelawadee UI" panose="020B0502040204020203" pitchFamily="34" charset="-34"/>
            </a:endParaRPr>
          </a:p>
        </p:txBody>
      </p:sp>
      <p:sp>
        <p:nvSpPr>
          <p:cNvPr id="16" name="Shape 6">
            <a:extLst>
              <a:ext uri="{FF2B5EF4-FFF2-40B4-BE49-F238E27FC236}">
                <a16:creationId xmlns:a16="http://schemas.microsoft.com/office/drawing/2014/main" id="{7714A3EE-5579-51CA-0EEF-C276F88EF0B2}"/>
              </a:ext>
            </a:extLst>
          </p:cNvPr>
          <p:cNvSpPr/>
          <p:nvPr/>
        </p:nvSpPr>
        <p:spPr>
          <a:xfrm>
            <a:off x="572319" y="6606257"/>
            <a:ext cx="2634555" cy="1508522"/>
          </a:xfrm>
          <a:prstGeom prst="roundRect">
            <a:avLst>
              <a:gd name="adj" fmla="val 1233"/>
            </a:avLst>
          </a:prstGeom>
          <a:solidFill>
            <a:srgbClr val="EDEBE3"/>
          </a:solidFill>
          <a:ln/>
        </p:spPr>
      </p:sp>
      <p:sp>
        <p:nvSpPr>
          <p:cNvPr id="17" name="Text 7">
            <a:extLst>
              <a:ext uri="{FF2B5EF4-FFF2-40B4-BE49-F238E27FC236}">
                <a16:creationId xmlns:a16="http://schemas.microsoft.com/office/drawing/2014/main" id="{AD52D6CA-D005-514A-1DDA-43A9621800FD}"/>
              </a:ext>
            </a:extLst>
          </p:cNvPr>
          <p:cNvSpPr/>
          <p:nvPr/>
        </p:nvSpPr>
        <p:spPr>
          <a:xfrm>
            <a:off x="696292" y="6730231"/>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Outcome Harvesting</a:t>
            </a:r>
            <a:endParaRPr lang="en-US" sz="1200" dirty="0">
              <a:latin typeface="Leelawadee UI" panose="020B0502040204020203" pitchFamily="34" charset="-34"/>
              <a:cs typeface="Leelawadee UI" panose="020B0502040204020203" pitchFamily="34" charset="-34"/>
            </a:endParaRPr>
          </a:p>
        </p:txBody>
      </p:sp>
      <p:sp>
        <p:nvSpPr>
          <p:cNvPr id="18" name="Text 8">
            <a:extLst>
              <a:ext uri="{FF2B5EF4-FFF2-40B4-BE49-F238E27FC236}">
                <a16:creationId xmlns:a16="http://schemas.microsoft.com/office/drawing/2014/main" id="{5CAE7719-DBCB-F965-014C-A9FFC33DF0C6}"/>
              </a:ext>
            </a:extLst>
          </p:cNvPr>
          <p:cNvSpPr/>
          <p:nvPr/>
        </p:nvSpPr>
        <p:spPr>
          <a:xfrm>
            <a:off x="696292" y="6998494"/>
            <a:ext cx="2386608" cy="992312"/>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Mengidentifikasi perubahan perilaku, tindakan, atau kebijakan yang telah terjadi pada pemangku kepentingan dan sistem sebagai hasil dari intervensi program.</a:t>
            </a:r>
            <a:endParaRPr lang="en-US" sz="1000" dirty="0">
              <a:latin typeface="Leelawadee UI" panose="020B0502040204020203" pitchFamily="34" charset="-34"/>
              <a:cs typeface="Leelawadee UI" panose="020B0502040204020203" pitchFamily="34" charset="-34"/>
            </a:endParaRPr>
          </a:p>
        </p:txBody>
      </p:sp>
      <p:sp>
        <p:nvSpPr>
          <p:cNvPr id="19" name="Shape 9">
            <a:extLst>
              <a:ext uri="{FF2B5EF4-FFF2-40B4-BE49-F238E27FC236}">
                <a16:creationId xmlns:a16="http://schemas.microsoft.com/office/drawing/2014/main" id="{847D4E1B-6C88-27B0-62BA-B2A94B007387}"/>
              </a:ext>
            </a:extLst>
          </p:cNvPr>
          <p:cNvSpPr/>
          <p:nvPr/>
        </p:nvSpPr>
        <p:spPr>
          <a:xfrm>
            <a:off x="3330848" y="6606257"/>
            <a:ext cx="2634630" cy="1508522"/>
          </a:xfrm>
          <a:prstGeom prst="roundRect">
            <a:avLst>
              <a:gd name="adj" fmla="val 1233"/>
            </a:avLst>
          </a:prstGeom>
          <a:solidFill>
            <a:srgbClr val="EDEBE3"/>
          </a:solidFill>
          <a:ln/>
        </p:spPr>
      </p:sp>
      <p:sp>
        <p:nvSpPr>
          <p:cNvPr id="20" name="Text 10">
            <a:extLst>
              <a:ext uri="{FF2B5EF4-FFF2-40B4-BE49-F238E27FC236}">
                <a16:creationId xmlns:a16="http://schemas.microsoft.com/office/drawing/2014/main" id="{3517B11D-B2C5-0882-8BA5-20F388426D93}"/>
              </a:ext>
            </a:extLst>
          </p:cNvPr>
          <p:cNvSpPr/>
          <p:nvPr/>
        </p:nvSpPr>
        <p:spPr>
          <a:xfrm>
            <a:off x="3454822" y="6730231"/>
            <a:ext cx="1770683"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Most Significant Change</a:t>
            </a:r>
            <a:endParaRPr lang="en-US" sz="1200" dirty="0">
              <a:latin typeface="Leelawadee UI" panose="020B0502040204020203" pitchFamily="34" charset="-34"/>
              <a:cs typeface="Leelawadee UI" panose="020B0502040204020203" pitchFamily="34" charset="-34"/>
            </a:endParaRPr>
          </a:p>
        </p:txBody>
      </p:sp>
      <p:sp>
        <p:nvSpPr>
          <p:cNvPr id="21" name="Text 11">
            <a:extLst>
              <a:ext uri="{FF2B5EF4-FFF2-40B4-BE49-F238E27FC236}">
                <a16:creationId xmlns:a16="http://schemas.microsoft.com/office/drawing/2014/main" id="{2B590373-3C34-55A7-945C-56D176499DCE}"/>
              </a:ext>
            </a:extLst>
          </p:cNvPr>
          <p:cNvSpPr/>
          <p:nvPr/>
        </p:nvSpPr>
        <p:spPr>
          <a:xfrm>
            <a:off x="3454822" y="6998494"/>
            <a:ext cx="2386682" cy="992312"/>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Mengumpulkan kisah-kisah perubahan paling bermakna langsung dari perspektif masyarakat dan mitra, lalu merefleksikan bersama untuk memahami dampak terdalam.</a:t>
            </a:r>
            <a:endParaRPr lang="en-US" sz="1000" dirty="0">
              <a:latin typeface="Leelawadee UI" panose="020B0502040204020203" pitchFamily="34" charset="-34"/>
              <a:cs typeface="Leelawadee UI" panose="020B0502040204020203" pitchFamily="34" charset="-34"/>
            </a:endParaRPr>
          </a:p>
        </p:txBody>
      </p:sp>
      <p:sp>
        <p:nvSpPr>
          <p:cNvPr id="22" name="Shape 12">
            <a:extLst>
              <a:ext uri="{FF2B5EF4-FFF2-40B4-BE49-F238E27FC236}">
                <a16:creationId xmlns:a16="http://schemas.microsoft.com/office/drawing/2014/main" id="{7E147CC6-1CB6-B754-A5EB-312FA559AEA0}"/>
              </a:ext>
            </a:extLst>
          </p:cNvPr>
          <p:cNvSpPr/>
          <p:nvPr/>
        </p:nvSpPr>
        <p:spPr>
          <a:xfrm>
            <a:off x="6089452" y="6606257"/>
            <a:ext cx="2634555" cy="1508522"/>
          </a:xfrm>
          <a:prstGeom prst="roundRect">
            <a:avLst>
              <a:gd name="adj" fmla="val 1233"/>
            </a:avLst>
          </a:prstGeom>
          <a:solidFill>
            <a:srgbClr val="EDEBE3"/>
          </a:solidFill>
          <a:ln/>
        </p:spPr>
      </p:sp>
      <p:sp>
        <p:nvSpPr>
          <p:cNvPr id="23" name="Text 13">
            <a:extLst>
              <a:ext uri="{FF2B5EF4-FFF2-40B4-BE49-F238E27FC236}">
                <a16:creationId xmlns:a16="http://schemas.microsoft.com/office/drawing/2014/main" id="{47479D59-A797-BF51-06F2-76266AF826A2}"/>
              </a:ext>
            </a:extLst>
          </p:cNvPr>
          <p:cNvSpPr/>
          <p:nvPr/>
        </p:nvSpPr>
        <p:spPr>
          <a:xfrm>
            <a:off x="6213425" y="6730231"/>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Verifikasi &amp; Refleksi</a:t>
            </a:r>
            <a:endParaRPr lang="en-US" sz="1200" dirty="0">
              <a:latin typeface="Leelawadee UI" panose="020B0502040204020203" pitchFamily="34" charset="-34"/>
              <a:cs typeface="Leelawadee UI" panose="020B0502040204020203" pitchFamily="34" charset="-34"/>
            </a:endParaRPr>
          </a:p>
        </p:txBody>
      </p:sp>
      <p:sp>
        <p:nvSpPr>
          <p:cNvPr id="24" name="Text 14">
            <a:extLst>
              <a:ext uri="{FF2B5EF4-FFF2-40B4-BE49-F238E27FC236}">
                <a16:creationId xmlns:a16="http://schemas.microsoft.com/office/drawing/2014/main" id="{C6336B3D-8D84-0086-E61C-8D303F084039}"/>
              </a:ext>
            </a:extLst>
          </p:cNvPr>
          <p:cNvSpPr/>
          <p:nvPr/>
        </p:nvSpPr>
        <p:spPr>
          <a:xfrm>
            <a:off x="6213425" y="6998494"/>
            <a:ext cx="2386608" cy="992312"/>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Setiap kisah divalidasi bersama pemangku kepentingan untuk memastikan akurasi, kejujuran, dan keterwakilan suara komunitas dalam setiap dokumentasi.</a:t>
            </a:r>
            <a:endParaRPr lang="en-US" sz="1000" dirty="0">
              <a:latin typeface="Leelawadee UI" panose="020B0502040204020203" pitchFamily="34" charset="-34"/>
              <a:cs typeface="Leelawadee UI" panose="020B0502040204020203" pitchFamily="34" charset="-34"/>
            </a:endParaRPr>
          </a:p>
        </p:txBody>
      </p:sp>
      <p:sp>
        <p:nvSpPr>
          <p:cNvPr id="25" name="Shape 0">
            <a:extLst>
              <a:ext uri="{FF2B5EF4-FFF2-40B4-BE49-F238E27FC236}">
                <a16:creationId xmlns:a16="http://schemas.microsoft.com/office/drawing/2014/main" id="{0A5108E5-E039-4DA9-36EF-40930ED93156}"/>
              </a:ext>
            </a:extLst>
          </p:cNvPr>
          <p:cNvSpPr/>
          <p:nvPr/>
        </p:nvSpPr>
        <p:spPr>
          <a:xfrm>
            <a:off x="572244" y="8626521"/>
            <a:ext cx="1614339" cy="296470"/>
          </a:xfrm>
          <a:prstGeom prst="roundRect">
            <a:avLst>
              <a:gd name="adj" fmla="val 6455"/>
            </a:avLst>
          </a:prstGeom>
          <a:solidFill>
            <a:srgbClr val="E3E3E8"/>
          </a:solidFill>
          <a:ln/>
        </p:spPr>
      </p:sp>
      <p:sp>
        <p:nvSpPr>
          <p:cNvPr id="26" name="Text 1">
            <a:extLst>
              <a:ext uri="{FF2B5EF4-FFF2-40B4-BE49-F238E27FC236}">
                <a16:creationId xmlns:a16="http://schemas.microsoft.com/office/drawing/2014/main" id="{5D7C2F2D-93B6-0C4C-BCDF-41DB00C669BB}"/>
              </a:ext>
            </a:extLst>
          </p:cNvPr>
          <p:cNvSpPr/>
          <p:nvPr/>
        </p:nvSpPr>
        <p:spPr>
          <a:xfrm>
            <a:off x="702394" y="8659713"/>
            <a:ext cx="1365498" cy="151358"/>
          </a:xfrm>
          <a:prstGeom prst="rect">
            <a:avLst/>
          </a:prstGeom>
          <a:noFill/>
          <a:ln/>
        </p:spPr>
        <p:txBody>
          <a:bodyPr wrap="none" lIns="0" tIns="0" rIns="0" bIns="0" rtlCol="0" anchor="t"/>
          <a:lstStyle/>
          <a:p>
            <a:pPr marL="0" indent="0" algn="l">
              <a:lnSpc>
                <a:spcPct val="131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KISAH PERUBAHAN</a:t>
            </a:r>
            <a:endParaRPr lang="en-US" sz="1000" dirty="0">
              <a:latin typeface="Leelawadee UI" panose="020B0502040204020203" pitchFamily="34" charset="-34"/>
              <a:cs typeface="Leelawadee UI" panose="020B0502040204020203" pitchFamily="34" charset="-34"/>
            </a:endParaRPr>
          </a:p>
        </p:txBody>
      </p:sp>
      <p:sp>
        <p:nvSpPr>
          <p:cNvPr id="27" name="Text 2">
            <a:extLst>
              <a:ext uri="{FF2B5EF4-FFF2-40B4-BE49-F238E27FC236}">
                <a16:creationId xmlns:a16="http://schemas.microsoft.com/office/drawing/2014/main" id="{DAA61DC5-74C2-AAF7-7CBB-29E02E2BBC89}"/>
              </a:ext>
            </a:extLst>
          </p:cNvPr>
          <p:cNvSpPr/>
          <p:nvPr/>
        </p:nvSpPr>
        <p:spPr>
          <a:xfrm>
            <a:off x="572245" y="8969499"/>
            <a:ext cx="5997401" cy="375493"/>
          </a:xfrm>
          <a:prstGeom prst="rect">
            <a:avLst/>
          </a:prstGeom>
          <a:noFill/>
          <a:ln/>
        </p:spPr>
        <p:txBody>
          <a:bodyPr wrap="none" lIns="0" tIns="0" rIns="0" bIns="0" rtlCol="0" anchor="t"/>
          <a:lstStyle/>
          <a:p>
            <a:pPr marL="0" indent="0" algn="l">
              <a:lnSpc>
                <a:spcPct val="104000"/>
              </a:lnSpc>
              <a:buNone/>
            </a:pPr>
            <a:r>
              <a:rPr lang="en-US" sz="2350" dirty="0">
                <a:solidFill>
                  <a:srgbClr val="161613"/>
                </a:solidFill>
                <a:latin typeface="Leelawadee UI" panose="020B0502040204020203" pitchFamily="34" charset="-34"/>
                <a:ea typeface="DM Sans Medium" pitchFamily="34" charset="-122"/>
                <a:cs typeface="Leelawadee UI" panose="020B0502040204020203" pitchFamily="34" charset="-34"/>
              </a:rPr>
              <a:t>Kisah Perubahan dari Berbagai Lanskap</a:t>
            </a:r>
            <a:endParaRPr lang="en-US" sz="2350" dirty="0">
              <a:latin typeface="Leelawadee UI" panose="020B0502040204020203" pitchFamily="34" charset="-34"/>
              <a:cs typeface="Leelawadee UI" panose="020B0502040204020203" pitchFamily="34" charset="-34"/>
            </a:endParaRPr>
          </a:p>
        </p:txBody>
      </p:sp>
      <p:sp>
        <p:nvSpPr>
          <p:cNvPr id="28" name="Text 3">
            <a:extLst>
              <a:ext uri="{FF2B5EF4-FFF2-40B4-BE49-F238E27FC236}">
                <a16:creationId xmlns:a16="http://schemas.microsoft.com/office/drawing/2014/main" id="{22ADF62E-F3EB-42C8-3E4C-818033467A9D}"/>
              </a:ext>
            </a:extLst>
          </p:cNvPr>
          <p:cNvSpPr/>
          <p:nvPr/>
        </p:nvSpPr>
        <p:spPr>
          <a:xfrm>
            <a:off x="572245" y="9427516"/>
            <a:ext cx="8151763" cy="470521"/>
          </a:xfrm>
          <a:prstGeom prst="rect">
            <a:avLst/>
          </a:prstGeom>
          <a:noFill/>
          <a:ln/>
        </p:spPr>
        <p:txBody>
          <a:bodyPr wrap="square" lIns="0" tIns="0" rIns="0" bIns="0" rtlCol="0" anchor="t">
            <a:normAutofit/>
          </a:bodyPr>
          <a:lstStyle/>
          <a:p>
            <a:pPr marL="0" indent="0" algn="l">
              <a:lnSpc>
                <a:spcPct val="131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Berikut adalah kisah-kisah perubahan yang telah didokumentasikan dari berbagai program dan lanskap tempat YNKI bekerja. Setiap kisah mencerminkan dampak nyata dari kolaborasi antara YNKI, masyarakat, mitra, dan pemangku kepentingan lainnya.</a:t>
            </a:r>
            <a:endParaRPr lang="en-US" sz="1050" dirty="0">
              <a:latin typeface="Leelawadee UI" panose="020B0502040204020203" pitchFamily="34" charset="-34"/>
              <a:cs typeface="Leelawadee UI" panose="020B0502040204020203" pitchFamily="34" charset="-34"/>
            </a:endParaRPr>
          </a:p>
        </p:txBody>
      </p:sp>
      <p:pic>
        <p:nvPicPr>
          <p:cNvPr id="29" name="Image 0" descr="preencoded.png">
            <a:extLst>
              <a:ext uri="{FF2B5EF4-FFF2-40B4-BE49-F238E27FC236}">
                <a16:creationId xmlns:a16="http://schemas.microsoft.com/office/drawing/2014/main" id="{C285E583-A04E-F9A8-A458-24E389B20911}"/>
              </a:ext>
            </a:extLst>
          </p:cNvPr>
          <p:cNvPicPr>
            <a:picLocks noChangeAspect="1"/>
          </p:cNvPicPr>
          <p:nvPr/>
        </p:nvPicPr>
        <p:blipFill>
          <a:blip r:embed="rId5"/>
          <a:stretch>
            <a:fillRect/>
          </a:stretch>
        </p:blipFill>
        <p:spPr>
          <a:xfrm>
            <a:off x="572245" y="10028932"/>
            <a:ext cx="1297781" cy="802035"/>
          </a:xfrm>
          <a:prstGeom prst="rect">
            <a:avLst/>
          </a:prstGeom>
        </p:spPr>
      </p:pic>
      <p:sp>
        <p:nvSpPr>
          <p:cNvPr id="30" name="Shape 4">
            <a:extLst>
              <a:ext uri="{FF2B5EF4-FFF2-40B4-BE49-F238E27FC236}">
                <a16:creationId xmlns:a16="http://schemas.microsoft.com/office/drawing/2014/main" id="{C22AC570-0543-A9D1-4495-B7A364245828}"/>
              </a:ext>
            </a:extLst>
          </p:cNvPr>
          <p:cNvSpPr/>
          <p:nvPr/>
        </p:nvSpPr>
        <p:spPr>
          <a:xfrm>
            <a:off x="2015505" y="10028932"/>
            <a:ext cx="2177207" cy="232916"/>
          </a:xfrm>
          <a:prstGeom prst="roundRect">
            <a:avLst>
              <a:gd name="adj" fmla="val 6191"/>
            </a:avLst>
          </a:prstGeom>
          <a:noFill/>
          <a:ln w="4763">
            <a:solidFill>
              <a:srgbClr val="28282F"/>
            </a:solidFill>
            <a:prstDash val="solid"/>
          </a:ln>
        </p:spPr>
      </p:sp>
      <p:sp>
        <p:nvSpPr>
          <p:cNvPr id="31" name="Text 5">
            <a:extLst>
              <a:ext uri="{FF2B5EF4-FFF2-40B4-BE49-F238E27FC236}">
                <a16:creationId xmlns:a16="http://schemas.microsoft.com/office/drawing/2014/main" id="{B2D704C2-3543-B031-5147-DADF977AC1C5}"/>
              </a:ext>
            </a:extLst>
          </p:cNvPr>
          <p:cNvSpPr/>
          <p:nvPr/>
        </p:nvSpPr>
        <p:spPr>
          <a:xfrm>
            <a:off x="2092301" y="10069711"/>
            <a:ext cx="2023616" cy="151358"/>
          </a:xfrm>
          <a:prstGeom prst="rect">
            <a:avLst/>
          </a:prstGeom>
          <a:noFill/>
          <a:ln/>
        </p:spPr>
        <p:txBody>
          <a:bodyPr wrap="none" lIns="0" tIns="0" rIns="0" bIns="0" rtlCol="0" anchor="t"/>
          <a:lstStyle/>
          <a:p>
            <a:pPr marL="0" indent="0" algn="l">
              <a:lnSpc>
                <a:spcPct val="131000"/>
              </a:lnSpc>
              <a:buNone/>
            </a:pPr>
            <a:r>
              <a:rPr lang="en-US" sz="900" dirty="0">
                <a:solidFill>
                  <a:srgbClr val="28282F"/>
                </a:solidFill>
                <a:latin typeface="Leelawadee UI" panose="020B0502040204020203" pitchFamily="34" charset="-34"/>
                <a:ea typeface="Inter" pitchFamily="34" charset="-122"/>
                <a:cs typeface="Leelawadee UI" panose="020B0502040204020203" pitchFamily="34" charset="-34"/>
              </a:rPr>
              <a:t>RESTORASI GAMBUT · KALIMANTAN BARAT</a:t>
            </a:r>
            <a:endParaRPr lang="en-US" sz="900" dirty="0">
              <a:latin typeface="Leelawadee UI" panose="020B0502040204020203" pitchFamily="34" charset="-34"/>
              <a:cs typeface="Leelawadee UI" panose="020B0502040204020203" pitchFamily="34" charset="-34"/>
            </a:endParaRPr>
          </a:p>
        </p:txBody>
      </p:sp>
      <p:sp>
        <p:nvSpPr>
          <p:cNvPr id="32" name="Text 6">
            <a:extLst>
              <a:ext uri="{FF2B5EF4-FFF2-40B4-BE49-F238E27FC236}">
                <a16:creationId xmlns:a16="http://schemas.microsoft.com/office/drawing/2014/main" id="{424BDC6D-A870-0419-338E-D78BDB2DDDE8}"/>
              </a:ext>
            </a:extLst>
          </p:cNvPr>
          <p:cNvSpPr/>
          <p:nvPr/>
        </p:nvSpPr>
        <p:spPr>
          <a:xfrm>
            <a:off x="2015505" y="10308357"/>
            <a:ext cx="4315718" cy="187747"/>
          </a:xfrm>
          <a:prstGeom prst="rect">
            <a:avLst/>
          </a:prstGeom>
          <a:noFill/>
          <a:ln/>
        </p:spPr>
        <p:txBody>
          <a:bodyPr wrap="none" lIns="0" tIns="0" rIns="0" bIns="0" rtlCol="0" anchor="t"/>
          <a:lstStyle/>
          <a:p>
            <a:pPr marL="0" indent="0" algn="l">
              <a:lnSpc>
                <a:spcPct val="104000"/>
              </a:lnSpc>
              <a:buNone/>
            </a:pP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Restorasi Gambut Berbasis Masyarakat di Desa Permata Jaya</a:t>
            </a:r>
            <a:endParaRPr lang="en-US" sz="1400" dirty="0">
              <a:latin typeface="Leelawadee UI" panose="020B0502040204020203" pitchFamily="34" charset="-34"/>
              <a:cs typeface="Leelawadee UI" panose="020B0502040204020203" pitchFamily="34" charset="-34"/>
            </a:endParaRPr>
          </a:p>
        </p:txBody>
      </p:sp>
      <p:sp>
        <p:nvSpPr>
          <p:cNvPr id="33" name="Text 7">
            <a:extLst>
              <a:ext uri="{FF2B5EF4-FFF2-40B4-BE49-F238E27FC236}">
                <a16:creationId xmlns:a16="http://schemas.microsoft.com/office/drawing/2014/main" id="{1A31C2C4-0ADF-0457-9CBA-51CAFF77CE6D}"/>
              </a:ext>
            </a:extLst>
          </p:cNvPr>
          <p:cNvSpPr/>
          <p:nvPr/>
        </p:nvSpPr>
        <p:spPr>
          <a:xfrm>
            <a:off x="2015505" y="10565904"/>
            <a:ext cx="6708502" cy="567705"/>
          </a:xfrm>
          <a:prstGeom prst="rect">
            <a:avLst/>
          </a:prstGeom>
          <a:noFill/>
          <a:ln/>
        </p:spPr>
        <p:txBody>
          <a:bodyPr wrap="square" lIns="0" tIns="0" rIns="0" bIns="0" rtlCol="0" anchor="t">
            <a:noAutofit/>
          </a:bodyPr>
          <a:lstStyle/>
          <a:p>
            <a:pPr marL="0" indent="0" algn="l">
              <a:lnSpc>
                <a:spcPct val="131000"/>
              </a:lnSpc>
              <a:buNone/>
            </a:pP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Lokasi:</a:t>
            </a: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 Desa Permata Jaya, Kabupaten Kubu Raya, Kalimantan Barat</a:t>
            </a:r>
            <a:endParaRPr lang="en-US" sz="1050" dirty="0">
              <a:latin typeface="Leelawadee UI" panose="020B0502040204020203" pitchFamily="34" charset="-34"/>
              <a:cs typeface="Leelawadee UI" panose="020B0502040204020203" pitchFamily="34" charset="-34"/>
            </a:endParaRPr>
          </a:p>
          <a:p>
            <a:pPr marL="0" indent="0" algn="l">
              <a:lnSpc>
                <a:spcPct val="131000"/>
              </a:lnSpc>
              <a:buNone/>
            </a:pP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Program:</a:t>
            </a: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 Natural Capital &amp; Restoration Program</a:t>
            </a:r>
            <a:endParaRPr lang="en-US" sz="1050" dirty="0">
              <a:latin typeface="Leelawadee UI" panose="020B0502040204020203" pitchFamily="34" charset="-34"/>
              <a:cs typeface="Leelawadee UI" panose="020B0502040204020203" pitchFamily="34" charset="-34"/>
            </a:endParaRPr>
          </a:p>
          <a:p>
            <a:pPr marL="0" indent="0" algn="l">
              <a:lnSpc>
                <a:spcPct val="131000"/>
              </a:lnSpc>
              <a:buNone/>
            </a:pP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Mitra:</a:t>
            </a: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 PM Haze, LDPH Permata Jaya</a:t>
            </a:r>
            <a:endParaRPr lang="en-US" sz="1050" dirty="0">
              <a:latin typeface="Leelawadee UI" panose="020B0502040204020203" pitchFamily="34" charset="-34"/>
              <a:cs typeface="Leelawadee UI" panose="020B0502040204020203" pitchFamily="34" charset="-34"/>
            </a:endParaRPr>
          </a:p>
        </p:txBody>
      </p:sp>
      <p:sp>
        <p:nvSpPr>
          <p:cNvPr id="34" name="Shape 8">
            <a:extLst>
              <a:ext uri="{FF2B5EF4-FFF2-40B4-BE49-F238E27FC236}">
                <a16:creationId xmlns:a16="http://schemas.microsoft.com/office/drawing/2014/main" id="{9F49633F-3ADD-D45F-DAEC-99BFFA191B95}"/>
              </a:ext>
            </a:extLst>
          </p:cNvPr>
          <p:cNvSpPr/>
          <p:nvPr/>
        </p:nvSpPr>
        <p:spPr>
          <a:xfrm>
            <a:off x="2015505" y="11264503"/>
            <a:ext cx="14288" cy="517996"/>
          </a:xfrm>
          <a:prstGeom prst="roundRect">
            <a:avLst>
              <a:gd name="adj" fmla="val 59998"/>
            </a:avLst>
          </a:prstGeom>
          <a:solidFill>
            <a:srgbClr val="28282F"/>
          </a:solidFill>
          <a:ln/>
        </p:spPr>
      </p:sp>
      <p:sp>
        <p:nvSpPr>
          <p:cNvPr id="35" name="Text 9">
            <a:extLst>
              <a:ext uri="{FF2B5EF4-FFF2-40B4-BE49-F238E27FC236}">
                <a16:creationId xmlns:a16="http://schemas.microsoft.com/office/drawing/2014/main" id="{5779B9D8-5EA7-B33D-ACF6-862C4D1676B5}"/>
              </a:ext>
            </a:extLst>
          </p:cNvPr>
          <p:cNvSpPr/>
          <p:nvPr/>
        </p:nvSpPr>
        <p:spPr>
          <a:xfrm>
            <a:off x="2195736" y="11334304"/>
            <a:ext cx="6528271" cy="378470"/>
          </a:xfrm>
          <a:prstGeom prst="rect">
            <a:avLst/>
          </a:prstGeom>
          <a:noFill/>
          <a:ln/>
        </p:spPr>
        <p:txBody>
          <a:bodyPr wrap="square" lIns="0" tIns="0" rIns="0" bIns="0" rtlCol="0" anchor="t">
            <a:noAutofit/>
          </a:bodyPr>
          <a:lstStyle/>
          <a:p>
            <a:pPr marL="0" indent="0" algn="l">
              <a:lnSpc>
                <a:spcPct val="131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"Restorasi gambut bukan hanya tentang memulihkan lanskap yang rusak, tetapi juga membangun kembali hubungan harmonis antara manusia dan alam."</a:t>
            </a:r>
            <a:endParaRPr lang="en-US" sz="1050" dirty="0">
              <a:latin typeface="Leelawadee UI" panose="020B0502040204020203" pitchFamily="34" charset="-34"/>
              <a:cs typeface="Leelawadee UI" panose="020B0502040204020203" pitchFamily="34" charset="-34"/>
            </a:endParaRPr>
          </a:p>
        </p:txBody>
      </p:sp>
      <p:sp>
        <p:nvSpPr>
          <p:cNvPr id="36" name="Text 10">
            <a:extLst>
              <a:ext uri="{FF2B5EF4-FFF2-40B4-BE49-F238E27FC236}">
                <a16:creationId xmlns:a16="http://schemas.microsoft.com/office/drawing/2014/main" id="{BC535DDB-C1B3-2119-0FCB-5E4C7B88F864}"/>
              </a:ext>
            </a:extLst>
          </p:cNvPr>
          <p:cNvSpPr/>
          <p:nvPr/>
        </p:nvSpPr>
        <p:spPr>
          <a:xfrm>
            <a:off x="2015505" y="11913468"/>
            <a:ext cx="6142508" cy="756940"/>
          </a:xfrm>
          <a:prstGeom prst="rect">
            <a:avLst/>
          </a:prstGeom>
          <a:noFill/>
          <a:ln/>
        </p:spPr>
        <p:txBody>
          <a:bodyPr wrap="square" lIns="0" tIns="0" rIns="0" bIns="0" rtlCol="0" anchor="t">
            <a:noAutofit/>
          </a:bodyPr>
          <a:lstStyle/>
          <a:p>
            <a:pPr marL="0" indent="0" algn="l">
              <a:lnSpc>
                <a:spcPct val="131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Desa Permata Jaya, dengan 70% wilayahnya berupa lahan gambut, telah lama menghadapi risiko kebakaran hutan. Sejak Agustus 2023, YNKI bersama PM Haze dan LDPH Permata Jaya membangun tiga sekat kanal—meningkatkan tinggi muka air dari 20 cm menjadi lebih dari 50 cm—dan mendirikan rumah pembibitan untuk tanaman khas gambut serta komoditas bernilai ekonomi.</a:t>
            </a:r>
            <a:endParaRPr lang="en-US" sz="1050" dirty="0">
              <a:latin typeface="Leelawadee UI" panose="020B0502040204020203" pitchFamily="34" charset="-34"/>
              <a:cs typeface="Leelawadee UI" panose="020B0502040204020203" pitchFamily="34" charset="-34"/>
            </a:endParaRPr>
          </a:p>
        </p:txBody>
      </p:sp>
      <p:pic>
        <p:nvPicPr>
          <p:cNvPr id="37" name="Image 1" descr="preencoded.png">
            <a:hlinkClick r:id="" action="ppaction://noaction"/>
            <a:extLst>
              <a:ext uri="{FF2B5EF4-FFF2-40B4-BE49-F238E27FC236}">
                <a16:creationId xmlns:a16="http://schemas.microsoft.com/office/drawing/2014/main" id="{D5BB337C-99C0-F596-6AAC-E7A9DA354544}"/>
              </a:ext>
            </a:extLst>
          </p:cNvPr>
          <p:cNvPicPr>
            <a:picLocks noChangeAspect="1"/>
          </p:cNvPicPr>
          <p:nvPr/>
        </p:nvPicPr>
        <p:blipFill>
          <a:blip r:embed="rId6"/>
          <a:stretch>
            <a:fillRect/>
          </a:stretch>
        </p:blipFill>
        <p:spPr>
          <a:xfrm>
            <a:off x="2015505" y="12801302"/>
            <a:ext cx="1414388" cy="330398"/>
          </a:xfrm>
          <a:prstGeom prst="rect">
            <a:avLst/>
          </a:prstGeom>
        </p:spPr>
      </p:pic>
      <p:pic>
        <p:nvPicPr>
          <p:cNvPr id="38" name="Image 0" descr="preencoded.png">
            <a:extLst>
              <a:ext uri="{FF2B5EF4-FFF2-40B4-BE49-F238E27FC236}">
                <a16:creationId xmlns:a16="http://schemas.microsoft.com/office/drawing/2014/main" id="{B62FC060-7DCD-B68C-930E-B897E09A0B24}"/>
              </a:ext>
            </a:extLst>
          </p:cNvPr>
          <p:cNvPicPr>
            <a:picLocks noChangeAspect="1"/>
          </p:cNvPicPr>
          <p:nvPr/>
        </p:nvPicPr>
        <p:blipFill>
          <a:blip r:embed="rId7"/>
          <a:stretch>
            <a:fillRect/>
          </a:stretch>
        </p:blipFill>
        <p:spPr>
          <a:xfrm>
            <a:off x="471861" y="13384932"/>
            <a:ext cx="1339676" cy="827931"/>
          </a:xfrm>
          <a:prstGeom prst="rect">
            <a:avLst/>
          </a:prstGeom>
        </p:spPr>
      </p:pic>
      <p:sp>
        <p:nvSpPr>
          <p:cNvPr id="39" name="Shape 0">
            <a:extLst>
              <a:ext uri="{FF2B5EF4-FFF2-40B4-BE49-F238E27FC236}">
                <a16:creationId xmlns:a16="http://schemas.microsoft.com/office/drawing/2014/main" id="{EE532152-3DBE-5FAF-BD40-C77615C3289A}"/>
              </a:ext>
            </a:extLst>
          </p:cNvPr>
          <p:cNvSpPr/>
          <p:nvPr/>
        </p:nvSpPr>
        <p:spPr>
          <a:xfrm>
            <a:off x="1966541" y="13384932"/>
            <a:ext cx="2387947" cy="242739"/>
          </a:xfrm>
          <a:prstGeom prst="roundRect">
            <a:avLst>
              <a:gd name="adj" fmla="val 6132"/>
            </a:avLst>
          </a:prstGeom>
          <a:noFill/>
          <a:ln w="4763">
            <a:solidFill>
              <a:srgbClr val="28282F"/>
            </a:solidFill>
            <a:prstDash val="solid"/>
          </a:ln>
        </p:spPr>
      </p:sp>
      <p:sp>
        <p:nvSpPr>
          <p:cNvPr id="40" name="Text 1">
            <a:extLst>
              <a:ext uri="{FF2B5EF4-FFF2-40B4-BE49-F238E27FC236}">
                <a16:creationId xmlns:a16="http://schemas.microsoft.com/office/drawing/2014/main" id="{DE0CBA14-E822-2E8F-18BC-1821C94D595D}"/>
              </a:ext>
            </a:extLst>
          </p:cNvPr>
          <p:cNvSpPr/>
          <p:nvPr/>
        </p:nvSpPr>
        <p:spPr>
          <a:xfrm>
            <a:off x="2045718" y="13426902"/>
            <a:ext cx="2229594" cy="158800"/>
          </a:xfrm>
          <a:prstGeom prst="rect">
            <a:avLst/>
          </a:prstGeom>
          <a:noFill/>
          <a:ln/>
        </p:spPr>
        <p:txBody>
          <a:bodyPr wrap="none" lIns="0" tIns="0" rIns="0" bIns="0" rtlCol="0" anchor="t"/>
          <a:lstStyle/>
          <a:p>
            <a:pPr marL="0" indent="0" algn="l">
              <a:lnSpc>
                <a:spcPct val="133000"/>
              </a:lnSpc>
              <a:buNone/>
            </a:pPr>
            <a:r>
              <a:rPr lang="en-US" sz="900" dirty="0">
                <a:solidFill>
                  <a:srgbClr val="28282F"/>
                </a:solidFill>
                <a:latin typeface="Leelawadee UI" panose="020B0502040204020203" pitchFamily="34" charset="-34"/>
                <a:ea typeface="Inter" pitchFamily="34" charset="-122"/>
                <a:cs typeface="Leelawadee UI" panose="020B0502040204020203" pitchFamily="34" charset="-34"/>
              </a:rPr>
              <a:t>PEMUDA &amp; PENDIDIKAN · KALIMANTAN BARAT</a:t>
            </a:r>
            <a:endParaRPr lang="en-US" sz="900" dirty="0">
              <a:latin typeface="Leelawadee UI" panose="020B0502040204020203" pitchFamily="34" charset="-34"/>
              <a:cs typeface="Leelawadee UI" panose="020B0502040204020203" pitchFamily="34" charset="-34"/>
            </a:endParaRPr>
          </a:p>
        </p:txBody>
      </p:sp>
      <p:sp>
        <p:nvSpPr>
          <p:cNvPr id="41" name="Text 2">
            <a:extLst>
              <a:ext uri="{FF2B5EF4-FFF2-40B4-BE49-F238E27FC236}">
                <a16:creationId xmlns:a16="http://schemas.microsoft.com/office/drawing/2014/main" id="{57CEEBE1-8B41-5C12-BB3D-A71EC48B41F3}"/>
              </a:ext>
            </a:extLst>
          </p:cNvPr>
          <p:cNvSpPr/>
          <p:nvPr/>
        </p:nvSpPr>
        <p:spPr>
          <a:xfrm>
            <a:off x="1966541" y="13677231"/>
            <a:ext cx="5053161" cy="193849"/>
          </a:xfrm>
          <a:prstGeom prst="rect">
            <a:avLst/>
          </a:prstGeom>
          <a:noFill/>
          <a:ln/>
        </p:spPr>
        <p:txBody>
          <a:bodyPr wrap="none" lIns="0" tIns="0" rIns="0" bIns="0" rtlCol="0" anchor="t"/>
          <a:lstStyle/>
          <a:p>
            <a:pPr marL="0" indent="0" algn="l">
              <a:lnSpc>
                <a:spcPct val="104000"/>
              </a:lnSpc>
              <a:buNone/>
            </a:pP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Youth Camp — Membangun Generasi Muda untuk Desa Berkelanjutan</a:t>
            </a:r>
            <a:endParaRPr lang="en-US" sz="1400" dirty="0">
              <a:latin typeface="Leelawadee UI" panose="020B0502040204020203" pitchFamily="34" charset="-34"/>
              <a:cs typeface="Leelawadee UI" panose="020B0502040204020203" pitchFamily="34" charset="-34"/>
            </a:endParaRPr>
          </a:p>
        </p:txBody>
      </p:sp>
      <p:sp>
        <p:nvSpPr>
          <p:cNvPr id="42" name="Text 3">
            <a:extLst>
              <a:ext uri="{FF2B5EF4-FFF2-40B4-BE49-F238E27FC236}">
                <a16:creationId xmlns:a16="http://schemas.microsoft.com/office/drawing/2014/main" id="{1F5075D8-EEB1-F266-9F0B-976974D80CBE}"/>
              </a:ext>
            </a:extLst>
          </p:cNvPr>
          <p:cNvSpPr/>
          <p:nvPr/>
        </p:nvSpPr>
        <p:spPr>
          <a:xfrm>
            <a:off x="1966541" y="13945493"/>
            <a:ext cx="6657082" cy="595387"/>
          </a:xfrm>
          <a:prstGeom prst="rect">
            <a:avLst/>
          </a:prstGeom>
          <a:noFill/>
          <a:ln/>
        </p:spPr>
        <p:txBody>
          <a:bodyPr wrap="square" lIns="0" tIns="0" rIns="0" bIns="0" rtlCol="0" anchor="t">
            <a:noAutofit/>
          </a:bodyPr>
          <a:lstStyle/>
          <a:p>
            <a:pPr marL="0" indent="0" algn="l">
              <a:lnSpc>
                <a:spcPct val="133000"/>
              </a:lnSpc>
              <a:buNone/>
            </a:pP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Lokasi:</a:t>
            </a: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 Desa Tanjung Pura, Mayak, &amp; Ulak Medang, Kecamatan Muara Pawan, Kabupaten Ketapang</a:t>
            </a:r>
            <a:endParaRPr lang="en-US" sz="1050" dirty="0">
              <a:latin typeface="Leelawadee UI" panose="020B0502040204020203" pitchFamily="34" charset="-34"/>
              <a:cs typeface="Leelawadee UI" panose="020B0502040204020203" pitchFamily="34" charset="-34"/>
            </a:endParaRPr>
          </a:p>
          <a:p>
            <a:pPr marL="0" indent="0" algn="l">
              <a:lnSpc>
                <a:spcPct val="133000"/>
              </a:lnSpc>
              <a:buNone/>
            </a:pP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Program:</a:t>
            </a: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 Institutional Sustainability &amp; Partnerships; Sustainable Commodity Systems Program</a:t>
            </a:r>
            <a:endParaRPr lang="en-US" sz="1050" dirty="0">
              <a:latin typeface="Leelawadee UI" panose="020B0502040204020203" pitchFamily="34" charset="-34"/>
              <a:cs typeface="Leelawadee UI" panose="020B0502040204020203" pitchFamily="34" charset="-34"/>
            </a:endParaRPr>
          </a:p>
          <a:p>
            <a:pPr marL="0" indent="0" algn="l">
              <a:lnSpc>
                <a:spcPct val="133000"/>
              </a:lnSpc>
              <a:buNone/>
            </a:pP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Mitra:</a:t>
            </a: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 UNDP KalFor, Pemerintah Kabupaten Ketapang</a:t>
            </a:r>
            <a:endParaRPr lang="en-US" sz="1050" dirty="0">
              <a:latin typeface="Leelawadee UI" panose="020B0502040204020203" pitchFamily="34" charset="-34"/>
              <a:cs typeface="Leelawadee UI" panose="020B0502040204020203" pitchFamily="34" charset="-34"/>
            </a:endParaRPr>
          </a:p>
        </p:txBody>
      </p:sp>
      <p:sp>
        <p:nvSpPr>
          <p:cNvPr id="43" name="Shape 4">
            <a:extLst>
              <a:ext uri="{FF2B5EF4-FFF2-40B4-BE49-F238E27FC236}">
                <a16:creationId xmlns:a16="http://schemas.microsoft.com/office/drawing/2014/main" id="{2A92B435-8E83-16C1-8840-A9A28BAF2DD7}"/>
              </a:ext>
            </a:extLst>
          </p:cNvPr>
          <p:cNvSpPr/>
          <p:nvPr/>
        </p:nvSpPr>
        <p:spPr>
          <a:xfrm>
            <a:off x="1966541" y="14680407"/>
            <a:ext cx="14288" cy="545753"/>
          </a:xfrm>
          <a:prstGeom prst="roundRect">
            <a:avLst>
              <a:gd name="adj" fmla="val 59998"/>
            </a:avLst>
          </a:prstGeom>
          <a:solidFill>
            <a:srgbClr val="28282F"/>
          </a:solidFill>
          <a:ln/>
        </p:spPr>
      </p:sp>
      <p:sp>
        <p:nvSpPr>
          <p:cNvPr id="44" name="Text 5">
            <a:extLst>
              <a:ext uri="{FF2B5EF4-FFF2-40B4-BE49-F238E27FC236}">
                <a16:creationId xmlns:a16="http://schemas.microsoft.com/office/drawing/2014/main" id="{25585E99-2E60-0A92-479E-03A9AD1D19B9}"/>
              </a:ext>
            </a:extLst>
          </p:cNvPr>
          <p:cNvSpPr/>
          <p:nvPr/>
        </p:nvSpPr>
        <p:spPr>
          <a:xfrm>
            <a:off x="2152577" y="14754821"/>
            <a:ext cx="6270723" cy="558626"/>
          </a:xfrm>
          <a:prstGeom prst="rect">
            <a:avLst/>
          </a:prstGeom>
          <a:noFill/>
          <a:ln/>
        </p:spPr>
        <p:txBody>
          <a:bodyPr wrap="square" lIns="0" tIns="0" rIns="0" bIns="0" rtlCol="0" anchor="t">
            <a:noAutofit/>
          </a:bodyPr>
          <a:lstStyle/>
          <a:p>
            <a:pPr marL="0" indent="0" algn="l">
              <a:lnSpc>
                <a:spcPct val="133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"Bagaimana kita dapat menggali potensi desa yang kemudian dapat dimanfaatkan secara optimal." — Nur Fadly, Focal Point KalFor Kabupaten Ketapang</a:t>
            </a:r>
            <a:endParaRPr lang="en-US" sz="1050" dirty="0">
              <a:latin typeface="Leelawadee UI" panose="020B0502040204020203" pitchFamily="34" charset="-34"/>
              <a:cs typeface="Leelawadee UI" panose="020B0502040204020203" pitchFamily="34" charset="-34"/>
            </a:endParaRPr>
          </a:p>
        </p:txBody>
      </p:sp>
      <p:sp>
        <p:nvSpPr>
          <p:cNvPr id="45" name="Text 6">
            <a:extLst>
              <a:ext uri="{FF2B5EF4-FFF2-40B4-BE49-F238E27FC236}">
                <a16:creationId xmlns:a16="http://schemas.microsoft.com/office/drawing/2014/main" id="{C206DB26-D211-87DA-8D73-8783E561AE92}"/>
              </a:ext>
            </a:extLst>
          </p:cNvPr>
          <p:cNvSpPr/>
          <p:nvPr/>
        </p:nvSpPr>
        <p:spPr>
          <a:xfrm>
            <a:off x="1966541" y="15365686"/>
            <a:ext cx="6456759" cy="793849"/>
          </a:xfrm>
          <a:prstGeom prst="rect">
            <a:avLst/>
          </a:prstGeom>
          <a:noFill/>
          <a:ln/>
        </p:spPr>
        <p:txBody>
          <a:bodyPr wrap="square" lIns="0" tIns="0" rIns="0" bIns="0" rtlCol="0" anchor="t">
            <a:noAutofit/>
          </a:bodyPr>
          <a:lstStyle/>
          <a:p>
            <a:pPr marL="0" indent="0" algn="l">
              <a:lnSpc>
                <a:spcPct val="133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Pada 19 Juli 2024, YNKI menggelar "Youth Camp: Community Action to Protect Forest" yang melibatkan 30 anak muda dari tiga desa di Kecamatan Muara Pawan. Kegiatan tiga hari ini dirancang untuk meningkatkan pengetahuan, keterampilan, dan peran masyarakat desa dalam mendukung pengelolaan hutan berkelanjutan—dengan peserta yang belajar menjadi konten kreator desa dan agen perubahan lokal.</a:t>
            </a:r>
            <a:endParaRPr lang="en-US" sz="1050" dirty="0">
              <a:latin typeface="Leelawadee UI" panose="020B0502040204020203" pitchFamily="34" charset="-34"/>
              <a:cs typeface="Leelawadee UI" panose="020B0502040204020203" pitchFamily="34" charset="-34"/>
            </a:endParaRPr>
          </a:p>
        </p:txBody>
      </p:sp>
      <p:pic>
        <p:nvPicPr>
          <p:cNvPr id="46" name="Image 1" descr="preencoded.png">
            <a:hlinkClick r:id="" action="ppaction://noaction"/>
            <a:extLst>
              <a:ext uri="{FF2B5EF4-FFF2-40B4-BE49-F238E27FC236}">
                <a16:creationId xmlns:a16="http://schemas.microsoft.com/office/drawing/2014/main" id="{B132BC68-E1CC-7674-1F7F-B95848814BF1}"/>
              </a:ext>
            </a:extLst>
          </p:cNvPr>
          <p:cNvPicPr>
            <a:picLocks noChangeAspect="1"/>
          </p:cNvPicPr>
          <p:nvPr/>
        </p:nvPicPr>
        <p:blipFill>
          <a:blip r:embed="rId8"/>
          <a:stretch>
            <a:fillRect/>
          </a:stretch>
        </p:blipFill>
        <p:spPr>
          <a:xfrm>
            <a:off x="1966541" y="16299061"/>
            <a:ext cx="1459929" cy="341114"/>
          </a:xfrm>
          <a:prstGeom prst="rect">
            <a:avLst/>
          </a:prstGeom>
        </p:spPr>
      </p:pic>
      <p:pic>
        <p:nvPicPr>
          <p:cNvPr id="47" name="Image 0" descr="preencoded.png">
            <a:extLst>
              <a:ext uri="{FF2B5EF4-FFF2-40B4-BE49-F238E27FC236}">
                <a16:creationId xmlns:a16="http://schemas.microsoft.com/office/drawing/2014/main" id="{31E01B72-36F3-4D53-F078-366DD6A00746}"/>
              </a:ext>
            </a:extLst>
          </p:cNvPr>
          <p:cNvPicPr>
            <a:picLocks noChangeAspect="1"/>
          </p:cNvPicPr>
          <p:nvPr/>
        </p:nvPicPr>
        <p:blipFill>
          <a:blip r:embed="rId9"/>
          <a:stretch>
            <a:fillRect/>
          </a:stretch>
        </p:blipFill>
        <p:spPr>
          <a:xfrm>
            <a:off x="448271" y="16953905"/>
            <a:ext cx="1339676" cy="827931"/>
          </a:xfrm>
          <a:prstGeom prst="rect">
            <a:avLst/>
          </a:prstGeom>
        </p:spPr>
      </p:pic>
      <p:sp>
        <p:nvSpPr>
          <p:cNvPr id="48" name="Shape 0">
            <a:extLst>
              <a:ext uri="{FF2B5EF4-FFF2-40B4-BE49-F238E27FC236}">
                <a16:creationId xmlns:a16="http://schemas.microsoft.com/office/drawing/2014/main" id="{8410311A-8DDA-04AF-ACCD-226D389EF1B2}"/>
              </a:ext>
            </a:extLst>
          </p:cNvPr>
          <p:cNvSpPr/>
          <p:nvPr/>
        </p:nvSpPr>
        <p:spPr>
          <a:xfrm>
            <a:off x="1942951" y="16953905"/>
            <a:ext cx="2578745" cy="242739"/>
          </a:xfrm>
          <a:prstGeom prst="roundRect">
            <a:avLst>
              <a:gd name="adj" fmla="val 6132"/>
            </a:avLst>
          </a:prstGeom>
          <a:noFill/>
          <a:ln w="4763">
            <a:solidFill>
              <a:srgbClr val="28282F"/>
            </a:solidFill>
            <a:prstDash val="solid"/>
          </a:ln>
        </p:spPr>
      </p:sp>
      <p:sp>
        <p:nvSpPr>
          <p:cNvPr id="49" name="Text 1">
            <a:extLst>
              <a:ext uri="{FF2B5EF4-FFF2-40B4-BE49-F238E27FC236}">
                <a16:creationId xmlns:a16="http://schemas.microsoft.com/office/drawing/2014/main" id="{E0E73D4E-E617-91D8-42A9-6D92FC24360C}"/>
              </a:ext>
            </a:extLst>
          </p:cNvPr>
          <p:cNvSpPr/>
          <p:nvPr/>
        </p:nvSpPr>
        <p:spPr>
          <a:xfrm>
            <a:off x="2022128" y="16995875"/>
            <a:ext cx="2420392" cy="158800"/>
          </a:xfrm>
          <a:prstGeom prst="rect">
            <a:avLst/>
          </a:prstGeom>
          <a:noFill/>
          <a:ln/>
        </p:spPr>
        <p:txBody>
          <a:bodyPr wrap="none" lIns="0" tIns="0" rIns="0" bIns="0" rtlCol="0" anchor="t"/>
          <a:lstStyle/>
          <a:p>
            <a:pPr marL="0" indent="0" algn="l">
              <a:lnSpc>
                <a:spcPct val="133000"/>
              </a:lnSpc>
              <a:buNone/>
            </a:pPr>
            <a:r>
              <a:rPr lang="en-US" sz="900" dirty="0">
                <a:solidFill>
                  <a:srgbClr val="28282F"/>
                </a:solidFill>
                <a:latin typeface="Leelawadee UI" panose="020B0502040204020203" pitchFamily="34" charset="-34"/>
                <a:ea typeface="Inter" pitchFamily="34" charset="-122"/>
                <a:cs typeface="Leelawadee UI" panose="020B0502040204020203" pitchFamily="34" charset="-34"/>
              </a:rPr>
              <a:t>PENGEMBANGAN EKONOMI · KALIMANTAN BARAT</a:t>
            </a:r>
            <a:endParaRPr lang="en-US" sz="900" dirty="0">
              <a:latin typeface="Leelawadee UI" panose="020B0502040204020203" pitchFamily="34" charset="-34"/>
              <a:cs typeface="Leelawadee UI" panose="020B0502040204020203" pitchFamily="34" charset="-34"/>
            </a:endParaRPr>
          </a:p>
        </p:txBody>
      </p:sp>
      <p:sp>
        <p:nvSpPr>
          <p:cNvPr id="50" name="Text 2">
            <a:extLst>
              <a:ext uri="{FF2B5EF4-FFF2-40B4-BE49-F238E27FC236}">
                <a16:creationId xmlns:a16="http://schemas.microsoft.com/office/drawing/2014/main" id="{E79199D4-4559-F2C9-7F60-47AF206CB5DD}"/>
              </a:ext>
            </a:extLst>
          </p:cNvPr>
          <p:cNvSpPr/>
          <p:nvPr/>
        </p:nvSpPr>
        <p:spPr>
          <a:xfrm>
            <a:off x="1942951" y="17246204"/>
            <a:ext cx="5662464" cy="193849"/>
          </a:xfrm>
          <a:prstGeom prst="rect">
            <a:avLst/>
          </a:prstGeom>
          <a:noFill/>
          <a:ln/>
        </p:spPr>
        <p:txBody>
          <a:bodyPr wrap="none" lIns="0" tIns="0" rIns="0" bIns="0" rtlCol="0" anchor="t"/>
          <a:lstStyle/>
          <a:p>
            <a:pPr marL="0" indent="0" algn="l">
              <a:lnSpc>
                <a:spcPct val="104000"/>
              </a:lnSpc>
              <a:buNone/>
            </a:pP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Pengembangan Usaha Madu Hutan untuk Pemberdayaan Ekonomi Masyarakat</a:t>
            </a:r>
            <a:endParaRPr lang="en-US" sz="1400" dirty="0">
              <a:latin typeface="Leelawadee UI" panose="020B0502040204020203" pitchFamily="34" charset="-34"/>
              <a:cs typeface="Leelawadee UI" panose="020B0502040204020203" pitchFamily="34" charset="-34"/>
            </a:endParaRPr>
          </a:p>
        </p:txBody>
      </p:sp>
      <p:sp>
        <p:nvSpPr>
          <p:cNvPr id="51" name="Text 3">
            <a:extLst>
              <a:ext uri="{FF2B5EF4-FFF2-40B4-BE49-F238E27FC236}">
                <a16:creationId xmlns:a16="http://schemas.microsoft.com/office/drawing/2014/main" id="{B00874A6-B1DE-208F-FB59-50ABF1119DF0}"/>
              </a:ext>
            </a:extLst>
          </p:cNvPr>
          <p:cNvSpPr/>
          <p:nvPr/>
        </p:nvSpPr>
        <p:spPr>
          <a:xfrm>
            <a:off x="1942951" y="17514466"/>
            <a:ext cx="6657082" cy="595387"/>
          </a:xfrm>
          <a:prstGeom prst="rect">
            <a:avLst/>
          </a:prstGeom>
          <a:noFill/>
          <a:ln/>
        </p:spPr>
        <p:txBody>
          <a:bodyPr wrap="square" lIns="0" tIns="0" rIns="0" bIns="0" rtlCol="0" anchor="t">
            <a:noAutofit/>
          </a:bodyPr>
          <a:lstStyle/>
          <a:p>
            <a:pPr marL="0" indent="0" algn="l">
              <a:lnSpc>
                <a:spcPct val="133000"/>
              </a:lnSpc>
              <a:buNone/>
            </a:pP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Lokasi:</a:t>
            </a: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 Desa Ulak Medang, Kecamatan Muara Pawan, Kabupaten Ketapang</a:t>
            </a:r>
            <a:endParaRPr lang="en-US" sz="1050" dirty="0">
              <a:latin typeface="Leelawadee UI" panose="020B0502040204020203" pitchFamily="34" charset="-34"/>
              <a:cs typeface="Leelawadee UI" panose="020B0502040204020203" pitchFamily="34" charset="-34"/>
            </a:endParaRPr>
          </a:p>
          <a:p>
            <a:pPr marL="0" indent="0" algn="l">
              <a:lnSpc>
                <a:spcPct val="133000"/>
              </a:lnSpc>
              <a:buNone/>
            </a:pP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Program:</a:t>
            </a: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 Sustainable Commodity Systems Program</a:t>
            </a:r>
            <a:endParaRPr lang="en-US" sz="1050" dirty="0">
              <a:latin typeface="Leelawadee UI" panose="020B0502040204020203" pitchFamily="34" charset="-34"/>
              <a:cs typeface="Leelawadee UI" panose="020B0502040204020203" pitchFamily="34" charset="-34"/>
            </a:endParaRPr>
          </a:p>
          <a:p>
            <a:pPr marL="0" indent="0" algn="l">
              <a:lnSpc>
                <a:spcPct val="133000"/>
              </a:lnSpc>
              <a:buNone/>
            </a:pP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Mitra:</a:t>
            </a: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 UNDP KalFor</a:t>
            </a:r>
            <a:endParaRPr lang="en-US" sz="1050" dirty="0">
              <a:latin typeface="Leelawadee UI" panose="020B0502040204020203" pitchFamily="34" charset="-34"/>
              <a:cs typeface="Leelawadee UI" panose="020B0502040204020203" pitchFamily="34" charset="-34"/>
            </a:endParaRPr>
          </a:p>
        </p:txBody>
      </p:sp>
      <p:sp>
        <p:nvSpPr>
          <p:cNvPr id="52" name="Shape 4">
            <a:extLst>
              <a:ext uri="{FF2B5EF4-FFF2-40B4-BE49-F238E27FC236}">
                <a16:creationId xmlns:a16="http://schemas.microsoft.com/office/drawing/2014/main" id="{2B8F9F1D-4EE1-3F28-BE05-FA4783207F9E}"/>
              </a:ext>
            </a:extLst>
          </p:cNvPr>
          <p:cNvSpPr/>
          <p:nvPr/>
        </p:nvSpPr>
        <p:spPr>
          <a:xfrm>
            <a:off x="1942951" y="18249380"/>
            <a:ext cx="14288" cy="545753"/>
          </a:xfrm>
          <a:prstGeom prst="roundRect">
            <a:avLst>
              <a:gd name="adj" fmla="val 59998"/>
            </a:avLst>
          </a:prstGeom>
          <a:solidFill>
            <a:srgbClr val="28282F"/>
          </a:solidFill>
          <a:ln/>
        </p:spPr>
      </p:sp>
      <p:sp>
        <p:nvSpPr>
          <p:cNvPr id="53" name="Text 5">
            <a:extLst>
              <a:ext uri="{FF2B5EF4-FFF2-40B4-BE49-F238E27FC236}">
                <a16:creationId xmlns:a16="http://schemas.microsoft.com/office/drawing/2014/main" id="{F4AD60A0-DA38-B52E-20DF-D298E0711D5B}"/>
              </a:ext>
            </a:extLst>
          </p:cNvPr>
          <p:cNvSpPr/>
          <p:nvPr/>
        </p:nvSpPr>
        <p:spPr>
          <a:xfrm>
            <a:off x="2128987" y="18323794"/>
            <a:ext cx="6471047" cy="396925"/>
          </a:xfrm>
          <a:prstGeom prst="rect">
            <a:avLst/>
          </a:prstGeom>
          <a:noFill/>
          <a:ln/>
        </p:spPr>
        <p:txBody>
          <a:bodyPr wrap="square" lIns="0" tIns="0" rIns="0" bIns="0" rtlCol="0" anchor="t">
            <a:noAutofit/>
          </a:bodyPr>
          <a:lstStyle/>
          <a:p>
            <a:pPr marL="0" indent="0" algn="l">
              <a:lnSpc>
                <a:spcPct val="133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"Dengan peralatan yang memadai dan standar yang ketat, kelompok petani madu kini berada dalam posisi yang lebih baik untuk menghadapi tantangan pasar dan memanfaatkan peluang bisnis."</a:t>
            </a:r>
            <a:endParaRPr lang="en-US" sz="1050" dirty="0">
              <a:latin typeface="Leelawadee UI" panose="020B0502040204020203" pitchFamily="34" charset="-34"/>
              <a:cs typeface="Leelawadee UI" panose="020B0502040204020203" pitchFamily="34" charset="-34"/>
            </a:endParaRPr>
          </a:p>
        </p:txBody>
      </p:sp>
      <p:sp>
        <p:nvSpPr>
          <p:cNvPr id="54" name="Text 6">
            <a:extLst>
              <a:ext uri="{FF2B5EF4-FFF2-40B4-BE49-F238E27FC236}">
                <a16:creationId xmlns:a16="http://schemas.microsoft.com/office/drawing/2014/main" id="{65898CFE-DB56-B67F-EA7A-80F25FEE9246}"/>
              </a:ext>
            </a:extLst>
          </p:cNvPr>
          <p:cNvSpPr/>
          <p:nvPr/>
        </p:nvSpPr>
        <p:spPr>
          <a:xfrm>
            <a:off x="1942951" y="18934659"/>
            <a:ext cx="6657082" cy="793849"/>
          </a:xfrm>
          <a:prstGeom prst="rect">
            <a:avLst/>
          </a:prstGeom>
          <a:noFill/>
          <a:ln/>
        </p:spPr>
        <p:txBody>
          <a:bodyPr wrap="square" lIns="0" tIns="0" rIns="0" bIns="0" rtlCol="0" anchor="t">
            <a:noAutofit/>
          </a:bodyPr>
          <a:lstStyle/>
          <a:p>
            <a:pPr marL="0" indent="0" algn="l">
              <a:lnSpc>
                <a:spcPct val="133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Pada 16 Juli 2024, YNKI bersama UNDP KalFor menyerahkan peralatan canggih kepada kelompok petani madu hutan Desa Ulak Medang—termasuk dehumidifier sesuai standar SNI, refraktometer, perlengkapan pemrosesan, dan APD. Dengan dukungan ini, kelompok petani kini dapat memproduksi madu berkualitas tinggi sekaligus memperkuat komitmen terhadap kelestarian hutan sebagai habitat lebah.</a:t>
            </a:r>
            <a:endParaRPr lang="en-US" sz="1050" dirty="0">
              <a:latin typeface="Leelawadee UI" panose="020B0502040204020203" pitchFamily="34" charset="-34"/>
              <a:cs typeface="Leelawadee UI" panose="020B0502040204020203" pitchFamily="34" charset="-34"/>
            </a:endParaRPr>
          </a:p>
        </p:txBody>
      </p:sp>
      <p:pic>
        <p:nvPicPr>
          <p:cNvPr id="55" name="Image 1" descr="preencoded.png">
            <a:hlinkClick r:id="" action="ppaction://noaction"/>
            <a:extLst>
              <a:ext uri="{FF2B5EF4-FFF2-40B4-BE49-F238E27FC236}">
                <a16:creationId xmlns:a16="http://schemas.microsoft.com/office/drawing/2014/main" id="{14765007-F760-5CDC-E8C1-01E82DA6C548}"/>
              </a:ext>
            </a:extLst>
          </p:cNvPr>
          <p:cNvPicPr>
            <a:picLocks noChangeAspect="1"/>
          </p:cNvPicPr>
          <p:nvPr/>
        </p:nvPicPr>
        <p:blipFill>
          <a:blip r:embed="rId8"/>
          <a:stretch>
            <a:fillRect/>
          </a:stretch>
        </p:blipFill>
        <p:spPr>
          <a:xfrm>
            <a:off x="1942951" y="19868034"/>
            <a:ext cx="1459929" cy="341114"/>
          </a:xfrm>
          <a:prstGeom prst="rect">
            <a:avLst/>
          </a:prstGeom>
        </p:spPr>
      </p:pic>
      <p:pic>
        <p:nvPicPr>
          <p:cNvPr id="56" name="Image 0" descr="preencoded.png">
            <a:extLst>
              <a:ext uri="{FF2B5EF4-FFF2-40B4-BE49-F238E27FC236}">
                <a16:creationId xmlns:a16="http://schemas.microsoft.com/office/drawing/2014/main" id="{50A40B2B-CCDD-C1CB-7331-13AFBF6C21DC}"/>
              </a:ext>
            </a:extLst>
          </p:cNvPr>
          <p:cNvPicPr>
            <a:picLocks noChangeAspect="1"/>
          </p:cNvPicPr>
          <p:nvPr/>
        </p:nvPicPr>
        <p:blipFill>
          <a:blip r:embed="rId10"/>
          <a:stretch>
            <a:fillRect/>
          </a:stretch>
        </p:blipFill>
        <p:spPr>
          <a:xfrm>
            <a:off x="505868" y="20548774"/>
            <a:ext cx="1339676" cy="827931"/>
          </a:xfrm>
          <a:prstGeom prst="rect">
            <a:avLst/>
          </a:prstGeom>
        </p:spPr>
      </p:pic>
      <p:sp>
        <p:nvSpPr>
          <p:cNvPr id="57" name="Shape 0">
            <a:extLst>
              <a:ext uri="{FF2B5EF4-FFF2-40B4-BE49-F238E27FC236}">
                <a16:creationId xmlns:a16="http://schemas.microsoft.com/office/drawing/2014/main" id="{120C94C5-17A6-DF6B-E1EB-15C16AD204BF}"/>
              </a:ext>
            </a:extLst>
          </p:cNvPr>
          <p:cNvSpPr/>
          <p:nvPr/>
        </p:nvSpPr>
        <p:spPr>
          <a:xfrm>
            <a:off x="2000548" y="20548774"/>
            <a:ext cx="1731615" cy="242739"/>
          </a:xfrm>
          <a:prstGeom prst="roundRect">
            <a:avLst>
              <a:gd name="adj" fmla="val 6132"/>
            </a:avLst>
          </a:prstGeom>
          <a:noFill/>
          <a:ln w="4763">
            <a:solidFill>
              <a:srgbClr val="28282F"/>
            </a:solidFill>
            <a:prstDash val="solid"/>
          </a:ln>
        </p:spPr>
      </p:sp>
      <p:sp>
        <p:nvSpPr>
          <p:cNvPr id="58" name="Text 1">
            <a:extLst>
              <a:ext uri="{FF2B5EF4-FFF2-40B4-BE49-F238E27FC236}">
                <a16:creationId xmlns:a16="http://schemas.microsoft.com/office/drawing/2014/main" id="{39A0220B-9D90-9EEA-643F-965A65A4A64B}"/>
              </a:ext>
            </a:extLst>
          </p:cNvPr>
          <p:cNvSpPr/>
          <p:nvPr/>
        </p:nvSpPr>
        <p:spPr>
          <a:xfrm>
            <a:off x="2079725" y="20590744"/>
            <a:ext cx="1573262" cy="158800"/>
          </a:xfrm>
          <a:prstGeom prst="rect">
            <a:avLst/>
          </a:prstGeom>
          <a:noFill/>
          <a:ln/>
        </p:spPr>
        <p:txBody>
          <a:bodyPr wrap="none" lIns="0" tIns="0" rIns="0" bIns="0" rtlCol="0" anchor="t"/>
          <a:lstStyle/>
          <a:p>
            <a:pPr marL="0" indent="0" algn="l">
              <a:lnSpc>
                <a:spcPct val="133000"/>
              </a:lnSpc>
              <a:buNone/>
            </a:pPr>
            <a:r>
              <a:rPr lang="en-US" sz="900" dirty="0">
                <a:solidFill>
                  <a:srgbClr val="28282F"/>
                </a:solidFill>
                <a:latin typeface="Leelawadee UI" panose="020B0502040204020203" pitchFamily="34" charset="-34"/>
                <a:ea typeface="Inter" pitchFamily="34" charset="-122"/>
                <a:cs typeface="Leelawadee UI" panose="020B0502040204020203" pitchFamily="34" charset="-34"/>
              </a:rPr>
              <a:t>PENGETAHUAN &amp; INOVASI · RIAU</a:t>
            </a:r>
            <a:endParaRPr lang="en-US" sz="900" dirty="0">
              <a:latin typeface="Leelawadee UI" panose="020B0502040204020203" pitchFamily="34" charset="-34"/>
              <a:cs typeface="Leelawadee UI" panose="020B0502040204020203" pitchFamily="34" charset="-34"/>
            </a:endParaRPr>
          </a:p>
        </p:txBody>
      </p:sp>
      <p:sp>
        <p:nvSpPr>
          <p:cNvPr id="59" name="Text 2">
            <a:extLst>
              <a:ext uri="{FF2B5EF4-FFF2-40B4-BE49-F238E27FC236}">
                <a16:creationId xmlns:a16="http://schemas.microsoft.com/office/drawing/2014/main" id="{F7C214C2-15F0-AE0C-AEE3-5F63634CEC25}"/>
              </a:ext>
            </a:extLst>
          </p:cNvPr>
          <p:cNvSpPr/>
          <p:nvPr/>
        </p:nvSpPr>
        <p:spPr>
          <a:xfrm>
            <a:off x="2000548" y="20841073"/>
            <a:ext cx="6173539" cy="193849"/>
          </a:xfrm>
          <a:prstGeom prst="rect">
            <a:avLst/>
          </a:prstGeom>
          <a:noFill/>
          <a:ln/>
        </p:spPr>
        <p:txBody>
          <a:bodyPr wrap="none" lIns="0" tIns="0" rIns="0" bIns="0" rtlCol="0" anchor="t"/>
          <a:lstStyle/>
          <a:p>
            <a:pPr marL="0" indent="0" algn="l">
              <a:lnSpc>
                <a:spcPct val="104000"/>
              </a:lnSpc>
              <a:buNone/>
            </a:pP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Berbagi Pengetahuan Restorasi Gambut Lintas Wilayah — YNKI ke Pulau Tebing Tinggi</a:t>
            </a:r>
            <a:endParaRPr lang="en-US" sz="1400" dirty="0">
              <a:latin typeface="Leelawadee UI" panose="020B0502040204020203" pitchFamily="34" charset="-34"/>
              <a:cs typeface="Leelawadee UI" panose="020B0502040204020203" pitchFamily="34" charset="-34"/>
            </a:endParaRPr>
          </a:p>
        </p:txBody>
      </p:sp>
      <p:sp>
        <p:nvSpPr>
          <p:cNvPr id="60" name="Text 3">
            <a:extLst>
              <a:ext uri="{FF2B5EF4-FFF2-40B4-BE49-F238E27FC236}">
                <a16:creationId xmlns:a16="http://schemas.microsoft.com/office/drawing/2014/main" id="{C8B933B3-91EA-4852-1ACC-DC0EA86E03E1}"/>
              </a:ext>
            </a:extLst>
          </p:cNvPr>
          <p:cNvSpPr/>
          <p:nvPr/>
        </p:nvSpPr>
        <p:spPr>
          <a:xfrm>
            <a:off x="2000548" y="21109335"/>
            <a:ext cx="6657082" cy="595387"/>
          </a:xfrm>
          <a:prstGeom prst="rect">
            <a:avLst/>
          </a:prstGeom>
          <a:noFill/>
          <a:ln/>
        </p:spPr>
        <p:txBody>
          <a:bodyPr wrap="square" lIns="0" tIns="0" rIns="0" bIns="0" rtlCol="0" anchor="t">
            <a:noAutofit/>
          </a:bodyPr>
          <a:lstStyle/>
          <a:p>
            <a:pPr marL="0" indent="0" algn="l">
              <a:lnSpc>
                <a:spcPct val="133000"/>
              </a:lnSpc>
              <a:buNone/>
            </a:pP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Lokasi:</a:t>
            </a: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 Pulau Tebing Tinggi, Desa Sungai Tohor, Kabupaten Kepulauan Meranti, Riau</a:t>
            </a:r>
            <a:endParaRPr lang="en-US" sz="1050" dirty="0">
              <a:latin typeface="Leelawadee UI" panose="020B0502040204020203" pitchFamily="34" charset="-34"/>
              <a:cs typeface="Leelawadee UI" panose="020B0502040204020203" pitchFamily="34" charset="-34"/>
            </a:endParaRPr>
          </a:p>
          <a:p>
            <a:pPr marL="0" indent="0" algn="l">
              <a:lnSpc>
                <a:spcPct val="133000"/>
              </a:lnSpc>
              <a:buNone/>
            </a:pP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Program:</a:t>
            </a: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 Landscape Intelligence &amp; Innovation Program; Natural Capital &amp; Restoration Program</a:t>
            </a:r>
            <a:endParaRPr lang="en-US" sz="1050" dirty="0">
              <a:latin typeface="Leelawadee UI" panose="020B0502040204020203" pitchFamily="34" charset="-34"/>
              <a:cs typeface="Leelawadee UI" panose="020B0502040204020203" pitchFamily="34" charset="-34"/>
            </a:endParaRPr>
          </a:p>
          <a:p>
            <a:pPr marL="0" indent="0" algn="l">
              <a:lnSpc>
                <a:spcPct val="133000"/>
              </a:lnSpc>
              <a:buNone/>
            </a:pP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Mitra:</a:t>
            </a: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 LSM EKA, GEMAST, PM Haze</a:t>
            </a:r>
            <a:endParaRPr lang="en-US" sz="1050" dirty="0">
              <a:latin typeface="Leelawadee UI" panose="020B0502040204020203" pitchFamily="34" charset="-34"/>
              <a:cs typeface="Leelawadee UI" panose="020B0502040204020203" pitchFamily="34" charset="-34"/>
            </a:endParaRPr>
          </a:p>
        </p:txBody>
      </p:sp>
      <p:sp>
        <p:nvSpPr>
          <p:cNvPr id="61" name="Shape 4">
            <a:extLst>
              <a:ext uri="{FF2B5EF4-FFF2-40B4-BE49-F238E27FC236}">
                <a16:creationId xmlns:a16="http://schemas.microsoft.com/office/drawing/2014/main" id="{6F3C78D4-F4C8-E5E3-3F9C-E844B6C082D7}"/>
              </a:ext>
            </a:extLst>
          </p:cNvPr>
          <p:cNvSpPr/>
          <p:nvPr/>
        </p:nvSpPr>
        <p:spPr>
          <a:xfrm>
            <a:off x="2000548" y="21844249"/>
            <a:ext cx="14288" cy="545753"/>
          </a:xfrm>
          <a:prstGeom prst="roundRect">
            <a:avLst>
              <a:gd name="adj" fmla="val 59998"/>
            </a:avLst>
          </a:prstGeom>
          <a:solidFill>
            <a:srgbClr val="28282F"/>
          </a:solidFill>
          <a:ln/>
        </p:spPr>
      </p:sp>
      <p:sp>
        <p:nvSpPr>
          <p:cNvPr id="62" name="Text 5">
            <a:extLst>
              <a:ext uri="{FF2B5EF4-FFF2-40B4-BE49-F238E27FC236}">
                <a16:creationId xmlns:a16="http://schemas.microsoft.com/office/drawing/2014/main" id="{30039897-7BC7-6F56-7E54-72234D20486F}"/>
              </a:ext>
            </a:extLst>
          </p:cNvPr>
          <p:cNvSpPr/>
          <p:nvPr/>
        </p:nvSpPr>
        <p:spPr>
          <a:xfrm>
            <a:off x="2186584" y="21918663"/>
            <a:ext cx="6471047" cy="396925"/>
          </a:xfrm>
          <a:prstGeom prst="rect">
            <a:avLst/>
          </a:prstGeom>
          <a:noFill/>
          <a:ln/>
        </p:spPr>
        <p:txBody>
          <a:bodyPr wrap="square" lIns="0" tIns="0" rIns="0" bIns="0" rtlCol="0" anchor="t">
            <a:noAutofit/>
          </a:bodyPr>
          <a:lstStyle/>
          <a:p>
            <a:pPr marL="0" indent="0" algn="l">
              <a:lnSpc>
                <a:spcPct val="133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"Skema restorasi gambut 3R—rewetting, revegetation, dan revitalization—telah diterapkan melalui dukungan para pihak."</a:t>
            </a:r>
            <a:endParaRPr lang="en-US" sz="1050" dirty="0">
              <a:latin typeface="Leelawadee UI" panose="020B0502040204020203" pitchFamily="34" charset="-34"/>
              <a:cs typeface="Leelawadee UI" panose="020B0502040204020203" pitchFamily="34" charset="-34"/>
            </a:endParaRPr>
          </a:p>
        </p:txBody>
      </p:sp>
      <p:sp>
        <p:nvSpPr>
          <p:cNvPr id="63" name="Text 6">
            <a:extLst>
              <a:ext uri="{FF2B5EF4-FFF2-40B4-BE49-F238E27FC236}">
                <a16:creationId xmlns:a16="http://schemas.microsoft.com/office/drawing/2014/main" id="{5985D72A-2CBD-E627-A238-A49619DD9AA6}"/>
              </a:ext>
            </a:extLst>
          </p:cNvPr>
          <p:cNvSpPr/>
          <p:nvPr/>
        </p:nvSpPr>
        <p:spPr>
          <a:xfrm>
            <a:off x="2000548" y="22529528"/>
            <a:ext cx="6657082" cy="793849"/>
          </a:xfrm>
          <a:prstGeom prst="rect">
            <a:avLst/>
          </a:prstGeom>
          <a:noFill/>
          <a:ln/>
        </p:spPr>
        <p:txBody>
          <a:bodyPr wrap="square" lIns="0" tIns="0" rIns="0" bIns="0" rtlCol="0" anchor="t">
            <a:noAutofit/>
          </a:bodyPr>
          <a:lstStyle/>
          <a:p>
            <a:pPr marL="0" indent="0" algn="l">
              <a:lnSpc>
                <a:spcPct val="133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Pada Mei 2022, YNKI melakukan studi banding ke Pulau Tebing Tinggi untuk berbagi pengalaman restorasi gambut. Pulau ini pernah mengalami kebakaran dahsyat pada 2014 yang berdampak hingga Malaysia dan Singapura. Sejak saat itu, kelompok sadar lingkungan yang dipelopori Abdul Manan telah menerapkan skema 3R. Kunjungan ini memperkuat jaringan pembelajaran lintas lanskap YNKI.</a:t>
            </a:r>
            <a:endParaRPr lang="en-US" sz="1050" dirty="0">
              <a:latin typeface="Leelawadee UI" panose="020B0502040204020203" pitchFamily="34" charset="-34"/>
              <a:cs typeface="Leelawadee UI" panose="020B0502040204020203" pitchFamily="34" charset="-34"/>
            </a:endParaRPr>
          </a:p>
        </p:txBody>
      </p:sp>
      <p:pic>
        <p:nvPicPr>
          <p:cNvPr id="64" name="Image 1" descr="preencoded.png">
            <a:hlinkClick r:id="" action="ppaction://noaction"/>
            <a:extLst>
              <a:ext uri="{FF2B5EF4-FFF2-40B4-BE49-F238E27FC236}">
                <a16:creationId xmlns:a16="http://schemas.microsoft.com/office/drawing/2014/main" id="{3DAA3A76-0794-E33D-F5C1-BC21F8A4431E}"/>
              </a:ext>
            </a:extLst>
          </p:cNvPr>
          <p:cNvPicPr>
            <a:picLocks noChangeAspect="1"/>
          </p:cNvPicPr>
          <p:nvPr/>
        </p:nvPicPr>
        <p:blipFill>
          <a:blip r:embed="rId8"/>
          <a:stretch>
            <a:fillRect/>
          </a:stretch>
        </p:blipFill>
        <p:spPr>
          <a:xfrm>
            <a:off x="2000548" y="23462903"/>
            <a:ext cx="1459929" cy="341114"/>
          </a:xfrm>
          <a:prstGeom prst="rect">
            <a:avLst/>
          </a:prstGeom>
        </p:spPr>
      </p:pic>
      <p:pic>
        <p:nvPicPr>
          <p:cNvPr id="65" name="Image 0" descr="preencoded.png">
            <a:extLst>
              <a:ext uri="{FF2B5EF4-FFF2-40B4-BE49-F238E27FC236}">
                <a16:creationId xmlns:a16="http://schemas.microsoft.com/office/drawing/2014/main" id="{96AD3288-E4B9-807D-2293-FBCB63089A18}"/>
              </a:ext>
            </a:extLst>
          </p:cNvPr>
          <p:cNvPicPr>
            <a:picLocks noChangeAspect="1"/>
          </p:cNvPicPr>
          <p:nvPr/>
        </p:nvPicPr>
        <p:blipFill>
          <a:blip r:embed="rId11"/>
          <a:stretch>
            <a:fillRect/>
          </a:stretch>
        </p:blipFill>
        <p:spPr>
          <a:xfrm>
            <a:off x="486149" y="24185983"/>
            <a:ext cx="1339676" cy="827931"/>
          </a:xfrm>
          <a:prstGeom prst="rect">
            <a:avLst/>
          </a:prstGeom>
        </p:spPr>
      </p:pic>
      <p:sp>
        <p:nvSpPr>
          <p:cNvPr id="66" name="Shape 0">
            <a:extLst>
              <a:ext uri="{FF2B5EF4-FFF2-40B4-BE49-F238E27FC236}">
                <a16:creationId xmlns:a16="http://schemas.microsoft.com/office/drawing/2014/main" id="{7FA8109C-A317-EB0C-D578-1FAB67411FF0}"/>
              </a:ext>
            </a:extLst>
          </p:cNvPr>
          <p:cNvSpPr/>
          <p:nvPr/>
        </p:nvSpPr>
        <p:spPr>
          <a:xfrm>
            <a:off x="1980829" y="24185983"/>
            <a:ext cx="2571378" cy="242739"/>
          </a:xfrm>
          <a:prstGeom prst="roundRect">
            <a:avLst>
              <a:gd name="adj" fmla="val 6132"/>
            </a:avLst>
          </a:prstGeom>
          <a:noFill/>
          <a:ln w="4763">
            <a:solidFill>
              <a:srgbClr val="28282F"/>
            </a:solidFill>
            <a:prstDash val="solid"/>
          </a:ln>
        </p:spPr>
      </p:sp>
      <p:sp>
        <p:nvSpPr>
          <p:cNvPr id="67" name="Text 1">
            <a:extLst>
              <a:ext uri="{FF2B5EF4-FFF2-40B4-BE49-F238E27FC236}">
                <a16:creationId xmlns:a16="http://schemas.microsoft.com/office/drawing/2014/main" id="{40F3FC7D-7804-905B-A344-5DAAEECE49C5}"/>
              </a:ext>
            </a:extLst>
          </p:cNvPr>
          <p:cNvSpPr/>
          <p:nvPr/>
        </p:nvSpPr>
        <p:spPr>
          <a:xfrm>
            <a:off x="2060006" y="24227953"/>
            <a:ext cx="2413025" cy="158800"/>
          </a:xfrm>
          <a:prstGeom prst="rect">
            <a:avLst/>
          </a:prstGeom>
          <a:noFill/>
          <a:ln/>
        </p:spPr>
        <p:txBody>
          <a:bodyPr wrap="none" lIns="0" tIns="0" rIns="0" bIns="0" rtlCol="0" anchor="t"/>
          <a:lstStyle/>
          <a:p>
            <a:pPr marL="0" indent="0" algn="l">
              <a:lnSpc>
                <a:spcPct val="133000"/>
              </a:lnSpc>
              <a:buNone/>
            </a:pPr>
            <a:r>
              <a:rPr lang="en-US" sz="900" dirty="0">
                <a:solidFill>
                  <a:srgbClr val="28282F"/>
                </a:solidFill>
                <a:latin typeface="Leelawadee UI" panose="020B0502040204020203" pitchFamily="34" charset="-34"/>
                <a:ea typeface="Inter" pitchFamily="34" charset="-122"/>
                <a:cs typeface="Leelawadee UI" panose="020B0502040204020203" pitchFamily="34" charset="-34"/>
              </a:rPr>
              <a:t>KEMITRAAN &amp; KOLABORASI · KALIMANTAN BARAT</a:t>
            </a:r>
            <a:endParaRPr lang="en-US" sz="900" dirty="0">
              <a:latin typeface="Leelawadee UI" panose="020B0502040204020203" pitchFamily="34" charset="-34"/>
              <a:cs typeface="Leelawadee UI" panose="020B0502040204020203" pitchFamily="34" charset="-34"/>
            </a:endParaRPr>
          </a:p>
        </p:txBody>
      </p:sp>
      <p:sp>
        <p:nvSpPr>
          <p:cNvPr id="68" name="Text 2">
            <a:extLst>
              <a:ext uri="{FF2B5EF4-FFF2-40B4-BE49-F238E27FC236}">
                <a16:creationId xmlns:a16="http://schemas.microsoft.com/office/drawing/2014/main" id="{E801F0FF-EE18-2ED6-8D35-F98C3D3E36BF}"/>
              </a:ext>
            </a:extLst>
          </p:cNvPr>
          <p:cNvSpPr/>
          <p:nvPr/>
        </p:nvSpPr>
        <p:spPr>
          <a:xfrm>
            <a:off x="1980829" y="24478282"/>
            <a:ext cx="5948139" cy="193849"/>
          </a:xfrm>
          <a:prstGeom prst="rect">
            <a:avLst/>
          </a:prstGeom>
          <a:noFill/>
          <a:ln/>
        </p:spPr>
        <p:txBody>
          <a:bodyPr wrap="none" lIns="0" tIns="0" rIns="0" bIns="0" rtlCol="0" anchor="t"/>
          <a:lstStyle/>
          <a:p>
            <a:pPr marL="0" indent="0" algn="l">
              <a:lnSpc>
                <a:spcPct val="104000"/>
              </a:lnSpc>
              <a:buNone/>
            </a:pP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Kolaborasi Restorasi Gambut — Penanaman Pohon Bersama di Desa Permata Jaya</a:t>
            </a:r>
            <a:endParaRPr lang="en-US" sz="1400" dirty="0">
              <a:latin typeface="Leelawadee UI" panose="020B0502040204020203" pitchFamily="34" charset="-34"/>
              <a:cs typeface="Leelawadee UI" panose="020B0502040204020203" pitchFamily="34" charset="-34"/>
            </a:endParaRPr>
          </a:p>
        </p:txBody>
      </p:sp>
      <p:sp>
        <p:nvSpPr>
          <p:cNvPr id="69" name="Text 3">
            <a:extLst>
              <a:ext uri="{FF2B5EF4-FFF2-40B4-BE49-F238E27FC236}">
                <a16:creationId xmlns:a16="http://schemas.microsoft.com/office/drawing/2014/main" id="{0289D59E-CB43-88AD-ED65-8C31202060CC}"/>
              </a:ext>
            </a:extLst>
          </p:cNvPr>
          <p:cNvSpPr/>
          <p:nvPr/>
        </p:nvSpPr>
        <p:spPr>
          <a:xfrm>
            <a:off x="1980829" y="24746544"/>
            <a:ext cx="6657082" cy="595387"/>
          </a:xfrm>
          <a:prstGeom prst="rect">
            <a:avLst/>
          </a:prstGeom>
          <a:noFill/>
          <a:ln/>
        </p:spPr>
        <p:txBody>
          <a:bodyPr wrap="square" lIns="0" tIns="0" rIns="0" bIns="0" rtlCol="0" anchor="t">
            <a:noAutofit/>
          </a:bodyPr>
          <a:lstStyle/>
          <a:p>
            <a:pPr marL="0" indent="0" algn="l">
              <a:lnSpc>
                <a:spcPct val="133000"/>
              </a:lnSpc>
              <a:buNone/>
            </a:pP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Lokasi:</a:t>
            </a: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 Desa Permata Jaya, Kabupaten Kubu Raya, Kalimantan Barat</a:t>
            </a:r>
            <a:endParaRPr lang="en-US" sz="1050" dirty="0">
              <a:latin typeface="Leelawadee UI" panose="020B0502040204020203" pitchFamily="34" charset="-34"/>
              <a:cs typeface="Leelawadee UI" panose="020B0502040204020203" pitchFamily="34" charset="-34"/>
            </a:endParaRPr>
          </a:p>
          <a:p>
            <a:pPr marL="0" indent="0" algn="l">
              <a:lnSpc>
                <a:spcPct val="133000"/>
              </a:lnSpc>
              <a:buNone/>
            </a:pP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Program:</a:t>
            </a: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 Natural Capital &amp; Restoration Program</a:t>
            </a:r>
            <a:endParaRPr lang="en-US" sz="1050" dirty="0">
              <a:latin typeface="Leelawadee UI" panose="020B0502040204020203" pitchFamily="34" charset="-34"/>
              <a:cs typeface="Leelawadee UI" panose="020B0502040204020203" pitchFamily="34" charset="-34"/>
            </a:endParaRPr>
          </a:p>
          <a:p>
            <a:pPr marL="0" indent="0" algn="l">
              <a:lnSpc>
                <a:spcPct val="133000"/>
              </a:lnSpc>
              <a:buNone/>
            </a:pP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Mitra:</a:t>
            </a: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 PM Haze, LDPH Permata Jaya, BKSDA KalBar, Dinas Lingkungan Hidup</a:t>
            </a:r>
            <a:endParaRPr lang="en-US" sz="1050" dirty="0">
              <a:latin typeface="Leelawadee UI" panose="020B0502040204020203" pitchFamily="34" charset="-34"/>
              <a:cs typeface="Leelawadee UI" panose="020B0502040204020203" pitchFamily="34" charset="-34"/>
            </a:endParaRPr>
          </a:p>
        </p:txBody>
      </p:sp>
      <p:sp>
        <p:nvSpPr>
          <p:cNvPr id="70" name="Shape 4">
            <a:extLst>
              <a:ext uri="{FF2B5EF4-FFF2-40B4-BE49-F238E27FC236}">
                <a16:creationId xmlns:a16="http://schemas.microsoft.com/office/drawing/2014/main" id="{1E0F525D-85F0-793D-B7CD-41D6204BC297}"/>
              </a:ext>
            </a:extLst>
          </p:cNvPr>
          <p:cNvSpPr/>
          <p:nvPr/>
        </p:nvSpPr>
        <p:spPr>
          <a:xfrm>
            <a:off x="1980829" y="25481458"/>
            <a:ext cx="14288" cy="545753"/>
          </a:xfrm>
          <a:prstGeom prst="roundRect">
            <a:avLst>
              <a:gd name="adj" fmla="val 59998"/>
            </a:avLst>
          </a:prstGeom>
          <a:solidFill>
            <a:srgbClr val="28282F"/>
          </a:solidFill>
          <a:ln/>
        </p:spPr>
      </p:sp>
      <p:sp>
        <p:nvSpPr>
          <p:cNvPr id="71" name="Text 5">
            <a:extLst>
              <a:ext uri="{FF2B5EF4-FFF2-40B4-BE49-F238E27FC236}">
                <a16:creationId xmlns:a16="http://schemas.microsoft.com/office/drawing/2014/main" id="{C37E0589-9240-3F3C-0720-6B4AF7417999}"/>
              </a:ext>
            </a:extLst>
          </p:cNvPr>
          <p:cNvSpPr/>
          <p:nvPr/>
        </p:nvSpPr>
        <p:spPr>
          <a:xfrm>
            <a:off x="2166865" y="25555872"/>
            <a:ext cx="6471047" cy="396925"/>
          </a:xfrm>
          <a:prstGeom prst="rect">
            <a:avLst/>
          </a:prstGeom>
          <a:noFill/>
          <a:ln/>
        </p:spPr>
        <p:txBody>
          <a:bodyPr wrap="square" lIns="0" tIns="0" rIns="0" bIns="0" rtlCol="0" anchor="t">
            <a:noAutofit/>
          </a:bodyPr>
          <a:lstStyle/>
          <a:p>
            <a:pPr marL="0" indent="0" algn="l">
              <a:lnSpc>
                <a:spcPct val="133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"Restorasi ini adalah upaya untuk menyelamatkan bumi dan mencegah kebakaran hutan." — Kepala Desa Permata Jaya</a:t>
            </a:r>
            <a:endParaRPr lang="en-US" sz="1050" dirty="0">
              <a:latin typeface="Leelawadee UI" panose="020B0502040204020203" pitchFamily="34" charset="-34"/>
              <a:cs typeface="Leelawadee UI" panose="020B0502040204020203" pitchFamily="34" charset="-34"/>
            </a:endParaRPr>
          </a:p>
        </p:txBody>
      </p:sp>
      <p:sp>
        <p:nvSpPr>
          <p:cNvPr id="72" name="Text 6">
            <a:extLst>
              <a:ext uri="{FF2B5EF4-FFF2-40B4-BE49-F238E27FC236}">
                <a16:creationId xmlns:a16="http://schemas.microsoft.com/office/drawing/2014/main" id="{06965E60-F1C2-DC45-282F-C998E495EBA8}"/>
              </a:ext>
            </a:extLst>
          </p:cNvPr>
          <p:cNvSpPr/>
          <p:nvPr/>
        </p:nvSpPr>
        <p:spPr>
          <a:xfrm>
            <a:off x="1980829" y="26110777"/>
            <a:ext cx="6657082" cy="793849"/>
          </a:xfrm>
          <a:prstGeom prst="rect">
            <a:avLst/>
          </a:prstGeom>
          <a:noFill/>
          <a:ln/>
        </p:spPr>
        <p:txBody>
          <a:bodyPr wrap="square" lIns="0" tIns="0" rIns="0" bIns="0" rtlCol="0" anchor="t">
            <a:normAutofit lnSpcReduction="10000"/>
          </a:bodyPr>
          <a:lstStyle/>
          <a:p>
            <a:pPr marL="0" indent="0" algn="l">
              <a:lnSpc>
                <a:spcPct val="133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Dalam rangka memperingati Hari Lingkungan Hidup Sedunia, YNKI bersama PM Haze dan LDPH Permata Jaya menanam 50 bibit pohon lokal sebagai bagian dari rehabilitasi lahan gambut. Kegiatan ini melibatkan berbagai pemangku kepentingan—dari BKSDA KalBar dan Dinas Lingkungan Hidup hingga masyarakat dan pelajar—sebagai wujud komitmen kolektif memulihkan ekosistem gambut yang rusak.</a:t>
            </a:r>
            <a:endParaRPr lang="en-US" sz="1050" dirty="0">
              <a:latin typeface="Leelawadee UI" panose="020B0502040204020203" pitchFamily="34" charset="-34"/>
              <a:cs typeface="Leelawadee UI" panose="020B0502040204020203" pitchFamily="34" charset="-34"/>
            </a:endParaRPr>
          </a:p>
        </p:txBody>
      </p:sp>
      <p:pic>
        <p:nvPicPr>
          <p:cNvPr id="73" name="Image 1" descr="preencoded.png">
            <a:hlinkClick r:id="" action="ppaction://noaction"/>
            <a:extLst>
              <a:ext uri="{FF2B5EF4-FFF2-40B4-BE49-F238E27FC236}">
                <a16:creationId xmlns:a16="http://schemas.microsoft.com/office/drawing/2014/main" id="{98588EC8-AAF2-2F4B-9EEF-83FCDECC7D88}"/>
              </a:ext>
            </a:extLst>
          </p:cNvPr>
          <p:cNvPicPr>
            <a:picLocks noChangeAspect="1"/>
          </p:cNvPicPr>
          <p:nvPr/>
        </p:nvPicPr>
        <p:blipFill>
          <a:blip r:embed="rId8"/>
          <a:stretch>
            <a:fillRect/>
          </a:stretch>
        </p:blipFill>
        <p:spPr>
          <a:xfrm>
            <a:off x="1980829" y="27100112"/>
            <a:ext cx="1459929" cy="341114"/>
          </a:xfrm>
          <a:prstGeom prst="rect">
            <a:avLst/>
          </a:prstGeom>
        </p:spPr>
      </p:pic>
      <p:sp>
        <p:nvSpPr>
          <p:cNvPr id="74" name="Text 0">
            <a:extLst>
              <a:ext uri="{FF2B5EF4-FFF2-40B4-BE49-F238E27FC236}">
                <a16:creationId xmlns:a16="http://schemas.microsoft.com/office/drawing/2014/main" id="{37DDEE72-0188-1A83-6F98-19BA76E166CA}"/>
              </a:ext>
            </a:extLst>
          </p:cNvPr>
          <p:cNvSpPr/>
          <p:nvPr/>
        </p:nvSpPr>
        <p:spPr>
          <a:xfrm>
            <a:off x="420440" y="27747516"/>
            <a:ext cx="4876130" cy="363364"/>
          </a:xfrm>
          <a:prstGeom prst="rect">
            <a:avLst/>
          </a:prstGeom>
          <a:noFill/>
          <a:ln/>
        </p:spPr>
        <p:txBody>
          <a:bodyPr wrap="none" lIns="0" tIns="0" rIns="0" bIns="0" rtlCol="0" anchor="t"/>
          <a:lstStyle/>
          <a:p>
            <a:pPr marL="0" indent="0" algn="l">
              <a:lnSpc>
                <a:spcPct val="104000"/>
              </a:lnSpc>
              <a:buNone/>
            </a:pPr>
            <a:r>
              <a:rPr lang="en-US" sz="2250" dirty="0">
                <a:solidFill>
                  <a:srgbClr val="161613"/>
                </a:solidFill>
                <a:latin typeface="Leelawadee UI" panose="020B0502040204020203" pitchFamily="34" charset="-34"/>
                <a:ea typeface="DM Sans Medium" pitchFamily="34" charset="-122"/>
                <a:cs typeface="Leelawadee UI" panose="020B0502040204020203" pitchFamily="34" charset="-34"/>
              </a:rPr>
              <a:t>Jelajahi Kisah Berdasarkan Tema</a:t>
            </a:r>
            <a:endParaRPr lang="en-US" sz="2250" dirty="0">
              <a:latin typeface="Leelawadee UI" panose="020B0502040204020203" pitchFamily="34" charset="-34"/>
              <a:cs typeface="Leelawadee UI" panose="020B0502040204020203" pitchFamily="34" charset="-34"/>
            </a:endParaRPr>
          </a:p>
        </p:txBody>
      </p:sp>
      <p:sp>
        <p:nvSpPr>
          <p:cNvPr id="75" name="Text 1">
            <a:extLst>
              <a:ext uri="{FF2B5EF4-FFF2-40B4-BE49-F238E27FC236}">
                <a16:creationId xmlns:a16="http://schemas.microsoft.com/office/drawing/2014/main" id="{1D67AA23-E219-DFFF-4B2F-4CBC8D13AEF4}"/>
              </a:ext>
            </a:extLst>
          </p:cNvPr>
          <p:cNvSpPr/>
          <p:nvPr/>
        </p:nvSpPr>
        <p:spPr>
          <a:xfrm>
            <a:off x="420440" y="28328913"/>
            <a:ext cx="8608963" cy="180231"/>
          </a:xfrm>
          <a:prstGeom prst="rect">
            <a:avLst/>
          </a:prstGeom>
          <a:noFill/>
          <a:ln/>
        </p:spPr>
        <p:txBody>
          <a:bodyPr wrap="none" lIns="0" tIns="0" rIns="0" bIns="0" rtlCol="0" anchor="t"/>
          <a:lstStyle/>
          <a:p>
            <a:pPr marL="0" indent="0" algn="l">
              <a:lnSpc>
                <a:spcPct val="129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Gunakan filter berikut untuk menemukan kisah-kisah perubahan yang paling relevan dengan minat dan bidang kerja Anda.</a:t>
            </a:r>
            <a:endParaRPr lang="en-US" sz="1050" dirty="0">
              <a:latin typeface="Leelawadee UI" panose="020B0502040204020203" pitchFamily="34" charset="-34"/>
              <a:cs typeface="Leelawadee UI" panose="020B0502040204020203" pitchFamily="34" charset="-34"/>
            </a:endParaRPr>
          </a:p>
        </p:txBody>
      </p:sp>
      <p:pic>
        <p:nvPicPr>
          <p:cNvPr id="76" name="Image 0" descr="preencoded.png">
            <a:hlinkClick r:id="" action="ppaction://noaction"/>
            <a:extLst>
              <a:ext uri="{FF2B5EF4-FFF2-40B4-BE49-F238E27FC236}">
                <a16:creationId xmlns:a16="http://schemas.microsoft.com/office/drawing/2014/main" id="{5F14044F-B233-2DBC-A4F2-EA50E202B848}"/>
              </a:ext>
            </a:extLst>
          </p:cNvPr>
          <p:cNvPicPr>
            <a:picLocks noChangeAspect="1"/>
          </p:cNvPicPr>
          <p:nvPr/>
        </p:nvPicPr>
        <p:blipFill>
          <a:blip r:embed="rId12"/>
          <a:stretch>
            <a:fillRect/>
          </a:stretch>
        </p:blipFill>
        <p:spPr>
          <a:xfrm>
            <a:off x="420440" y="28631778"/>
            <a:ext cx="963737" cy="319757"/>
          </a:xfrm>
          <a:prstGeom prst="rect">
            <a:avLst/>
          </a:prstGeom>
        </p:spPr>
      </p:pic>
      <p:pic>
        <p:nvPicPr>
          <p:cNvPr id="77" name="Image 1" descr="preencoded.png">
            <a:hlinkClick r:id="" action="ppaction://noaction"/>
            <a:extLst>
              <a:ext uri="{FF2B5EF4-FFF2-40B4-BE49-F238E27FC236}">
                <a16:creationId xmlns:a16="http://schemas.microsoft.com/office/drawing/2014/main" id="{E356BD2D-D2B3-7274-773E-3ECB5AF8B94B}"/>
              </a:ext>
            </a:extLst>
          </p:cNvPr>
          <p:cNvPicPr>
            <a:picLocks noChangeAspect="1"/>
          </p:cNvPicPr>
          <p:nvPr/>
        </p:nvPicPr>
        <p:blipFill>
          <a:blip r:embed="rId13"/>
          <a:stretch>
            <a:fillRect/>
          </a:stretch>
        </p:blipFill>
        <p:spPr>
          <a:xfrm>
            <a:off x="1442293" y="28631778"/>
            <a:ext cx="1228651" cy="319757"/>
          </a:xfrm>
          <a:prstGeom prst="rect">
            <a:avLst/>
          </a:prstGeom>
        </p:spPr>
      </p:pic>
      <p:pic>
        <p:nvPicPr>
          <p:cNvPr id="78" name="Image 2" descr="preencoded.png">
            <a:hlinkClick r:id="" action="ppaction://noaction"/>
            <a:extLst>
              <a:ext uri="{FF2B5EF4-FFF2-40B4-BE49-F238E27FC236}">
                <a16:creationId xmlns:a16="http://schemas.microsoft.com/office/drawing/2014/main" id="{C9B953FB-2939-9B0C-322A-82E8756229A7}"/>
              </a:ext>
            </a:extLst>
          </p:cNvPr>
          <p:cNvPicPr>
            <a:picLocks noChangeAspect="1"/>
          </p:cNvPicPr>
          <p:nvPr/>
        </p:nvPicPr>
        <p:blipFill>
          <a:blip r:embed="rId14"/>
          <a:stretch>
            <a:fillRect/>
          </a:stretch>
        </p:blipFill>
        <p:spPr>
          <a:xfrm>
            <a:off x="2729061" y="28631778"/>
            <a:ext cx="1761232" cy="319757"/>
          </a:xfrm>
          <a:prstGeom prst="rect">
            <a:avLst/>
          </a:prstGeom>
        </p:spPr>
      </p:pic>
      <p:pic>
        <p:nvPicPr>
          <p:cNvPr id="79" name="Image 3" descr="preencoded.png">
            <a:hlinkClick r:id="" action="ppaction://noaction"/>
            <a:extLst>
              <a:ext uri="{FF2B5EF4-FFF2-40B4-BE49-F238E27FC236}">
                <a16:creationId xmlns:a16="http://schemas.microsoft.com/office/drawing/2014/main" id="{51EC598A-2475-CFF7-A27A-FEC07BE06AE6}"/>
              </a:ext>
            </a:extLst>
          </p:cNvPr>
          <p:cNvPicPr>
            <a:picLocks noChangeAspect="1"/>
          </p:cNvPicPr>
          <p:nvPr/>
        </p:nvPicPr>
        <p:blipFill>
          <a:blip r:embed="rId15"/>
          <a:stretch>
            <a:fillRect/>
          </a:stretch>
        </p:blipFill>
        <p:spPr>
          <a:xfrm>
            <a:off x="420440" y="29074170"/>
            <a:ext cx="1449958" cy="319757"/>
          </a:xfrm>
          <a:prstGeom prst="rect">
            <a:avLst/>
          </a:prstGeom>
        </p:spPr>
      </p:pic>
      <p:pic>
        <p:nvPicPr>
          <p:cNvPr id="80" name="Image 4" descr="preencoded.png">
            <a:hlinkClick r:id="" action="ppaction://noaction"/>
            <a:extLst>
              <a:ext uri="{FF2B5EF4-FFF2-40B4-BE49-F238E27FC236}">
                <a16:creationId xmlns:a16="http://schemas.microsoft.com/office/drawing/2014/main" id="{A05382B7-838A-DCEB-1921-F97E06AF4072}"/>
              </a:ext>
            </a:extLst>
          </p:cNvPr>
          <p:cNvPicPr>
            <a:picLocks noChangeAspect="1"/>
          </p:cNvPicPr>
          <p:nvPr/>
        </p:nvPicPr>
        <p:blipFill>
          <a:blip r:embed="rId16"/>
          <a:stretch>
            <a:fillRect/>
          </a:stretch>
        </p:blipFill>
        <p:spPr>
          <a:xfrm>
            <a:off x="1928515" y="29074170"/>
            <a:ext cx="1625650" cy="319757"/>
          </a:xfrm>
          <a:prstGeom prst="rect">
            <a:avLst/>
          </a:prstGeom>
        </p:spPr>
      </p:pic>
      <p:pic>
        <p:nvPicPr>
          <p:cNvPr id="81" name="Image 5" descr="preencoded.png">
            <a:hlinkClick r:id="" action="ppaction://noaction"/>
            <a:extLst>
              <a:ext uri="{FF2B5EF4-FFF2-40B4-BE49-F238E27FC236}">
                <a16:creationId xmlns:a16="http://schemas.microsoft.com/office/drawing/2014/main" id="{1A9DFB3A-4CF6-6DA8-1CE4-AC5A58DEAAE9}"/>
              </a:ext>
            </a:extLst>
          </p:cNvPr>
          <p:cNvPicPr>
            <a:picLocks noChangeAspect="1"/>
          </p:cNvPicPr>
          <p:nvPr/>
        </p:nvPicPr>
        <p:blipFill>
          <a:blip r:embed="rId17"/>
          <a:stretch>
            <a:fillRect/>
          </a:stretch>
        </p:blipFill>
        <p:spPr>
          <a:xfrm>
            <a:off x="3612282" y="29074170"/>
            <a:ext cx="1534195" cy="319757"/>
          </a:xfrm>
          <a:prstGeom prst="rect">
            <a:avLst/>
          </a:prstGeom>
        </p:spPr>
      </p:pic>
      <p:pic>
        <p:nvPicPr>
          <p:cNvPr id="82" name="Image 6" descr="preencoded.png">
            <a:hlinkClick r:id="" action="ppaction://noaction"/>
            <a:extLst>
              <a:ext uri="{FF2B5EF4-FFF2-40B4-BE49-F238E27FC236}">
                <a16:creationId xmlns:a16="http://schemas.microsoft.com/office/drawing/2014/main" id="{C347DE12-3E23-480C-F37F-AB0F28C61526}"/>
              </a:ext>
            </a:extLst>
          </p:cNvPr>
          <p:cNvPicPr>
            <a:picLocks noChangeAspect="1"/>
          </p:cNvPicPr>
          <p:nvPr/>
        </p:nvPicPr>
        <p:blipFill>
          <a:blip r:embed="rId18"/>
          <a:stretch>
            <a:fillRect/>
          </a:stretch>
        </p:blipFill>
        <p:spPr>
          <a:xfrm>
            <a:off x="420440" y="29516561"/>
            <a:ext cx="1512243" cy="319757"/>
          </a:xfrm>
          <a:prstGeom prst="rect">
            <a:avLst/>
          </a:prstGeom>
        </p:spPr>
      </p:pic>
      <p:sp>
        <p:nvSpPr>
          <p:cNvPr id="83" name="Shape 2">
            <a:extLst>
              <a:ext uri="{FF2B5EF4-FFF2-40B4-BE49-F238E27FC236}">
                <a16:creationId xmlns:a16="http://schemas.microsoft.com/office/drawing/2014/main" id="{0DE37736-3DAB-A5AB-1F45-FBFDBF3C74DF}"/>
              </a:ext>
            </a:extLst>
          </p:cNvPr>
          <p:cNvSpPr/>
          <p:nvPr/>
        </p:nvSpPr>
        <p:spPr>
          <a:xfrm>
            <a:off x="420440" y="29987974"/>
            <a:ext cx="8151763" cy="14511"/>
          </a:xfrm>
          <a:prstGeom prst="roundRect">
            <a:avLst>
              <a:gd name="adj" fmla="val 120213"/>
            </a:avLst>
          </a:prstGeom>
          <a:solidFill>
            <a:srgbClr val="161613">
              <a:alpha val="50000"/>
            </a:srgbClr>
          </a:solidFill>
          <a:ln/>
        </p:spPr>
      </p:sp>
      <p:sp>
        <p:nvSpPr>
          <p:cNvPr id="84" name="Text 3">
            <a:extLst>
              <a:ext uri="{FF2B5EF4-FFF2-40B4-BE49-F238E27FC236}">
                <a16:creationId xmlns:a16="http://schemas.microsoft.com/office/drawing/2014/main" id="{DBDA29E3-9E5B-02AE-1396-B52AD0AE90E5}"/>
              </a:ext>
            </a:extLst>
          </p:cNvPr>
          <p:cNvSpPr/>
          <p:nvPr/>
        </p:nvSpPr>
        <p:spPr>
          <a:xfrm>
            <a:off x="420440" y="30263157"/>
            <a:ext cx="3644205" cy="181645"/>
          </a:xfrm>
          <a:prstGeom prst="rect">
            <a:avLst/>
          </a:prstGeom>
          <a:noFill/>
          <a:ln/>
        </p:spPr>
        <p:txBody>
          <a:bodyPr wrap="none" lIns="0" tIns="0" rIns="0" bIns="0" rtlCol="0" anchor="t"/>
          <a:lstStyle/>
          <a:p>
            <a:pPr marL="0" indent="0" algn="l">
              <a:lnSpc>
                <a:spcPct val="104000"/>
              </a:lnSpc>
              <a:buNone/>
            </a:pP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Punya Kisah Perubahan? Bagikan dengan Kami!</a:t>
            </a:r>
            <a:endParaRPr lang="en-US" sz="1400" dirty="0">
              <a:latin typeface="Leelawadee UI" panose="020B0502040204020203" pitchFamily="34" charset="-34"/>
              <a:cs typeface="Leelawadee UI" panose="020B0502040204020203" pitchFamily="34" charset="-34"/>
            </a:endParaRPr>
          </a:p>
        </p:txBody>
      </p:sp>
      <p:sp>
        <p:nvSpPr>
          <p:cNvPr id="85" name="Text 4">
            <a:extLst>
              <a:ext uri="{FF2B5EF4-FFF2-40B4-BE49-F238E27FC236}">
                <a16:creationId xmlns:a16="http://schemas.microsoft.com/office/drawing/2014/main" id="{5618E645-C802-18A9-DDDD-088AE78165EA}"/>
              </a:ext>
            </a:extLst>
          </p:cNvPr>
          <p:cNvSpPr/>
          <p:nvPr/>
        </p:nvSpPr>
        <p:spPr>
          <a:xfrm>
            <a:off x="420440" y="30553819"/>
            <a:ext cx="3934048" cy="1081385"/>
          </a:xfrm>
          <a:prstGeom prst="rect">
            <a:avLst/>
          </a:prstGeom>
          <a:noFill/>
          <a:ln/>
        </p:spPr>
        <p:txBody>
          <a:bodyPr wrap="square" lIns="0" tIns="0" rIns="0" bIns="0" rtlCol="0" anchor="t">
            <a:noAutofit/>
          </a:bodyPr>
          <a:lstStyle/>
          <a:p>
            <a:pPr marL="0" indent="0" algn="l">
              <a:lnSpc>
                <a:spcPct val="129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YNKI percaya bahwa setiap kisah perubahan adalah bagian dari perjalanan bersama menuju lanskap yang sehat dan masyarakat yang sejahtera. Jika Anda memiliki kisah tentang perubahan yang terjadi di desa atau lanskap Anda, kami ingin mendengarnya. Bersama-sama, kita dapat memperluas dampak nyata dari tata kelola lanskap yang inklusif dan kolaboratif.</a:t>
            </a:r>
            <a:endParaRPr lang="en-US" sz="1050" dirty="0">
              <a:latin typeface="Leelawadee UI" panose="020B0502040204020203" pitchFamily="34" charset="-34"/>
              <a:cs typeface="Leelawadee UI" panose="020B0502040204020203" pitchFamily="34" charset="-34"/>
            </a:endParaRPr>
          </a:p>
        </p:txBody>
      </p:sp>
      <p:pic>
        <p:nvPicPr>
          <p:cNvPr id="86" name="Image 7" descr="preencoded.png">
            <a:hlinkClick r:id="" action="ppaction://noaction"/>
            <a:extLst>
              <a:ext uri="{FF2B5EF4-FFF2-40B4-BE49-F238E27FC236}">
                <a16:creationId xmlns:a16="http://schemas.microsoft.com/office/drawing/2014/main" id="{AA68CFD9-9AF0-E8C4-8F3E-C6E8230B9B7F}"/>
              </a:ext>
            </a:extLst>
          </p:cNvPr>
          <p:cNvPicPr>
            <a:picLocks noChangeAspect="1"/>
          </p:cNvPicPr>
          <p:nvPr/>
        </p:nvPicPr>
        <p:blipFill>
          <a:blip r:embed="rId19"/>
          <a:stretch>
            <a:fillRect/>
          </a:stretch>
        </p:blipFill>
        <p:spPr>
          <a:xfrm>
            <a:off x="420440" y="31757838"/>
            <a:ext cx="1351583" cy="319757"/>
          </a:xfrm>
          <a:prstGeom prst="rect">
            <a:avLst/>
          </a:prstGeom>
        </p:spPr>
      </p:pic>
      <p:pic>
        <p:nvPicPr>
          <p:cNvPr id="87" name="Image 8" descr="preencoded.png">
            <a:hlinkClick r:id="" action="ppaction://noaction"/>
            <a:extLst>
              <a:ext uri="{FF2B5EF4-FFF2-40B4-BE49-F238E27FC236}">
                <a16:creationId xmlns:a16="http://schemas.microsoft.com/office/drawing/2014/main" id="{FBDFD80B-7DD2-3DC0-54E2-0B95F49AA8E5}"/>
              </a:ext>
            </a:extLst>
          </p:cNvPr>
          <p:cNvPicPr>
            <a:picLocks noChangeAspect="1"/>
          </p:cNvPicPr>
          <p:nvPr/>
        </p:nvPicPr>
        <p:blipFill>
          <a:blip r:embed="rId20"/>
          <a:stretch>
            <a:fillRect/>
          </a:stretch>
        </p:blipFill>
        <p:spPr>
          <a:xfrm>
            <a:off x="1830140" y="31757838"/>
            <a:ext cx="1485156" cy="319757"/>
          </a:xfrm>
          <a:prstGeom prst="rect">
            <a:avLst/>
          </a:prstGeom>
        </p:spPr>
      </p:pic>
      <p:sp>
        <p:nvSpPr>
          <p:cNvPr id="88" name="Text 5">
            <a:extLst>
              <a:ext uri="{FF2B5EF4-FFF2-40B4-BE49-F238E27FC236}">
                <a16:creationId xmlns:a16="http://schemas.microsoft.com/office/drawing/2014/main" id="{16F3E333-5A9D-88EC-EF91-5E2F4DEE97B7}"/>
              </a:ext>
            </a:extLst>
          </p:cNvPr>
          <p:cNvSpPr/>
          <p:nvPr/>
        </p:nvSpPr>
        <p:spPr>
          <a:xfrm>
            <a:off x="4642917" y="30263157"/>
            <a:ext cx="2711500" cy="181645"/>
          </a:xfrm>
          <a:prstGeom prst="rect">
            <a:avLst/>
          </a:prstGeom>
          <a:noFill/>
          <a:ln/>
        </p:spPr>
        <p:txBody>
          <a:bodyPr wrap="none" lIns="0" tIns="0" rIns="0" bIns="0" rtlCol="0" anchor="t"/>
          <a:lstStyle/>
          <a:p>
            <a:pPr marL="0" indent="0" algn="l">
              <a:lnSpc>
                <a:spcPct val="104000"/>
              </a:lnSpc>
              <a:buNone/>
            </a:pP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Dukung Perubahan Berkelanjutan</a:t>
            </a:r>
            <a:endParaRPr lang="en-US" sz="1400" dirty="0">
              <a:latin typeface="Leelawadee UI" panose="020B0502040204020203" pitchFamily="34" charset="-34"/>
              <a:cs typeface="Leelawadee UI" panose="020B0502040204020203" pitchFamily="34" charset="-34"/>
            </a:endParaRPr>
          </a:p>
        </p:txBody>
      </p:sp>
      <p:sp>
        <p:nvSpPr>
          <p:cNvPr id="89" name="Text 6">
            <a:extLst>
              <a:ext uri="{FF2B5EF4-FFF2-40B4-BE49-F238E27FC236}">
                <a16:creationId xmlns:a16="http://schemas.microsoft.com/office/drawing/2014/main" id="{113CBB68-4D43-2C81-1508-C1C9E351DB92}"/>
              </a:ext>
            </a:extLst>
          </p:cNvPr>
          <p:cNvSpPr/>
          <p:nvPr/>
        </p:nvSpPr>
        <p:spPr>
          <a:xfrm>
            <a:off x="4642917" y="30553819"/>
            <a:ext cx="3934048" cy="901154"/>
          </a:xfrm>
          <a:prstGeom prst="rect">
            <a:avLst/>
          </a:prstGeom>
          <a:noFill/>
          <a:ln/>
        </p:spPr>
        <p:txBody>
          <a:bodyPr wrap="square" lIns="0" tIns="0" rIns="0" bIns="0" rtlCol="0" anchor="t">
            <a:normAutofit fontScale="92500" lnSpcReduction="10000"/>
          </a:bodyPr>
          <a:lstStyle/>
          <a:p>
            <a:pPr marL="0" indent="0" algn="l">
              <a:lnSpc>
                <a:spcPct val="129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Kisah-kisah perubahan ini terwujud berkat dukungan dari berbagai pihak—masyarakat, mitra, donor, dan pemerintah. Anda juga dapat menjadi bagian dari perubahan menuju lanskap yang sehat dan masyarakat yang sejahtera. Setiap kontribusi, besar maupun kecil, turut membentuk masa depan lanskap Indonesia.</a:t>
            </a:r>
            <a:endParaRPr lang="en-US" sz="1050" dirty="0">
              <a:latin typeface="Leelawadee UI" panose="020B0502040204020203" pitchFamily="34" charset="-34"/>
              <a:cs typeface="Leelawadee UI" panose="020B0502040204020203" pitchFamily="34" charset="-34"/>
            </a:endParaRPr>
          </a:p>
        </p:txBody>
      </p:sp>
      <p:pic>
        <p:nvPicPr>
          <p:cNvPr id="90" name="Image 9" descr="preencoded.png">
            <a:hlinkClick r:id="" action="ppaction://noaction"/>
            <a:extLst>
              <a:ext uri="{FF2B5EF4-FFF2-40B4-BE49-F238E27FC236}">
                <a16:creationId xmlns:a16="http://schemas.microsoft.com/office/drawing/2014/main" id="{C4A5FFAA-B9EF-5574-7FC7-F9AEBC6CF7E0}"/>
              </a:ext>
            </a:extLst>
          </p:cNvPr>
          <p:cNvPicPr>
            <a:picLocks noChangeAspect="1"/>
          </p:cNvPicPr>
          <p:nvPr/>
        </p:nvPicPr>
        <p:blipFill>
          <a:blip r:embed="rId21"/>
          <a:stretch>
            <a:fillRect/>
          </a:stretch>
        </p:blipFill>
        <p:spPr>
          <a:xfrm>
            <a:off x="4642917" y="31577607"/>
            <a:ext cx="1181546" cy="319757"/>
          </a:xfrm>
          <a:prstGeom prst="rect">
            <a:avLst/>
          </a:prstGeom>
        </p:spPr>
      </p:pic>
      <p:pic>
        <p:nvPicPr>
          <p:cNvPr id="91" name="Image 10" descr="preencoded.png">
            <a:hlinkClick r:id="" action="ppaction://noaction"/>
            <a:extLst>
              <a:ext uri="{FF2B5EF4-FFF2-40B4-BE49-F238E27FC236}">
                <a16:creationId xmlns:a16="http://schemas.microsoft.com/office/drawing/2014/main" id="{64224F52-9529-30CC-8CF1-9222EB0C45CA}"/>
              </a:ext>
            </a:extLst>
          </p:cNvPr>
          <p:cNvPicPr>
            <a:picLocks noChangeAspect="1"/>
          </p:cNvPicPr>
          <p:nvPr/>
        </p:nvPicPr>
        <p:blipFill>
          <a:blip r:embed="rId22"/>
          <a:stretch>
            <a:fillRect/>
          </a:stretch>
        </p:blipFill>
        <p:spPr>
          <a:xfrm>
            <a:off x="5882581" y="31577607"/>
            <a:ext cx="1994818" cy="319757"/>
          </a:xfrm>
          <a:prstGeom prst="rect">
            <a:avLst/>
          </a:prstGeom>
        </p:spPr>
      </p:pic>
      <p:sp>
        <p:nvSpPr>
          <p:cNvPr id="92" name="Shape 0">
            <a:extLst>
              <a:ext uri="{FF2B5EF4-FFF2-40B4-BE49-F238E27FC236}">
                <a16:creationId xmlns:a16="http://schemas.microsoft.com/office/drawing/2014/main" id="{219F8D48-0A23-FF2A-564C-DC403F7C9FA0}"/>
              </a:ext>
            </a:extLst>
          </p:cNvPr>
          <p:cNvSpPr/>
          <p:nvPr/>
        </p:nvSpPr>
        <p:spPr>
          <a:xfrm>
            <a:off x="471861" y="32826871"/>
            <a:ext cx="2693789" cy="2237333"/>
          </a:xfrm>
          <a:prstGeom prst="roundRect">
            <a:avLst>
              <a:gd name="adj" fmla="val 832"/>
            </a:avLst>
          </a:prstGeom>
          <a:solidFill>
            <a:srgbClr val="28282F"/>
          </a:solidFill>
          <a:ln/>
        </p:spPr>
      </p:sp>
      <p:sp>
        <p:nvSpPr>
          <p:cNvPr id="93" name="Text 1">
            <a:extLst>
              <a:ext uri="{FF2B5EF4-FFF2-40B4-BE49-F238E27FC236}">
                <a16:creationId xmlns:a16="http://schemas.microsoft.com/office/drawing/2014/main" id="{FDA60511-BA23-A420-08DF-B194C3A4E82B}"/>
              </a:ext>
            </a:extLst>
          </p:cNvPr>
          <p:cNvSpPr/>
          <p:nvPr/>
        </p:nvSpPr>
        <p:spPr>
          <a:xfrm>
            <a:off x="595835" y="32950845"/>
            <a:ext cx="2901479" cy="193849"/>
          </a:xfrm>
          <a:prstGeom prst="rect">
            <a:avLst/>
          </a:prstGeom>
          <a:noFill/>
          <a:ln/>
        </p:spPr>
        <p:txBody>
          <a:bodyPr wrap="none" lIns="0" tIns="0" rIns="0" bIns="0" rtlCol="0" anchor="t"/>
          <a:lstStyle/>
          <a:p>
            <a:pPr marL="0" indent="0" algn="l">
              <a:lnSpc>
                <a:spcPct val="104000"/>
              </a:lnSpc>
              <a:buNone/>
            </a:pPr>
            <a:r>
              <a:rPr lang="en-US" sz="1200" dirty="0">
                <a:solidFill>
                  <a:srgbClr val="FFFFFF"/>
                </a:solidFill>
                <a:latin typeface="Leelawadee UI" panose="020B0502040204020203" pitchFamily="34" charset="-34"/>
                <a:ea typeface="DM Sans Medium" pitchFamily="34" charset="-122"/>
                <a:cs typeface="Leelawadee UI" panose="020B0502040204020203" pitchFamily="34" charset="-34"/>
              </a:rPr>
              <a:t>Yayasan Natural Kapital Indonesia</a:t>
            </a:r>
            <a:endParaRPr lang="en-US" sz="1200" dirty="0">
              <a:latin typeface="Leelawadee UI" panose="020B0502040204020203" pitchFamily="34" charset="-34"/>
              <a:cs typeface="Leelawadee UI" panose="020B0502040204020203" pitchFamily="34" charset="-34"/>
            </a:endParaRPr>
          </a:p>
        </p:txBody>
      </p:sp>
      <p:sp>
        <p:nvSpPr>
          <p:cNvPr id="94" name="Text 2">
            <a:extLst>
              <a:ext uri="{FF2B5EF4-FFF2-40B4-BE49-F238E27FC236}">
                <a16:creationId xmlns:a16="http://schemas.microsoft.com/office/drawing/2014/main" id="{CC184834-CE9C-40D4-FCB7-F8E50D7F8B6C}"/>
              </a:ext>
            </a:extLst>
          </p:cNvPr>
          <p:cNvSpPr/>
          <p:nvPr/>
        </p:nvSpPr>
        <p:spPr>
          <a:xfrm>
            <a:off x="595835" y="33268668"/>
            <a:ext cx="2445841" cy="1103933"/>
          </a:xfrm>
          <a:prstGeom prst="rect">
            <a:avLst/>
          </a:prstGeom>
          <a:noFill/>
          <a:ln/>
        </p:spPr>
        <p:txBody>
          <a:bodyPr wrap="square" lIns="0" tIns="0" rIns="0" bIns="0" rtlCol="0" anchor="t"/>
          <a:lstStyle/>
          <a:p>
            <a:pPr marL="0" indent="0" algn="l">
              <a:lnSpc>
                <a:spcPct val="133000"/>
              </a:lnSpc>
              <a:spcAft>
                <a:spcPts val="850"/>
              </a:spcAft>
              <a:buNone/>
            </a:pPr>
            <a:r>
              <a:rPr lang="en-US" sz="950" i="1" dirty="0">
                <a:solidFill>
                  <a:srgbClr val="FFFFFF"/>
                </a:solidFill>
                <a:latin typeface="Leelawadee UI" panose="020B0502040204020203" pitchFamily="34" charset="-34"/>
                <a:ea typeface="Inter" pitchFamily="34" charset="-122"/>
                <a:cs typeface="Leelawadee UI" panose="020B0502040204020203" pitchFamily="34" charset="-34"/>
              </a:rPr>
              <a:t>Nature for Life</a:t>
            </a:r>
            <a:endParaRPr lang="en-US" sz="950" dirty="0">
              <a:latin typeface="Leelawadee UI" panose="020B0502040204020203" pitchFamily="34" charset="-34"/>
              <a:cs typeface="Leelawadee UI" panose="020B0502040204020203" pitchFamily="34" charset="-34"/>
            </a:endParaRPr>
          </a:p>
          <a:p>
            <a:pPr marL="0" indent="0" algn="l">
              <a:lnSpc>
                <a:spcPct val="133000"/>
              </a:lnSpc>
              <a:buNone/>
            </a:pPr>
            <a:r>
              <a:rPr lang="en-US" sz="950" dirty="0">
                <a:solidFill>
                  <a:srgbClr val="FFFFFF"/>
                </a:solidFill>
                <a:latin typeface="Leelawadee UI" panose="020B0502040204020203" pitchFamily="34" charset="-34"/>
                <a:ea typeface="Inter" pitchFamily="34" charset="-122"/>
                <a:cs typeface="Leelawadee UI" panose="020B0502040204020203" pitchFamily="34" charset="-34"/>
              </a:rPr>
              <a:t>Landscape Governance Backbone Organization</a:t>
            </a:r>
            <a:endParaRPr lang="en-US" sz="950" dirty="0">
              <a:latin typeface="Leelawadee UI" panose="020B0502040204020203" pitchFamily="34" charset="-34"/>
              <a:cs typeface="Leelawadee UI" panose="020B0502040204020203" pitchFamily="34" charset="-34"/>
            </a:endParaRPr>
          </a:p>
          <a:p>
            <a:pPr marL="0" indent="0" algn="l">
              <a:lnSpc>
                <a:spcPct val="133000"/>
              </a:lnSpc>
              <a:buNone/>
            </a:pPr>
            <a:r>
              <a:rPr lang="en-US" sz="950" dirty="0">
                <a:solidFill>
                  <a:srgbClr val="FFFFFF"/>
                </a:solidFill>
                <a:latin typeface="Leelawadee UI" panose="020B0502040204020203" pitchFamily="34" charset="-34"/>
                <a:ea typeface="Inter" pitchFamily="34" charset="-122"/>
                <a:cs typeface="Leelawadee UI" panose="020B0502040204020203" pitchFamily="34" charset="-34"/>
              </a:rPr>
              <a:t>Jalan Karna Sosial, Pontianak,</a:t>
            </a:r>
            <a:endParaRPr lang="en-US" sz="950" dirty="0">
              <a:latin typeface="Leelawadee UI" panose="020B0502040204020203" pitchFamily="34" charset="-34"/>
              <a:cs typeface="Leelawadee UI" panose="020B0502040204020203" pitchFamily="34" charset="-34"/>
            </a:endParaRPr>
          </a:p>
          <a:p>
            <a:pPr marL="0" indent="0" algn="l">
              <a:lnSpc>
                <a:spcPct val="133000"/>
              </a:lnSpc>
              <a:buNone/>
            </a:pPr>
            <a:r>
              <a:rPr lang="en-US" sz="950" dirty="0">
                <a:solidFill>
                  <a:srgbClr val="FFFFFF"/>
                </a:solidFill>
                <a:latin typeface="Leelawadee UI" panose="020B0502040204020203" pitchFamily="34" charset="-34"/>
                <a:ea typeface="Inter" pitchFamily="34" charset="-122"/>
                <a:cs typeface="Leelawadee UI" panose="020B0502040204020203" pitchFamily="34" charset="-34"/>
              </a:rPr>
              <a:t>Kalimantan Barat 78121</a:t>
            </a:r>
            <a:endParaRPr lang="en-US" sz="950" dirty="0">
              <a:latin typeface="Leelawadee UI" panose="020B0502040204020203" pitchFamily="34" charset="-34"/>
              <a:cs typeface="Leelawadee UI" panose="020B0502040204020203" pitchFamily="34" charset="-34"/>
            </a:endParaRPr>
          </a:p>
        </p:txBody>
      </p:sp>
      <p:sp>
        <p:nvSpPr>
          <p:cNvPr id="95" name="Text 3">
            <a:extLst>
              <a:ext uri="{FF2B5EF4-FFF2-40B4-BE49-F238E27FC236}">
                <a16:creationId xmlns:a16="http://schemas.microsoft.com/office/drawing/2014/main" id="{DFCFF0F8-C5DD-25FB-8623-B4EC63CFC7A8}"/>
              </a:ext>
            </a:extLst>
          </p:cNvPr>
          <p:cNvSpPr/>
          <p:nvPr/>
        </p:nvSpPr>
        <p:spPr>
          <a:xfrm>
            <a:off x="3383683" y="32950845"/>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Tautan Cepat</a:t>
            </a:r>
            <a:endParaRPr lang="en-US" sz="1200" dirty="0">
              <a:latin typeface="Leelawadee UI" panose="020B0502040204020203" pitchFamily="34" charset="-34"/>
              <a:cs typeface="Leelawadee UI" panose="020B0502040204020203" pitchFamily="34" charset="-34"/>
            </a:endParaRPr>
          </a:p>
        </p:txBody>
      </p:sp>
      <p:sp>
        <p:nvSpPr>
          <p:cNvPr id="96" name="Text 4">
            <a:extLst>
              <a:ext uri="{FF2B5EF4-FFF2-40B4-BE49-F238E27FC236}">
                <a16:creationId xmlns:a16="http://schemas.microsoft.com/office/drawing/2014/main" id="{D569ED51-BECD-3D96-9964-1D857E812F8E}"/>
              </a:ext>
            </a:extLst>
          </p:cNvPr>
          <p:cNvSpPr/>
          <p:nvPr/>
        </p:nvSpPr>
        <p:spPr>
          <a:xfrm>
            <a:off x="3383683" y="33268668"/>
            <a:ext cx="2515195" cy="1165845"/>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Tentang Kami</a:t>
            </a:r>
            <a:endParaRPr lang="en-US" sz="950" dirty="0">
              <a:latin typeface="Leelawadee UI" panose="020B0502040204020203" pitchFamily="34" charset="-34"/>
              <a:cs typeface="Leelawadee UI" panose="020B0502040204020203" pitchFamily="34" charset="-34"/>
            </a:endParaRPr>
          </a:p>
          <a:p>
            <a:pPr marL="342900" indent="-342900" algn="l">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Program Kami</a:t>
            </a:r>
            <a:endParaRPr lang="en-US" sz="950" dirty="0">
              <a:latin typeface="Leelawadee UI" panose="020B0502040204020203" pitchFamily="34" charset="-34"/>
              <a:cs typeface="Leelawadee UI" panose="020B0502040204020203" pitchFamily="34" charset="-34"/>
            </a:endParaRPr>
          </a:p>
          <a:p>
            <a:pPr marL="342900" indent="-342900" algn="l">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Ikut Serta</a:t>
            </a:r>
            <a:endParaRPr lang="en-US" sz="950" dirty="0">
              <a:latin typeface="Leelawadee UI" panose="020B0502040204020203" pitchFamily="34" charset="-34"/>
              <a:cs typeface="Leelawadee UI" panose="020B0502040204020203" pitchFamily="34" charset="-34"/>
            </a:endParaRPr>
          </a:p>
          <a:p>
            <a:pPr marL="342900" indent="-342900" algn="l">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Pustaka &amp; Pengetahuan</a:t>
            </a:r>
            <a:endParaRPr lang="en-US" sz="950" dirty="0">
              <a:latin typeface="Leelawadee UI" panose="020B0502040204020203" pitchFamily="34" charset="-34"/>
              <a:cs typeface="Leelawadee UI" panose="020B0502040204020203" pitchFamily="34" charset="-34"/>
            </a:endParaRPr>
          </a:p>
          <a:p>
            <a:pPr marL="342900" indent="-342900" algn="l">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Dampak &amp; Pembelajaran</a:t>
            </a:r>
            <a:endParaRPr lang="en-US" sz="950" dirty="0">
              <a:latin typeface="Leelawadee UI" panose="020B0502040204020203" pitchFamily="34" charset="-34"/>
              <a:cs typeface="Leelawadee UI" panose="020B0502040204020203" pitchFamily="34" charset="-34"/>
            </a:endParaRPr>
          </a:p>
        </p:txBody>
      </p:sp>
      <p:sp>
        <p:nvSpPr>
          <p:cNvPr id="97" name="Text 5">
            <a:extLst>
              <a:ext uri="{FF2B5EF4-FFF2-40B4-BE49-F238E27FC236}">
                <a16:creationId xmlns:a16="http://schemas.microsoft.com/office/drawing/2014/main" id="{FCD1A06F-528A-EF25-BC05-008648B4506B}"/>
              </a:ext>
            </a:extLst>
          </p:cNvPr>
          <p:cNvSpPr/>
          <p:nvPr/>
        </p:nvSpPr>
        <p:spPr>
          <a:xfrm>
            <a:off x="6206208" y="32950845"/>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Kontak</a:t>
            </a:r>
            <a:endParaRPr lang="en-US" sz="1200" dirty="0">
              <a:latin typeface="Leelawadee UI" panose="020B0502040204020203" pitchFamily="34" charset="-34"/>
              <a:cs typeface="Leelawadee UI" panose="020B0502040204020203" pitchFamily="34" charset="-34"/>
            </a:endParaRPr>
          </a:p>
        </p:txBody>
      </p:sp>
      <p:sp>
        <p:nvSpPr>
          <p:cNvPr id="98" name="Text 6">
            <a:extLst>
              <a:ext uri="{FF2B5EF4-FFF2-40B4-BE49-F238E27FC236}">
                <a16:creationId xmlns:a16="http://schemas.microsoft.com/office/drawing/2014/main" id="{1854E2A2-5F51-685E-97AE-B37A910AFE10}"/>
              </a:ext>
            </a:extLst>
          </p:cNvPr>
          <p:cNvSpPr/>
          <p:nvPr/>
        </p:nvSpPr>
        <p:spPr>
          <a:xfrm>
            <a:off x="6206208" y="33268668"/>
            <a:ext cx="2515195" cy="609674"/>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 info@naturalkapital.or.id</a:t>
            </a:r>
            <a:endParaRPr lang="en-US" sz="950" dirty="0">
              <a:latin typeface="Leelawadee UI" panose="020B0502040204020203" pitchFamily="34" charset="-34"/>
              <a:cs typeface="Leelawadee UI" panose="020B0502040204020203" pitchFamily="34" charset="-34"/>
            </a:endParaRPr>
          </a:p>
          <a:p>
            <a:pPr marL="0" indent="0" algn="l">
              <a:lnSpc>
                <a:spcPct val="133000"/>
              </a:lnSpc>
              <a:buNone/>
            </a:pPr>
            <a:r>
              <a:rPr lang="en-US" sz="95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 Pontianak, Kalimantan Barat</a:t>
            </a:r>
            <a:endParaRPr lang="en-US" sz="950" dirty="0">
              <a:latin typeface="Leelawadee UI" panose="020B0502040204020203" pitchFamily="34" charset="-34"/>
              <a:cs typeface="Leelawadee UI" panose="020B0502040204020203" pitchFamily="34" charset="-34"/>
            </a:endParaRPr>
          </a:p>
          <a:p>
            <a:pPr marL="0" indent="0" algn="l">
              <a:lnSpc>
                <a:spcPct val="133000"/>
              </a:lnSpc>
              <a:buNone/>
            </a:pPr>
            <a:r>
              <a:rPr lang="en-US" sz="95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 naturalkapital.or.id</a:t>
            </a:r>
            <a:endParaRPr lang="en-US" sz="950" dirty="0">
              <a:latin typeface="Leelawadee UI" panose="020B0502040204020203" pitchFamily="34" charset="-34"/>
              <a:cs typeface="Leelawadee UI" panose="020B0502040204020203" pitchFamily="34" charset="-34"/>
            </a:endParaRPr>
          </a:p>
        </p:txBody>
      </p:sp>
      <p:sp>
        <p:nvSpPr>
          <p:cNvPr id="99" name="Text 7">
            <a:extLst>
              <a:ext uri="{FF2B5EF4-FFF2-40B4-BE49-F238E27FC236}">
                <a16:creationId xmlns:a16="http://schemas.microsoft.com/office/drawing/2014/main" id="{46A63845-8959-2A53-1F7E-785E74054706}"/>
              </a:ext>
            </a:extLst>
          </p:cNvPr>
          <p:cNvSpPr/>
          <p:nvPr/>
        </p:nvSpPr>
        <p:spPr>
          <a:xfrm>
            <a:off x="6206208" y="34002316"/>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Ikuti Kami</a:t>
            </a:r>
            <a:endParaRPr lang="en-US" sz="1200" dirty="0">
              <a:latin typeface="Leelawadee UI" panose="020B0502040204020203" pitchFamily="34" charset="-34"/>
              <a:cs typeface="Leelawadee UI" panose="020B0502040204020203" pitchFamily="34" charset="-34"/>
            </a:endParaRPr>
          </a:p>
        </p:txBody>
      </p:sp>
      <p:sp>
        <p:nvSpPr>
          <p:cNvPr id="100" name="Text 8">
            <a:extLst>
              <a:ext uri="{FF2B5EF4-FFF2-40B4-BE49-F238E27FC236}">
                <a16:creationId xmlns:a16="http://schemas.microsoft.com/office/drawing/2014/main" id="{437557A1-D569-C40E-548B-3CD54C65FDDF}"/>
              </a:ext>
            </a:extLst>
          </p:cNvPr>
          <p:cNvSpPr/>
          <p:nvPr/>
        </p:nvSpPr>
        <p:spPr>
          <a:xfrm>
            <a:off x="6206208" y="34320138"/>
            <a:ext cx="2972395" cy="198462"/>
          </a:xfrm>
          <a:prstGeom prst="rect">
            <a:avLst/>
          </a:prstGeom>
          <a:noFill/>
          <a:ln/>
        </p:spPr>
        <p:txBody>
          <a:bodyPr wrap="none" lIns="0" tIns="0" rIns="0" bIns="0" rtlCol="0" anchor="t"/>
          <a:lstStyle/>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LinkedIn · YouTube · Instagram</a:t>
            </a:r>
            <a:endParaRPr lang="en-US" sz="950" dirty="0">
              <a:latin typeface="Leelawadee UI" panose="020B0502040204020203" pitchFamily="34" charset="-34"/>
              <a:cs typeface="Leelawadee UI" panose="020B0502040204020203" pitchFamily="34" charset="-34"/>
            </a:endParaRPr>
          </a:p>
        </p:txBody>
      </p:sp>
      <p:sp>
        <p:nvSpPr>
          <p:cNvPr id="101" name="Text 9">
            <a:extLst>
              <a:ext uri="{FF2B5EF4-FFF2-40B4-BE49-F238E27FC236}">
                <a16:creationId xmlns:a16="http://schemas.microsoft.com/office/drawing/2014/main" id="{173E59F6-0BB2-AC1A-208E-2C40BBC57AB3}"/>
              </a:ext>
            </a:extLst>
          </p:cNvPr>
          <p:cNvSpPr/>
          <p:nvPr/>
        </p:nvSpPr>
        <p:spPr>
          <a:xfrm>
            <a:off x="6206208" y="34630222"/>
            <a:ext cx="2515195" cy="322362"/>
          </a:xfrm>
          <a:prstGeom prst="rect">
            <a:avLst/>
          </a:prstGeom>
          <a:noFill/>
          <a:ln/>
        </p:spPr>
        <p:txBody>
          <a:bodyPr wrap="square" lIns="0" tIns="0" rIns="0" bIns="0" rtlCol="0" anchor="t">
            <a:normAutofit/>
          </a:bodyPr>
          <a:lstStyle/>
          <a:p>
            <a:pPr marL="0" indent="0" algn="l">
              <a:lnSpc>
                <a:spcPct val="133000"/>
              </a:lnSpc>
              <a:buNone/>
            </a:pPr>
            <a:r>
              <a:rPr lang="en-US" sz="75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750" dirty="0">
                <a:solidFill>
                  <a:srgbClr val="161613"/>
                </a:solidFill>
                <a:latin typeface="Leelawadee UI" panose="020B0502040204020203" pitchFamily="34" charset="-34"/>
                <a:ea typeface="Inter" pitchFamily="34" charset="-122"/>
                <a:cs typeface="Leelawadee UI" panose="020B0502040204020203" pitchFamily="34" charset="-34"/>
              </a:rPr>
              <a:t> 2026 Yayasan Natural Kapital Indonesia · Kebijakan Privasi</a:t>
            </a:r>
            <a:endParaRPr lang="en-US" sz="750" dirty="0">
              <a:latin typeface="Leelawadee UI" panose="020B0502040204020203" pitchFamily="34" charset="-34"/>
              <a:cs typeface="Leelawadee UI" panose="020B0502040204020203" pitchFamily="34" charset="-34"/>
            </a:endParaRPr>
          </a:p>
        </p:txBody>
      </p:sp>
    </p:spTree>
    <p:extLst>
      <p:ext uri="{BB962C8B-B14F-4D97-AF65-F5344CB8AC3E}">
        <p14:creationId xmlns:p14="http://schemas.microsoft.com/office/powerpoint/2010/main" val="164390482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8</TotalTime>
  <Words>1131</Words>
  <Application>Microsoft Office PowerPoint</Application>
  <PresentationFormat>Custom</PresentationFormat>
  <Paragraphs>75</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Leelawadee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haryono sadikin</dc:creator>
  <cp:lastModifiedBy>haryono sadikin</cp:lastModifiedBy>
  <cp:revision>1</cp:revision>
  <dcterms:created xsi:type="dcterms:W3CDTF">2026-06-22T12:22:27Z</dcterms:created>
  <dcterms:modified xsi:type="dcterms:W3CDTF">2026-06-22T12:30:59Z</dcterms:modified>
</cp:coreProperties>
</file>