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94660"/>
  </p:normalViewPr>
  <p:slideViewPr>
    <p:cSldViewPr snapToGrid="0">
      <p:cViewPr>
        <p:scale>
          <a:sx n="50" d="100"/>
          <a:sy n="50" d="100"/>
        </p:scale>
        <p:origin x="738" y="-9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7070108"/>
            <a:ext cx="7649607" cy="1504022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22690338"/>
            <a:ext cx="6749654" cy="1043015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AEB330-59F9-4338-8CA8-0DFA36A0699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1878064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B330-59F9-4338-8CA8-0DFA36A0699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2164843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0770172"/>
            <a:ext cx="7762102" cy="17970262"/>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8910440"/>
            <a:ext cx="7762102" cy="9450136"/>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AEB330-59F9-4338-8CA8-0DFA36A0699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818846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AEB330-59F9-4338-8CA8-0DFA36A0699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1598681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300044"/>
            <a:ext cx="7762102" cy="8350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0590160"/>
            <a:ext cx="380722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5780233"/>
            <a:ext cx="380722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10590160"/>
            <a:ext cx="382597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5780233"/>
            <a:ext cx="382597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AEB330-59F9-4338-8CA8-0DFA36A06993}"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3723404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AEB330-59F9-4338-8CA8-0DFA36A06993}"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2037360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AEB330-59F9-4338-8CA8-0DFA36A06993}"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3177253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6220102"/>
            <a:ext cx="4556016" cy="30700453"/>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9FAEB330-59F9-4338-8CA8-0DFA36A0699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2149407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6220102"/>
            <a:ext cx="4556016" cy="30700453"/>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9FAEB330-59F9-4338-8CA8-0DFA36A0699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1833920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B330-59F9-4338-8CA8-0DFA36A0699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1877210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300034"/>
            <a:ext cx="1940525" cy="366105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300034"/>
            <a:ext cx="5709082" cy="366105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B330-59F9-4338-8CA8-0DFA36A0699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4D21D119-73B7-4A08-8CA4-5A0824852679}" type="slidenum">
              <a:rPr lang="en-ID" smtClean="0"/>
              <a:t>‹#›</a:t>
            </a:fld>
            <a:endParaRPr lang="en-ID"/>
          </a:p>
        </p:txBody>
      </p:sp>
    </p:spTree>
    <p:extLst>
      <p:ext uri="{BB962C8B-B14F-4D97-AF65-F5344CB8AC3E}">
        <p14:creationId xmlns:p14="http://schemas.microsoft.com/office/powerpoint/2010/main" val="4171169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300044"/>
            <a:ext cx="7762102" cy="8350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1500170"/>
            <a:ext cx="7762102" cy="27410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40040601"/>
            <a:ext cx="2024896" cy="2300034"/>
          </a:xfrm>
          <a:prstGeom prst="rect">
            <a:avLst/>
          </a:prstGeom>
        </p:spPr>
        <p:txBody>
          <a:bodyPr vert="horz" lIns="91440" tIns="45720" rIns="91440" bIns="45720" rtlCol="0" anchor="ctr"/>
          <a:lstStyle>
            <a:lvl1pPr algn="l">
              <a:defRPr sz="1181">
                <a:solidFill>
                  <a:schemeClr val="tx1">
                    <a:tint val="75000"/>
                  </a:schemeClr>
                </a:solidFill>
              </a:defRPr>
            </a:lvl1pPr>
          </a:lstStyle>
          <a:p>
            <a:fld id="{9FAEB330-59F9-4338-8CA8-0DFA36A06993}" type="datetimeFigureOut">
              <a:rPr lang="en-ID" smtClean="0"/>
              <a:t>22/06/2026</a:t>
            </a:fld>
            <a:endParaRPr lang="en-ID"/>
          </a:p>
        </p:txBody>
      </p:sp>
      <p:sp>
        <p:nvSpPr>
          <p:cNvPr id="5" name="Footer Placeholder 4"/>
          <p:cNvSpPr>
            <a:spLocks noGrp="1"/>
          </p:cNvSpPr>
          <p:nvPr>
            <p:ph type="ftr" sz="quarter" idx="3"/>
          </p:nvPr>
        </p:nvSpPr>
        <p:spPr>
          <a:xfrm>
            <a:off x="2981097" y="40040601"/>
            <a:ext cx="3037344" cy="2300034"/>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40040601"/>
            <a:ext cx="2024896" cy="2300034"/>
          </a:xfrm>
          <a:prstGeom prst="rect">
            <a:avLst/>
          </a:prstGeom>
        </p:spPr>
        <p:txBody>
          <a:bodyPr vert="horz" lIns="91440" tIns="45720" rIns="91440" bIns="45720" rtlCol="0" anchor="ctr"/>
          <a:lstStyle>
            <a:lvl1pPr algn="r">
              <a:defRPr sz="1181">
                <a:solidFill>
                  <a:schemeClr val="tx1">
                    <a:tint val="75000"/>
                  </a:schemeClr>
                </a:solidFill>
              </a:defRPr>
            </a:lvl1pPr>
          </a:lstStyle>
          <a:p>
            <a:fld id="{4D21D119-73B7-4A08-8CA4-5A0824852679}" type="slidenum">
              <a:rPr lang="en-ID" smtClean="0"/>
              <a:t>‹#›</a:t>
            </a:fld>
            <a:endParaRPr lang="en-ID"/>
          </a:p>
        </p:txBody>
      </p:sp>
    </p:spTree>
    <p:extLst>
      <p:ext uri="{BB962C8B-B14F-4D97-AF65-F5344CB8AC3E}">
        <p14:creationId xmlns:p14="http://schemas.microsoft.com/office/powerpoint/2010/main" val="2254966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hyperlink" Target="/kisah-perubahan" TargetMode="External"/><Relationship Id="rId3" Type="http://schemas.openxmlformats.org/officeDocument/2006/relationships/hyperlink" Target="/dampak" TargetMode="External"/><Relationship Id="rId21" Type="http://schemas.openxmlformats.org/officeDocument/2006/relationships/image" Target="../media/image17.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19.png"/><Relationship Id="rId2" Type="http://schemas.openxmlformats.org/officeDocument/2006/relationships/image" Target="../media/image1.png"/><Relationship Id="rId16" Type="http://schemas.openxmlformats.org/officeDocument/2006/relationships/image" Target="../media/image13.png"/><Relationship Id="rId20" Type="http://schemas.openxmlformats.org/officeDocument/2006/relationships/hyperlink" Target="/hubungi-kami" TargetMode="Externa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hyperlink" Target="/program" TargetMode="External"/><Relationship Id="rId5" Type="http://schemas.openxmlformats.org/officeDocument/2006/relationships/hyperlink" Target="/kontak" TargetMode="External"/><Relationship Id="rId15" Type="http://schemas.openxmlformats.org/officeDocument/2006/relationships/image" Target="../media/image12.png"/><Relationship Id="rId23" Type="http://schemas.openxmlformats.org/officeDocument/2006/relationships/image" Target="../media/image18.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hyperlink" Target="/donasi" TargetMode="External"/><Relationship Id="rId27"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8B7186F-8011-277C-02EE-75FAA2B2D82C}"/>
              </a:ext>
            </a:extLst>
          </p:cNvPr>
          <p:cNvPicPr>
            <a:picLocks noChangeAspect="1"/>
          </p:cNvPicPr>
          <p:nvPr/>
        </p:nvPicPr>
        <p:blipFill>
          <a:blip r:embed="rId2"/>
          <a:stretch>
            <a:fillRect/>
          </a:stretch>
        </p:blipFill>
        <p:spPr>
          <a:xfrm>
            <a:off x="6376244" y="0"/>
            <a:ext cx="2623294" cy="3934941"/>
          </a:xfrm>
          <a:prstGeom prst="rect">
            <a:avLst/>
          </a:prstGeom>
        </p:spPr>
      </p:pic>
      <p:sp>
        <p:nvSpPr>
          <p:cNvPr id="5" name="Shape 0">
            <a:extLst>
              <a:ext uri="{FF2B5EF4-FFF2-40B4-BE49-F238E27FC236}">
                <a16:creationId xmlns:a16="http://schemas.microsoft.com/office/drawing/2014/main" id="{24494EAE-3338-467A-1DD5-750C1BA7B5E7}"/>
              </a:ext>
            </a:extLst>
          </p:cNvPr>
          <p:cNvSpPr/>
          <p:nvPr/>
        </p:nvSpPr>
        <p:spPr>
          <a:xfrm>
            <a:off x="610419" y="503709"/>
            <a:ext cx="2900883" cy="242739"/>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357604EA-831D-96C4-3201-AE9FB131965C}"/>
              </a:ext>
            </a:extLst>
          </p:cNvPr>
          <p:cNvSpPr/>
          <p:nvPr/>
        </p:nvSpPr>
        <p:spPr>
          <a:xfrm>
            <a:off x="689595" y="545678"/>
            <a:ext cx="3199730"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BERANDA / DAMPAK &amp; PEMBELAJARAN / LIPUTAN MEDIA</a:t>
            </a:r>
            <a:endParaRPr lang="en-US" sz="75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B1493DCA-F010-0FC0-EB79-02D58F480823}"/>
              </a:ext>
            </a:extLst>
          </p:cNvPr>
          <p:cNvSpPr/>
          <p:nvPr/>
        </p:nvSpPr>
        <p:spPr>
          <a:xfrm>
            <a:off x="610419" y="971177"/>
            <a:ext cx="4722763" cy="599927"/>
          </a:xfrm>
          <a:prstGeom prst="rect">
            <a:avLst/>
          </a:prstGeom>
          <a:noFill/>
          <a:ln/>
        </p:spPr>
        <p:txBody>
          <a:bodyPr wrap="square" lIns="0" tIns="0" rIns="0" bIns="0" rtlCol="0" anchor="t">
            <a:normAutofit fontScale="92500" lnSpcReduction="20000"/>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Liputan Media: YNKI dalam Sorotan Publik</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2AF8CDC5-D31B-73F4-3D1A-E66FF16C4D2B}"/>
              </a:ext>
            </a:extLst>
          </p:cNvPr>
          <p:cNvSpPr/>
          <p:nvPr/>
        </p:nvSpPr>
        <p:spPr>
          <a:xfrm>
            <a:off x="610419" y="1757139"/>
            <a:ext cx="4722763" cy="992312"/>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Berbagai media, dari tingkat lokal hingga nasional, telah meliput kegiatan dan program Yayasan Natural Kapital Indonesia (YNKI) dalam upaya memperkuat tata kelola lanskap yang inklusif dan kolaboratif. Liputan ini menjadi bukti kredibilitas dan pengakuan publik terhadap kontribusi YNKI dalam mewujudkan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Healthy Landscapes, Thriving Communities</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t>
            </a:r>
            <a:endParaRPr lang="en-US" sz="1050" dirty="0">
              <a:latin typeface="Leelawadee UI" panose="020B0502040204020203" pitchFamily="34" charset="-34"/>
              <a:cs typeface="Leelawadee UI" panose="020B0502040204020203" pitchFamily="34" charset="-34"/>
            </a:endParaRPr>
          </a:p>
        </p:txBody>
      </p:sp>
      <p:pic>
        <p:nvPicPr>
          <p:cNvPr id="9" name="Image 1" descr="preencoded.png">
            <a:hlinkClick r:id="rId3"/>
            <a:extLst>
              <a:ext uri="{FF2B5EF4-FFF2-40B4-BE49-F238E27FC236}">
                <a16:creationId xmlns:a16="http://schemas.microsoft.com/office/drawing/2014/main" id="{E429D75C-5244-70D4-6F70-F84F1A71B3F9}"/>
              </a:ext>
            </a:extLst>
          </p:cNvPr>
          <p:cNvPicPr>
            <a:picLocks noChangeAspect="1"/>
          </p:cNvPicPr>
          <p:nvPr/>
        </p:nvPicPr>
        <p:blipFill>
          <a:blip r:embed="rId4"/>
          <a:stretch>
            <a:fillRect/>
          </a:stretch>
        </p:blipFill>
        <p:spPr>
          <a:xfrm>
            <a:off x="610419" y="2888977"/>
            <a:ext cx="1566342" cy="341114"/>
          </a:xfrm>
          <a:prstGeom prst="rect">
            <a:avLst/>
          </a:prstGeom>
        </p:spPr>
      </p:pic>
      <p:pic>
        <p:nvPicPr>
          <p:cNvPr id="10" name="Image 2" descr="preencoded.png">
            <a:hlinkClick r:id="rId5"/>
            <a:extLst>
              <a:ext uri="{FF2B5EF4-FFF2-40B4-BE49-F238E27FC236}">
                <a16:creationId xmlns:a16="http://schemas.microsoft.com/office/drawing/2014/main" id="{D18B454A-DF71-2E3B-3B4A-D6F3E115CC6A}"/>
              </a:ext>
            </a:extLst>
          </p:cNvPr>
          <p:cNvPicPr>
            <a:picLocks noChangeAspect="1"/>
          </p:cNvPicPr>
          <p:nvPr/>
        </p:nvPicPr>
        <p:blipFill>
          <a:blip r:embed="rId6"/>
          <a:stretch>
            <a:fillRect/>
          </a:stretch>
        </p:blipFill>
        <p:spPr>
          <a:xfrm>
            <a:off x="2238747" y="2888977"/>
            <a:ext cx="1206996" cy="341114"/>
          </a:xfrm>
          <a:prstGeom prst="rect">
            <a:avLst/>
          </a:prstGeom>
        </p:spPr>
      </p:pic>
      <p:sp>
        <p:nvSpPr>
          <p:cNvPr id="11" name="Text 0">
            <a:extLst>
              <a:ext uri="{FF2B5EF4-FFF2-40B4-BE49-F238E27FC236}">
                <a16:creationId xmlns:a16="http://schemas.microsoft.com/office/drawing/2014/main" id="{7675F15C-7BC9-2E21-96FA-1ED8D7213022}"/>
              </a:ext>
            </a:extLst>
          </p:cNvPr>
          <p:cNvSpPr/>
          <p:nvPr/>
        </p:nvSpPr>
        <p:spPr>
          <a:xfrm>
            <a:off x="670545" y="4120976"/>
            <a:ext cx="3918570" cy="29557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Liputan YNKI di Berbagai Media</a:t>
            </a:r>
            <a:endParaRPr lang="en-US" sz="2000" dirty="0">
              <a:latin typeface="Leelawadee UI" panose="020B0502040204020203" pitchFamily="34" charset="-34"/>
              <a:cs typeface="Leelawadee UI" panose="020B0502040204020203" pitchFamily="34" charset="-34"/>
            </a:endParaRPr>
          </a:p>
        </p:txBody>
      </p:sp>
      <p:sp>
        <p:nvSpPr>
          <p:cNvPr id="12" name="Text 1">
            <a:extLst>
              <a:ext uri="{FF2B5EF4-FFF2-40B4-BE49-F238E27FC236}">
                <a16:creationId xmlns:a16="http://schemas.microsoft.com/office/drawing/2014/main" id="{27735058-3AF0-72C3-1199-BFF88C956763}"/>
              </a:ext>
            </a:extLst>
          </p:cNvPr>
          <p:cNvSpPr/>
          <p:nvPr/>
        </p:nvSpPr>
        <p:spPr>
          <a:xfrm>
            <a:off x="670545" y="4641874"/>
            <a:ext cx="7825755" cy="555203"/>
          </a:xfrm>
          <a:prstGeom prst="rect">
            <a:avLst/>
          </a:prstGeom>
          <a:noFill/>
          <a:ln/>
        </p:spPr>
        <p:txBody>
          <a:bodyPr wrap="square" lIns="0" tIns="0" rIns="0" bIns="0" rtlCol="0" anchor="t">
            <a:normAutofit lnSpcReduction="10000"/>
          </a:bodyPr>
          <a:lstStyle/>
          <a:p>
            <a:pPr marL="0" indent="0" algn="l">
              <a:lnSpc>
                <a:spcPct val="13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telah mendapatkan liputan dari berbagai media, mencerminkan pengakuan atas kerja dan dampak organisasi di tingkat lokal, regional, dan nasional. Dari hutan gambut Kalimantan Barat hingga platform internasional, suara YNKI terus bergema di ruang publik.</a:t>
            </a:r>
            <a:endParaRPr lang="en-US" sz="1050" dirty="0">
              <a:latin typeface="Leelawadee UI" panose="020B0502040204020203" pitchFamily="34" charset="-34"/>
              <a:cs typeface="Leelawadee UI" panose="020B0502040204020203" pitchFamily="34" charset="-34"/>
            </a:endParaRPr>
          </a:p>
        </p:txBody>
      </p:sp>
      <p:sp>
        <p:nvSpPr>
          <p:cNvPr id="13" name="Text 2">
            <a:extLst>
              <a:ext uri="{FF2B5EF4-FFF2-40B4-BE49-F238E27FC236}">
                <a16:creationId xmlns:a16="http://schemas.microsoft.com/office/drawing/2014/main" id="{3245E652-2FFB-F461-CE79-1A91F6020270}"/>
              </a:ext>
            </a:extLst>
          </p:cNvPr>
          <p:cNvSpPr/>
          <p:nvPr/>
        </p:nvSpPr>
        <p:spPr>
          <a:xfrm>
            <a:off x="670545" y="5197077"/>
            <a:ext cx="4005486" cy="390153"/>
          </a:xfrm>
          <a:prstGeom prst="rect">
            <a:avLst/>
          </a:prstGeom>
          <a:noFill/>
          <a:ln/>
        </p:spPr>
        <p:txBody>
          <a:bodyPr wrap="none" lIns="0" tIns="0" rIns="0" bIns="0" rtlCol="0" anchor="t"/>
          <a:lstStyle/>
          <a:p>
            <a:pPr marL="0" indent="0" algn="ctr">
              <a:lnSpc>
                <a:spcPct val="83000"/>
              </a:lnSpc>
              <a:buNone/>
            </a:pPr>
            <a:r>
              <a:rPr lang="en-US" sz="3050" dirty="0">
                <a:solidFill>
                  <a:srgbClr val="161613"/>
                </a:solidFill>
                <a:latin typeface="Leelawadee UI" panose="020B0502040204020203" pitchFamily="34" charset="-34"/>
                <a:ea typeface="DM Sans Medium" pitchFamily="34" charset="-122"/>
                <a:cs typeface="Leelawadee UI" panose="020B0502040204020203" pitchFamily="34" charset="-34"/>
              </a:rPr>
              <a:t>15+</a:t>
            </a:r>
            <a:endParaRPr lang="en-US" sz="3050" dirty="0">
              <a:latin typeface="Leelawadee UI" panose="020B0502040204020203" pitchFamily="34" charset="-34"/>
              <a:cs typeface="Leelawadee UI" panose="020B0502040204020203" pitchFamily="34" charset="-34"/>
            </a:endParaRPr>
          </a:p>
        </p:txBody>
      </p:sp>
      <p:sp>
        <p:nvSpPr>
          <p:cNvPr id="14" name="Text 3">
            <a:extLst>
              <a:ext uri="{FF2B5EF4-FFF2-40B4-BE49-F238E27FC236}">
                <a16:creationId xmlns:a16="http://schemas.microsoft.com/office/drawing/2014/main" id="{65DE49AB-5D8A-B1E4-4472-33C3A002CA09}"/>
              </a:ext>
            </a:extLst>
          </p:cNvPr>
          <p:cNvSpPr/>
          <p:nvPr/>
        </p:nvSpPr>
        <p:spPr>
          <a:xfrm>
            <a:off x="1934319" y="5730775"/>
            <a:ext cx="1477863" cy="184696"/>
          </a:xfrm>
          <a:prstGeom prst="rect">
            <a:avLst/>
          </a:prstGeom>
          <a:noFill/>
          <a:ln/>
        </p:spPr>
        <p:txBody>
          <a:bodyPr wrap="none" lIns="0" tIns="0" rIns="0" bIns="0" rtlCol="0" anchor="t"/>
          <a:lstStyle/>
          <a:p>
            <a:pPr marL="0" indent="0" algn="ctr">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Total Liputan Media</a:t>
            </a:r>
            <a:endParaRPr lang="en-US" sz="1400" dirty="0">
              <a:latin typeface="Leelawadee UI" panose="020B0502040204020203" pitchFamily="34" charset="-34"/>
              <a:cs typeface="Leelawadee UI" panose="020B0502040204020203" pitchFamily="34" charset="-34"/>
            </a:endParaRPr>
          </a:p>
        </p:txBody>
      </p:sp>
      <p:sp>
        <p:nvSpPr>
          <p:cNvPr id="15" name="Text 4">
            <a:extLst>
              <a:ext uri="{FF2B5EF4-FFF2-40B4-BE49-F238E27FC236}">
                <a16:creationId xmlns:a16="http://schemas.microsoft.com/office/drawing/2014/main" id="{9CC33506-EB8F-9151-6F86-C9B78F1647E2}"/>
              </a:ext>
            </a:extLst>
          </p:cNvPr>
          <p:cNvSpPr/>
          <p:nvPr/>
        </p:nvSpPr>
        <p:spPr>
          <a:xfrm>
            <a:off x="670545" y="5983039"/>
            <a:ext cx="4005486" cy="369391"/>
          </a:xfrm>
          <a:prstGeom prst="rect">
            <a:avLst/>
          </a:prstGeom>
          <a:noFill/>
          <a:ln/>
        </p:spPr>
        <p:txBody>
          <a:bodyPr wrap="square" lIns="0" tIns="0" rIns="0" bIns="0" rtlCol="0" anchor="t">
            <a:noAutofit/>
          </a:bodyPr>
          <a:lstStyle/>
          <a:p>
            <a:pPr marL="0" indent="0" algn="ctr">
              <a:lnSpc>
                <a:spcPct val="13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Artikel dan laporan yang mendokumentasikan kegiatan YNKI di berbagai platform.</a:t>
            </a:r>
            <a:endParaRPr lang="en-US" sz="1050" dirty="0">
              <a:latin typeface="Leelawadee UI" panose="020B0502040204020203" pitchFamily="34" charset="-34"/>
              <a:cs typeface="Leelawadee UI" panose="020B0502040204020203" pitchFamily="34" charset="-34"/>
            </a:endParaRPr>
          </a:p>
        </p:txBody>
      </p:sp>
      <p:sp>
        <p:nvSpPr>
          <p:cNvPr id="16" name="Text 5">
            <a:extLst>
              <a:ext uri="{FF2B5EF4-FFF2-40B4-BE49-F238E27FC236}">
                <a16:creationId xmlns:a16="http://schemas.microsoft.com/office/drawing/2014/main" id="{3705DD84-078F-E73F-5022-DE6E888042B1}"/>
              </a:ext>
            </a:extLst>
          </p:cNvPr>
          <p:cNvSpPr/>
          <p:nvPr/>
        </p:nvSpPr>
        <p:spPr>
          <a:xfrm>
            <a:off x="4816822" y="5197077"/>
            <a:ext cx="4005486" cy="390153"/>
          </a:xfrm>
          <a:prstGeom prst="rect">
            <a:avLst/>
          </a:prstGeom>
          <a:noFill/>
          <a:ln/>
        </p:spPr>
        <p:txBody>
          <a:bodyPr wrap="none" lIns="0" tIns="0" rIns="0" bIns="0" rtlCol="0" anchor="t"/>
          <a:lstStyle/>
          <a:p>
            <a:pPr marL="0" indent="0" algn="ctr">
              <a:lnSpc>
                <a:spcPct val="83000"/>
              </a:lnSpc>
              <a:buNone/>
            </a:pPr>
            <a:r>
              <a:rPr lang="en-US" sz="3050" dirty="0">
                <a:solidFill>
                  <a:srgbClr val="161613"/>
                </a:solidFill>
                <a:latin typeface="Leelawadee UI" panose="020B0502040204020203" pitchFamily="34" charset="-34"/>
                <a:ea typeface="DM Sans Medium" pitchFamily="34" charset="-122"/>
                <a:cs typeface="Leelawadee UI" panose="020B0502040204020203" pitchFamily="34" charset="-34"/>
              </a:rPr>
              <a:t>8+</a:t>
            </a:r>
            <a:endParaRPr lang="en-US" sz="3050" dirty="0">
              <a:latin typeface="Leelawadee UI" panose="020B0502040204020203" pitchFamily="34" charset="-34"/>
              <a:cs typeface="Leelawadee UI" panose="020B0502040204020203" pitchFamily="34" charset="-34"/>
            </a:endParaRPr>
          </a:p>
        </p:txBody>
      </p:sp>
      <p:sp>
        <p:nvSpPr>
          <p:cNvPr id="17" name="Text 6">
            <a:extLst>
              <a:ext uri="{FF2B5EF4-FFF2-40B4-BE49-F238E27FC236}">
                <a16:creationId xmlns:a16="http://schemas.microsoft.com/office/drawing/2014/main" id="{966A59FD-B217-AB23-257B-9C7F73CF4013}"/>
              </a:ext>
            </a:extLst>
          </p:cNvPr>
          <p:cNvSpPr/>
          <p:nvPr/>
        </p:nvSpPr>
        <p:spPr>
          <a:xfrm>
            <a:off x="5800427" y="5730775"/>
            <a:ext cx="2038276" cy="184696"/>
          </a:xfrm>
          <a:prstGeom prst="rect">
            <a:avLst/>
          </a:prstGeom>
          <a:noFill/>
          <a:ln/>
        </p:spPr>
        <p:txBody>
          <a:bodyPr wrap="none" lIns="0" tIns="0" rIns="0" bIns="0" rtlCol="0" anchor="t"/>
          <a:lstStyle/>
          <a:p>
            <a:pPr marL="0" indent="0" algn="ctr">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Media Lokal Kalimantan Barat</a:t>
            </a:r>
            <a:endParaRPr lang="en-US" sz="1400" dirty="0">
              <a:latin typeface="Leelawadee UI" panose="020B0502040204020203" pitchFamily="34" charset="-34"/>
              <a:cs typeface="Leelawadee UI" panose="020B0502040204020203" pitchFamily="34" charset="-34"/>
            </a:endParaRPr>
          </a:p>
        </p:txBody>
      </p:sp>
      <p:sp>
        <p:nvSpPr>
          <p:cNvPr id="18" name="Text 7">
            <a:extLst>
              <a:ext uri="{FF2B5EF4-FFF2-40B4-BE49-F238E27FC236}">
                <a16:creationId xmlns:a16="http://schemas.microsoft.com/office/drawing/2014/main" id="{62E2B0BB-421B-8492-1C31-7B2E8D9919DF}"/>
              </a:ext>
            </a:extLst>
          </p:cNvPr>
          <p:cNvSpPr/>
          <p:nvPr/>
        </p:nvSpPr>
        <p:spPr>
          <a:xfrm>
            <a:off x="4816822" y="5983039"/>
            <a:ext cx="3679478" cy="673745"/>
          </a:xfrm>
          <a:prstGeom prst="rect">
            <a:avLst/>
          </a:prstGeom>
          <a:noFill/>
          <a:ln/>
        </p:spPr>
        <p:txBody>
          <a:bodyPr wrap="square" lIns="0" tIns="0" rIns="0" bIns="0" rtlCol="0" anchor="t">
            <a:normAutofit/>
          </a:bodyPr>
          <a:lstStyle/>
          <a:p>
            <a:pPr marL="0" indent="0" algn="ctr">
              <a:lnSpc>
                <a:spcPct val="13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Termasuk Tribun Pontianak, Kalbar Digital, Warta Pontianak, dan lainnya.</a:t>
            </a:r>
            <a:endParaRPr lang="en-US" sz="1050" dirty="0">
              <a:latin typeface="Leelawadee UI" panose="020B0502040204020203" pitchFamily="34" charset="-34"/>
              <a:cs typeface="Leelawadee UI" panose="020B0502040204020203" pitchFamily="34" charset="-34"/>
            </a:endParaRPr>
          </a:p>
        </p:txBody>
      </p:sp>
      <p:sp>
        <p:nvSpPr>
          <p:cNvPr id="19" name="Text 8">
            <a:extLst>
              <a:ext uri="{FF2B5EF4-FFF2-40B4-BE49-F238E27FC236}">
                <a16:creationId xmlns:a16="http://schemas.microsoft.com/office/drawing/2014/main" id="{447773E5-1FF7-D9D2-7D8E-9422A4D25D4A}"/>
              </a:ext>
            </a:extLst>
          </p:cNvPr>
          <p:cNvSpPr/>
          <p:nvPr/>
        </p:nvSpPr>
        <p:spPr>
          <a:xfrm>
            <a:off x="670545" y="6636841"/>
            <a:ext cx="4005486" cy="390153"/>
          </a:xfrm>
          <a:prstGeom prst="rect">
            <a:avLst/>
          </a:prstGeom>
          <a:noFill/>
          <a:ln/>
        </p:spPr>
        <p:txBody>
          <a:bodyPr wrap="none" lIns="0" tIns="0" rIns="0" bIns="0" rtlCol="0" anchor="t"/>
          <a:lstStyle/>
          <a:p>
            <a:pPr marL="0" indent="0" algn="ctr">
              <a:lnSpc>
                <a:spcPct val="83000"/>
              </a:lnSpc>
              <a:buNone/>
            </a:pPr>
            <a:r>
              <a:rPr lang="en-US" sz="3050" dirty="0">
                <a:solidFill>
                  <a:srgbClr val="161613"/>
                </a:solidFill>
                <a:latin typeface="Leelawadee UI" panose="020B0502040204020203" pitchFamily="34" charset="-34"/>
                <a:ea typeface="DM Sans Medium" pitchFamily="34" charset="-122"/>
                <a:cs typeface="Leelawadee UI" panose="020B0502040204020203" pitchFamily="34" charset="-34"/>
              </a:rPr>
              <a:t>4+</a:t>
            </a:r>
            <a:endParaRPr lang="en-US" sz="3050" dirty="0">
              <a:latin typeface="Leelawadee UI" panose="020B0502040204020203" pitchFamily="34" charset="-34"/>
              <a:cs typeface="Leelawadee UI" panose="020B0502040204020203" pitchFamily="34" charset="-34"/>
            </a:endParaRPr>
          </a:p>
        </p:txBody>
      </p:sp>
      <p:sp>
        <p:nvSpPr>
          <p:cNvPr id="20" name="Text 9">
            <a:extLst>
              <a:ext uri="{FF2B5EF4-FFF2-40B4-BE49-F238E27FC236}">
                <a16:creationId xmlns:a16="http://schemas.microsoft.com/office/drawing/2014/main" id="{A71BBF16-FACE-4664-3FF1-321A736C18EE}"/>
              </a:ext>
            </a:extLst>
          </p:cNvPr>
          <p:cNvSpPr/>
          <p:nvPr/>
        </p:nvSpPr>
        <p:spPr>
          <a:xfrm>
            <a:off x="1604962" y="7170538"/>
            <a:ext cx="2136577" cy="184696"/>
          </a:xfrm>
          <a:prstGeom prst="rect">
            <a:avLst/>
          </a:prstGeom>
          <a:noFill/>
          <a:ln/>
        </p:spPr>
        <p:txBody>
          <a:bodyPr wrap="none" lIns="0" tIns="0" rIns="0" bIns="0" rtlCol="0" anchor="t"/>
          <a:lstStyle/>
          <a:p>
            <a:pPr marL="0" indent="0" algn="ctr">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Media Nasional &amp; Internasional</a:t>
            </a:r>
            <a:endParaRPr lang="en-US" sz="1400" dirty="0">
              <a:latin typeface="Leelawadee UI" panose="020B0502040204020203" pitchFamily="34" charset="-34"/>
              <a:cs typeface="Leelawadee UI" panose="020B0502040204020203" pitchFamily="34" charset="-34"/>
            </a:endParaRPr>
          </a:p>
        </p:txBody>
      </p:sp>
      <p:sp>
        <p:nvSpPr>
          <p:cNvPr id="21" name="Text 10">
            <a:extLst>
              <a:ext uri="{FF2B5EF4-FFF2-40B4-BE49-F238E27FC236}">
                <a16:creationId xmlns:a16="http://schemas.microsoft.com/office/drawing/2014/main" id="{2B5F3F2C-506C-7EB0-C446-980AF02AE259}"/>
              </a:ext>
            </a:extLst>
          </p:cNvPr>
          <p:cNvSpPr/>
          <p:nvPr/>
        </p:nvSpPr>
        <p:spPr>
          <a:xfrm>
            <a:off x="670545" y="7422802"/>
            <a:ext cx="4005486" cy="184696"/>
          </a:xfrm>
          <a:prstGeom prst="rect">
            <a:avLst/>
          </a:prstGeom>
          <a:noFill/>
          <a:ln/>
        </p:spPr>
        <p:txBody>
          <a:bodyPr wrap="none" lIns="0" tIns="0" rIns="0" bIns="0" rtlCol="0" anchor="t"/>
          <a:lstStyle/>
          <a:p>
            <a:pPr marL="0" indent="0" algn="ctr">
              <a:lnSpc>
                <a:spcPct val="13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Newsantara.co, PM Haze, LinkedIn YNKI, dan platform global lainnya.</a:t>
            </a:r>
            <a:endParaRPr lang="en-US" sz="1050" dirty="0">
              <a:latin typeface="Leelawadee UI" panose="020B0502040204020203" pitchFamily="34" charset="-34"/>
              <a:cs typeface="Leelawadee UI" panose="020B0502040204020203" pitchFamily="34" charset="-34"/>
            </a:endParaRPr>
          </a:p>
        </p:txBody>
      </p:sp>
      <p:sp>
        <p:nvSpPr>
          <p:cNvPr id="22" name="Text 11">
            <a:extLst>
              <a:ext uri="{FF2B5EF4-FFF2-40B4-BE49-F238E27FC236}">
                <a16:creationId xmlns:a16="http://schemas.microsoft.com/office/drawing/2014/main" id="{B93140B1-3ECE-D0C8-67D2-FC49FE720764}"/>
              </a:ext>
            </a:extLst>
          </p:cNvPr>
          <p:cNvSpPr/>
          <p:nvPr/>
        </p:nvSpPr>
        <p:spPr>
          <a:xfrm>
            <a:off x="4816822" y="6636841"/>
            <a:ext cx="4005486" cy="390153"/>
          </a:xfrm>
          <a:prstGeom prst="rect">
            <a:avLst/>
          </a:prstGeom>
          <a:noFill/>
          <a:ln/>
        </p:spPr>
        <p:txBody>
          <a:bodyPr wrap="none" lIns="0" tIns="0" rIns="0" bIns="0" rtlCol="0" anchor="t"/>
          <a:lstStyle/>
          <a:p>
            <a:pPr marL="0" indent="0" algn="ctr">
              <a:lnSpc>
                <a:spcPct val="83000"/>
              </a:lnSpc>
              <a:buNone/>
            </a:pPr>
            <a:r>
              <a:rPr lang="en-US" sz="3050" dirty="0">
                <a:solidFill>
                  <a:srgbClr val="161613"/>
                </a:solidFill>
                <a:latin typeface="Leelawadee UI" panose="020B0502040204020203" pitchFamily="34" charset="-34"/>
                <a:ea typeface="DM Sans Medium" pitchFamily="34" charset="-122"/>
                <a:cs typeface="Leelawadee UI" panose="020B0502040204020203" pitchFamily="34" charset="-34"/>
              </a:rPr>
              <a:t>2020</a:t>
            </a:r>
            <a:endParaRPr lang="en-US" sz="3050" dirty="0">
              <a:latin typeface="Leelawadee UI" panose="020B0502040204020203" pitchFamily="34" charset="-34"/>
              <a:cs typeface="Leelawadee UI" panose="020B0502040204020203" pitchFamily="34" charset="-34"/>
            </a:endParaRPr>
          </a:p>
        </p:txBody>
      </p:sp>
      <p:sp>
        <p:nvSpPr>
          <p:cNvPr id="23" name="Text 12">
            <a:extLst>
              <a:ext uri="{FF2B5EF4-FFF2-40B4-BE49-F238E27FC236}">
                <a16:creationId xmlns:a16="http://schemas.microsoft.com/office/drawing/2014/main" id="{29535A9A-D1DC-1B78-6963-AE111240732F}"/>
              </a:ext>
            </a:extLst>
          </p:cNvPr>
          <p:cNvSpPr/>
          <p:nvPr/>
        </p:nvSpPr>
        <p:spPr>
          <a:xfrm>
            <a:off x="6019427" y="7170538"/>
            <a:ext cx="1600200" cy="184696"/>
          </a:xfrm>
          <a:prstGeom prst="rect">
            <a:avLst/>
          </a:prstGeom>
          <a:noFill/>
          <a:ln/>
        </p:spPr>
        <p:txBody>
          <a:bodyPr wrap="none" lIns="0" tIns="0" rIns="0" bIns="0" rtlCol="0" anchor="t"/>
          <a:lstStyle/>
          <a:p>
            <a:pPr marL="0" indent="0" algn="ctr">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Tahun Pertama Liputan</a:t>
            </a:r>
            <a:endParaRPr lang="en-US" sz="1400" dirty="0">
              <a:latin typeface="Leelawadee UI" panose="020B0502040204020203" pitchFamily="34" charset="-34"/>
              <a:cs typeface="Leelawadee UI" panose="020B0502040204020203" pitchFamily="34" charset="-34"/>
            </a:endParaRPr>
          </a:p>
        </p:txBody>
      </p:sp>
      <p:sp>
        <p:nvSpPr>
          <p:cNvPr id="24" name="Text 13">
            <a:extLst>
              <a:ext uri="{FF2B5EF4-FFF2-40B4-BE49-F238E27FC236}">
                <a16:creationId xmlns:a16="http://schemas.microsoft.com/office/drawing/2014/main" id="{C9F38F5B-32D0-6B28-E751-017995F3FDF0}"/>
              </a:ext>
            </a:extLst>
          </p:cNvPr>
          <p:cNvSpPr/>
          <p:nvPr/>
        </p:nvSpPr>
        <p:spPr>
          <a:xfrm>
            <a:off x="4816822" y="7422802"/>
            <a:ext cx="3679478" cy="496118"/>
          </a:xfrm>
          <a:prstGeom prst="rect">
            <a:avLst/>
          </a:prstGeom>
          <a:noFill/>
          <a:ln/>
        </p:spPr>
        <p:txBody>
          <a:bodyPr wrap="square" lIns="0" tIns="0" rIns="0" bIns="0" rtlCol="0" anchor="t">
            <a:normAutofit/>
          </a:bodyPr>
          <a:lstStyle/>
          <a:p>
            <a:pPr marL="0" indent="0" algn="ctr">
              <a:lnSpc>
                <a:spcPct val="13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pertama kali mendapat sorotan publik melalui analisis karhutla di Pesisir Delta Kapuas.</a:t>
            </a:r>
            <a:endParaRPr lang="en-US" sz="1050" dirty="0">
              <a:latin typeface="Leelawadee UI" panose="020B0502040204020203" pitchFamily="34" charset="-34"/>
              <a:cs typeface="Leelawadee UI" panose="020B0502040204020203" pitchFamily="34" charset="-34"/>
            </a:endParaRPr>
          </a:p>
        </p:txBody>
      </p:sp>
      <p:sp>
        <p:nvSpPr>
          <p:cNvPr id="25" name="Shape 14">
            <a:extLst>
              <a:ext uri="{FF2B5EF4-FFF2-40B4-BE49-F238E27FC236}">
                <a16:creationId xmlns:a16="http://schemas.microsoft.com/office/drawing/2014/main" id="{7FCB3E06-6987-D2C3-3490-761C5C88DCAB}"/>
              </a:ext>
            </a:extLst>
          </p:cNvPr>
          <p:cNvSpPr/>
          <p:nvPr/>
        </p:nvSpPr>
        <p:spPr>
          <a:xfrm>
            <a:off x="670545" y="7918919"/>
            <a:ext cx="7825755" cy="521047"/>
          </a:xfrm>
          <a:prstGeom prst="roundRect">
            <a:avLst>
              <a:gd name="adj" fmla="val 3972"/>
            </a:avLst>
          </a:prstGeom>
          <a:solidFill>
            <a:srgbClr val="B6D6FC"/>
          </a:solidFill>
          <a:ln/>
        </p:spPr>
      </p:sp>
      <p:pic>
        <p:nvPicPr>
          <p:cNvPr id="26" name="Image 0" descr="preencoded.png">
            <a:extLst>
              <a:ext uri="{FF2B5EF4-FFF2-40B4-BE49-F238E27FC236}">
                <a16:creationId xmlns:a16="http://schemas.microsoft.com/office/drawing/2014/main" id="{B30A9B5B-0C87-5ED5-435C-7ACD6B165C63}"/>
              </a:ext>
            </a:extLst>
          </p:cNvPr>
          <p:cNvPicPr>
            <a:picLocks noChangeAspect="1"/>
          </p:cNvPicPr>
          <p:nvPr/>
        </p:nvPicPr>
        <p:blipFill>
          <a:blip r:embed="rId7"/>
          <a:stretch>
            <a:fillRect/>
          </a:stretch>
        </p:blipFill>
        <p:spPr>
          <a:xfrm>
            <a:off x="788714" y="8087022"/>
            <a:ext cx="147786" cy="118170"/>
          </a:xfrm>
          <a:prstGeom prst="rect">
            <a:avLst/>
          </a:prstGeom>
        </p:spPr>
      </p:pic>
      <p:sp>
        <p:nvSpPr>
          <p:cNvPr id="27" name="Text 15">
            <a:extLst>
              <a:ext uri="{FF2B5EF4-FFF2-40B4-BE49-F238E27FC236}">
                <a16:creationId xmlns:a16="http://schemas.microsoft.com/office/drawing/2014/main" id="{BD309BBF-CA1A-C9F2-6C97-0F334654F3AE}"/>
              </a:ext>
            </a:extLst>
          </p:cNvPr>
          <p:cNvSpPr/>
          <p:nvPr/>
        </p:nvSpPr>
        <p:spPr>
          <a:xfrm>
            <a:off x="1054670" y="8049814"/>
            <a:ext cx="7274323" cy="543669"/>
          </a:xfrm>
          <a:prstGeom prst="rect">
            <a:avLst/>
          </a:prstGeom>
          <a:noFill/>
          <a:ln/>
        </p:spPr>
        <p:txBody>
          <a:bodyPr wrap="none" lIns="0" tIns="0" rIns="0" bIns="0" rtlCol="0" anchor="t"/>
          <a:lstStyle/>
          <a:p>
            <a:pPr marL="0" indent="0" algn="l">
              <a:lnSpc>
                <a:spcPct val="130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Catatan: Data di atas bersifat indikatif. Tim YNKI diharapkan mengisi dengan data riil dari hasil monitoring liputan media secara berkala.</a:t>
            </a:r>
            <a:endParaRPr lang="en-US" sz="900" dirty="0">
              <a:latin typeface="Leelawadee UI" panose="020B0502040204020203" pitchFamily="34" charset="-34"/>
              <a:cs typeface="Leelawadee UI" panose="020B0502040204020203" pitchFamily="34" charset="-34"/>
            </a:endParaRPr>
          </a:p>
        </p:txBody>
      </p:sp>
      <p:sp>
        <p:nvSpPr>
          <p:cNvPr id="28" name="Text 0">
            <a:extLst>
              <a:ext uri="{FF2B5EF4-FFF2-40B4-BE49-F238E27FC236}">
                <a16:creationId xmlns:a16="http://schemas.microsoft.com/office/drawing/2014/main" id="{5B33FD44-2971-F5BD-2C46-21EC4FC8F604}"/>
              </a:ext>
            </a:extLst>
          </p:cNvPr>
          <p:cNvSpPr/>
          <p:nvPr/>
        </p:nvSpPr>
        <p:spPr>
          <a:xfrm>
            <a:off x="600187" y="8988473"/>
            <a:ext cx="3723084" cy="290736"/>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Kumpulan Liputan Media YNKI</a:t>
            </a:r>
            <a:endParaRPr lang="en-US" sz="2000" dirty="0">
              <a:latin typeface="Leelawadee UI" panose="020B0502040204020203" pitchFamily="34" charset="-34"/>
              <a:cs typeface="Leelawadee UI" panose="020B0502040204020203" pitchFamily="34" charset="-34"/>
            </a:endParaRPr>
          </a:p>
        </p:txBody>
      </p:sp>
      <p:sp>
        <p:nvSpPr>
          <p:cNvPr id="29" name="Text 1">
            <a:extLst>
              <a:ext uri="{FF2B5EF4-FFF2-40B4-BE49-F238E27FC236}">
                <a16:creationId xmlns:a16="http://schemas.microsoft.com/office/drawing/2014/main" id="{37FE17B4-0086-5D07-1438-43C4E37E8A02}"/>
              </a:ext>
            </a:extLst>
          </p:cNvPr>
          <p:cNvSpPr/>
          <p:nvPr/>
        </p:nvSpPr>
        <p:spPr>
          <a:xfrm>
            <a:off x="607888" y="9338329"/>
            <a:ext cx="7669871" cy="542069"/>
          </a:xfrm>
          <a:prstGeom prst="rect">
            <a:avLst/>
          </a:prstGeom>
          <a:noFill/>
          <a:ln/>
        </p:spPr>
        <p:txBody>
          <a:bodyPr wrap="square" lIns="0" tIns="0" rIns="0" bIns="0" rtlCol="0" anchor="t">
            <a:normAutofit/>
          </a:bodyPr>
          <a:lstStyle/>
          <a:p>
            <a:pPr marL="0" indent="0" algn="l">
              <a:lnSpc>
                <a:spcPct val="12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Berikut adalah kumpulan liputan media tentang YNKI, disusun dari yang terbaru ke yang terlama. Klik pada setiap liputan untuk membaca artikel selengkapnya di sumber aslinya.</a:t>
            </a:r>
            <a:endParaRPr lang="en-US" sz="1050" dirty="0">
              <a:latin typeface="Leelawadee UI" panose="020B0502040204020203" pitchFamily="34" charset="-34"/>
              <a:cs typeface="Leelawadee UI" panose="020B0502040204020203" pitchFamily="34" charset="-34"/>
            </a:endParaRPr>
          </a:p>
        </p:txBody>
      </p:sp>
      <p:pic>
        <p:nvPicPr>
          <p:cNvPr id="30" name="Image 0" descr="preencoded.png">
            <a:extLst>
              <a:ext uri="{FF2B5EF4-FFF2-40B4-BE49-F238E27FC236}">
                <a16:creationId xmlns:a16="http://schemas.microsoft.com/office/drawing/2014/main" id="{7AFC206F-B9D0-5A52-E537-75643CD1D894}"/>
              </a:ext>
            </a:extLst>
          </p:cNvPr>
          <p:cNvPicPr>
            <a:picLocks noChangeAspect="1"/>
          </p:cNvPicPr>
          <p:nvPr/>
        </p:nvPicPr>
        <p:blipFill>
          <a:blip r:embed="rId8"/>
          <a:stretch>
            <a:fillRect/>
          </a:stretch>
        </p:blipFill>
        <p:spPr>
          <a:xfrm>
            <a:off x="600186" y="10159154"/>
            <a:ext cx="577751" cy="357039"/>
          </a:xfrm>
          <a:prstGeom prst="rect">
            <a:avLst/>
          </a:prstGeom>
        </p:spPr>
      </p:pic>
      <p:sp>
        <p:nvSpPr>
          <p:cNvPr id="31" name="Shape 2">
            <a:extLst>
              <a:ext uri="{FF2B5EF4-FFF2-40B4-BE49-F238E27FC236}">
                <a16:creationId xmlns:a16="http://schemas.microsoft.com/office/drawing/2014/main" id="{B2344E4B-06E9-DEEE-2F78-127A1E5260D5}"/>
              </a:ext>
            </a:extLst>
          </p:cNvPr>
          <p:cNvSpPr/>
          <p:nvPr/>
        </p:nvSpPr>
        <p:spPr>
          <a:xfrm>
            <a:off x="1314188" y="10159154"/>
            <a:ext cx="1508894" cy="213792"/>
          </a:xfrm>
          <a:prstGeom prst="roundRect">
            <a:avLst>
              <a:gd name="adj" fmla="val 6527"/>
            </a:avLst>
          </a:prstGeom>
          <a:solidFill>
            <a:srgbClr val="E3E3E8"/>
          </a:solidFill>
          <a:ln/>
        </p:spPr>
      </p:sp>
      <p:sp>
        <p:nvSpPr>
          <p:cNvPr id="32" name="Text 3">
            <a:extLst>
              <a:ext uri="{FF2B5EF4-FFF2-40B4-BE49-F238E27FC236}">
                <a16:creationId xmlns:a16="http://schemas.microsoft.com/office/drawing/2014/main" id="{AA55A271-8C1E-49C0-008A-0564489C8B2B}"/>
              </a:ext>
            </a:extLst>
          </p:cNvPr>
          <p:cNvSpPr/>
          <p:nvPr/>
        </p:nvSpPr>
        <p:spPr>
          <a:xfrm>
            <a:off x="1383914" y="10193980"/>
            <a:ext cx="1369442" cy="144140"/>
          </a:xfrm>
          <a:prstGeom prst="rect">
            <a:avLst/>
          </a:prstGeom>
          <a:noFill/>
          <a:ln/>
        </p:spPr>
        <p:txBody>
          <a:bodyPr wrap="none" lIns="0" tIns="0" rIns="0" bIns="0" rtlCol="0" anchor="t"/>
          <a:lstStyle/>
          <a:p>
            <a:pPr marL="0" indent="0" algn="l">
              <a:lnSpc>
                <a:spcPct val="129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KOMODITAS BERKELANJUTAN</a:t>
            </a:r>
            <a:endParaRPr lang="en-US" sz="700" dirty="0">
              <a:latin typeface="Leelawadee UI" panose="020B0502040204020203" pitchFamily="34" charset="-34"/>
              <a:cs typeface="Leelawadee UI" panose="020B0502040204020203" pitchFamily="34" charset="-34"/>
            </a:endParaRPr>
          </a:p>
        </p:txBody>
      </p:sp>
      <p:sp>
        <p:nvSpPr>
          <p:cNvPr id="33" name="Text 4">
            <a:extLst>
              <a:ext uri="{FF2B5EF4-FFF2-40B4-BE49-F238E27FC236}">
                <a16:creationId xmlns:a16="http://schemas.microsoft.com/office/drawing/2014/main" id="{847A88A4-A6F0-F55E-EFE6-A8125E311228}"/>
              </a:ext>
            </a:extLst>
          </p:cNvPr>
          <p:cNvSpPr/>
          <p:nvPr/>
        </p:nvSpPr>
        <p:spPr>
          <a:xfrm>
            <a:off x="600113" y="10601021"/>
            <a:ext cx="2626443" cy="449745"/>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YNKI Beri Dukungan Penuh Pengembangan Kebijakan Ketertelusuran Karet</a:t>
            </a:r>
            <a:endParaRPr lang="en-US" sz="1000" dirty="0">
              <a:latin typeface="Leelawadee UI" panose="020B0502040204020203" pitchFamily="34" charset="-34"/>
              <a:cs typeface="Leelawadee UI" panose="020B0502040204020203" pitchFamily="34" charset="-34"/>
            </a:endParaRPr>
          </a:p>
        </p:txBody>
      </p:sp>
      <p:sp>
        <p:nvSpPr>
          <p:cNvPr id="34" name="Text 5">
            <a:extLst>
              <a:ext uri="{FF2B5EF4-FFF2-40B4-BE49-F238E27FC236}">
                <a16:creationId xmlns:a16="http://schemas.microsoft.com/office/drawing/2014/main" id="{ADD38822-6B32-CDCD-96E4-597321204D40}"/>
              </a:ext>
            </a:extLst>
          </p:cNvPr>
          <p:cNvSpPr/>
          <p:nvPr/>
        </p:nvSpPr>
        <p:spPr>
          <a:xfrm>
            <a:off x="600186" y="11026896"/>
            <a:ext cx="2409641" cy="2047949"/>
          </a:xfrm>
          <a:prstGeom prst="rect">
            <a:avLst/>
          </a:prstGeom>
          <a:noFill/>
          <a:ln/>
        </p:spPr>
        <p:txBody>
          <a:bodyPr wrap="square" lIns="0" tIns="0" rIns="0" bIns="0" rtlCol="0" anchor="t">
            <a:normAutofit/>
          </a:bodyPr>
          <a:lstStyle/>
          <a:p>
            <a:pPr marL="0" indent="0" algn="l">
              <a:lnSpc>
                <a:spcPct val="129000"/>
              </a:lnSpc>
              <a:spcAft>
                <a:spcPts val="500"/>
              </a:spcAft>
              <a:buNone/>
            </a:pP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"YNKI memberikan dukungan penuh kepada Dinas Perkebunan Kalimantan Barat dalam pengembangan kebijakan ketertelusuran industri karet. Kebijakan ini dirancang untuk menjawab tantangan global, terutama terkait regulasi Uni Eropa mengenai deforestasi (EUDR)."</a:t>
            </a:r>
            <a:endParaRPr lang="en-US" sz="1000" dirty="0">
              <a:latin typeface="Leelawadee UI" panose="020B0502040204020203" pitchFamily="34" charset="-34"/>
              <a:cs typeface="Leelawadee UI" panose="020B0502040204020203" pitchFamily="34" charset="-34"/>
            </a:endParaRPr>
          </a:p>
          <a:p>
            <a:pPr marL="0" indent="0" algn="l">
              <a:lnSpc>
                <a:spcPct val="129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 Newsantara.co</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12 Agustus 2024</a:t>
            </a:r>
            <a:endParaRPr lang="en-US" sz="1000" dirty="0">
              <a:latin typeface="Leelawadee UI" panose="020B0502040204020203" pitchFamily="34" charset="-34"/>
              <a:cs typeface="Leelawadee UI" panose="020B0502040204020203" pitchFamily="34" charset="-34"/>
            </a:endParaRPr>
          </a:p>
        </p:txBody>
      </p:sp>
      <p:pic>
        <p:nvPicPr>
          <p:cNvPr id="35" name="Image 1" descr="preencoded.png">
            <a:hlinkClick r:id="" action="ppaction://noaction"/>
            <a:extLst>
              <a:ext uri="{FF2B5EF4-FFF2-40B4-BE49-F238E27FC236}">
                <a16:creationId xmlns:a16="http://schemas.microsoft.com/office/drawing/2014/main" id="{3015B3E6-8BB6-B2AA-DBCE-B35D8446F2AC}"/>
              </a:ext>
            </a:extLst>
          </p:cNvPr>
          <p:cNvPicPr>
            <a:picLocks noChangeAspect="1"/>
          </p:cNvPicPr>
          <p:nvPr/>
        </p:nvPicPr>
        <p:blipFill>
          <a:blip r:embed="rId9"/>
          <a:stretch>
            <a:fillRect/>
          </a:stretch>
        </p:blipFill>
        <p:spPr>
          <a:xfrm>
            <a:off x="1759475" y="12689462"/>
            <a:ext cx="1086936" cy="235305"/>
          </a:xfrm>
          <a:prstGeom prst="rect">
            <a:avLst/>
          </a:prstGeom>
        </p:spPr>
      </p:pic>
      <p:pic>
        <p:nvPicPr>
          <p:cNvPr id="36" name="Image 2" descr="preencoded.png">
            <a:extLst>
              <a:ext uri="{FF2B5EF4-FFF2-40B4-BE49-F238E27FC236}">
                <a16:creationId xmlns:a16="http://schemas.microsoft.com/office/drawing/2014/main" id="{B1EFE625-046B-42E1-25CC-07BCFD945B40}"/>
              </a:ext>
            </a:extLst>
          </p:cNvPr>
          <p:cNvPicPr>
            <a:picLocks noChangeAspect="1"/>
          </p:cNvPicPr>
          <p:nvPr/>
        </p:nvPicPr>
        <p:blipFill>
          <a:blip r:embed="rId10"/>
          <a:stretch>
            <a:fillRect/>
          </a:stretch>
        </p:blipFill>
        <p:spPr>
          <a:xfrm>
            <a:off x="3362808" y="10159154"/>
            <a:ext cx="577751" cy="357039"/>
          </a:xfrm>
          <a:prstGeom prst="rect">
            <a:avLst/>
          </a:prstGeom>
        </p:spPr>
      </p:pic>
      <p:sp>
        <p:nvSpPr>
          <p:cNvPr id="37" name="Shape 6">
            <a:extLst>
              <a:ext uri="{FF2B5EF4-FFF2-40B4-BE49-F238E27FC236}">
                <a16:creationId xmlns:a16="http://schemas.microsoft.com/office/drawing/2014/main" id="{E3273387-C9A1-8E1C-77B2-32DA67C48D86}"/>
              </a:ext>
            </a:extLst>
          </p:cNvPr>
          <p:cNvSpPr/>
          <p:nvPr/>
        </p:nvSpPr>
        <p:spPr>
          <a:xfrm>
            <a:off x="4076811" y="10159154"/>
            <a:ext cx="1213917" cy="213792"/>
          </a:xfrm>
          <a:prstGeom prst="roundRect">
            <a:avLst>
              <a:gd name="adj" fmla="val 6527"/>
            </a:avLst>
          </a:prstGeom>
          <a:solidFill>
            <a:srgbClr val="E3E3E8"/>
          </a:solidFill>
          <a:ln/>
        </p:spPr>
      </p:sp>
      <p:sp>
        <p:nvSpPr>
          <p:cNvPr id="38" name="Text 7">
            <a:extLst>
              <a:ext uri="{FF2B5EF4-FFF2-40B4-BE49-F238E27FC236}">
                <a16:creationId xmlns:a16="http://schemas.microsoft.com/office/drawing/2014/main" id="{9C73B769-95E7-01C7-B50A-C8B82C66DCD2}"/>
              </a:ext>
            </a:extLst>
          </p:cNvPr>
          <p:cNvSpPr/>
          <p:nvPr/>
        </p:nvSpPr>
        <p:spPr>
          <a:xfrm>
            <a:off x="4146537" y="10193980"/>
            <a:ext cx="1074465" cy="144140"/>
          </a:xfrm>
          <a:prstGeom prst="rect">
            <a:avLst/>
          </a:prstGeom>
          <a:noFill/>
          <a:ln/>
        </p:spPr>
        <p:txBody>
          <a:bodyPr wrap="none" lIns="0" tIns="0" rIns="0" bIns="0" rtlCol="0" anchor="t"/>
          <a:lstStyle/>
          <a:p>
            <a:pPr marL="0" indent="0" algn="l">
              <a:lnSpc>
                <a:spcPct val="129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PEMUDA &amp; PENDIDIKAN</a:t>
            </a:r>
            <a:endParaRPr lang="en-US" sz="700" dirty="0">
              <a:latin typeface="Leelawadee UI" panose="020B0502040204020203" pitchFamily="34" charset="-34"/>
              <a:cs typeface="Leelawadee UI" panose="020B0502040204020203" pitchFamily="34" charset="-34"/>
            </a:endParaRPr>
          </a:p>
        </p:txBody>
      </p:sp>
      <p:sp>
        <p:nvSpPr>
          <p:cNvPr id="39" name="Text 8">
            <a:extLst>
              <a:ext uri="{FF2B5EF4-FFF2-40B4-BE49-F238E27FC236}">
                <a16:creationId xmlns:a16="http://schemas.microsoft.com/office/drawing/2014/main" id="{B8DE271A-6A89-46C2-82A4-D0C223C45FBF}"/>
              </a:ext>
            </a:extLst>
          </p:cNvPr>
          <p:cNvSpPr/>
          <p:nvPr/>
        </p:nvSpPr>
        <p:spPr>
          <a:xfrm>
            <a:off x="3362808" y="10601022"/>
            <a:ext cx="1912441" cy="360463"/>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YNKI Gelar Youth Camp untuk Tiga Desa di Ketapang</a:t>
            </a:r>
            <a:endParaRPr lang="en-US" sz="1000" dirty="0">
              <a:latin typeface="Leelawadee UI" panose="020B0502040204020203" pitchFamily="34" charset="-34"/>
              <a:cs typeface="Leelawadee UI" panose="020B0502040204020203" pitchFamily="34" charset="-34"/>
            </a:endParaRPr>
          </a:p>
        </p:txBody>
      </p:sp>
      <p:sp>
        <p:nvSpPr>
          <p:cNvPr id="40" name="Text 9">
            <a:extLst>
              <a:ext uri="{FF2B5EF4-FFF2-40B4-BE49-F238E27FC236}">
                <a16:creationId xmlns:a16="http://schemas.microsoft.com/office/drawing/2014/main" id="{B2D648C4-5B78-2E0E-18E2-77E5878D385B}"/>
              </a:ext>
            </a:extLst>
          </p:cNvPr>
          <p:cNvSpPr/>
          <p:nvPr/>
        </p:nvSpPr>
        <p:spPr>
          <a:xfrm>
            <a:off x="3362809" y="11026896"/>
            <a:ext cx="2626444" cy="1687488"/>
          </a:xfrm>
          <a:prstGeom prst="rect">
            <a:avLst/>
          </a:prstGeom>
          <a:noFill/>
          <a:ln/>
        </p:spPr>
        <p:txBody>
          <a:bodyPr wrap="square" lIns="0" tIns="0" rIns="0" bIns="0" rtlCol="0" anchor="t">
            <a:normAutofit/>
          </a:bodyPr>
          <a:lstStyle/>
          <a:p>
            <a:pPr marL="0" indent="0" algn="l">
              <a:lnSpc>
                <a:spcPct val="129000"/>
              </a:lnSpc>
              <a:spcAft>
                <a:spcPts val="500"/>
              </a:spcAft>
              <a:buNone/>
            </a:pP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 (YNKI) menggelar kegiatan 'Youth Camp' aksi bersama menjaga hutan yang melibatkan puluhan peserta yang terdiri dari anak muda di Kabupaten Ketapang, Kalimantan Barat."</a:t>
            </a:r>
            <a:endParaRPr lang="en-US" sz="1000" dirty="0">
              <a:latin typeface="Leelawadee UI" panose="020B0502040204020203" pitchFamily="34" charset="-34"/>
              <a:cs typeface="Leelawadee UI" panose="020B0502040204020203" pitchFamily="34" charset="-34"/>
            </a:endParaRPr>
          </a:p>
          <a:p>
            <a:pPr marL="0" indent="0" algn="l">
              <a:lnSpc>
                <a:spcPct val="129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 Tribun Pontianak</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19 Juli 2024</a:t>
            </a:r>
            <a:endParaRPr lang="en-US" sz="1000" dirty="0">
              <a:latin typeface="Leelawadee UI" panose="020B0502040204020203" pitchFamily="34" charset="-34"/>
              <a:cs typeface="Leelawadee UI" panose="020B0502040204020203" pitchFamily="34" charset="-34"/>
            </a:endParaRPr>
          </a:p>
        </p:txBody>
      </p:sp>
      <p:pic>
        <p:nvPicPr>
          <p:cNvPr id="41" name="Image 3" descr="preencoded.png">
            <a:hlinkClick r:id="" action="ppaction://noaction"/>
            <a:extLst>
              <a:ext uri="{FF2B5EF4-FFF2-40B4-BE49-F238E27FC236}">
                <a16:creationId xmlns:a16="http://schemas.microsoft.com/office/drawing/2014/main" id="{0950F256-3ACB-124A-E739-40C062473152}"/>
              </a:ext>
            </a:extLst>
          </p:cNvPr>
          <p:cNvPicPr>
            <a:picLocks noChangeAspect="1"/>
          </p:cNvPicPr>
          <p:nvPr/>
        </p:nvPicPr>
        <p:blipFill>
          <a:blip r:embed="rId9"/>
          <a:stretch>
            <a:fillRect/>
          </a:stretch>
        </p:blipFill>
        <p:spPr>
          <a:xfrm>
            <a:off x="4676031" y="12447996"/>
            <a:ext cx="1086936" cy="235305"/>
          </a:xfrm>
          <a:prstGeom prst="rect">
            <a:avLst/>
          </a:prstGeom>
        </p:spPr>
      </p:pic>
      <p:pic>
        <p:nvPicPr>
          <p:cNvPr id="42" name="Image 4" descr="preencoded.png">
            <a:extLst>
              <a:ext uri="{FF2B5EF4-FFF2-40B4-BE49-F238E27FC236}">
                <a16:creationId xmlns:a16="http://schemas.microsoft.com/office/drawing/2014/main" id="{9EFACF7B-272C-5EC3-19E1-077744B9931B}"/>
              </a:ext>
            </a:extLst>
          </p:cNvPr>
          <p:cNvPicPr>
            <a:picLocks noChangeAspect="1"/>
          </p:cNvPicPr>
          <p:nvPr/>
        </p:nvPicPr>
        <p:blipFill>
          <a:blip r:embed="rId11"/>
          <a:stretch>
            <a:fillRect/>
          </a:stretch>
        </p:blipFill>
        <p:spPr>
          <a:xfrm>
            <a:off x="6125504" y="10159154"/>
            <a:ext cx="577751" cy="357039"/>
          </a:xfrm>
          <a:prstGeom prst="rect">
            <a:avLst/>
          </a:prstGeom>
        </p:spPr>
      </p:pic>
      <p:sp>
        <p:nvSpPr>
          <p:cNvPr id="43" name="Shape 10">
            <a:extLst>
              <a:ext uri="{FF2B5EF4-FFF2-40B4-BE49-F238E27FC236}">
                <a16:creationId xmlns:a16="http://schemas.microsoft.com/office/drawing/2014/main" id="{6899037A-CA76-5AA4-585D-E4A8CCD119A1}"/>
              </a:ext>
            </a:extLst>
          </p:cNvPr>
          <p:cNvSpPr/>
          <p:nvPr/>
        </p:nvSpPr>
        <p:spPr>
          <a:xfrm>
            <a:off x="6839507" y="10159154"/>
            <a:ext cx="1082650" cy="213792"/>
          </a:xfrm>
          <a:prstGeom prst="roundRect">
            <a:avLst>
              <a:gd name="adj" fmla="val 6527"/>
            </a:avLst>
          </a:prstGeom>
          <a:solidFill>
            <a:srgbClr val="E3E3E8"/>
          </a:solidFill>
          <a:ln/>
        </p:spPr>
      </p:sp>
      <p:sp>
        <p:nvSpPr>
          <p:cNvPr id="44" name="Text 11">
            <a:extLst>
              <a:ext uri="{FF2B5EF4-FFF2-40B4-BE49-F238E27FC236}">
                <a16:creationId xmlns:a16="http://schemas.microsoft.com/office/drawing/2014/main" id="{0DF07B4B-0608-3E62-B365-ED78CB1DE19F}"/>
              </a:ext>
            </a:extLst>
          </p:cNvPr>
          <p:cNvSpPr/>
          <p:nvPr/>
        </p:nvSpPr>
        <p:spPr>
          <a:xfrm>
            <a:off x="6909233" y="10193980"/>
            <a:ext cx="943198" cy="144140"/>
          </a:xfrm>
          <a:prstGeom prst="rect">
            <a:avLst/>
          </a:prstGeom>
          <a:noFill/>
          <a:ln/>
        </p:spPr>
        <p:txBody>
          <a:bodyPr wrap="none" lIns="0" tIns="0" rIns="0" bIns="0" rtlCol="0" anchor="t"/>
          <a:lstStyle/>
          <a:p>
            <a:pPr marL="0" indent="0" algn="l">
              <a:lnSpc>
                <a:spcPct val="129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RESTORASI GAMBUT</a:t>
            </a:r>
            <a:endParaRPr lang="en-US" sz="700" dirty="0">
              <a:latin typeface="Leelawadee UI" panose="020B0502040204020203" pitchFamily="34" charset="-34"/>
              <a:cs typeface="Leelawadee UI" panose="020B0502040204020203" pitchFamily="34" charset="-34"/>
            </a:endParaRPr>
          </a:p>
        </p:txBody>
      </p:sp>
      <p:sp>
        <p:nvSpPr>
          <p:cNvPr id="45" name="Text 12">
            <a:extLst>
              <a:ext uri="{FF2B5EF4-FFF2-40B4-BE49-F238E27FC236}">
                <a16:creationId xmlns:a16="http://schemas.microsoft.com/office/drawing/2014/main" id="{704E140C-9773-FEF0-F8E7-E6CD6C67853E}"/>
              </a:ext>
            </a:extLst>
          </p:cNvPr>
          <p:cNvSpPr/>
          <p:nvPr/>
        </p:nvSpPr>
        <p:spPr>
          <a:xfrm>
            <a:off x="6125505" y="10631607"/>
            <a:ext cx="2152254" cy="360463"/>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Kolaboratif Restorasi Gambut, Upaya Bersama Lestarikan Masa Depan</a:t>
            </a:r>
            <a:endParaRPr lang="en-US" sz="1000" dirty="0">
              <a:latin typeface="Leelawadee UI" panose="020B0502040204020203" pitchFamily="34" charset="-34"/>
              <a:cs typeface="Leelawadee UI" panose="020B0502040204020203" pitchFamily="34" charset="-34"/>
            </a:endParaRPr>
          </a:p>
        </p:txBody>
      </p:sp>
      <p:sp>
        <p:nvSpPr>
          <p:cNvPr id="46" name="Text 13">
            <a:extLst>
              <a:ext uri="{FF2B5EF4-FFF2-40B4-BE49-F238E27FC236}">
                <a16:creationId xmlns:a16="http://schemas.microsoft.com/office/drawing/2014/main" id="{98420867-6A9C-E3A7-A36F-DE8494E63416}"/>
              </a:ext>
            </a:extLst>
          </p:cNvPr>
          <p:cNvSpPr/>
          <p:nvPr/>
        </p:nvSpPr>
        <p:spPr>
          <a:xfrm>
            <a:off x="6125505" y="11026896"/>
            <a:ext cx="2370795" cy="1507257"/>
          </a:xfrm>
          <a:prstGeom prst="rect">
            <a:avLst/>
          </a:prstGeom>
          <a:noFill/>
          <a:ln/>
        </p:spPr>
        <p:txBody>
          <a:bodyPr wrap="square" lIns="0" tIns="0" rIns="0" bIns="0" rtlCol="0" anchor="t">
            <a:normAutofit/>
          </a:bodyPr>
          <a:lstStyle/>
          <a:p>
            <a:pPr marL="0" indent="0" algn="l">
              <a:lnSpc>
                <a:spcPct val="129000"/>
              </a:lnSpc>
              <a:spcAft>
                <a:spcPts val="500"/>
              </a:spcAft>
              <a:buNone/>
            </a:pP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"Direktur Yayasan Natural Kapital, Haryono, menjadikan ekosistem gambut yang sehat (tidak mudah terbakar) selain menanam pohon juga dengan membuat kanal bloking untuk mengembalikan pola aliran air yang alami."</a:t>
            </a:r>
            <a:endParaRPr lang="en-US" sz="1000" dirty="0">
              <a:latin typeface="Leelawadee UI" panose="020B0502040204020203" pitchFamily="34" charset="-34"/>
              <a:cs typeface="Leelawadee UI" panose="020B0502040204020203" pitchFamily="34" charset="-34"/>
            </a:endParaRPr>
          </a:p>
          <a:p>
            <a:pPr marL="0" indent="0" algn="l">
              <a:lnSpc>
                <a:spcPct val="129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 Kalbar Digital</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10 Juni 2024</a:t>
            </a:r>
            <a:endParaRPr lang="en-US" sz="1000" dirty="0">
              <a:latin typeface="Leelawadee UI" panose="020B0502040204020203" pitchFamily="34" charset="-34"/>
              <a:cs typeface="Leelawadee UI" panose="020B0502040204020203" pitchFamily="34" charset="-34"/>
            </a:endParaRPr>
          </a:p>
        </p:txBody>
      </p:sp>
      <p:pic>
        <p:nvPicPr>
          <p:cNvPr id="47" name="Image 5" descr="preencoded.png">
            <a:hlinkClick r:id="" action="ppaction://noaction"/>
            <a:extLst>
              <a:ext uri="{FF2B5EF4-FFF2-40B4-BE49-F238E27FC236}">
                <a16:creationId xmlns:a16="http://schemas.microsoft.com/office/drawing/2014/main" id="{EC4B5F65-534F-E135-6217-104BB7133210}"/>
              </a:ext>
            </a:extLst>
          </p:cNvPr>
          <p:cNvPicPr>
            <a:picLocks noChangeAspect="1"/>
          </p:cNvPicPr>
          <p:nvPr/>
        </p:nvPicPr>
        <p:blipFill>
          <a:blip r:embed="rId9"/>
          <a:stretch>
            <a:fillRect/>
          </a:stretch>
        </p:blipFill>
        <p:spPr>
          <a:xfrm>
            <a:off x="7236117" y="12669516"/>
            <a:ext cx="1086936" cy="235305"/>
          </a:xfrm>
          <a:prstGeom prst="rect">
            <a:avLst/>
          </a:prstGeom>
        </p:spPr>
      </p:pic>
      <p:pic>
        <p:nvPicPr>
          <p:cNvPr id="48" name="Image 0" descr="preencoded.png">
            <a:extLst>
              <a:ext uri="{FF2B5EF4-FFF2-40B4-BE49-F238E27FC236}">
                <a16:creationId xmlns:a16="http://schemas.microsoft.com/office/drawing/2014/main" id="{5650C3DB-E137-7582-7862-DD029671F157}"/>
              </a:ext>
            </a:extLst>
          </p:cNvPr>
          <p:cNvPicPr>
            <a:picLocks noChangeAspect="1"/>
          </p:cNvPicPr>
          <p:nvPr/>
        </p:nvPicPr>
        <p:blipFill>
          <a:blip r:embed="rId12"/>
          <a:stretch>
            <a:fillRect/>
          </a:stretch>
        </p:blipFill>
        <p:spPr>
          <a:xfrm>
            <a:off x="609191" y="13074239"/>
            <a:ext cx="427286" cy="264021"/>
          </a:xfrm>
          <a:prstGeom prst="rect">
            <a:avLst/>
          </a:prstGeom>
        </p:spPr>
      </p:pic>
      <p:sp>
        <p:nvSpPr>
          <p:cNvPr id="49" name="Shape 0">
            <a:extLst>
              <a:ext uri="{FF2B5EF4-FFF2-40B4-BE49-F238E27FC236}">
                <a16:creationId xmlns:a16="http://schemas.microsoft.com/office/drawing/2014/main" id="{7E3555E7-43D6-916E-95D1-D454B47559CA}"/>
              </a:ext>
            </a:extLst>
          </p:cNvPr>
          <p:cNvSpPr/>
          <p:nvPr/>
        </p:nvSpPr>
        <p:spPr>
          <a:xfrm>
            <a:off x="1163799" y="13074240"/>
            <a:ext cx="1387822" cy="204564"/>
          </a:xfrm>
          <a:prstGeom prst="roundRect">
            <a:avLst>
              <a:gd name="adj" fmla="val 3948"/>
            </a:avLst>
          </a:prstGeom>
          <a:solidFill>
            <a:srgbClr val="E3E3E8"/>
          </a:solidFill>
          <a:ln/>
        </p:spPr>
      </p:sp>
      <p:sp>
        <p:nvSpPr>
          <p:cNvPr id="50" name="Text 1">
            <a:extLst>
              <a:ext uri="{FF2B5EF4-FFF2-40B4-BE49-F238E27FC236}">
                <a16:creationId xmlns:a16="http://schemas.microsoft.com/office/drawing/2014/main" id="{3778645F-DDE1-4171-2EDD-B5ED666BBED8}"/>
              </a:ext>
            </a:extLst>
          </p:cNvPr>
          <p:cNvSpPr/>
          <p:nvPr/>
        </p:nvSpPr>
        <p:spPr>
          <a:xfrm>
            <a:off x="1231218" y="13107949"/>
            <a:ext cx="1252984" cy="274290"/>
          </a:xfrm>
          <a:prstGeom prst="rect">
            <a:avLst/>
          </a:prstGeom>
          <a:noFill/>
          <a:ln/>
        </p:spPr>
        <p:txBody>
          <a:bodyPr wrap="square" lIns="0" tIns="0" rIns="0" bIns="0" rtlCol="0" anchor="t">
            <a:normAutofit/>
          </a:bodyPr>
          <a:lstStyle/>
          <a:p>
            <a:pPr marL="0" indent="0" algn="l">
              <a:lnSpc>
                <a:spcPct val="127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KOMODITAS BERKELANJUTAN</a:t>
            </a:r>
            <a:endParaRPr lang="en-US" sz="700" dirty="0">
              <a:latin typeface="Leelawadee UI" panose="020B0502040204020203" pitchFamily="34" charset="-34"/>
              <a:cs typeface="Leelawadee UI" panose="020B0502040204020203" pitchFamily="34" charset="-34"/>
            </a:endParaRPr>
          </a:p>
        </p:txBody>
      </p:sp>
      <p:sp>
        <p:nvSpPr>
          <p:cNvPr id="51" name="Text 2">
            <a:extLst>
              <a:ext uri="{FF2B5EF4-FFF2-40B4-BE49-F238E27FC236}">
                <a16:creationId xmlns:a16="http://schemas.microsoft.com/office/drawing/2014/main" id="{7614D894-127F-F3C7-65DF-FACE2BD247F1}"/>
              </a:ext>
            </a:extLst>
          </p:cNvPr>
          <p:cNvSpPr/>
          <p:nvPr/>
        </p:nvSpPr>
        <p:spPr>
          <a:xfrm>
            <a:off x="609190" y="13456653"/>
            <a:ext cx="1942431" cy="878086"/>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Perkuat Inovasi Bisnis, UMKM Madu Hutan di Ulak Medang Dapat Dukungan Alat Baru</a:t>
            </a:r>
            <a:endParaRPr lang="en-US" sz="1000" dirty="0">
              <a:latin typeface="Leelawadee UI" panose="020B0502040204020203" pitchFamily="34" charset="-34"/>
              <a:cs typeface="Leelawadee UI" panose="020B0502040204020203" pitchFamily="34" charset="-34"/>
            </a:endParaRPr>
          </a:p>
        </p:txBody>
      </p:sp>
      <p:sp>
        <p:nvSpPr>
          <p:cNvPr id="52" name="Text 3">
            <a:extLst>
              <a:ext uri="{FF2B5EF4-FFF2-40B4-BE49-F238E27FC236}">
                <a16:creationId xmlns:a16="http://schemas.microsoft.com/office/drawing/2014/main" id="{4DFFFAFD-7A43-E019-A880-CFF6E3288CC5}"/>
              </a:ext>
            </a:extLst>
          </p:cNvPr>
          <p:cNvSpPr/>
          <p:nvPr/>
        </p:nvSpPr>
        <p:spPr>
          <a:xfrm>
            <a:off x="609190" y="14091033"/>
            <a:ext cx="1800042" cy="2289944"/>
          </a:xfrm>
          <a:prstGeom prst="rect">
            <a:avLst/>
          </a:prstGeom>
          <a:noFill/>
          <a:ln/>
        </p:spPr>
        <p:txBody>
          <a:bodyPr wrap="square" lIns="0" tIns="0" rIns="0" bIns="0" rtlCol="0" anchor="t">
            <a:normAutofit/>
          </a:bodyPr>
          <a:lstStyle/>
          <a:p>
            <a:pPr marL="0" indent="0" algn="l">
              <a:lnSpc>
                <a:spcPct val="127000"/>
              </a:lnSpc>
              <a:spcAft>
                <a:spcPts val="450"/>
              </a:spcAft>
              <a:buNone/>
            </a:pPr>
            <a:r>
              <a:rPr lang="en-US" sz="800" i="1" dirty="0">
                <a:solidFill>
                  <a:srgbClr val="161613"/>
                </a:solidFill>
                <a:latin typeface="Leelawadee UI" panose="020B0502040204020203" pitchFamily="34" charset="-34"/>
                <a:ea typeface="Inter" pitchFamily="34" charset="-122"/>
                <a:cs typeface="Leelawadee UI" panose="020B0502040204020203" pitchFamily="34" charset="-34"/>
              </a:rPr>
              <a:t>"Di tengah kekayaan sumber daya alam yang dimiliki desa Ulak Medang, di antaranya adalah madu hutan. Komoditas ini telah menjadi salah satu produk unggulan yang berpotensi untuk dikembangkan lebih jauh."</a:t>
            </a:r>
            <a:endParaRPr lang="en-US" sz="800" dirty="0">
              <a:latin typeface="Leelawadee UI" panose="020B0502040204020203" pitchFamily="34" charset="-34"/>
              <a:cs typeface="Leelawadee UI" panose="020B0502040204020203" pitchFamily="34" charset="-34"/>
            </a:endParaRPr>
          </a:p>
          <a:p>
            <a:pPr marL="0" indent="0" algn="l">
              <a:lnSpc>
                <a:spcPct val="127000"/>
              </a:lnSpc>
              <a:buNone/>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 Newsantara.co</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Agustus 2024</a:t>
            </a:r>
            <a:endParaRPr lang="en-US" sz="800" dirty="0">
              <a:latin typeface="Leelawadee UI" panose="020B0502040204020203" pitchFamily="34" charset="-34"/>
              <a:cs typeface="Leelawadee UI" panose="020B0502040204020203" pitchFamily="34" charset="-34"/>
            </a:endParaRPr>
          </a:p>
        </p:txBody>
      </p:sp>
      <p:pic>
        <p:nvPicPr>
          <p:cNvPr id="53" name="Image 1" descr="preencoded.png">
            <a:hlinkClick r:id="" action="ppaction://noaction"/>
            <a:extLst>
              <a:ext uri="{FF2B5EF4-FFF2-40B4-BE49-F238E27FC236}">
                <a16:creationId xmlns:a16="http://schemas.microsoft.com/office/drawing/2014/main" id="{8DB5DB47-0F0F-35DC-C9DE-FFFFC79204E8}"/>
              </a:ext>
            </a:extLst>
          </p:cNvPr>
          <p:cNvPicPr>
            <a:picLocks noChangeAspect="1"/>
          </p:cNvPicPr>
          <p:nvPr/>
        </p:nvPicPr>
        <p:blipFill>
          <a:blip r:embed="rId13"/>
          <a:stretch>
            <a:fillRect/>
          </a:stretch>
        </p:blipFill>
        <p:spPr>
          <a:xfrm>
            <a:off x="1447769" y="15288613"/>
            <a:ext cx="885594" cy="301245"/>
          </a:xfrm>
          <a:prstGeom prst="rect">
            <a:avLst/>
          </a:prstGeom>
        </p:spPr>
      </p:pic>
      <p:pic>
        <p:nvPicPr>
          <p:cNvPr id="54" name="Image 2" descr="preencoded.png">
            <a:extLst>
              <a:ext uri="{FF2B5EF4-FFF2-40B4-BE49-F238E27FC236}">
                <a16:creationId xmlns:a16="http://schemas.microsoft.com/office/drawing/2014/main" id="{086B1077-9DE5-CD2F-0B1D-A85C8AEAC216}"/>
              </a:ext>
            </a:extLst>
          </p:cNvPr>
          <p:cNvPicPr>
            <a:picLocks noChangeAspect="1"/>
          </p:cNvPicPr>
          <p:nvPr/>
        </p:nvPicPr>
        <p:blipFill>
          <a:blip r:embed="rId14"/>
          <a:stretch>
            <a:fillRect/>
          </a:stretch>
        </p:blipFill>
        <p:spPr>
          <a:xfrm>
            <a:off x="2678943" y="13074239"/>
            <a:ext cx="427286" cy="264021"/>
          </a:xfrm>
          <a:prstGeom prst="rect">
            <a:avLst/>
          </a:prstGeom>
        </p:spPr>
      </p:pic>
      <p:sp>
        <p:nvSpPr>
          <p:cNvPr id="55" name="Shape 4">
            <a:extLst>
              <a:ext uri="{FF2B5EF4-FFF2-40B4-BE49-F238E27FC236}">
                <a16:creationId xmlns:a16="http://schemas.microsoft.com/office/drawing/2014/main" id="{F8626A24-C3D7-1E6B-7341-40E104B16CEF}"/>
              </a:ext>
            </a:extLst>
          </p:cNvPr>
          <p:cNvSpPr/>
          <p:nvPr/>
        </p:nvSpPr>
        <p:spPr>
          <a:xfrm>
            <a:off x="3233551" y="13074239"/>
            <a:ext cx="1047080" cy="204564"/>
          </a:xfrm>
          <a:prstGeom prst="roundRect">
            <a:avLst>
              <a:gd name="adj" fmla="val 6595"/>
            </a:avLst>
          </a:prstGeom>
          <a:solidFill>
            <a:srgbClr val="E3E3E8"/>
          </a:solidFill>
          <a:ln/>
        </p:spPr>
      </p:sp>
      <p:sp>
        <p:nvSpPr>
          <p:cNvPr id="56" name="Text 5">
            <a:extLst>
              <a:ext uri="{FF2B5EF4-FFF2-40B4-BE49-F238E27FC236}">
                <a16:creationId xmlns:a16="http://schemas.microsoft.com/office/drawing/2014/main" id="{035C94D9-D5B6-AA2A-EC7C-9CAD910E90CC}"/>
              </a:ext>
            </a:extLst>
          </p:cNvPr>
          <p:cNvSpPr/>
          <p:nvPr/>
        </p:nvSpPr>
        <p:spPr>
          <a:xfrm>
            <a:off x="3300970" y="13107949"/>
            <a:ext cx="912242" cy="137145"/>
          </a:xfrm>
          <a:prstGeom prst="rect">
            <a:avLst/>
          </a:prstGeom>
          <a:noFill/>
          <a:ln/>
        </p:spPr>
        <p:txBody>
          <a:bodyPr wrap="none" lIns="0" tIns="0" rIns="0" bIns="0" rtlCol="0" anchor="t"/>
          <a:lstStyle/>
          <a:p>
            <a:pPr marL="0" indent="0" algn="l">
              <a:lnSpc>
                <a:spcPct val="127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RESTORASI GAMBUT</a:t>
            </a:r>
            <a:endParaRPr lang="en-US" sz="700" dirty="0">
              <a:latin typeface="Leelawadee UI" panose="020B0502040204020203" pitchFamily="34" charset="-34"/>
              <a:cs typeface="Leelawadee UI" panose="020B0502040204020203" pitchFamily="34" charset="-34"/>
            </a:endParaRPr>
          </a:p>
        </p:txBody>
      </p:sp>
      <p:sp>
        <p:nvSpPr>
          <p:cNvPr id="57" name="Text 6">
            <a:extLst>
              <a:ext uri="{FF2B5EF4-FFF2-40B4-BE49-F238E27FC236}">
                <a16:creationId xmlns:a16="http://schemas.microsoft.com/office/drawing/2014/main" id="{EDEA8C08-3943-252E-B844-49597911D1D7}"/>
              </a:ext>
            </a:extLst>
          </p:cNvPr>
          <p:cNvSpPr/>
          <p:nvPr/>
        </p:nvSpPr>
        <p:spPr>
          <a:xfrm>
            <a:off x="2678943" y="13407316"/>
            <a:ext cx="1942430" cy="702469"/>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Restorasi Lahan Gambut, Wujudkan Masa Depan Berkelanjutan</a:t>
            </a:r>
            <a:endParaRPr lang="en-US" sz="1000" dirty="0">
              <a:latin typeface="Leelawadee UI" panose="020B0502040204020203" pitchFamily="34" charset="-34"/>
              <a:cs typeface="Leelawadee UI" panose="020B0502040204020203" pitchFamily="34" charset="-34"/>
            </a:endParaRPr>
          </a:p>
        </p:txBody>
      </p:sp>
      <p:sp>
        <p:nvSpPr>
          <p:cNvPr id="58" name="Text 7">
            <a:extLst>
              <a:ext uri="{FF2B5EF4-FFF2-40B4-BE49-F238E27FC236}">
                <a16:creationId xmlns:a16="http://schemas.microsoft.com/office/drawing/2014/main" id="{116B69B3-0871-A5CF-1834-609540DA1334}"/>
              </a:ext>
            </a:extLst>
          </p:cNvPr>
          <p:cNvSpPr/>
          <p:nvPr/>
        </p:nvSpPr>
        <p:spPr>
          <a:xfrm>
            <a:off x="2704596" y="13949725"/>
            <a:ext cx="1800042" cy="2289944"/>
          </a:xfrm>
          <a:prstGeom prst="rect">
            <a:avLst/>
          </a:prstGeom>
          <a:noFill/>
          <a:ln/>
        </p:spPr>
        <p:txBody>
          <a:bodyPr wrap="square" lIns="0" tIns="0" rIns="0" bIns="0" rtlCol="0" anchor="t">
            <a:normAutofit/>
          </a:bodyPr>
          <a:lstStyle/>
          <a:p>
            <a:pPr marL="0" indent="0" algn="l">
              <a:lnSpc>
                <a:spcPct val="127000"/>
              </a:lnSpc>
              <a:spcAft>
                <a:spcPts val="450"/>
              </a:spcAft>
              <a:buNone/>
            </a:pPr>
            <a:r>
              <a:rPr lang="en-US" sz="800" i="1" dirty="0">
                <a:solidFill>
                  <a:srgbClr val="161613"/>
                </a:solidFill>
                <a:latin typeface="Leelawadee UI" panose="020B0502040204020203" pitchFamily="34" charset="-34"/>
                <a:ea typeface="Inter" pitchFamily="34" charset="-122"/>
                <a:cs typeface="Leelawadee UI" panose="020B0502040204020203" pitchFamily="34" charset="-34"/>
              </a:rPr>
              <a:t>"Melalui FPIC ini Yayasan Natural Kapital Indonesia (YNKI), ingin memperkuat keberlanjutan program restorasi berbasis solusi dengan melibatkan semua suara masyarakat untuk masa depan ekosistem gambut dan desa yang seimbang dan adil."</a:t>
            </a:r>
            <a:endParaRPr lang="en-US" sz="800" dirty="0">
              <a:latin typeface="Leelawadee UI" panose="020B0502040204020203" pitchFamily="34" charset="-34"/>
              <a:cs typeface="Leelawadee UI" panose="020B0502040204020203" pitchFamily="34" charset="-34"/>
            </a:endParaRPr>
          </a:p>
          <a:p>
            <a:pPr marL="0" indent="0" algn="l">
              <a:lnSpc>
                <a:spcPct val="127000"/>
              </a:lnSpc>
              <a:buNone/>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 PM Haze</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7 Maret 2025</a:t>
            </a:r>
            <a:endParaRPr lang="en-US" sz="800" dirty="0">
              <a:latin typeface="Leelawadee UI" panose="020B0502040204020203" pitchFamily="34" charset="-34"/>
              <a:cs typeface="Leelawadee UI" panose="020B0502040204020203" pitchFamily="34" charset="-34"/>
            </a:endParaRPr>
          </a:p>
        </p:txBody>
      </p:sp>
      <p:pic>
        <p:nvPicPr>
          <p:cNvPr id="59" name="Image 3" descr="preencoded.png">
            <a:hlinkClick r:id="" action="ppaction://noaction"/>
            <a:extLst>
              <a:ext uri="{FF2B5EF4-FFF2-40B4-BE49-F238E27FC236}">
                <a16:creationId xmlns:a16="http://schemas.microsoft.com/office/drawing/2014/main" id="{25DB37F5-DC33-530D-8DAB-028767144B55}"/>
              </a:ext>
            </a:extLst>
          </p:cNvPr>
          <p:cNvPicPr>
            <a:picLocks noChangeAspect="1"/>
          </p:cNvPicPr>
          <p:nvPr/>
        </p:nvPicPr>
        <p:blipFill>
          <a:blip r:embed="rId13"/>
          <a:stretch>
            <a:fillRect/>
          </a:stretch>
        </p:blipFill>
        <p:spPr>
          <a:xfrm>
            <a:off x="3517521" y="15356035"/>
            <a:ext cx="885594" cy="301245"/>
          </a:xfrm>
          <a:prstGeom prst="rect">
            <a:avLst/>
          </a:prstGeom>
        </p:spPr>
      </p:pic>
      <p:pic>
        <p:nvPicPr>
          <p:cNvPr id="60" name="Image 4" descr="preencoded.png">
            <a:extLst>
              <a:ext uri="{FF2B5EF4-FFF2-40B4-BE49-F238E27FC236}">
                <a16:creationId xmlns:a16="http://schemas.microsoft.com/office/drawing/2014/main" id="{88843E81-C032-CC10-2CBE-161A91014DA1}"/>
              </a:ext>
            </a:extLst>
          </p:cNvPr>
          <p:cNvPicPr>
            <a:picLocks noChangeAspect="1"/>
          </p:cNvPicPr>
          <p:nvPr/>
        </p:nvPicPr>
        <p:blipFill>
          <a:blip r:embed="rId15"/>
          <a:stretch>
            <a:fillRect/>
          </a:stretch>
        </p:blipFill>
        <p:spPr>
          <a:xfrm>
            <a:off x="4748696" y="13074239"/>
            <a:ext cx="427286" cy="264021"/>
          </a:xfrm>
          <a:prstGeom prst="rect">
            <a:avLst/>
          </a:prstGeom>
        </p:spPr>
      </p:pic>
      <p:sp>
        <p:nvSpPr>
          <p:cNvPr id="61" name="Shape 8">
            <a:extLst>
              <a:ext uri="{FF2B5EF4-FFF2-40B4-BE49-F238E27FC236}">
                <a16:creationId xmlns:a16="http://schemas.microsoft.com/office/drawing/2014/main" id="{03050314-715F-CCE7-1CFC-3AE5F6D88F49}"/>
              </a:ext>
            </a:extLst>
          </p:cNvPr>
          <p:cNvSpPr/>
          <p:nvPr/>
        </p:nvSpPr>
        <p:spPr>
          <a:xfrm>
            <a:off x="5303304" y="13074239"/>
            <a:ext cx="1329184" cy="204564"/>
          </a:xfrm>
          <a:prstGeom prst="roundRect">
            <a:avLst>
              <a:gd name="adj" fmla="val 6595"/>
            </a:avLst>
          </a:prstGeom>
          <a:solidFill>
            <a:srgbClr val="E3E3E8"/>
          </a:solidFill>
          <a:ln/>
        </p:spPr>
      </p:sp>
      <p:sp>
        <p:nvSpPr>
          <p:cNvPr id="62" name="Text 9">
            <a:extLst>
              <a:ext uri="{FF2B5EF4-FFF2-40B4-BE49-F238E27FC236}">
                <a16:creationId xmlns:a16="http://schemas.microsoft.com/office/drawing/2014/main" id="{656EB8E5-4B85-A0A1-DEB2-50AD69BF1450}"/>
              </a:ext>
            </a:extLst>
          </p:cNvPr>
          <p:cNvSpPr/>
          <p:nvPr/>
        </p:nvSpPr>
        <p:spPr>
          <a:xfrm>
            <a:off x="5370723" y="13107949"/>
            <a:ext cx="1194346" cy="137145"/>
          </a:xfrm>
          <a:prstGeom prst="rect">
            <a:avLst/>
          </a:prstGeom>
          <a:noFill/>
          <a:ln/>
        </p:spPr>
        <p:txBody>
          <a:bodyPr wrap="none" lIns="0" tIns="0" rIns="0" bIns="0" rtlCol="0" anchor="t"/>
          <a:lstStyle/>
          <a:p>
            <a:pPr marL="0" indent="0" algn="l">
              <a:lnSpc>
                <a:spcPct val="127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KEBIJAKAN &amp; TATA KELOLA</a:t>
            </a:r>
            <a:endParaRPr lang="en-US" sz="700" dirty="0">
              <a:latin typeface="Leelawadee UI" panose="020B0502040204020203" pitchFamily="34" charset="-34"/>
              <a:cs typeface="Leelawadee UI" panose="020B0502040204020203" pitchFamily="34" charset="-34"/>
            </a:endParaRPr>
          </a:p>
        </p:txBody>
      </p:sp>
      <p:sp>
        <p:nvSpPr>
          <p:cNvPr id="63" name="Text 10">
            <a:extLst>
              <a:ext uri="{FF2B5EF4-FFF2-40B4-BE49-F238E27FC236}">
                <a16:creationId xmlns:a16="http://schemas.microsoft.com/office/drawing/2014/main" id="{FE6088B1-C23A-CBED-1F0D-FBD82937A91B}"/>
              </a:ext>
            </a:extLst>
          </p:cNvPr>
          <p:cNvSpPr/>
          <p:nvPr/>
        </p:nvSpPr>
        <p:spPr>
          <a:xfrm>
            <a:off x="4748621" y="13407316"/>
            <a:ext cx="1942505" cy="790278"/>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YNKI–Dinas Perkebunan Kalbar Kerjasama Ketelusuran Industri Karet Rakyat</a:t>
            </a:r>
            <a:endParaRPr lang="en-US" sz="1000" dirty="0">
              <a:latin typeface="Leelawadee UI" panose="020B0502040204020203" pitchFamily="34" charset="-34"/>
              <a:cs typeface="Leelawadee UI" panose="020B0502040204020203" pitchFamily="34" charset="-34"/>
            </a:endParaRPr>
          </a:p>
        </p:txBody>
      </p:sp>
      <p:sp>
        <p:nvSpPr>
          <p:cNvPr id="64" name="Text 11">
            <a:extLst>
              <a:ext uri="{FF2B5EF4-FFF2-40B4-BE49-F238E27FC236}">
                <a16:creationId xmlns:a16="http://schemas.microsoft.com/office/drawing/2014/main" id="{01F237D0-69DA-4E79-2839-D73D27AA4F64}"/>
              </a:ext>
            </a:extLst>
          </p:cNvPr>
          <p:cNvSpPr/>
          <p:nvPr/>
        </p:nvSpPr>
        <p:spPr>
          <a:xfrm>
            <a:off x="4774348" y="13953888"/>
            <a:ext cx="1916777" cy="2804294"/>
          </a:xfrm>
          <a:prstGeom prst="rect">
            <a:avLst/>
          </a:prstGeom>
          <a:noFill/>
          <a:ln/>
        </p:spPr>
        <p:txBody>
          <a:bodyPr wrap="square" lIns="0" tIns="0" rIns="0" bIns="0" rtlCol="0" anchor="t">
            <a:normAutofit/>
          </a:bodyPr>
          <a:lstStyle/>
          <a:p>
            <a:pPr marL="0" indent="0" algn="l">
              <a:lnSpc>
                <a:spcPct val="127000"/>
              </a:lnSpc>
              <a:spcAft>
                <a:spcPts val="450"/>
              </a:spcAft>
              <a:buNone/>
            </a:pPr>
            <a:r>
              <a:rPr lang="en-US" sz="800" i="1" dirty="0">
                <a:solidFill>
                  <a:srgbClr val="161613"/>
                </a:solidFill>
                <a:latin typeface="Leelawadee UI" panose="020B0502040204020203" pitchFamily="34" charset="-34"/>
                <a:ea typeface="Inter" pitchFamily="34" charset="-122"/>
                <a:cs typeface="Leelawadee UI" panose="020B0502040204020203" pitchFamily="34" charset="-34"/>
              </a:rPr>
              <a:t>"Kepala YNKI menyatakan bahwa tantangan utama yang dihadapi industri karet rakyat saat ini adalah produktivitas yang rendah, yang disebabkan oleh berbagai faktor seperti input pertanian yang belum optimal, minimnya akses ke teknologi, dan fluktuasi harga pasar internasional."</a:t>
            </a:r>
            <a:endParaRPr lang="en-US" sz="800" dirty="0">
              <a:latin typeface="Leelawadee UI" panose="020B0502040204020203" pitchFamily="34" charset="-34"/>
              <a:cs typeface="Leelawadee UI" panose="020B0502040204020203" pitchFamily="34" charset="-34"/>
            </a:endParaRPr>
          </a:p>
          <a:p>
            <a:pPr marL="0" indent="0" algn="l">
              <a:lnSpc>
                <a:spcPct val="127000"/>
              </a:lnSpc>
              <a:buNone/>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 Newsantara.co</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12 Agustus 2024</a:t>
            </a:r>
            <a:endParaRPr lang="en-US" sz="800" dirty="0">
              <a:latin typeface="Leelawadee UI" panose="020B0502040204020203" pitchFamily="34" charset="-34"/>
              <a:cs typeface="Leelawadee UI" panose="020B0502040204020203" pitchFamily="34" charset="-34"/>
            </a:endParaRPr>
          </a:p>
        </p:txBody>
      </p:sp>
      <p:pic>
        <p:nvPicPr>
          <p:cNvPr id="65" name="Image 5" descr="preencoded.png">
            <a:hlinkClick r:id="" action="ppaction://noaction"/>
            <a:extLst>
              <a:ext uri="{FF2B5EF4-FFF2-40B4-BE49-F238E27FC236}">
                <a16:creationId xmlns:a16="http://schemas.microsoft.com/office/drawing/2014/main" id="{96511F12-A266-6DB6-75A1-CC830BB5BFB4}"/>
              </a:ext>
            </a:extLst>
          </p:cNvPr>
          <p:cNvPicPr>
            <a:picLocks noChangeAspect="1"/>
          </p:cNvPicPr>
          <p:nvPr/>
        </p:nvPicPr>
        <p:blipFill>
          <a:blip r:embed="rId13"/>
          <a:stretch>
            <a:fillRect/>
          </a:stretch>
        </p:blipFill>
        <p:spPr>
          <a:xfrm>
            <a:off x="5679475" y="15589858"/>
            <a:ext cx="885594" cy="301245"/>
          </a:xfrm>
          <a:prstGeom prst="rect">
            <a:avLst/>
          </a:prstGeom>
        </p:spPr>
      </p:pic>
      <p:pic>
        <p:nvPicPr>
          <p:cNvPr id="66" name="Image 6" descr="preencoded.png">
            <a:extLst>
              <a:ext uri="{FF2B5EF4-FFF2-40B4-BE49-F238E27FC236}">
                <a16:creationId xmlns:a16="http://schemas.microsoft.com/office/drawing/2014/main" id="{0B52957C-B9E8-4445-68EA-116257416689}"/>
              </a:ext>
            </a:extLst>
          </p:cNvPr>
          <p:cNvPicPr>
            <a:picLocks noChangeAspect="1"/>
          </p:cNvPicPr>
          <p:nvPr/>
        </p:nvPicPr>
        <p:blipFill>
          <a:blip r:embed="rId16"/>
          <a:stretch>
            <a:fillRect/>
          </a:stretch>
        </p:blipFill>
        <p:spPr>
          <a:xfrm>
            <a:off x="6818449" y="13074239"/>
            <a:ext cx="427286" cy="264021"/>
          </a:xfrm>
          <a:prstGeom prst="rect">
            <a:avLst/>
          </a:prstGeom>
        </p:spPr>
      </p:pic>
      <p:sp>
        <p:nvSpPr>
          <p:cNvPr id="67" name="Shape 12">
            <a:extLst>
              <a:ext uri="{FF2B5EF4-FFF2-40B4-BE49-F238E27FC236}">
                <a16:creationId xmlns:a16="http://schemas.microsoft.com/office/drawing/2014/main" id="{97B2CAEA-498B-4143-1730-91F5127AEA70}"/>
              </a:ext>
            </a:extLst>
          </p:cNvPr>
          <p:cNvSpPr/>
          <p:nvPr/>
        </p:nvSpPr>
        <p:spPr>
          <a:xfrm>
            <a:off x="7373057" y="13074239"/>
            <a:ext cx="1169640" cy="204564"/>
          </a:xfrm>
          <a:prstGeom prst="roundRect">
            <a:avLst>
              <a:gd name="adj" fmla="val 6595"/>
            </a:avLst>
          </a:prstGeom>
          <a:solidFill>
            <a:srgbClr val="E3E3E8"/>
          </a:solidFill>
          <a:ln/>
        </p:spPr>
      </p:sp>
      <p:sp>
        <p:nvSpPr>
          <p:cNvPr id="68" name="Text 13">
            <a:extLst>
              <a:ext uri="{FF2B5EF4-FFF2-40B4-BE49-F238E27FC236}">
                <a16:creationId xmlns:a16="http://schemas.microsoft.com/office/drawing/2014/main" id="{D865A2C2-26D3-02A7-1161-16C48648C9D4}"/>
              </a:ext>
            </a:extLst>
          </p:cNvPr>
          <p:cNvSpPr/>
          <p:nvPr/>
        </p:nvSpPr>
        <p:spPr>
          <a:xfrm>
            <a:off x="7440476" y="13107949"/>
            <a:ext cx="1034802" cy="137145"/>
          </a:xfrm>
          <a:prstGeom prst="rect">
            <a:avLst/>
          </a:prstGeom>
          <a:noFill/>
          <a:ln/>
        </p:spPr>
        <p:txBody>
          <a:bodyPr wrap="none" lIns="0" tIns="0" rIns="0" bIns="0" rtlCol="0" anchor="t"/>
          <a:lstStyle/>
          <a:p>
            <a:pPr marL="0" indent="0" algn="l">
              <a:lnSpc>
                <a:spcPct val="127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ANALISIS &amp; PENELITIAN</a:t>
            </a:r>
            <a:endParaRPr lang="en-US" sz="700" dirty="0">
              <a:latin typeface="Leelawadee UI" panose="020B0502040204020203" pitchFamily="34" charset="-34"/>
              <a:cs typeface="Leelawadee UI" panose="020B0502040204020203" pitchFamily="34" charset="-34"/>
            </a:endParaRPr>
          </a:p>
        </p:txBody>
      </p:sp>
      <p:sp>
        <p:nvSpPr>
          <p:cNvPr id="69" name="Text 14">
            <a:extLst>
              <a:ext uri="{FF2B5EF4-FFF2-40B4-BE49-F238E27FC236}">
                <a16:creationId xmlns:a16="http://schemas.microsoft.com/office/drawing/2014/main" id="{485EEF02-9FCD-164A-4A1E-2D308BEAF5E8}"/>
              </a:ext>
            </a:extLst>
          </p:cNvPr>
          <p:cNvSpPr/>
          <p:nvPr/>
        </p:nvSpPr>
        <p:spPr>
          <a:xfrm>
            <a:off x="6818449" y="13407316"/>
            <a:ext cx="1714057" cy="614661"/>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Banjir di Pesisir Delta Kapuas? Ini Analisis Yayasan Natural Kapital Indonesia</a:t>
            </a:r>
            <a:endParaRPr lang="en-US" sz="1000" dirty="0">
              <a:latin typeface="Leelawadee UI" panose="020B0502040204020203" pitchFamily="34" charset="-34"/>
              <a:cs typeface="Leelawadee UI" panose="020B0502040204020203" pitchFamily="34" charset="-34"/>
            </a:endParaRPr>
          </a:p>
        </p:txBody>
      </p:sp>
      <p:sp>
        <p:nvSpPr>
          <p:cNvPr id="70" name="Text 15">
            <a:extLst>
              <a:ext uri="{FF2B5EF4-FFF2-40B4-BE49-F238E27FC236}">
                <a16:creationId xmlns:a16="http://schemas.microsoft.com/office/drawing/2014/main" id="{1EFD92E7-4810-755E-E11C-2C2D1AF1BCBE}"/>
              </a:ext>
            </a:extLst>
          </p:cNvPr>
          <p:cNvSpPr/>
          <p:nvPr/>
        </p:nvSpPr>
        <p:spPr>
          <a:xfrm>
            <a:off x="6818449" y="14334739"/>
            <a:ext cx="1656830" cy="1733480"/>
          </a:xfrm>
          <a:prstGeom prst="rect">
            <a:avLst/>
          </a:prstGeom>
          <a:noFill/>
          <a:ln/>
        </p:spPr>
        <p:txBody>
          <a:bodyPr wrap="square" lIns="0" tIns="0" rIns="0" bIns="0" rtlCol="0" anchor="t">
            <a:normAutofit/>
          </a:bodyPr>
          <a:lstStyle/>
          <a:p>
            <a:pPr marL="0" indent="0" algn="l">
              <a:lnSpc>
                <a:spcPct val="127000"/>
              </a:lnSpc>
              <a:spcAft>
                <a:spcPts val="450"/>
              </a:spcAft>
              <a:buNone/>
            </a:pPr>
            <a:r>
              <a:rPr lang="en-US" sz="800" i="1" dirty="0">
                <a:solidFill>
                  <a:srgbClr val="161613"/>
                </a:solidFill>
                <a:latin typeface="Leelawadee UI" panose="020B0502040204020203" pitchFamily="34" charset="-34"/>
                <a:ea typeface="Inter" pitchFamily="34" charset="-122"/>
                <a:cs typeface="Leelawadee UI" panose="020B0502040204020203" pitchFamily="34" charset="-34"/>
              </a:rPr>
              <a:t>"Menurut analisis spasial YNKI, rata-rata kebakaran hutan dan lahan (karhutla) seluas Kota Pontianak terjadi tiap tahunnya di Lanskap Gambut Pesisir Delta Kapuas (GPDK), dengan total luas mencapai 51.130 ha sejak 2015–2019."</a:t>
            </a:r>
            <a:endParaRPr lang="en-US" sz="800" dirty="0">
              <a:latin typeface="Leelawadee UI" panose="020B0502040204020203" pitchFamily="34" charset="-34"/>
              <a:cs typeface="Leelawadee UI" panose="020B0502040204020203" pitchFamily="34" charset="-34"/>
            </a:endParaRPr>
          </a:p>
          <a:p>
            <a:pPr marL="0" indent="0" algn="l">
              <a:lnSpc>
                <a:spcPct val="127000"/>
              </a:lnSpc>
              <a:buNone/>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 Warta Pontianak</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12 Desember 2020</a:t>
            </a:r>
            <a:endParaRPr lang="en-US" sz="800" dirty="0">
              <a:latin typeface="Leelawadee UI" panose="020B0502040204020203" pitchFamily="34" charset="-34"/>
              <a:cs typeface="Leelawadee UI" panose="020B0502040204020203" pitchFamily="34" charset="-34"/>
            </a:endParaRPr>
          </a:p>
        </p:txBody>
      </p:sp>
      <p:pic>
        <p:nvPicPr>
          <p:cNvPr id="71" name="Image 7" descr="preencoded.png">
            <a:hlinkClick r:id="" action="ppaction://noaction"/>
            <a:extLst>
              <a:ext uri="{FF2B5EF4-FFF2-40B4-BE49-F238E27FC236}">
                <a16:creationId xmlns:a16="http://schemas.microsoft.com/office/drawing/2014/main" id="{5E5E13E6-11C6-1F7C-7D38-4BC3B06A2F77}"/>
              </a:ext>
            </a:extLst>
          </p:cNvPr>
          <p:cNvPicPr>
            <a:picLocks noChangeAspect="1"/>
          </p:cNvPicPr>
          <p:nvPr/>
        </p:nvPicPr>
        <p:blipFill>
          <a:blip r:embed="rId13"/>
          <a:stretch>
            <a:fillRect/>
          </a:stretch>
        </p:blipFill>
        <p:spPr>
          <a:xfrm>
            <a:off x="7625171" y="15850147"/>
            <a:ext cx="885642" cy="301245"/>
          </a:xfrm>
          <a:prstGeom prst="rect">
            <a:avLst/>
          </a:prstGeom>
        </p:spPr>
      </p:pic>
      <p:sp>
        <p:nvSpPr>
          <p:cNvPr id="72" name="Text 0">
            <a:extLst>
              <a:ext uri="{FF2B5EF4-FFF2-40B4-BE49-F238E27FC236}">
                <a16:creationId xmlns:a16="http://schemas.microsoft.com/office/drawing/2014/main" id="{149F0206-8F58-186A-DE21-A522237707A4}"/>
              </a:ext>
            </a:extLst>
          </p:cNvPr>
          <p:cNvSpPr/>
          <p:nvPr/>
        </p:nvSpPr>
        <p:spPr>
          <a:xfrm>
            <a:off x="673633" y="16112768"/>
            <a:ext cx="4193456" cy="31008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Filter Liputan Berdasarkan Topik</a:t>
            </a:r>
            <a:endParaRPr lang="en-US" sz="2000" dirty="0">
              <a:latin typeface="Leelawadee UI" panose="020B0502040204020203" pitchFamily="34" charset="-34"/>
              <a:cs typeface="Leelawadee UI" panose="020B0502040204020203" pitchFamily="34" charset="-34"/>
            </a:endParaRPr>
          </a:p>
        </p:txBody>
      </p:sp>
      <p:sp>
        <p:nvSpPr>
          <p:cNvPr id="73" name="Text 1">
            <a:extLst>
              <a:ext uri="{FF2B5EF4-FFF2-40B4-BE49-F238E27FC236}">
                <a16:creationId xmlns:a16="http://schemas.microsoft.com/office/drawing/2014/main" id="{4A02F3D9-C100-2DD7-3F78-EDD873BEF90F}"/>
              </a:ext>
            </a:extLst>
          </p:cNvPr>
          <p:cNvSpPr/>
          <p:nvPr/>
        </p:nvSpPr>
        <p:spPr>
          <a:xfrm>
            <a:off x="673633" y="16670873"/>
            <a:ext cx="8151763" cy="396925"/>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Gunakan filter berikut untuk menjelajahi liputan media YNKI berdasarkan tema atau isu yang relevan. Setiap kategori mencerminkan area kerja utama YNKI di lapangan.</a:t>
            </a:r>
            <a:endParaRPr lang="en-US" sz="1050" dirty="0">
              <a:latin typeface="Leelawadee UI" panose="020B0502040204020203" pitchFamily="34" charset="-34"/>
              <a:cs typeface="Leelawadee UI" panose="020B0502040204020203" pitchFamily="34" charset="-34"/>
            </a:endParaRPr>
          </a:p>
        </p:txBody>
      </p:sp>
      <p:sp>
        <p:nvSpPr>
          <p:cNvPr id="74" name="Shape 2">
            <a:extLst>
              <a:ext uri="{FF2B5EF4-FFF2-40B4-BE49-F238E27FC236}">
                <a16:creationId xmlns:a16="http://schemas.microsoft.com/office/drawing/2014/main" id="{62A85CA4-CC57-7923-80AA-985ABF1B3071}"/>
              </a:ext>
            </a:extLst>
          </p:cNvPr>
          <p:cNvSpPr/>
          <p:nvPr/>
        </p:nvSpPr>
        <p:spPr>
          <a:xfrm>
            <a:off x="673633" y="17207324"/>
            <a:ext cx="1944960" cy="1305446"/>
          </a:xfrm>
          <a:prstGeom prst="roundRect">
            <a:avLst>
              <a:gd name="adj" fmla="val 1425"/>
            </a:avLst>
          </a:prstGeom>
          <a:solidFill>
            <a:srgbClr val="EDEBE3"/>
          </a:solidFill>
          <a:ln/>
        </p:spPr>
      </p:sp>
      <p:sp>
        <p:nvSpPr>
          <p:cNvPr id="75" name="Text 3">
            <a:extLst>
              <a:ext uri="{FF2B5EF4-FFF2-40B4-BE49-F238E27FC236}">
                <a16:creationId xmlns:a16="http://schemas.microsoft.com/office/drawing/2014/main" id="{994E966B-D047-2718-90A2-C99F7273609D}"/>
              </a:ext>
            </a:extLst>
          </p:cNvPr>
          <p:cNvSpPr/>
          <p:nvPr/>
        </p:nvSpPr>
        <p:spPr>
          <a:xfrm>
            <a:off x="797606" y="17331298"/>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Semua Liputan</a:t>
            </a:r>
            <a:endParaRPr lang="en-US" sz="1400" dirty="0">
              <a:latin typeface="Leelawadee UI" panose="020B0502040204020203" pitchFamily="34" charset="-34"/>
              <a:cs typeface="Leelawadee UI" panose="020B0502040204020203" pitchFamily="34" charset="-34"/>
            </a:endParaRPr>
          </a:p>
        </p:txBody>
      </p:sp>
      <p:sp>
        <p:nvSpPr>
          <p:cNvPr id="76" name="Text 4">
            <a:extLst>
              <a:ext uri="{FF2B5EF4-FFF2-40B4-BE49-F238E27FC236}">
                <a16:creationId xmlns:a16="http://schemas.microsoft.com/office/drawing/2014/main" id="{4EF2BA00-4102-1CFB-9F4C-72D864DF9FB3}"/>
              </a:ext>
            </a:extLst>
          </p:cNvPr>
          <p:cNvSpPr/>
          <p:nvPr/>
        </p:nvSpPr>
        <p:spPr>
          <a:xfrm>
            <a:off x="797606" y="17599561"/>
            <a:ext cx="1697013"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Tampilkan seluruh liputan media YNKI</a:t>
            </a:r>
            <a:endParaRPr lang="en-US" sz="1000" dirty="0">
              <a:latin typeface="Leelawadee UI" panose="020B0502040204020203" pitchFamily="34" charset="-34"/>
              <a:cs typeface="Leelawadee UI" panose="020B0502040204020203" pitchFamily="34" charset="-34"/>
            </a:endParaRPr>
          </a:p>
        </p:txBody>
      </p:sp>
      <p:sp>
        <p:nvSpPr>
          <p:cNvPr id="77" name="Shape 5">
            <a:extLst>
              <a:ext uri="{FF2B5EF4-FFF2-40B4-BE49-F238E27FC236}">
                <a16:creationId xmlns:a16="http://schemas.microsoft.com/office/drawing/2014/main" id="{159A46E6-E822-6BA3-5F47-923BD5A1F0BF}"/>
              </a:ext>
            </a:extLst>
          </p:cNvPr>
          <p:cNvSpPr/>
          <p:nvPr/>
        </p:nvSpPr>
        <p:spPr>
          <a:xfrm>
            <a:off x="2742567" y="17207324"/>
            <a:ext cx="1944960" cy="1305446"/>
          </a:xfrm>
          <a:prstGeom prst="roundRect">
            <a:avLst>
              <a:gd name="adj" fmla="val 1425"/>
            </a:avLst>
          </a:prstGeom>
          <a:solidFill>
            <a:srgbClr val="EDEBE3"/>
          </a:solidFill>
          <a:ln/>
        </p:spPr>
      </p:sp>
      <p:sp>
        <p:nvSpPr>
          <p:cNvPr id="78" name="Text 6">
            <a:extLst>
              <a:ext uri="{FF2B5EF4-FFF2-40B4-BE49-F238E27FC236}">
                <a16:creationId xmlns:a16="http://schemas.microsoft.com/office/drawing/2014/main" id="{ED1C132B-09AC-EF2C-EA4A-F52C6E375753}"/>
              </a:ext>
            </a:extLst>
          </p:cNvPr>
          <p:cNvSpPr/>
          <p:nvPr/>
        </p:nvSpPr>
        <p:spPr>
          <a:xfrm>
            <a:off x="2866541" y="17331298"/>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Restorasi Gambut</a:t>
            </a:r>
            <a:endParaRPr lang="en-US" sz="1400" dirty="0">
              <a:latin typeface="Leelawadee UI" panose="020B0502040204020203" pitchFamily="34" charset="-34"/>
              <a:cs typeface="Leelawadee UI" panose="020B0502040204020203" pitchFamily="34" charset="-34"/>
            </a:endParaRPr>
          </a:p>
        </p:txBody>
      </p:sp>
      <p:sp>
        <p:nvSpPr>
          <p:cNvPr id="79" name="Text 7">
            <a:extLst>
              <a:ext uri="{FF2B5EF4-FFF2-40B4-BE49-F238E27FC236}">
                <a16:creationId xmlns:a16="http://schemas.microsoft.com/office/drawing/2014/main" id="{EB8D5760-CCBE-EDDF-FA3C-F8E7038E510E}"/>
              </a:ext>
            </a:extLst>
          </p:cNvPr>
          <p:cNvSpPr/>
          <p:nvPr/>
        </p:nvSpPr>
        <p:spPr>
          <a:xfrm>
            <a:off x="2866541" y="17599561"/>
            <a:ext cx="169701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pemulihan ekosistem gambut dan kanal bloking</a:t>
            </a:r>
            <a:endParaRPr lang="en-US" sz="950" dirty="0">
              <a:latin typeface="Leelawadee UI" panose="020B0502040204020203" pitchFamily="34" charset="-34"/>
              <a:cs typeface="Leelawadee UI" panose="020B0502040204020203" pitchFamily="34" charset="-34"/>
            </a:endParaRPr>
          </a:p>
        </p:txBody>
      </p:sp>
      <p:sp>
        <p:nvSpPr>
          <p:cNvPr id="80" name="Shape 8">
            <a:extLst>
              <a:ext uri="{FF2B5EF4-FFF2-40B4-BE49-F238E27FC236}">
                <a16:creationId xmlns:a16="http://schemas.microsoft.com/office/drawing/2014/main" id="{4E73910C-70A7-7D0A-9677-CCBF1126D1CC}"/>
              </a:ext>
            </a:extLst>
          </p:cNvPr>
          <p:cNvSpPr/>
          <p:nvPr/>
        </p:nvSpPr>
        <p:spPr>
          <a:xfrm>
            <a:off x="4811501" y="17207324"/>
            <a:ext cx="1944960" cy="1305446"/>
          </a:xfrm>
          <a:prstGeom prst="roundRect">
            <a:avLst>
              <a:gd name="adj" fmla="val 1425"/>
            </a:avLst>
          </a:prstGeom>
          <a:solidFill>
            <a:srgbClr val="EDEBE3"/>
          </a:solidFill>
          <a:ln/>
        </p:spPr>
      </p:sp>
      <p:sp>
        <p:nvSpPr>
          <p:cNvPr id="81" name="Text 9">
            <a:extLst>
              <a:ext uri="{FF2B5EF4-FFF2-40B4-BE49-F238E27FC236}">
                <a16:creationId xmlns:a16="http://schemas.microsoft.com/office/drawing/2014/main" id="{6F6971A5-3282-28FA-EF64-13BE8FA2735F}"/>
              </a:ext>
            </a:extLst>
          </p:cNvPr>
          <p:cNvSpPr/>
          <p:nvPr/>
        </p:nvSpPr>
        <p:spPr>
          <a:xfrm>
            <a:off x="4935475" y="17331298"/>
            <a:ext cx="1697013"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Pemberdayaan Masyarakat</a:t>
            </a:r>
            <a:endParaRPr lang="en-US" sz="1400" dirty="0">
              <a:latin typeface="Leelawadee UI" panose="020B0502040204020203" pitchFamily="34" charset="-34"/>
              <a:cs typeface="Leelawadee UI" panose="020B0502040204020203" pitchFamily="34" charset="-34"/>
            </a:endParaRPr>
          </a:p>
        </p:txBody>
      </p:sp>
      <p:sp>
        <p:nvSpPr>
          <p:cNvPr id="82" name="Text 10">
            <a:extLst>
              <a:ext uri="{FF2B5EF4-FFF2-40B4-BE49-F238E27FC236}">
                <a16:creationId xmlns:a16="http://schemas.microsoft.com/office/drawing/2014/main" id="{E919123C-0E7C-B7B3-71FE-F2D0A74DC044}"/>
              </a:ext>
            </a:extLst>
          </p:cNvPr>
          <p:cNvSpPr/>
          <p:nvPr/>
        </p:nvSpPr>
        <p:spPr>
          <a:xfrm>
            <a:off x="4935475" y="17793409"/>
            <a:ext cx="1697013" cy="595387"/>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Inisiatif bersama komunitas desa dan pemangku kepentingan lokal</a:t>
            </a:r>
            <a:endParaRPr lang="en-US" sz="1000" dirty="0">
              <a:latin typeface="Leelawadee UI" panose="020B0502040204020203" pitchFamily="34" charset="-34"/>
              <a:cs typeface="Leelawadee UI" panose="020B0502040204020203" pitchFamily="34" charset="-34"/>
            </a:endParaRPr>
          </a:p>
        </p:txBody>
      </p:sp>
      <p:sp>
        <p:nvSpPr>
          <p:cNvPr id="83" name="Shape 11">
            <a:extLst>
              <a:ext uri="{FF2B5EF4-FFF2-40B4-BE49-F238E27FC236}">
                <a16:creationId xmlns:a16="http://schemas.microsoft.com/office/drawing/2014/main" id="{3D1AE2D9-F18D-6388-95B1-0B1896020594}"/>
              </a:ext>
            </a:extLst>
          </p:cNvPr>
          <p:cNvSpPr/>
          <p:nvPr/>
        </p:nvSpPr>
        <p:spPr>
          <a:xfrm>
            <a:off x="6880435" y="17207324"/>
            <a:ext cx="1662262" cy="1305446"/>
          </a:xfrm>
          <a:prstGeom prst="roundRect">
            <a:avLst>
              <a:gd name="adj" fmla="val 1425"/>
            </a:avLst>
          </a:prstGeom>
          <a:solidFill>
            <a:srgbClr val="EDEBE3"/>
          </a:solidFill>
          <a:ln/>
        </p:spPr>
      </p:sp>
      <p:sp>
        <p:nvSpPr>
          <p:cNvPr id="84" name="Text 12">
            <a:extLst>
              <a:ext uri="{FF2B5EF4-FFF2-40B4-BE49-F238E27FC236}">
                <a16:creationId xmlns:a16="http://schemas.microsoft.com/office/drawing/2014/main" id="{EA75729D-E26B-2098-024E-06444B9AFA31}"/>
              </a:ext>
            </a:extLst>
          </p:cNvPr>
          <p:cNvSpPr/>
          <p:nvPr/>
        </p:nvSpPr>
        <p:spPr>
          <a:xfrm>
            <a:off x="6916359" y="17331298"/>
            <a:ext cx="1579942" cy="516270"/>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Pemuda &amp; Pendidikan</a:t>
            </a:r>
            <a:endParaRPr lang="en-US" sz="1400" dirty="0">
              <a:latin typeface="Leelawadee UI" panose="020B0502040204020203" pitchFamily="34" charset="-34"/>
              <a:cs typeface="Leelawadee UI" panose="020B0502040204020203" pitchFamily="34" charset="-34"/>
            </a:endParaRPr>
          </a:p>
        </p:txBody>
      </p:sp>
      <p:sp>
        <p:nvSpPr>
          <p:cNvPr id="85" name="Text 13">
            <a:extLst>
              <a:ext uri="{FF2B5EF4-FFF2-40B4-BE49-F238E27FC236}">
                <a16:creationId xmlns:a16="http://schemas.microsoft.com/office/drawing/2014/main" id="{B2E20558-97F8-E06C-EEEE-BE430D2F7784}"/>
              </a:ext>
            </a:extLst>
          </p:cNvPr>
          <p:cNvSpPr/>
          <p:nvPr/>
        </p:nvSpPr>
        <p:spPr>
          <a:xfrm>
            <a:off x="7004410" y="17793409"/>
            <a:ext cx="1506404" cy="396925"/>
          </a:xfrm>
          <a:prstGeom prst="rect">
            <a:avLst/>
          </a:prstGeom>
          <a:noFill/>
          <a:ln/>
        </p:spPr>
        <p:txBody>
          <a:bodyPr wrap="square" lIns="0" tIns="0" rIns="0" bIns="0" rtlCol="0" anchor="t">
            <a:no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Youth Camp, pelatihan, dan pelibatan generasi muda</a:t>
            </a:r>
            <a:endParaRPr lang="en-US" sz="1000" dirty="0">
              <a:latin typeface="Leelawadee UI" panose="020B0502040204020203" pitchFamily="34" charset="-34"/>
              <a:cs typeface="Leelawadee UI" panose="020B0502040204020203" pitchFamily="34" charset="-34"/>
            </a:endParaRPr>
          </a:p>
        </p:txBody>
      </p:sp>
      <p:sp>
        <p:nvSpPr>
          <p:cNvPr id="86" name="Shape 14">
            <a:extLst>
              <a:ext uri="{FF2B5EF4-FFF2-40B4-BE49-F238E27FC236}">
                <a16:creationId xmlns:a16="http://schemas.microsoft.com/office/drawing/2014/main" id="{B61F5F5E-478D-00C8-A69D-AB9AA348D7A5}"/>
              </a:ext>
            </a:extLst>
          </p:cNvPr>
          <p:cNvSpPr/>
          <p:nvPr/>
        </p:nvSpPr>
        <p:spPr>
          <a:xfrm>
            <a:off x="673633" y="18636744"/>
            <a:ext cx="4013895" cy="714673"/>
          </a:xfrm>
          <a:prstGeom prst="roundRect">
            <a:avLst>
              <a:gd name="adj" fmla="val 2604"/>
            </a:avLst>
          </a:prstGeom>
          <a:solidFill>
            <a:srgbClr val="EDEBE3"/>
          </a:solidFill>
          <a:ln/>
        </p:spPr>
      </p:sp>
      <p:sp>
        <p:nvSpPr>
          <p:cNvPr id="87" name="Text 15">
            <a:extLst>
              <a:ext uri="{FF2B5EF4-FFF2-40B4-BE49-F238E27FC236}">
                <a16:creationId xmlns:a16="http://schemas.microsoft.com/office/drawing/2014/main" id="{8484C215-F710-3509-344E-810FD8E17C17}"/>
              </a:ext>
            </a:extLst>
          </p:cNvPr>
          <p:cNvSpPr/>
          <p:nvPr/>
        </p:nvSpPr>
        <p:spPr>
          <a:xfrm>
            <a:off x="797606" y="18760718"/>
            <a:ext cx="2046610"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Komoditas Berkelanjutan</a:t>
            </a:r>
            <a:endParaRPr lang="en-US" sz="1400" dirty="0">
              <a:latin typeface="Leelawadee UI" panose="020B0502040204020203" pitchFamily="34" charset="-34"/>
              <a:cs typeface="Leelawadee UI" panose="020B0502040204020203" pitchFamily="34" charset="-34"/>
            </a:endParaRPr>
          </a:p>
        </p:txBody>
      </p:sp>
      <p:sp>
        <p:nvSpPr>
          <p:cNvPr id="88" name="Text 16">
            <a:extLst>
              <a:ext uri="{FF2B5EF4-FFF2-40B4-BE49-F238E27FC236}">
                <a16:creationId xmlns:a16="http://schemas.microsoft.com/office/drawing/2014/main" id="{006F6322-0D19-2AB8-0AA0-ED66A68264B4}"/>
              </a:ext>
            </a:extLst>
          </p:cNvPr>
          <p:cNvSpPr/>
          <p:nvPr/>
        </p:nvSpPr>
        <p:spPr>
          <a:xfrm>
            <a:off x="797606" y="19028981"/>
            <a:ext cx="3765947" cy="198462"/>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Karet, madu hutan, dan sistem komoditas inklusif</a:t>
            </a:r>
            <a:endParaRPr lang="en-US" sz="1000" dirty="0">
              <a:latin typeface="Leelawadee UI" panose="020B0502040204020203" pitchFamily="34" charset="-34"/>
              <a:cs typeface="Leelawadee UI" panose="020B0502040204020203" pitchFamily="34" charset="-34"/>
            </a:endParaRPr>
          </a:p>
        </p:txBody>
      </p:sp>
      <p:sp>
        <p:nvSpPr>
          <p:cNvPr id="89" name="Shape 17">
            <a:extLst>
              <a:ext uri="{FF2B5EF4-FFF2-40B4-BE49-F238E27FC236}">
                <a16:creationId xmlns:a16="http://schemas.microsoft.com/office/drawing/2014/main" id="{145182DD-EC80-1E3F-FCCC-23BC2A4BB910}"/>
              </a:ext>
            </a:extLst>
          </p:cNvPr>
          <p:cNvSpPr/>
          <p:nvPr/>
        </p:nvSpPr>
        <p:spPr>
          <a:xfrm>
            <a:off x="4811502" y="18636744"/>
            <a:ext cx="3731196" cy="714673"/>
          </a:xfrm>
          <a:prstGeom prst="roundRect">
            <a:avLst>
              <a:gd name="adj" fmla="val 2604"/>
            </a:avLst>
          </a:prstGeom>
          <a:solidFill>
            <a:srgbClr val="EDEBE3"/>
          </a:solidFill>
          <a:ln/>
        </p:spPr>
      </p:sp>
      <p:sp>
        <p:nvSpPr>
          <p:cNvPr id="90" name="Text 18">
            <a:extLst>
              <a:ext uri="{FF2B5EF4-FFF2-40B4-BE49-F238E27FC236}">
                <a16:creationId xmlns:a16="http://schemas.microsoft.com/office/drawing/2014/main" id="{F40D32F8-BD3E-B587-F58B-8C836E787142}"/>
              </a:ext>
            </a:extLst>
          </p:cNvPr>
          <p:cNvSpPr/>
          <p:nvPr/>
        </p:nvSpPr>
        <p:spPr>
          <a:xfrm>
            <a:off x="4935475" y="18760718"/>
            <a:ext cx="1907084"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Kebijakan &amp; Tata Kelola</a:t>
            </a:r>
            <a:endParaRPr lang="en-US" sz="1400" dirty="0">
              <a:latin typeface="Leelawadee UI" panose="020B0502040204020203" pitchFamily="34" charset="-34"/>
              <a:cs typeface="Leelawadee UI" panose="020B0502040204020203" pitchFamily="34" charset="-34"/>
            </a:endParaRPr>
          </a:p>
        </p:txBody>
      </p:sp>
      <p:sp>
        <p:nvSpPr>
          <p:cNvPr id="91" name="Text 19">
            <a:extLst>
              <a:ext uri="{FF2B5EF4-FFF2-40B4-BE49-F238E27FC236}">
                <a16:creationId xmlns:a16="http://schemas.microsoft.com/office/drawing/2014/main" id="{42CC4E9D-553F-C428-CFB6-462315E37587}"/>
              </a:ext>
            </a:extLst>
          </p:cNvPr>
          <p:cNvSpPr/>
          <p:nvPr/>
        </p:nvSpPr>
        <p:spPr>
          <a:xfrm>
            <a:off x="4935475" y="19028981"/>
            <a:ext cx="3765947" cy="198462"/>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Advokasi kebijakan, EUDR, dan kerjasama pemerintah daerah</a:t>
            </a:r>
            <a:endParaRPr lang="en-US" sz="1000" dirty="0">
              <a:latin typeface="Leelawadee UI" panose="020B0502040204020203" pitchFamily="34" charset="-34"/>
              <a:cs typeface="Leelawadee UI" panose="020B0502040204020203" pitchFamily="34" charset="-34"/>
            </a:endParaRPr>
          </a:p>
        </p:txBody>
      </p:sp>
      <p:sp>
        <p:nvSpPr>
          <p:cNvPr id="92" name="Shape 20">
            <a:extLst>
              <a:ext uri="{FF2B5EF4-FFF2-40B4-BE49-F238E27FC236}">
                <a16:creationId xmlns:a16="http://schemas.microsoft.com/office/drawing/2014/main" id="{E5AEABC8-6C17-C173-AA95-9F22B1EE7198}"/>
              </a:ext>
            </a:extLst>
          </p:cNvPr>
          <p:cNvSpPr/>
          <p:nvPr/>
        </p:nvSpPr>
        <p:spPr>
          <a:xfrm>
            <a:off x="673633" y="19490943"/>
            <a:ext cx="1300237" cy="242739"/>
          </a:xfrm>
          <a:prstGeom prst="roundRect">
            <a:avLst>
              <a:gd name="adj" fmla="val 6132"/>
            </a:avLst>
          </a:prstGeom>
          <a:noFill/>
          <a:ln w="4763">
            <a:solidFill>
              <a:srgbClr val="28282F"/>
            </a:solidFill>
            <a:prstDash val="solid"/>
          </a:ln>
        </p:spPr>
      </p:sp>
      <p:sp>
        <p:nvSpPr>
          <p:cNvPr id="93" name="Text 21">
            <a:extLst>
              <a:ext uri="{FF2B5EF4-FFF2-40B4-BE49-F238E27FC236}">
                <a16:creationId xmlns:a16="http://schemas.microsoft.com/office/drawing/2014/main" id="{01908460-59D5-AB4C-4CA5-9F67ABFB31C2}"/>
              </a:ext>
            </a:extLst>
          </p:cNvPr>
          <p:cNvSpPr/>
          <p:nvPr/>
        </p:nvSpPr>
        <p:spPr>
          <a:xfrm>
            <a:off x="752809" y="19532913"/>
            <a:ext cx="1599084"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ANALISIS &amp; PENELITIAN</a:t>
            </a:r>
            <a:endParaRPr lang="en-US" sz="900" dirty="0">
              <a:latin typeface="Leelawadee UI" panose="020B0502040204020203" pitchFamily="34" charset="-34"/>
              <a:cs typeface="Leelawadee UI" panose="020B0502040204020203" pitchFamily="34" charset="-34"/>
            </a:endParaRPr>
          </a:p>
        </p:txBody>
      </p:sp>
      <p:sp>
        <p:nvSpPr>
          <p:cNvPr id="94" name="Shape 22">
            <a:extLst>
              <a:ext uri="{FF2B5EF4-FFF2-40B4-BE49-F238E27FC236}">
                <a16:creationId xmlns:a16="http://schemas.microsoft.com/office/drawing/2014/main" id="{97F4FE29-E43B-49AF-7DA6-30DD841A3AA3}"/>
              </a:ext>
            </a:extLst>
          </p:cNvPr>
          <p:cNvSpPr/>
          <p:nvPr/>
        </p:nvSpPr>
        <p:spPr>
          <a:xfrm>
            <a:off x="2035856" y="19490943"/>
            <a:ext cx="1133698" cy="242739"/>
          </a:xfrm>
          <a:prstGeom prst="roundRect">
            <a:avLst>
              <a:gd name="adj" fmla="val 6132"/>
            </a:avLst>
          </a:prstGeom>
          <a:noFill/>
          <a:ln w="4763">
            <a:solidFill>
              <a:srgbClr val="28282F"/>
            </a:solidFill>
            <a:prstDash val="solid"/>
          </a:ln>
        </p:spPr>
      </p:sp>
      <p:sp>
        <p:nvSpPr>
          <p:cNvPr id="95" name="Text 23">
            <a:extLst>
              <a:ext uri="{FF2B5EF4-FFF2-40B4-BE49-F238E27FC236}">
                <a16:creationId xmlns:a16="http://schemas.microsoft.com/office/drawing/2014/main" id="{4E3626BD-200C-A98E-151D-7A4A20C430D5}"/>
              </a:ext>
            </a:extLst>
          </p:cNvPr>
          <p:cNvSpPr/>
          <p:nvPr/>
        </p:nvSpPr>
        <p:spPr>
          <a:xfrm>
            <a:off x="2115033" y="19532913"/>
            <a:ext cx="1432545"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LANSKAP &amp; INOVASI</a:t>
            </a:r>
            <a:endParaRPr lang="en-US" sz="900" dirty="0">
              <a:latin typeface="Leelawadee UI" panose="020B0502040204020203" pitchFamily="34" charset="-34"/>
              <a:cs typeface="Leelawadee UI" panose="020B0502040204020203" pitchFamily="34" charset="-34"/>
            </a:endParaRPr>
          </a:p>
        </p:txBody>
      </p:sp>
      <p:sp>
        <p:nvSpPr>
          <p:cNvPr id="96" name="Shape 24">
            <a:extLst>
              <a:ext uri="{FF2B5EF4-FFF2-40B4-BE49-F238E27FC236}">
                <a16:creationId xmlns:a16="http://schemas.microsoft.com/office/drawing/2014/main" id="{A7639253-94B2-211C-5B28-F9C954B67EDB}"/>
              </a:ext>
            </a:extLst>
          </p:cNvPr>
          <p:cNvSpPr/>
          <p:nvPr/>
        </p:nvSpPr>
        <p:spPr>
          <a:xfrm>
            <a:off x="3231542" y="19490943"/>
            <a:ext cx="1308720" cy="242739"/>
          </a:xfrm>
          <a:prstGeom prst="roundRect">
            <a:avLst>
              <a:gd name="adj" fmla="val 6132"/>
            </a:avLst>
          </a:prstGeom>
          <a:noFill/>
          <a:ln w="4763">
            <a:solidFill>
              <a:srgbClr val="28282F"/>
            </a:solidFill>
            <a:prstDash val="solid"/>
          </a:ln>
        </p:spPr>
      </p:sp>
      <p:sp>
        <p:nvSpPr>
          <p:cNvPr id="97" name="Text 25">
            <a:extLst>
              <a:ext uri="{FF2B5EF4-FFF2-40B4-BE49-F238E27FC236}">
                <a16:creationId xmlns:a16="http://schemas.microsoft.com/office/drawing/2014/main" id="{04DA72EA-85D7-B1E6-0DEE-E642FE1EC79D}"/>
              </a:ext>
            </a:extLst>
          </p:cNvPr>
          <p:cNvSpPr/>
          <p:nvPr/>
        </p:nvSpPr>
        <p:spPr>
          <a:xfrm>
            <a:off x="3310718" y="19532913"/>
            <a:ext cx="1607567"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KEMITRAAN STRATEGIS</a:t>
            </a:r>
            <a:endParaRPr lang="en-US" sz="900" dirty="0">
              <a:latin typeface="Leelawadee UI" panose="020B0502040204020203" pitchFamily="34" charset="-34"/>
              <a:cs typeface="Leelawadee UI" panose="020B0502040204020203" pitchFamily="34" charset="-34"/>
            </a:endParaRPr>
          </a:p>
        </p:txBody>
      </p:sp>
      <p:sp>
        <p:nvSpPr>
          <p:cNvPr id="125" name="Text 0">
            <a:extLst>
              <a:ext uri="{FF2B5EF4-FFF2-40B4-BE49-F238E27FC236}">
                <a16:creationId xmlns:a16="http://schemas.microsoft.com/office/drawing/2014/main" id="{CDC53BAF-ED62-BA7A-A5F1-759F0490212E}"/>
              </a:ext>
            </a:extLst>
          </p:cNvPr>
          <p:cNvSpPr/>
          <p:nvPr/>
        </p:nvSpPr>
        <p:spPr>
          <a:xfrm>
            <a:off x="607889" y="20235517"/>
            <a:ext cx="3892079" cy="300410"/>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Media yang Telah Meliput YNKI</a:t>
            </a:r>
            <a:endParaRPr lang="en-US" sz="2000" dirty="0">
              <a:latin typeface="Leelawadee UI" panose="020B0502040204020203" pitchFamily="34" charset="-34"/>
              <a:cs typeface="Leelawadee UI" panose="020B0502040204020203" pitchFamily="34" charset="-34"/>
            </a:endParaRPr>
          </a:p>
        </p:txBody>
      </p:sp>
      <p:sp>
        <p:nvSpPr>
          <p:cNvPr id="126" name="Text 1">
            <a:extLst>
              <a:ext uri="{FF2B5EF4-FFF2-40B4-BE49-F238E27FC236}">
                <a16:creationId xmlns:a16="http://schemas.microsoft.com/office/drawing/2014/main" id="{E9B7B00C-7358-DCA6-3442-5B4ED497356F}"/>
              </a:ext>
            </a:extLst>
          </p:cNvPr>
          <p:cNvSpPr/>
          <p:nvPr/>
        </p:nvSpPr>
        <p:spPr>
          <a:xfrm>
            <a:off x="607890" y="20768693"/>
            <a:ext cx="7669870" cy="560721"/>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mendapat kepercayaan dari berbagai media — mulai dari portal berita daerah Kalimantan Barat hingga platform lingkungan internasional. Keragaman media ini mencerminkan relevansi dan dampak kerja YNKI di berbagai tingkatan.</a:t>
            </a:r>
            <a:endParaRPr lang="en-US" sz="1050" dirty="0">
              <a:latin typeface="Leelawadee UI" panose="020B0502040204020203" pitchFamily="34" charset="-34"/>
              <a:cs typeface="Leelawadee UI" panose="020B0502040204020203" pitchFamily="34" charset="-34"/>
            </a:endParaRPr>
          </a:p>
        </p:txBody>
      </p:sp>
      <p:sp>
        <p:nvSpPr>
          <p:cNvPr id="127" name="Shape 2">
            <a:extLst>
              <a:ext uri="{FF2B5EF4-FFF2-40B4-BE49-F238E27FC236}">
                <a16:creationId xmlns:a16="http://schemas.microsoft.com/office/drawing/2014/main" id="{64BE188A-0B49-FF9A-865D-B11811915219}"/>
              </a:ext>
            </a:extLst>
          </p:cNvPr>
          <p:cNvSpPr/>
          <p:nvPr/>
        </p:nvSpPr>
        <p:spPr>
          <a:xfrm>
            <a:off x="607889" y="21278058"/>
            <a:ext cx="8151763" cy="2406625"/>
          </a:xfrm>
          <a:prstGeom prst="roundRect">
            <a:avLst>
              <a:gd name="adj" fmla="val 749"/>
            </a:avLst>
          </a:prstGeom>
          <a:noFill/>
          <a:ln w="4763">
            <a:solidFill>
              <a:srgbClr val="000000">
                <a:alpha val="8000"/>
              </a:srgbClr>
            </a:solidFill>
            <a:prstDash val="solid"/>
          </a:ln>
        </p:spPr>
      </p:sp>
      <p:sp>
        <p:nvSpPr>
          <p:cNvPr id="128" name="Text 3">
            <a:extLst>
              <a:ext uri="{FF2B5EF4-FFF2-40B4-BE49-F238E27FC236}">
                <a16:creationId xmlns:a16="http://schemas.microsoft.com/office/drawing/2014/main" id="{C1A6930A-3202-F64C-09ED-33AE0A465EF7}"/>
              </a:ext>
            </a:extLst>
          </p:cNvPr>
          <p:cNvSpPr/>
          <p:nvPr/>
        </p:nvSpPr>
        <p:spPr>
          <a:xfrm>
            <a:off x="732830" y="21357383"/>
            <a:ext cx="2659633" cy="189235"/>
          </a:xfrm>
          <a:prstGeom prst="rect">
            <a:avLst/>
          </a:prstGeom>
          <a:noFill/>
          <a:ln/>
        </p:spPr>
        <p:txBody>
          <a:bodyPr wrap="none" lIns="0" tIns="0" rIns="0" bIns="0" rtlCol="0" anchor="t"/>
          <a:lstStyle/>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Nama Media</a:t>
            </a:r>
            <a:endParaRPr lang="en-US" sz="1050" dirty="0">
              <a:latin typeface="Leelawadee UI" panose="020B0502040204020203" pitchFamily="34" charset="-34"/>
              <a:cs typeface="Leelawadee UI" panose="020B0502040204020203" pitchFamily="34" charset="-34"/>
            </a:endParaRPr>
          </a:p>
        </p:txBody>
      </p:sp>
      <p:sp>
        <p:nvSpPr>
          <p:cNvPr id="129" name="Text 4">
            <a:extLst>
              <a:ext uri="{FF2B5EF4-FFF2-40B4-BE49-F238E27FC236}">
                <a16:creationId xmlns:a16="http://schemas.microsoft.com/office/drawing/2014/main" id="{BB3EF1F5-8EE3-2A62-435A-B2E0FE5D507C}"/>
              </a:ext>
            </a:extLst>
          </p:cNvPr>
          <p:cNvSpPr/>
          <p:nvPr/>
        </p:nvSpPr>
        <p:spPr>
          <a:xfrm>
            <a:off x="3175471" y="21357383"/>
            <a:ext cx="2659633" cy="189235"/>
          </a:xfrm>
          <a:prstGeom prst="rect">
            <a:avLst/>
          </a:prstGeom>
          <a:noFill/>
          <a:ln/>
        </p:spPr>
        <p:txBody>
          <a:bodyPr wrap="none" lIns="0" tIns="0" rIns="0" bIns="0" rtlCol="0" anchor="t"/>
          <a:lstStyle/>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Jenis</a:t>
            </a:r>
            <a:endParaRPr lang="en-US" sz="1050" dirty="0">
              <a:latin typeface="Leelawadee UI" panose="020B0502040204020203" pitchFamily="34" charset="-34"/>
              <a:cs typeface="Leelawadee UI" panose="020B0502040204020203" pitchFamily="34" charset="-34"/>
            </a:endParaRPr>
          </a:p>
        </p:txBody>
      </p:sp>
      <p:sp>
        <p:nvSpPr>
          <p:cNvPr id="130" name="Text 5">
            <a:extLst>
              <a:ext uri="{FF2B5EF4-FFF2-40B4-BE49-F238E27FC236}">
                <a16:creationId xmlns:a16="http://schemas.microsoft.com/office/drawing/2014/main" id="{694EA28B-22F4-020B-25F2-F791E55F747B}"/>
              </a:ext>
            </a:extLst>
          </p:cNvPr>
          <p:cNvSpPr/>
          <p:nvPr/>
        </p:nvSpPr>
        <p:spPr>
          <a:xfrm>
            <a:off x="5618113" y="21357383"/>
            <a:ext cx="3473872" cy="189235"/>
          </a:xfrm>
          <a:prstGeom prst="rect">
            <a:avLst/>
          </a:prstGeom>
          <a:noFill/>
          <a:ln/>
        </p:spPr>
        <p:txBody>
          <a:bodyPr wrap="none" lIns="0" tIns="0" rIns="0" bIns="0" rtlCol="0" anchor="t"/>
          <a:lstStyle/>
          <a:p>
            <a:pPr marL="0" indent="0" algn="l">
              <a:lnSpc>
                <a:spcPct val="131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Jangkauan</a:t>
            </a:r>
            <a:endParaRPr lang="en-US" sz="1050" dirty="0">
              <a:latin typeface="Leelawadee UI" panose="020B0502040204020203" pitchFamily="34" charset="-34"/>
              <a:cs typeface="Leelawadee UI" panose="020B0502040204020203" pitchFamily="34" charset="-34"/>
            </a:endParaRPr>
          </a:p>
        </p:txBody>
      </p:sp>
      <p:sp>
        <p:nvSpPr>
          <p:cNvPr id="131" name="Text 6">
            <a:extLst>
              <a:ext uri="{FF2B5EF4-FFF2-40B4-BE49-F238E27FC236}">
                <a16:creationId xmlns:a16="http://schemas.microsoft.com/office/drawing/2014/main" id="{A3C10D78-C6B3-8E15-4CDF-51595B200EC2}"/>
              </a:ext>
            </a:extLst>
          </p:cNvPr>
          <p:cNvSpPr/>
          <p:nvPr/>
        </p:nvSpPr>
        <p:spPr>
          <a:xfrm>
            <a:off x="732830" y="21700507"/>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Tribun Pontianak</a:t>
            </a:r>
            <a:endParaRPr lang="en-US" sz="1050" dirty="0">
              <a:latin typeface="Leelawadee UI" panose="020B0502040204020203" pitchFamily="34" charset="-34"/>
              <a:cs typeface="Leelawadee UI" panose="020B0502040204020203" pitchFamily="34" charset="-34"/>
            </a:endParaRPr>
          </a:p>
        </p:txBody>
      </p:sp>
      <p:sp>
        <p:nvSpPr>
          <p:cNvPr id="132" name="Text 7">
            <a:extLst>
              <a:ext uri="{FF2B5EF4-FFF2-40B4-BE49-F238E27FC236}">
                <a16:creationId xmlns:a16="http://schemas.microsoft.com/office/drawing/2014/main" id="{E601AEF2-C3C0-8255-9949-6E897B2D3835}"/>
              </a:ext>
            </a:extLst>
          </p:cNvPr>
          <p:cNvSpPr/>
          <p:nvPr/>
        </p:nvSpPr>
        <p:spPr>
          <a:xfrm>
            <a:off x="3175471" y="21700507"/>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Media Daring</a:t>
            </a:r>
            <a:endParaRPr lang="en-US" sz="1050" dirty="0">
              <a:latin typeface="Leelawadee UI" panose="020B0502040204020203" pitchFamily="34" charset="-34"/>
              <a:cs typeface="Leelawadee UI" panose="020B0502040204020203" pitchFamily="34" charset="-34"/>
            </a:endParaRPr>
          </a:p>
        </p:txBody>
      </p:sp>
      <p:sp>
        <p:nvSpPr>
          <p:cNvPr id="133" name="Text 8">
            <a:extLst>
              <a:ext uri="{FF2B5EF4-FFF2-40B4-BE49-F238E27FC236}">
                <a16:creationId xmlns:a16="http://schemas.microsoft.com/office/drawing/2014/main" id="{A59EEC17-D2E4-4903-6271-FDF5D9B50190}"/>
              </a:ext>
            </a:extLst>
          </p:cNvPr>
          <p:cNvSpPr/>
          <p:nvPr/>
        </p:nvSpPr>
        <p:spPr>
          <a:xfrm>
            <a:off x="5618113" y="21700507"/>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Kalimantan Barat</a:t>
            </a:r>
            <a:endParaRPr lang="en-US" sz="1050" dirty="0">
              <a:latin typeface="Leelawadee UI" panose="020B0502040204020203" pitchFamily="34" charset="-34"/>
              <a:cs typeface="Leelawadee UI" panose="020B0502040204020203" pitchFamily="34" charset="-34"/>
            </a:endParaRPr>
          </a:p>
        </p:txBody>
      </p:sp>
      <p:sp>
        <p:nvSpPr>
          <p:cNvPr id="134" name="Text 9">
            <a:extLst>
              <a:ext uri="{FF2B5EF4-FFF2-40B4-BE49-F238E27FC236}">
                <a16:creationId xmlns:a16="http://schemas.microsoft.com/office/drawing/2014/main" id="{3A4718B6-3A58-BAF0-F3B3-BFA2D7B37778}"/>
              </a:ext>
            </a:extLst>
          </p:cNvPr>
          <p:cNvSpPr/>
          <p:nvPr/>
        </p:nvSpPr>
        <p:spPr>
          <a:xfrm>
            <a:off x="732830" y="22043630"/>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Kalbar Digital</a:t>
            </a:r>
            <a:endParaRPr lang="en-US" sz="1050" dirty="0">
              <a:latin typeface="Leelawadee UI" panose="020B0502040204020203" pitchFamily="34" charset="-34"/>
              <a:cs typeface="Leelawadee UI" panose="020B0502040204020203" pitchFamily="34" charset="-34"/>
            </a:endParaRPr>
          </a:p>
        </p:txBody>
      </p:sp>
      <p:sp>
        <p:nvSpPr>
          <p:cNvPr id="135" name="Text 10">
            <a:extLst>
              <a:ext uri="{FF2B5EF4-FFF2-40B4-BE49-F238E27FC236}">
                <a16:creationId xmlns:a16="http://schemas.microsoft.com/office/drawing/2014/main" id="{896D9E04-A532-9E9C-7F8A-6B2EEA76CA3E}"/>
              </a:ext>
            </a:extLst>
          </p:cNvPr>
          <p:cNvSpPr/>
          <p:nvPr/>
        </p:nvSpPr>
        <p:spPr>
          <a:xfrm>
            <a:off x="3175471" y="22043630"/>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Media Daring</a:t>
            </a:r>
            <a:endParaRPr lang="en-US" sz="1050" dirty="0">
              <a:latin typeface="Leelawadee UI" panose="020B0502040204020203" pitchFamily="34" charset="-34"/>
              <a:cs typeface="Leelawadee UI" panose="020B0502040204020203" pitchFamily="34" charset="-34"/>
            </a:endParaRPr>
          </a:p>
        </p:txBody>
      </p:sp>
      <p:sp>
        <p:nvSpPr>
          <p:cNvPr id="136" name="Text 11">
            <a:extLst>
              <a:ext uri="{FF2B5EF4-FFF2-40B4-BE49-F238E27FC236}">
                <a16:creationId xmlns:a16="http://schemas.microsoft.com/office/drawing/2014/main" id="{D37C51CA-F772-839D-A5F1-5CC15D6AEB5C}"/>
              </a:ext>
            </a:extLst>
          </p:cNvPr>
          <p:cNvSpPr/>
          <p:nvPr/>
        </p:nvSpPr>
        <p:spPr>
          <a:xfrm>
            <a:off x="5618113" y="22043630"/>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Kalimantan Barat</a:t>
            </a:r>
            <a:endParaRPr lang="en-US" sz="1050" dirty="0">
              <a:latin typeface="Leelawadee UI" panose="020B0502040204020203" pitchFamily="34" charset="-34"/>
              <a:cs typeface="Leelawadee UI" panose="020B0502040204020203" pitchFamily="34" charset="-34"/>
            </a:endParaRPr>
          </a:p>
        </p:txBody>
      </p:sp>
      <p:sp>
        <p:nvSpPr>
          <p:cNvPr id="137" name="Text 12">
            <a:extLst>
              <a:ext uri="{FF2B5EF4-FFF2-40B4-BE49-F238E27FC236}">
                <a16:creationId xmlns:a16="http://schemas.microsoft.com/office/drawing/2014/main" id="{6B982AE1-617C-7DE0-B6B0-A3F127C1B6B2}"/>
              </a:ext>
            </a:extLst>
          </p:cNvPr>
          <p:cNvSpPr/>
          <p:nvPr/>
        </p:nvSpPr>
        <p:spPr>
          <a:xfrm>
            <a:off x="732830" y="22386753"/>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Newsantara.co</a:t>
            </a:r>
            <a:endParaRPr lang="en-US" sz="1050" dirty="0">
              <a:latin typeface="Leelawadee UI" panose="020B0502040204020203" pitchFamily="34" charset="-34"/>
              <a:cs typeface="Leelawadee UI" panose="020B0502040204020203" pitchFamily="34" charset="-34"/>
            </a:endParaRPr>
          </a:p>
        </p:txBody>
      </p:sp>
      <p:sp>
        <p:nvSpPr>
          <p:cNvPr id="138" name="Text 13">
            <a:extLst>
              <a:ext uri="{FF2B5EF4-FFF2-40B4-BE49-F238E27FC236}">
                <a16:creationId xmlns:a16="http://schemas.microsoft.com/office/drawing/2014/main" id="{A5BD2CB4-69D0-C1C0-434A-31F8E86E71B5}"/>
              </a:ext>
            </a:extLst>
          </p:cNvPr>
          <p:cNvSpPr/>
          <p:nvPr/>
        </p:nvSpPr>
        <p:spPr>
          <a:xfrm>
            <a:off x="3175471" y="22386753"/>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Media Daring</a:t>
            </a:r>
            <a:endParaRPr lang="en-US" sz="1050" dirty="0">
              <a:latin typeface="Leelawadee UI" panose="020B0502040204020203" pitchFamily="34" charset="-34"/>
              <a:cs typeface="Leelawadee UI" panose="020B0502040204020203" pitchFamily="34" charset="-34"/>
            </a:endParaRPr>
          </a:p>
        </p:txBody>
      </p:sp>
      <p:sp>
        <p:nvSpPr>
          <p:cNvPr id="139" name="Text 14">
            <a:extLst>
              <a:ext uri="{FF2B5EF4-FFF2-40B4-BE49-F238E27FC236}">
                <a16:creationId xmlns:a16="http://schemas.microsoft.com/office/drawing/2014/main" id="{CFA2DDC9-379A-FDD0-8BCB-D38103E9E78B}"/>
              </a:ext>
            </a:extLst>
          </p:cNvPr>
          <p:cNvSpPr/>
          <p:nvPr/>
        </p:nvSpPr>
        <p:spPr>
          <a:xfrm>
            <a:off x="5618113" y="22386753"/>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Nasional</a:t>
            </a:r>
            <a:endParaRPr lang="en-US" sz="1050" dirty="0">
              <a:latin typeface="Leelawadee UI" panose="020B0502040204020203" pitchFamily="34" charset="-34"/>
              <a:cs typeface="Leelawadee UI" panose="020B0502040204020203" pitchFamily="34" charset="-34"/>
            </a:endParaRPr>
          </a:p>
        </p:txBody>
      </p:sp>
      <p:sp>
        <p:nvSpPr>
          <p:cNvPr id="140" name="Text 15">
            <a:extLst>
              <a:ext uri="{FF2B5EF4-FFF2-40B4-BE49-F238E27FC236}">
                <a16:creationId xmlns:a16="http://schemas.microsoft.com/office/drawing/2014/main" id="{FF80FC90-A72F-833D-5ECA-DB6C63AA0AC4}"/>
              </a:ext>
            </a:extLst>
          </p:cNvPr>
          <p:cNvSpPr/>
          <p:nvPr/>
        </p:nvSpPr>
        <p:spPr>
          <a:xfrm>
            <a:off x="732830" y="22729876"/>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Warta Pontianak</a:t>
            </a:r>
            <a:endParaRPr lang="en-US" sz="1050" dirty="0">
              <a:latin typeface="Leelawadee UI" panose="020B0502040204020203" pitchFamily="34" charset="-34"/>
              <a:cs typeface="Leelawadee UI" panose="020B0502040204020203" pitchFamily="34" charset="-34"/>
            </a:endParaRPr>
          </a:p>
        </p:txBody>
      </p:sp>
      <p:sp>
        <p:nvSpPr>
          <p:cNvPr id="141" name="Text 16">
            <a:extLst>
              <a:ext uri="{FF2B5EF4-FFF2-40B4-BE49-F238E27FC236}">
                <a16:creationId xmlns:a16="http://schemas.microsoft.com/office/drawing/2014/main" id="{FEFF7B0D-C248-7A85-AAE5-9696C09A95BA}"/>
              </a:ext>
            </a:extLst>
          </p:cNvPr>
          <p:cNvSpPr/>
          <p:nvPr/>
        </p:nvSpPr>
        <p:spPr>
          <a:xfrm>
            <a:off x="3175471" y="22729876"/>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Media Daring</a:t>
            </a:r>
            <a:endParaRPr lang="en-US" sz="1050" dirty="0">
              <a:latin typeface="Leelawadee UI" panose="020B0502040204020203" pitchFamily="34" charset="-34"/>
              <a:cs typeface="Leelawadee UI" panose="020B0502040204020203" pitchFamily="34" charset="-34"/>
            </a:endParaRPr>
          </a:p>
        </p:txBody>
      </p:sp>
      <p:sp>
        <p:nvSpPr>
          <p:cNvPr id="142" name="Text 17">
            <a:extLst>
              <a:ext uri="{FF2B5EF4-FFF2-40B4-BE49-F238E27FC236}">
                <a16:creationId xmlns:a16="http://schemas.microsoft.com/office/drawing/2014/main" id="{183B42C6-0FA2-26AE-F36C-3A07C652ED25}"/>
              </a:ext>
            </a:extLst>
          </p:cNvPr>
          <p:cNvSpPr/>
          <p:nvPr/>
        </p:nvSpPr>
        <p:spPr>
          <a:xfrm>
            <a:off x="5618113" y="22729876"/>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Kalimantan Barat</a:t>
            </a:r>
            <a:endParaRPr lang="en-US" sz="1050" dirty="0">
              <a:latin typeface="Leelawadee UI" panose="020B0502040204020203" pitchFamily="34" charset="-34"/>
              <a:cs typeface="Leelawadee UI" panose="020B0502040204020203" pitchFamily="34" charset="-34"/>
            </a:endParaRPr>
          </a:p>
        </p:txBody>
      </p:sp>
      <p:sp>
        <p:nvSpPr>
          <p:cNvPr id="143" name="Text 18">
            <a:extLst>
              <a:ext uri="{FF2B5EF4-FFF2-40B4-BE49-F238E27FC236}">
                <a16:creationId xmlns:a16="http://schemas.microsoft.com/office/drawing/2014/main" id="{41D6B75F-C64D-054F-5AF9-BAE6FA22949C}"/>
              </a:ext>
            </a:extLst>
          </p:cNvPr>
          <p:cNvSpPr/>
          <p:nvPr/>
        </p:nvSpPr>
        <p:spPr>
          <a:xfrm>
            <a:off x="732830" y="23073000"/>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PM Haze</a:t>
            </a:r>
            <a:endParaRPr lang="en-US" sz="1050" dirty="0">
              <a:latin typeface="Leelawadee UI" panose="020B0502040204020203" pitchFamily="34" charset="-34"/>
              <a:cs typeface="Leelawadee UI" panose="020B0502040204020203" pitchFamily="34" charset="-34"/>
            </a:endParaRPr>
          </a:p>
        </p:txBody>
      </p:sp>
      <p:sp>
        <p:nvSpPr>
          <p:cNvPr id="144" name="Text 19">
            <a:extLst>
              <a:ext uri="{FF2B5EF4-FFF2-40B4-BE49-F238E27FC236}">
                <a16:creationId xmlns:a16="http://schemas.microsoft.com/office/drawing/2014/main" id="{B1AA3378-2D70-BCBE-D5D8-C0B87274687C}"/>
              </a:ext>
            </a:extLst>
          </p:cNvPr>
          <p:cNvSpPr/>
          <p:nvPr/>
        </p:nvSpPr>
        <p:spPr>
          <a:xfrm>
            <a:off x="3175471" y="23073000"/>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Platform Lingkungan</a:t>
            </a:r>
            <a:endParaRPr lang="en-US" sz="1050" dirty="0">
              <a:latin typeface="Leelawadee UI" panose="020B0502040204020203" pitchFamily="34" charset="-34"/>
              <a:cs typeface="Leelawadee UI" panose="020B0502040204020203" pitchFamily="34" charset="-34"/>
            </a:endParaRPr>
          </a:p>
        </p:txBody>
      </p:sp>
      <p:sp>
        <p:nvSpPr>
          <p:cNvPr id="145" name="Text 20">
            <a:extLst>
              <a:ext uri="{FF2B5EF4-FFF2-40B4-BE49-F238E27FC236}">
                <a16:creationId xmlns:a16="http://schemas.microsoft.com/office/drawing/2014/main" id="{5794CC6D-B3A0-E355-AE0A-17905283FCBC}"/>
              </a:ext>
            </a:extLst>
          </p:cNvPr>
          <p:cNvSpPr/>
          <p:nvPr/>
        </p:nvSpPr>
        <p:spPr>
          <a:xfrm>
            <a:off x="5618113" y="23073000"/>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Internasional</a:t>
            </a:r>
            <a:endParaRPr lang="en-US" sz="1050" dirty="0">
              <a:latin typeface="Leelawadee UI" panose="020B0502040204020203" pitchFamily="34" charset="-34"/>
              <a:cs typeface="Leelawadee UI" panose="020B0502040204020203" pitchFamily="34" charset="-34"/>
            </a:endParaRPr>
          </a:p>
        </p:txBody>
      </p:sp>
      <p:sp>
        <p:nvSpPr>
          <p:cNvPr id="146" name="Text 21">
            <a:extLst>
              <a:ext uri="{FF2B5EF4-FFF2-40B4-BE49-F238E27FC236}">
                <a16:creationId xmlns:a16="http://schemas.microsoft.com/office/drawing/2014/main" id="{64F53DF2-5E7B-BD1A-ECF0-4EB99455F1F4}"/>
              </a:ext>
            </a:extLst>
          </p:cNvPr>
          <p:cNvSpPr/>
          <p:nvPr/>
        </p:nvSpPr>
        <p:spPr>
          <a:xfrm>
            <a:off x="732830" y="23416123"/>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LinkedIn YNKI</a:t>
            </a:r>
            <a:endParaRPr lang="en-US" sz="1050" dirty="0">
              <a:latin typeface="Leelawadee UI" panose="020B0502040204020203" pitchFamily="34" charset="-34"/>
              <a:cs typeface="Leelawadee UI" panose="020B0502040204020203" pitchFamily="34" charset="-34"/>
            </a:endParaRPr>
          </a:p>
        </p:txBody>
      </p:sp>
      <p:sp>
        <p:nvSpPr>
          <p:cNvPr id="147" name="Text 22">
            <a:extLst>
              <a:ext uri="{FF2B5EF4-FFF2-40B4-BE49-F238E27FC236}">
                <a16:creationId xmlns:a16="http://schemas.microsoft.com/office/drawing/2014/main" id="{F8B64663-B308-E0EF-C5FC-05C5F1708E19}"/>
              </a:ext>
            </a:extLst>
          </p:cNvPr>
          <p:cNvSpPr/>
          <p:nvPr/>
        </p:nvSpPr>
        <p:spPr>
          <a:xfrm>
            <a:off x="3175471" y="23416123"/>
            <a:ext cx="2659633"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Media Sosial</a:t>
            </a:r>
            <a:endParaRPr lang="en-US" sz="1050" dirty="0">
              <a:latin typeface="Leelawadee UI" panose="020B0502040204020203" pitchFamily="34" charset="-34"/>
              <a:cs typeface="Leelawadee UI" panose="020B0502040204020203" pitchFamily="34" charset="-34"/>
            </a:endParaRPr>
          </a:p>
        </p:txBody>
      </p:sp>
      <p:sp>
        <p:nvSpPr>
          <p:cNvPr id="148" name="Text 23">
            <a:extLst>
              <a:ext uri="{FF2B5EF4-FFF2-40B4-BE49-F238E27FC236}">
                <a16:creationId xmlns:a16="http://schemas.microsoft.com/office/drawing/2014/main" id="{08515870-BDA9-09D5-454C-0889AD9D557F}"/>
              </a:ext>
            </a:extLst>
          </p:cNvPr>
          <p:cNvSpPr/>
          <p:nvPr/>
        </p:nvSpPr>
        <p:spPr>
          <a:xfrm>
            <a:off x="5618113" y="23416123"/>
            <a:ext cx="3473872" cy="189235"/>
          </a:xfrm>
          <a:prstGeom prst="rect">
            <a:avLst/>
          </a:prstGeom>
          <a:noFill/>
          <a:ln/>
        </p:spPr>
        <p:txBody>
          <a:bodyPr wrap="none" lIns="0" tIns="0" rIns="0" bIns="0" rtlCol="0" anchor="t"/>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Global</a:t>
            </a:r>
            <a:endParaRPr lang="en-US" sz="1050" dirty="0">
              <a:latin typeface="Leelawadee UI" panose="020B0502040204020203" pitchFamily="34" charset="-34"/>
              <a:cs typeface="Leelawadee UI" panose="020B0502040204020203" pitchFamily="34" charset="-34"/>
            </a:endParaRPr>
          </a:p>
        </p:txBody>
      </p:sp>
      <p:sp>
        <p:nvSpPr>
          <p:cNvPr id="149" name="Shape 24">
            <a:extLst>
              <a:ext uri="{FF2B5EF4-FFF2-40B4-BE49-F238E27FC236}">
                <a16:creationId xmlns:a16="http://schemas.microsoft.com/office/drawing/2014/main" id="{7FE40760-838F-DD12-55D3-135D6A226F41}"/>
              </a:ext>
            </a:extLst>
          </p:cNvPr>
          <p:cNvSpPr/>
          <p:nvPr/>
        </p:nvSpPr>
        <p:spPr>
          <a:xfrm>
            <a:off x="607889" y="23815577"/>
            <a:ext cx="7791463" cy="647849"/>
          </a:xfrm>
          <a:prstGeom prst="roundRect">
            <a:avLst>
              <a:gd name="adj" fmla="val 2782"/>
            </a:avLst>
          </a:prstGeom>
          <a:solidFill>
            <a:srgbClr val="D6D6DC"/>
          </a:solidFill>
          <a:ln/>
        </p:spPr>
      </p:sp>
      <p:pic>
        <p:nvPicPr>
          <p:cNvPr id="150" name="Image 0" descr="preencoded.png">
            <a:extLst>
              <a:ext uri="{FF2B5EF4-FFF2-40B4-BE49-F238E27FC236}">
                <a16:creationId xmlns:a16="http://schemas.microsoft.com/office/drawing/2014/main" id="{096F9D9F-B216-1FFE-13B5-EA121EF4F70E}"/>
              </a:ext>
            </a:extLst>
          </p:cNvPr>
          <p:cNvPicPr>
            <a:picLocks noChangeAspect="1"/>
          </p:cNvPicPr>
          <p:nvPr/>
        </p:nvPicPr>
        <p:blipFill>
          <a:blip r:embed="rId17"/>
          <a:stretch>
            <a:fillRect/>
          </a:stretch>
        </p:blipFill>
        <p:spPr>
          <a:xfrm>
            <a:off x="727993" y="23984349"/>
            <a:ext cx="150168" cy="120104"/>
          </a:xfrm>
          <a:prstGeom prst="rect">
            <a:avLst/>
          </a:prstGeom>
        </p:spPr>
      </p:pic>
      <p:sp>
        <p:nvSpPr>
          <p:cNvPr id="151" name="Text 25">
            <a:extLst>
              <a:ext uri="{FF2B5EF4-FFF2-40B4-BE49-F238E27FC236}">
                <a16:creationId xmlns:a16="http://schemas.microsoft.com/office/drawing/2014/main" id="{1D5197A9-1518-B5A7-8A84-12DC09EE5326}"/>
              </a:ext>
            </a:extLst>
          </p:cNvPr>
          <p:cNvSpPr/>
          <p:nvPr/>
        </p:nvSpPr>
        <p:spPr>
          <a:xfrm>
            <a:off x="998265" y="23950266"/>
            <a:ext cx="6854166" cy="412179"/>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Daftar media ini terus diperbarui seiring bertambahnya liputan. Apabila Anda mengetahui liputan yang belum tercantum, silakan hubungi tim YNKI.</a:t>
            </a:r>
            <a:endParaRPr lang="en-US" sz="1050" dirty="0">
              <a:latin typeface="Leelawadee UI" panose="020B0502040204020203" pitchFamily="34" charset="-34"/>
              <a:cs typeface="Leelawadee UI" panose="020B0502040204020203" pitchFamily="34" charset="-34"/>
            </a:endParaRPr>
          </a:p>
        </p:txBody>
      </p:sp>
      <p:sp>
        <p:nvSpPr>
          <p:cNvPr id="152" name="Text 0">
            <a:extLst>
              <a:ext uri="{FF2B5EF4-FFF2-40B4-BE49-F238E27FC236}">
                <a16:creationId xmlns:a16="http://schemas.microsoft.com/office/drawing/2014/main" id="{C02A41CB-4225-3197-A4C5-81C55EBFD75E}"/>
              </a:ext>
            </a:extLst>
          </p:cNvPr>
          <p:cNvSpPr/>
          <p:nvPr/>
        </p:nvSpPr>
        <p:spPr>
          <a:xfrm>
            <a:off x="607888" y="24634667"/>
            <a:ext cx="3352279" cy="203522"/>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Topik-Topik Utama yang Diliput Media</a:t>
            </a:r>
            <a:endParaRPr lang="en-US" sz="2000" dirty="0">
              <a:latin typeface="Leelawadee UI" panose="020B0502040204020203" pitchFamily="34" charset="-34"/>
              <a:cs typeface="Leelawadee UI" panose="020B0502040204020203" pitchFamily="34" charset="-34"/>
            </a:endParaRPr>
          </a:p>
        </p:txBody>
      </p:sp>
      <p:sp>
        <p:nvSpPr>
          <p:cNvPr id="153" name="Text 1">
            <a:extLst>
              <a:ext uri="{FF2B5EF4-FFF2-40B4-BE49-F238E27FC236}">
                <a16:creationId xmlns:a16="http://schemas.microsoft.com/office/drawing/2014/main" id="{23FD5F26-3A4A-A1AE-C933-F88A20BF9938}"/>
              </a:ext>
            </a:extLst>
          </p:cNvPr>
          <p:cNvSpPr/>
          <p:nvPr/>
        </p:nvSpPr>
        <p:spPr>
          <a:xfrm>
            <a:off x="607887" y="25058865"/>
            <a:ext cx="7669871" cy="396925"/>
          </a:xfrm>
          <a:prstGeom prst="rect">
            <a:avLst/>
          </a:prstGeom>
          <a:noFill/>
          <a:ln/>
        </p:spPr>
        <p:txBody>
          <a:bodyPr wrap="square" lIns="0" tIns="0" rIns="0" bIns="0" rtlCol="0" anchor="t">
            <a:normAutofit/>
          </a:bodyPr>
          <a:lstStyle/>
          <a:p>
            <a:pPr marL="0" indent="0" algn="l">
              <a:lnSpc>
                <a:spcPct val="11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Liputan media terhadap YNKI mencakup beragam isu strategis yang menjadi fokus kerja organisasi. Berikut adalah peta tematik dari seluruh liputan yang telah terdokumentasi.</a:t>
            </a:r>
            <a:endParaRPr lang="en-US" sz="1050" dirty="0">
              <a:latin typeface="Leelawadee UI" panose="020B0502040204020203" pitchFamily="34" charset="-34"/>
              <a:cs typeface="Leelawadee UI" panose="020B0502040204020203" pitchFamily="34" charset="-34"/>
            </a:endParaRPr>
          </a:p>
        </p:txBody>
      </p:sp>
      <p:pic>
        <p:nvPicPr>
          <p:cNvPr id="154" name="Image 0" descr="preencoded.png">
            <a:extLst>
              <a:ext uri="{FF2B5EF4-FFF2-40B4-BE49-F238E27FC236}">
                <a16:creationId xmlns:a16="http://schemas.microsoft.com/office/drawing/2014/main" id="{47FE7252-456D-8BA2-1101-4D9A4B75CAA1}"/>
              </a:ext>
            </a:extLst>
          </p:cNvPr>
          <p:cNvPicPr>
            <a:picLocks noChangeAspect="1"/>
          </p:cNvPicPr>
          <p:nvPr/>
        </p:nvPicPr>
        <p:blipFill>
          <a:blip r:embed="rId18"/>
          <a:stretch>
            <a:fillRect/>
          </a:stretch>
        </p:blipFill>
        <p:spPr>
          <a:xfrm>
            <a:off x="607888" y="25515842"/>
            <a:ext cx="6419404" cy="3582888"/>
          </a:xfrm>
          <a:prstGeom prst="rect">
            <a:avLst/>
          </a:prstGeom>
        </p:spPr>
      </p:pic>
      <p:sp>
        <p:nvSpPr>
          <p:cNvPr id="155" name="Text 2">
            <a:extLst>
              <a:ext uri="{FF2B5EF4-FFF2-40B4-BE49-F238E27FC236}">
                <a16:creationId xmlns:a16="http://schemas.microsoft.com/office/drawing/2014/main" id="{2408B625-CD4E-B590-E339-BA97AD9F4C34}"/>
              </a:ext>
            </a:extLst>
          </p:cNvPr>
          <p:cNvSpPr/>
          <p:nvPr/>
        </p:nvSpPr>
        <p:spPr>
          <a:xfrm>
            <a:off x="607888" y="29158783"/>
            <a:ext cx="7791464" cy="878086"/>
          </a:xfrm>
          <a:prstGeom prst="rect">
            <a:avLst/>
          </a:prstGeom>
          <a:noFill/>
          <a:ln/>
        </p:spPr>
        <p:txBody>
          <a:bodyPr wrap="square" lIns="0" tIns="0" rIns="0" bIns="0" rtlCol="0" anchor="t">
            <a:normAutofit/>
          </a:bodyPr>
          <a:lstStyle/>
          <a:p>
            <a:pPr marL="0" indent="0" algn="l">
              <a:lnSpc>
                <a:spcPct val="11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Dari enam klaster tematik di atas, Restorasi Gambut dan Komoditas Berkelanjutan menjadi topik yang paling banyak mendapat sorotan media — mencerminkan urgensi isu lingkungan dan ekonomi di Kalimantan Barat dalam konteks global.</a:t>
            </a:r>
            <a:endParaRPr lang="en-US" sz="1050" dirty="0">
              <a:latin typeface="Leelawadee UI" panose="020B0502040204020203" pitchFamily="34" charset="-34"/>
              <a:cs typeface="Leelawadee UI" panose="020B0502040204020203" pitchFamily="34" charset="-34"/>
            </a:endParaRPr>
          </a:p>
        </p:txBody>
      </p:sp>
      <p:sp>
        <p:nvSpPr>
          <p:cNvPr id="156" name="Text 0">
            <a:extLst>
              <a:ext uri="{FF2B5EF4-FFF2-40B4-BE49-F238E27FC236}">
                <a16:creationId xmlns:a16="http://schemas.microsoft.com/office/drawing/2014/main" id="{D6219E86-48E4-EDF6-2DC1-70CEB2717CAB}"/>
              </a:ext>
            </a:extLst>
          </p:cNvPr>
          <p:cNvSpPr/>
          <p:nvPr/>
        </p:nvSpPr>
        <p:spPr>
          <a:xfrm>
            <a:off x="607888" y="29803730"/>
            <a:ext cx="5541913" cy="310083"/>
          </a:xfrm>
          <a:prstGeom prst="rect">
            <a:avLst/>
          </a:prstGeom>
          <a:noFill/>
          <a:ln/>
        </p:spPr>
        <p:txBody>
          <a:bodyPr wrap="none" lIns="0" tIns="0" rIns="0" bIns="0" rtlCol="0" anchor="t"/>
          <a:lstStyle/>
          <a:p>
            <a:pPr marL="0" indent="0" algn="l">
              <a:lnSpc>
                <a:spcPct val="104000"/>
              </a:lnSpc>
              <a:buNone/>
            </a:pP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Punya Informasi atau Liputan tentang YNKI?</a:t>
            </a:r>
            <a:endParaRPr lang="en-US" sz="1950" dirty="0">
              <a:latin typeface="Leelawadee UI" panose="020B0502040204020203" pitchFamily="34" charset="-34"/>
              <a:cs typeface="Leelawadee UI" panose="020B0502040204020203" pitchFamily="34" charset="-34"/>
            </a:endParaRPr>
          </a:p>
        </p:txBody>
      </p:sp>
      <p:sp>
        <p:nvSpPr>
          <p:cNvPr id="157" name="Text 1">
            <a:extLst>
              <a:ext uri="{FF2B5EF4-FFF2-40B4-BE49-F238E27FC236}">
                <a16:creationId xmlns:a16="http://schemas.microsoft.com/office/drawing/2014/main" id="{0E76972C-AD7D-EE54-9D8E-7BD387D0FEC8}"/>
              </a:ext>
            </a:extLst>
          </p:cNvPr>
          <p:cNvSpPr/>
          <p:nvPr/>
        </p:nvSpPr>
        <p:spPr>
          <a:xfrm>
            <a:off x="607888" y="30192840"/>
            <a:ext cx="7721105" cy="148730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Jika Anda memiliki informasi, liputan, atau artikel tentang kegiatan YNKI yang belum tercantum di halaman ini, kami sangat mengapresiasi jika Anda membagikannya kepada kami. YNKI terbuka untuk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kolaborasi dengan media dan jurnalis</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yang memiliki kepedulian terhadap isu tata kelola lanskap berkelanjutan.</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Bersama, kita dapat memperluas jangkauan informasi tentang pentingnya menjaga ekosistem gambut, memberdayakan komunitas lokal, dan mendorong kebijakan berbasis bukti di Kalimantan Barat dan Indonesia.</a:t>
            </a:r>
            <a:endParaRPr lang="en-US" sz="1050" dirty="0">
              <a:latin typeface="Leelawadee UI" panose="020B0502040204020203" pitchFamily="34" charset="-34"/>
              <a:cs typeface="Leelawadee UI" panose="020B0502040204020203" pitchFamily="34" charset="-34"/>
            </a:endParaRPr>
          </a:p>
        </p:txBody>
      </p:sp>
      <p:pic>
        <p:nvPicPr>
          <p:cNvPr id="158" name="Image 0" descr="preencoded.png">
            <a:hlinkClick r:id="rId5"/>
            <a:extLst>
              <a:ext uri="{FF2B5EF4-FFF2-40B4-BE49-F238E27FC236}">
                <a16:creationId xmlns:a16="http://schemas.microsoft.com/office/drawing/2014/main" id="{CD50A7EE-CF32-885D-C850-EBF5F9C3472B}"/>
              </a:ext>
            </a:extLst>
          </p:cNvPr>
          <p:cNvPicPr>
            <a:picLocks noChangeAspect="1"/>
          </p:cNvPicPr>
          <p:nvPr/>
        </p:nvPicPr>
        <p:blipFill>
          <a:blip r:embed="rId19"/>
          <a:stretch>
            <a:fillRect/>
          </a:stretch>
        </p:blipFill>
        <p:spPr>
          <a:xfrm>
            <a:off x="607888" y="31633200"/>
            <a:ext cx="1637258" cy="341114"/>
          </a:xfrm>
          <a:prstGeom prst="rect">
            <a:avLst/>
          </a:prstGeom>
        </p:spPr>
      </p:pic>
      <p:pic>
        <p:nvPicPr>
          <p:cNvPr id="159" name="Image 1" descr="preencoded.png">
            <a:hlinkClick r:id="rId20"/>
            <a:extLst>
              <a:ext uri="{FF2B5EF4-FFF2-40B4-BE49-F238E27FC236}">
                <a16:creationId xmlns:a16="http://schemas.microsoft.com/office/drawing/2014/main" id="{F01C8D2A-7643-AD73-186D-FD296B50A929}"/>
              </a:ext>
            </a:extLst>
          </p:cNvPr>
          <p:cNvPicPr>
            <a:picLocks noChangeAspect="1"/>
          </p:cNvPicPr>
          <p:nvPr/>
        </p:nvPicPr>
        <p:blipFill>
          <a:blip r:embed="rId21"/>
          <a:stretch>
            <a:fillRect/>
          </a:stretch>
        </p:blipFill>
        <p:spPr>
          <a:xfrm>
            <a:off x="2307133" y="31633200"/>
            <a:ext cx="1747763" cy="341114"/>
          </a:xfrm>
          <a:prstGeom prst="rect">
            <a:avLst/>
          </a:prstGeom>
        </p:spPr>
      </p:pic>
      <p:sp>
        <p:nvSpPr>
          <p:cNvPr id="160" name="Text 0">
            <a:extLst>
              <a:ext uri="{FF2B5EF4-FFF2-40B4-BE49-F238E27FC236}">
                <a16:creationId xmlns:a16="http://schemas.microsoft.com/office/drawing/2014/main" id="{EAB3BB40-E420-1FDF-6D00-A9D7F0227BE1}"/>
              </a:ext>
            </a:extLst>
          </p:cNvPr>
          <p:cNvSpPr/>
          <p:nvPr/>
        </p:nvSpPr>
        <p:spPr>
          <a:xfrm>
            <a:off x="641377" y="32407325"/>
            <a:ext cx="4304258" cy="310083"/>
          </a:xfrm>
          <a:prstGeom prst="rect">
            <a:avLst/>
          </a:prstGeom>
          <a:noFill/>
          <a:ln/>
        </p:spPr>
        <p:txBody>
          <a:bodyPr wrap="none" lIns="0" tIns="0" rIns="0" bIns="0" rtlCol="0" anchor="t"/>
          <a:lstStyle/>
          <a:p>
            <a:pPr marL="0" indent="0" algn="l">
              <a:lnSpc>
                <a:spcPct val="104000"/>
              </a:lnSpc>
              <a:buNone/>
            </a:pP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Dukung Perubahan Berkelanjutan</a:t>
            </a:r>
            <a:endParaRPr lang="en-US" sz="1950" dirty="0">
              <a:latin typeface="Leelawadee UI" panose="020B0502040204020203" pitchFamily="34" charset="-34"/>
              <a:cs typeface="Leelawadee UI" panose="020B0502040204020203" pitchFamily="34" charset="-34"/>
            </a:endParaRPr>
          </a:p>
        </p:txBody>
      </p:sp>
      <p:sp>
        <p:nvSpPr>
          <p:cNvPr id="161" name="Text 1">
            <a:extLst>
              <a:ext uri="{FF2B5EF4-FFF2-40B4-BE49-F238E27FC236}">
                <a16:creationId xmlns:a16="http://schemas.microsoft.com/office/drawing/2014/main" id="{339B3283-5902-D7F2-EFB2-C9A6AAA50247}"/>
              </a:ext>
            </a:extLst>
          </p:cNvPr>
          <p:cNvSpPr/>
          <p:nvPr/>
        </p:nvSpPr>
        <p:spPr>
          <a:xfrm>
            <a:off x="653771" y="32730471"/>
            <a:ext cx="7498688" cy="113183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Liputan media adalah cerminan dari kerja keras dan kolaborasi berbagai pihak yang percaya pada misi YNKI. Setiap artikel yang diterbitkan adalah suara bagi hutan, gambut, dan masyarakat yang bergantung padanya.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Anda juga dapat menjadi bagian dari perubahan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menuju lanskap yang sehat dan masyarakat yang sejahtera.</a:t>
            </a:r>
            <a:endParaRPr lang="en-US" sz="1050" dirty="0">
              <a:latin typeface="Leelawadee UI" panose="020B0502040204020203" pitchFamily="34" charset="-34"/>
              <a:cs typeface="Leelawadee UI" panose="020B0502040204020203" pitchFamily="34" charset="-34"/>
            </a:endParaRPr>
          </a:p>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Bersama YNKI, mari kita wujudkan masa depan di mana alam dan manusia tumbuh berdampingan secara seimbang dan adil — </a:t>
            </a:r>
            <a:r>
              <a:rPr lang="en-US" sz="1050" i="1" dirty="0">
                <a:solidFill>
                  <a:srgbClr val="161613"/>
                </a:solidFill>
                <a:latin typeface="Leelawadee UI" panose="020B0502040204020203" pitchFamily="34" charset="-34"/>
                <a:ea typeface="Inter" pitchFamily="34" charset="-122"/>
                <a:cs typeface="Leelawadee UI" panose="020B0502040204020203" pitchFamily="34" charset="-34"/>
              </a:rPr>
              <a:t>Nature for Life</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t>
            </a:r>
            <a:endParaRPr lang="en-US" sz="1050" dirty="0">
              <a:latin typeface="Leelawadee UI" panose="020B0502040204020203" pitchFamily="34" charset="-34"/>
              <a:cs typeface="Leelawadee UI" panose="020B0502040204020203" pitchFamily="34" charset="-34"/>
            </a:endParaRPr>
          </a:p>
        </p:txBody>
      </p:sp>
      <p:pic>
        <p:nvPicPr>
          <p:cNvPr id="162" name="Image 0" descr="preencoded.png">
            <a:hlinkClick r:id="rId22"/>
            <a:extLst>
              <a:ext uri="{FF2B5EF4-FFF2-40B4-BE49-F238E27FC236}">
                <a16:creationId xmlns:a16="http://schemas.microsoft.com/office/drawing/2014/main" id="{69242252-4037-09EC-3A9E-D9B3730532BD}"/>
              </a:ext>
            </a:extLst>
          </p:cNvPr>
          <p:cNvPicPr>
            <a:picLocks noChangeAspect="1"/>
          </p:cNvPicPr>
          <p:nvPr/>
        </p:nvPicPr>
        <p:blipFill>
          <a:blip r:embed="rId23"/>
          <a:stretch>
            <a:fillRect/>
          </a:stretch>
        </p:blipFill>
        <p:spPr>
          <a:xfrm>
            <a:off x="635662" y="34323637"/>
            <a:ext cx="1260202" cy="341114"/>
          </a:xfrm>
          <a:prstGeom prst="rect">
            <a:avLst/>
          </a:prstGeom>
        </p:spPr>
      </p:pic>
      <p:pic>
        <p:nvPicPr>
          <p:cNvPr id="163" name="Image 1" descr="preencoded.png">
            <a:hlinkClick r:id="rId24"/>
            <a:extLst>
              <a:ext uri="{FF2B5EF4-FFF2-40B4-BE49-F238E27FC236}">
                <a16:creationId xmlns:a16="http://schemas.microsoft.com/office/drawing/2014/main" id="{1F551CEC-1192-D149-530D-2C5466F9D3D9}"/>
              </a:ext>
            </a:extLst>
          </p:cNvPr>
          <p:cNvPicPr>
            <a:picLocks noChangeAspect="1"/>
          </p:cNvPicPr>
          <p:nvPr/>
        </p:nvPicPr>
        <p:blipFill>
          <a:blip r:embed="rId25"/>
          <a:stretch>
            <a:fillRect/>
          </a:stretch>
        </p:blipFill>
        <p:spPr>
          <a:xfrm>
            <a:off x="1957851" y="34323637"/>
            <a:ext cx="1584052" cy="341114"/>
          </a:xfrm>
          <a:prstGeom prst="rect">
            <a:avLst/>
          </a:prstGeom>
        </p:spPr>
      </p:pic>
      <p:pic>
        <p:nvPicPr>
          <p:cNvPr id="164" name="Image 2" descr="preencoded.png">
            <a:hlinkClick r:id="rId26"/>
            <a:extLst>
              <a:ext uri="{FF2B5EF4-FFF2-40B4-BE49-F238E27FC236}">
                <a16:creationId xmlns:a16="http://schemas.microsoft.com/office/drawing/2014/main" id="{3B3F71B8-8108-9EB6-C59A-166B641A8504}"/>
              </a:ext>
            </a:extLst>
          </p:cNvPr>
          <p:cNvPicPr>
            <a:picLocks noChangeAspect="1"/>
          </p:cNvPicPr>
          <p:nvPr/>
        </p:nvPicPr>
        <p:blipFill>
          <a:blip r:embed="rId27"/>
          <a:stretch>
            <a:fillRect/>
          </a:stretch>
        </p:blipFill>
        <p:spPr>
          <a:xfrm>
            <a:off x="3603890" y="34323637"/>
            <a:ext cx="1757437" cy="341114"/>
          </a:xfrm>
          <a:prstGeom prst="rect">
            <a:avLst/>
          </a:prstGeom>
        </p:spPr>
      </p:pic>
      <p:sp>
        <p:nvSpPr>
          <p:cNvPr id="165" name="Shape 2">
            <a:extLst>
              <a:ext uri="{FF2B5EF4-FFF2-40B4-BE49-F238E27FC236}">
                <a16:creationId xmlns:a16="http://schemas.microsoft.com/office/drawing/2014/main" id="{BCCA4270-85D0-B06F-A953-430932AFBE6B}"/>
              </a:ext>
            </a:extLst>
          </p:cNvPr>
          <p:cNvSpPr/>
          <p:nvPr/>
        </p:nvSpPr>
        <p:spPr>
          <a:xfrm>
            <a:off x="635662" y="34835232"/>
            <a:ext cx="7693331" cy="45719"/>
          </a:xfrm>
          <a:prstGeom prst="roundRect">
            <a:avLst>
              <a:gd name="adj" fmla="val 120215"/>
            </a:avLst>
          </a:prstGeom>
          <a:solidFill>
            <a:srgbClr val="161613">
              <a:alpha val="50000"/>
            </a:srgbClr>
          </a:solidFill>
          <a:ln/>
        </p:spPr>
      </p:sp>
      <p:sp>
        <p:nvSpPr>
          <p:cNvPr id="166" name="Shape 3">
            <a:extLst>
              <a:ext uri="{FF2B5EF4-FFF2-40B4-BE49-F238E27FC236}">
                <a16:creationId xmlns:a16="http://schemas.microsoft.com/office/drawing/2014/main" id="{D3ACFE52-BAD5-A9D6-5544-5A0DF3246F9D}"/>
              </a:ext>
            </a:extLst>
          </p:cNvPr>
          <p:cNvSpPr/>
          <p:nvPr/>
        </p:nvSpPr>
        <p:spPr>
          <a:xfrm>
            <a:off x="635662" y="35021194"/>
            <a:ext cx="1944960" cy="1513284"/>
          </a:xfrm>
          <a:prstGeom prst="roundRect">
            <a:avLst>
              <a:gd name="adj" fmla="val 1230"/>
            </a:avLst>
          </a:prstGeom>
          <a:solidFill>
            <a:srgbClr val="EDEBE3"/>
          </a:solidFill>
          <a:ln/>
        </p:spPr>
      </p:sp>
      <p:sp>
        <p:nvSpPr>
          <p:cNvPr id="167" name="Text 4">
            <a:extLst>
              <a:ext uri="{FF2B5EF4-FFF2-40B4-BE49-F238E27FC236}">
                <a16:creationId xmlns:a16="http://schemas.microsoft.com/office/drawing/2014/main" id="{420FA92B-F0EF-6A63-D651-3BACE022B046}"/>
              </a:ext>
            </a:extLst>
          </p:cNvPr>
          <p:cNvSpPr/>
          <p:nvPr/>
        </p:nvSpPr>
        <p:spPr>
          <a:xfrm>
            <a:off x="759635" y="35145168"/>
            <a:ext cx="169701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68" name="Text 5">
            <a:extLst>
              <a:ext uri="{FF2B5EF4-FFF2-40B4-BE49-F238E27FC236}">
                <a16:creationId xmlns:a16="http://schemas.microsoft.com/office/drawing/2014/main" id="{CC693EC4-B3F5-ADCC-F0D8-DD2E068E71A8}"/>
              </a:ext>
            </a:extLst>
          </p:cNvPr>
          <p:cNvSpPr/>
          <p:nvPr/>
        </p:nvSpPr>
        <p:spPr>
          <a:xfrm>
            <a:off x="759635" y="35607279"/>
            <a:ext cx="1697013" cy="793849"/>
          </a:xfrm>
          <a:prstGeom prst="rect">
            <a:avLst/>
          </a:prstGeom>
          <a:noFill/>
          <a:ln/>
        </p:spPr>
        <p:txBody>
          <a:bodyPr wrap="square" lIns="0" tIns="0" rIns="0" bIns="0" rtlCol="0" anchor="t">
            <a:normAutofit/>
          </a:bodyPr>
          <a:lstStyle/>
          <a:p>
            <a:pPr marL="0" indent="0" algn="l">
              <a:lnSpc>
                <a:spcPct val="133000"/>
              </a:lnSpc>
              <a:buNone/>
            </a:pPr>
            <a:r>
              <a:rPr lang="en-US" sz="950" i="1" dirty="0">
                <a:solidFill>
                  <a:srgbClr val="161613"/>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Jalan Karna Sosial, Pontianak, Kalimantan Barat 78121</a:t>
            </a:r>
            <a:endParaRPr lang="en-US" sz="950" dirty="0">
              <a:latin typeface="Leelawadee UI" panose="020B0502040204020203" pitchFamily="34" charset="-34"/>
              <a:cs typeface="Leelawadee UI" panose="020B0502040204020203" pitchFamily="34" charset="-34"/>
            </a:endParaRPr>
          </a:p>
        </p:txBody>
      </p:sp>
      <p:sp>
        <p:nvSpPr>
          <p:cNvPr id="169" name="Shape 6">
            <a:extLst>
              <a:ext uri="{FF2B5EF4-FFF2-40B4-BE49-F238E27FC236}">
                <a16:creationId xmlns:a16="http://schemas.microsoft.com/office/drawing/2014/main" id="{26A3CC04-71BB-38CE-F20F-ED2D6F59BAB8}"/>
              </a:ext>
            </a:extLst>
          </p:cNvPr>
          <p:cNvSpPr/>
          <p:nvPr/>
        </p:nvSpPr>
        <p:spPr>
          <a:xfrm>
            <a:off x="2704596" y="35021194"/>
            <a:ext cx="1944960" cy="1513284"/>
          </a:xfrm>
          <a:prstGeom prst="roundRect">
            <a:avLst>
              <a:gd name="adj" fmla="val 1230"/>
            </a:avLst>
          </a:prstGeom>
          <a:solidFill>
            <a:srgbClr val="EDEBE3"/>
          </a:solidFill>
          <a:ln/>
        </p:spPr>
      </p:sp>
      <p:sp>
        <p:nvSpPr>
          <p:cNvPr id="170" name="Text 7">
            <a:extLst>
              <a:ext uri="{FF2B5EF4-FFF2-40B4-BE49-F238E27FC236}">
                <a16:creationId xmlns:a16="http://schemas.microsoft.com/office/drawing/2014/main" id="{FFD5E357-749C-7860-EE6A-E590F7E1DD21}"/>
              </a:ext>
            </a:extLst>
          </p:cNvPr>
          <p:cNvSpPr/>
          <p:nvPr/>
        </p:nvSpPr>
        <p:spPr>
          <a:xfrm>
            <a:off x="2828570" y="3514516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Tautan Cepat</a:t>
            </a:r>
            <a:endParaRPr lang="en-US" sz="1200" dirty="0">
              <a:latin typeface="Leelawadee UI" panose="020B0502040204020203" pitchFamily="34" charset="-34"/>
              <a:cs typeface="Leelawadee UI" panose="020B0502040204020203" pitchFamily="34" charset="-34"/>
            </a:endParaRPr>
          </a:p>
        </p:txBody>
      </p:sp>
      <p:sp>
        <p:nvSpPr>
          <p:cNvPr id="171" name="Text 8">
            <a:extLst>
              <a:ext uri="{FF2B5EF4-FFF2-40B4-BE49-F238E27FC236}">
                <a16:creationId xmlns:a16="http://schemas.microsoft.com/office/drawing/2014/main" id="{AEEB2135-9BBA-3265-07A1-63532A9C535F}"/>
              </a:ext>
            </a:extLst>
          </p:cNvPr>
          <p:cNvSpPr/>
          <p:nvPr/>
        </p:nvSpPr>
        <p:spPr>
          <a:xfrm>
            <a:off x="2828570" y="35413431"/>
            <a:ext cx="169701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 · Program Kami · Ikut Serta · Pustaka &amp; Pengetahuan</a:t>
            </a:r>
            <a:endParaRPr lang="en-US" sz="950" dirty="0">
              <a:latin typeface="Leelawadee UI" panose="020B0502040204020203" pitchFamily="34" charset="-34"/>
              <a:cs typeface="Leelawadee UI" panose="020B0502040204020203" pitchFamily="34" charset="-34"/>
            </a:endParaRPr>
          </a:p>
        </p:txBody>
      </p:sp>
      <p:sp>
        <p:nvSpPr>
          <p:cNvPr id="172" name="Shape 9">
            <a:extLst>
              <a:ext uri="{FF2B5EF4-FFF2-40B4-BE49-F238E27FC236}">
                <a16:creationId xmlns:a16="http://schemas.microsoft.com/office/drawing/2014/main" id="{14BDD374-0D4B-333C-9B7F-70E548FFA2B6}"/>
              </a:ext>
            </a:extLst>
          </p:cNvPr>
          <p:cNvSpPr/>
          <p:nvPr/>
        </p:nvSpPr>
        <p:spPr>
          <a:xfrm>
            <a:off x="4773530" y="35021194"/>
            <a:ext cx="1602714" cy="1513284"/>
          </a:xfrm>
          <a:prstGeom prst="roundRect">
            <a:avLst>
              <a:gd name="adj" fmla="val 1230"/>
            </a:avLst>
          </a:prstGeom>
          <a:solidFill>
            <a:srgbClr val="EDEBE3"/>
          </a:solidFill>
          <a:ln/>
        </p:spPr>
      </p:sp>
      <p:sp>
        <p:nvSpPr>
          <p:cNvPr id="173" name="Text 10">
            <a:extLst>
              <a:ext uri="{FF2B5EF4-FFF2-40B4-BE49-F238E27FC236}">
                <a16:creationId xmlns:a16="http://schemas.microsoft.com/office/drawing/2014/main" id="{837A0C8D-DBD6-BB3E-F83B-558B84311E1E}"/>
              </a:ext>
            </a:extLst>
          </p:cNvPr>
          <p:cNvSpPr/>
          <p:nvPr/>
        </p:nvSpPr>
        <p:spPr>
          <a:xfrm>
            <a:off x="4897504" y="3514516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Kontak</a:t>
            </a:r>
            <a:endParaRPr lang="en-US" sz="1200" dirty="0">
              <a:latin typeface="Leelawadee UI" panose="020B0502040204020203" pitchFamily="34" charset="-34"/>
              <a:cs typeface="Leelawadee UI" panose="020B0502040204020203" pitchFamily="34" charset="-34"/>
            </a:endParaRPr>
          </a:p>
        </p:txBody>
      </p:sp>
      <p:sp>
        <p:nvSpPr>
          <p:cNvPr id="174" name="Text 11">
            <a:extLst>
              <a:ext uri="{FF2B5EF4-FFF2-40B4-BE49-F238E27FC236}">
                <a16:creationId xmlns:a16="http://schemas.microsoft.com/office/drawing/2014/main" id="{D364A780-8E53-BF15-425E-50DCE3AAB61E}"/>
              </a:ext>
            </a:extLst>
          </p:cNvPr>
          <p:cNvSpPr/>
          <p:nvPr/>
        </p:nvSpPr>
        <p:spPr>
          <a:xfrm>
            <a:off x="4897504" y="35413431"/>
            <a:ext cx="169701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info@naturalkapital.or.id</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Telepon: (placeholder)</a:t>
            </a:r>
            <a:endParaRPr lang="en-US" sz="950" dirty="0">
              <a:latin typeface="Leelawadee UI" panose="020B0502040204020203" pitchFamily="34" charset="-34"/>
              <a:cs typeface="Leelawadee UI" panose="020B0502040204020203" pitchFamily="34" charset="-34"/>
            </a:endParaRPr>
          </a:p>
        </p:txBody>
      </p:sp>
      <p:sp>
        <p:nvSpPr>
          <p:cNvPr id="175" name="Shape 12">
            <a:extLst>
              <a:ext uri="{FF2B5EF4-FFF2-40B4-BE49-F238E27FC236}">
                <a16:creationId xmlns:a16="http://schemas.microsoft.com/office/drawing/2014/main" id="{94EACFFF-30B4-32D8-1FF2-FC03731BA8C7}"/>
              </a:ext>
            </a:extLst>
          </p:cNvPr>
          <p:cNvSpPr/>
          <p:nvPr/>
        </p:nvSpPr>
        <p:spPr>
          <a:xfrm>
            <a:off x="6467996" y="35021194"/>
            <a:ext cx="1860997" cy="1513284"/>
          </a:xfrm>
          <a:prstGeom prst="roundRect">
            <a:avLst>
              <a:gd name="adj" fmla="val 1230"/>
            </a:avLst>
          </a:prstGeom>
          <a:solidFill>
            <a:srgbClr val="EDEBE3"/>
          </a:solidFill>
          <a:ln/>
        </p:spPr>
      </p:sp>
      <p:sp>
        <p:nvSpPr>
          <p:cNvPr id="176" name="Text 13">
            <a:extLst>
              <a:ext uri="{FF2B5EF4-FFF2-40B4-BE49-F238E27FC236}">
                <a16:creationId xmlns:a16="http://schemas.microsoft.com/office/drawing/2014/main" id="{3AD4AC95-03CD-9E69-5960-7A5512AC482E}"/>
              </a:ext>
            </a:extLst>
          </p:cNvPr>
          <p:cNvSpPr/>
          <p:nvPr/>
        </p:nvSpPr>
        <p:spPr>
          <a:xfrm>
            <a:off x="6591970" y="3514516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Media Sosial</a:t>
            </a:r>
            <a:endParaRPr lang="en-US" sz="1200" dirty="0">
              <a:latin typeface="Leelawadee UI" panose="020B0502040204020203" pitchFamily="34" charset="-34"/>
              <a:cs typeface="Leelawadee UI" panose="020B0502040204020203" pitchFamily="34" charset="-34"/>
            </a:endParaRPr>
          </a:p>
        </p:txBody>
      </p:sp>
      <p:sp>
        <p:nvSpPr>
          <p:cNvPr id="177" name="Text 14">
            <a:extLst>
              <a:ext uri="{FF2B5EF4-FFF2-40B4-BE49-F238E27FC236}">
                <a16:creationId xmlns:a16="http://schemas.microsoft.com/office/drawing/2014/main" id="{2797038C-55F5-8A5D-FE0C-5E06D0EF35AB}"/>
              </a:ext>
            </a:extLst>
          </p:cNvPr>
          <p:cNvSpPr/>
          <p:nvPr/>
        </p:nvSpPr>
        <p:spPr>
          <a:xfrm>
            <a:off x="6591971" y="35413431"/>
            <a:ext cx="1523330" cy="9970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LinkedIn · YouTube · Instagram</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9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39289112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TotalTime>
  <Words>1118</Words>
  <Application>Microsoft Office PowerPoint</Application>
  <PresentationFormat>Custom</PresentationFormat>
  <Paragraphs>109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1</cp:revision>
  <dcterms:created xsi:type="dcterms:W3CDTF">2026-06-22T12:35:23Z</dcterms:created>
  <dcterms:modified xsi:type="dcterms:W3CDTF">2026-06-22T12:44:35Z</dcterms:modified>
</cp:coreProperties>
</file>